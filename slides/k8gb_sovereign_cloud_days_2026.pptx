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3.25–4 minutes elapsed.</a:t>
            </a:r>
          </a:p>
          <a:p/>
          <a:p>
            <a:r>
              <a:t>Use one production example to establish adoption. Millennium bcp reports five regions across two cloud providers and on-premises, shorter DNS incident response, and zero downtime in the reported regional failover tests. These are the case study’s reported results for that deployment. Keep to the three displayed facts and move to the architecture.</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4–5.25 minutes elapsed.</a:t>
            </a:r>
          </a:p>
          <a:p/>
          <a:p>
            <a:r>
              <a:t>Spend 75 seconds on the main architecture diagram. Each cluster runs the same three components. The parent directs resolvers to the cluster authorities. Peer health is learned by querying peer CoreDNS; the controllers do not elect a central leader. Two of N clusters are shown. Use the next slide to explain the three component roles. Detailed delegation and reconciliation diagrams remain in the appendix.</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5.25–6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Move straight to the client request path.</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6–7.25 minutes elapsed.</a:t>
            </a:r>
          </a:p>
          <a:p/>
          <a:p>
            <a:r>
              <a:t>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7.25–8.5 minutes elapsed.</a:t>
            </a:r>
          </a:p>
          <a:p/>
          <a:p>
            <a:r>
              <a:t>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8.5–9.75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9.75–11 minutes elapsed.</a:t>
            </a:r>
          </a:p>
          <a:p/>
          <a:p>
            <a:r>
              <a:t>The parent DNS can be provider-operated or team-operated. ExternalDNS uses the selected provider API, or RFC 2136 with TSIG for BIND9. The Gslb strategy and application-zone CoreDNS layer remain the same. This is the concrete sovereignty choice: your team chooses the parent authority and its integration. Provider changes still require configuration and delegation planning; avoid a second delegation walkthrough.</a:t>
            </a:r>
          </a:p>
          <a:p/>
          <a:p>
            <a:r>
              <a:t>SOURCE CHECK</a:t>
            </a:r>
          </a:p>
          <a:p>
            <a:r>
              <a:t>Local k8gb checkout: 330d33335981b9716bc8ca245660d90893eae272</a:t>
            </a:r>
          </a:p>
          <a:p>
            <a:r>
              <a:t>https://github.com/k8gb-io/k8gb/blob/330d33335981b9716bc8ca245660d90893eae272/docs/provider_rfc2136.md</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11–12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minute 12.</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12–18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minute 18.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18–19.5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19.5–21.5 minutes elapsed.</a:t>
            </a:r>
          </a:p>
          <a:p/>
          <a:p>
            <a:r>
              <a:t>Use this single slide for application readiness and data safety. Kubernetes runs readinessProbe checks and reflects Pod readiness in EndpointSlices; k8gb consumes that state when selecting targets. The lower example is illustrative: GET /healthz returns 200 while a real payment write fails because the database is read-only. The application must define readiness around the operation it needs to serve. k8gb steers traffic; replication, safe writer ownership and fencing remain application responsibilities. State this once, using the example, then move 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21.5–23.5 minutes elapsed.</a:t>
            </a:r>
          </a:p>
          <a:p/>
          <a:p>
            <a:r>
              <a:t>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Transition directly to how we observe the disagreement.</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23.5–24.75 minutes elapsed.</a:t>
            </a:r>
          </a:p>
          <a:p/>
          <a:p>
            <a:r>
              <a:t>Query the same application name against each authority. Then compare what the recursive cache returns and test a real request. Correlate readiness, controller errors and application results. The metric example shows why three healthy IPs can belong to one cluster; do not spend time deriving the metric. This is the practical response to the partition diagram, not a separate monitoring-tool tour.</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24.75–26 minutes elapsed.</a:t>
            </a:r>
          </a:p>
          <a:p/>
          <a:p>
            <a:r>
              <a:t>Turn the hard parts into four specific tests: remove ready application endpoints, lose a whole cluster, interrupt a peer-health lookup, and restore the primary. Verify authoritative answers, resolver behavior and successful real requests for each test. Automate the sequence and measure recovery. We exercised the workload case; the remaining rows are the production test plan. Finish this section by minute 26.</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https://github.com/k8gb-io/k8gb/blob/330d33335981b9716bc8ca245660d90893eae272/controllers/runtime_shared.go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26–28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Invite questions by minute 28.</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project links and LinkedIn contact visible. Hidden appendix slides follow: A1 reconciliation (physical slide 21), A2 delegation (22), A3 normal state (23), A4 failover (24), A5 failback (25), A6 availability responsibilities (26).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https://www.cncf.io/case-studies/millennium-bcp/</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 deliberately simplified view of the local checkout at 330d3333. ZoneDelegation manages zone configuration and DNS-server membership, including status.dnsServers. Gslb reconciliation evaluates Service EndpointSlices and uses those peer addresses for health queries. It writes the application DNSEndpoint consumed by CoreDNS. Therefore an edge-DNS interruption must be analysed separately from a failed peer-health query; an edge failure does not by itself prove immediate loss of all cached peer addresses. The chart has separate Gslb and ZoneDelegation reconciliation intervals. Do not present a single exact failover timer. This diagram shows the ExternalDNS provider path: ZoneDelegation reconciliation writes a delegation DNSEndpoint with NS and nameserver-address records. ExternalDNS consumes that resource and updates the parent DNS. A separate branch updates the CoreDNS zone ConfigMap. The lower DNSEndpoint contains application targets and is consumed by CoreDNS, not by ExternalDNS for parent delegation. The two CoreDNS boxes show two roles of the same per-cluster service. The title counts the two k8gb loops; ExternalDNS has its own reconciliation.</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parent zone publishes NS records for the delegated application subzone, plus the address records required by the chosen naming arrangement. Glue is specifically required for in-bailiwick nameserver names; do not use glue to mean every address record universally. The recursive resolver follows that delegation to a reachable CoreDNS authority. CoreDNS answers application A records. Redundant authority, public DNS reachability and recovery credentials remain production responsibilities. k8gb does not take ownership of the registrar or parent zone. The ns-a and ns-b labels abbreviate illustrative nameserver hostnames. Both cluster authorities serve the same delegated zone. The arrows represent delegation and a DNS answer, not application packets or a proxy hop through the parent DNS.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hyperlink" Target="https://www.k8gb.io/" TargetMode="External"/><Relationship Id="rId5" Type="http://schemas.openxmlformats.org/officeDocument/2006/relationships/hyperlink" Target="https://www.linkedin.com/in/yurytsarev/" TargetMode="External"/><Relationship Id="rId6" Type="http://schemas.openxmlformats.org/officeDocument/2006/relationships/hyperlink" Target="https://github.com/k8gb-io/k8gb" TargetMode="External"/><Relationship Id="rId7" Type="http://schemas.openxmlformats.org/officeDocument/2006/relationships/hyperlink" Target="https://www.cncf.io/case-studies/millennium-bcp/" TargetMode="Externa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20</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reachability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 ready endpoints</a:t>
            </a:r>
          </a:p>
        </p:txBody>
      </p:sp>
      <p:sp>
        <p:nvSpPr>
          <p:cNvPr id="24" name="Rounded Rectangle 23"/>
          <p:cNvSpPr/>
          <p:nvPr/>
        </p:nvSpPr>
        <p:spPr>
          <a:xfrm>
            <a:off x="838200" y="4076700"/>
            <a:ext cx="1778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4076700"/>
            <a:ext cx="50800" cy="635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4183472"/>
            <a:ext cx="431800" cy="421455"/>
          </a:xfrm>
          <a:prstGeom prst="rect">
            <a:avLst/>
          </a:prstGeom>
        </p:spPr>
      </p:pic>
      <p:sp>
        <p:nvSpPr>
          <p:cNvPr id="27" name="TextBox 26"/>
          <p:cNvSpPr txBox="1"/>
          <p:nvPr/>
        </p:nvSpPr>
        <p:spPr>
          <a:xfrm>
            <a:off x="1549400" y="4241800"/>
            <a:ext cx="889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4076700"/>
            <a:ext cx="2159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4076700"/>
            <a:ext cx="50800" cy="635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4178300"/>
            <a:ext cx="431800" cy="431800"/>
          </a:xfrm>
          <a:prstGeom prst="rect">
            <a:avLst/>
          </a:prstGeom>
        </p:spPr>
      </p:pic>
      <p:sp>
        <p:nvSpPr>
          <p:cNvPr id="31" name="TextBox 30"/>
          <p:cNvSpPr txBox="1"/>
          <p:nvPr/>
        </p:nvSpPr>
        <p:spPr>
          <a:xfrm>
            <a:off x="3835400" y="4241800"/>
            <a:ext cx="127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3815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848100"/>
            <a:ext cx="1066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DNS state</a:t>
            </a:r>
          </a:p>
        </p:txBody>
      </p:sp>
      <p:sp>
        <p:nvSpPr>
          <p:cNvPr id="34" name="TextBox 33"/>
          <p:cNvSpPr txBox="1"/>
          <p:nvPr/>
        </p:nvSpPr>
        <p:spPr>
          <a:xfrm>
            <a:off x="838200" y="49657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Authoritative application zone</a:t>
            </a:r>
          </a:p>
        </p:txBody>
      </p:sp>
      <p:sp>
        <p:nvSpPr>
          <p:cNvPr id="35" name="Rounded Rectangle 34"/>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38" name="Rounded Rectangle 37"/>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mage.png"/>
          <p:cNvPicPr>
            <a:picLocks noChangeAspect="1"/>
          </p:cNvPicPr>
          <p:nvPr/>
        </p:nvPicPr>
        <p:blipFill>
          <a:blip r:embed="rId2"/>
          <a:stretch>
            <a:fillRect/>
          </a:stretch>
        </p:blipFill>
        <p:spPr>
          <a:xfrm>
            <a:off x="7836060" y="2933700"/>
            <a:ext cx="507679" cy="508000"/>
          </a:xfrm>
          <a:prstGeom prst="rect">
            <a:avLst/>
          </a:prstGeom>
        </p:spPr>
      </p:pic>
      <p:sp>
        <p:nvSpPr>
          <p:cNvPr id="40" name="TextBox 39"/>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41" name="Connector 40"/>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908800" y="35433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 ready endpoints</a:t>
            </a:r>
          </a:p>
        </p:txBody>
      </p:sp>
      <p:sp>
        <p:nvSpPr>
          <p:cNvPr id="44" name="Rounded Rectangle 43"/>
          <p:cNvSpPr/>
          <p:nvPr/>
        </p:nvSpPr>
        <p:spPr>
          <a:xfrm>
            <a:off x="6908800" y="4076700"/>
            <a:ext cx="1778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08800" y="4076700"/>
            <a:ext cx="50800" cy="635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3"/>
          <a:stretch>
            <a:fillRect/>
          </a:stretch>
        </p:blipFill>
        <p:spPr>
          <a:xfrm>
            <a:off x="7061200" y="4183472"/>
            <a:ext cx="431800" cy="421455"/>
          </a:xfrm>
          <a:prstGeom prst="rect">
            <a:avLst/>
          </a:prstGeom>
        </p:spPr>
      </p:pic>
      <p:sp>
        <p:nvSpPr>
          <p:cNvPr id="47" name="TextBox 46"/>
          <p:cNvSpPr txBox="1"/>
          <p:nvPr/>
        </p:nvSpPr>
        <p:spPr>
          <a:xfrm>
            <a:off x="7620000" y="4241800"/>
            <a:ext cx="889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48" name="Rounded Rectangle 47"/>
          <p:cNvSpPr/>
          <p:nvPr/>
        </p:nvSpPr>
        <p:spPr>
          <a:xfrm>
            <a:off x="9194800" y="4076700"/>
            <a:ext cx="2159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194800" y="4076700"/>
            <a:ext cx="50800" cy="635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png"/>
          <p:cNvPicPr>
            <a:picLocks noChangeAspect="1"/>
          </p:cNvPicPr>
          <p:nvPr/>
        </p:nvPicPr>
        <p:blipFill>
          <a:blip r:embed="rId4"/>
          <a:stretch>
            <a:fillRect/>
          </a:stretch>
        </p:blipFill>
        <p:spPr>
          <a:xfrm>
            <a:off x="9347200" y="4178300"/>
            <a:ext cx="431800" cy="431800"/>
          </a:xfrm>
          <a:prstGeom prst="rect">
            <a:avLst/>
          </a:prstGeom>
        </p:spPr>
      </p:pic>
      <p:sp>
        <p:nvSpPr>
          <p:cNvPr id="51" name="TextBox 50"/>
          <p:cNvSpPr txBox="1"/>
          <p:nvPr/>
        </p:nvSpPr>
        <p:spPr>
          <a:xfrm>
            <a:off x="9906000" y="4241800"/>
            <a:ext cx="127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52" name="Connector 51"/>
          <p:cNvCxnSpPr/>
          <p:nvPr/>
        </p:nvCxnSpPr>
        <p:spPr>
          <a:xfrm>
            <a:off x="8686800" y="43815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407400" y="3848100"/>
            <a:ext cx="1066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DNS state</a:t>
            </a:r>
          </a:p>
        </p:txBody>
      </p:sp>
      <p:sp>
        <p:nvSpPr>
          <p:cNvPr id="54" name="TextBox 53"/>
          <p:cNvSpPr txBox="1"/>
          <p:nvPr/>
        </p:nvSpPr>
        <p:spPr>
          <a:xfrm>
            <a:off x="6908800" y="49657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Authoritative application zone</a:t>
            </a:r>
          </a:p>
        </p:txBody>
      </p:sp>
      <p:cxnSp>
        <p:nvCxnSpPr>
          <p:cNvPr id="55" name="Connector 54"/>
          <p:cNvCxnSpPr/>
          <p:nvPr/>
        </p:nvCxnSpPr>
        <p:spPr>
          <a:xfrm flipH="1">
            <a:off x="431800" y="43942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31800" y="4394200"/>
            <a:ext cx="0" cy="11684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11760200" y="4394200"/>
            <a:ext cx="0" cy="11684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11353800" y="43942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61" name="TextBox 60"/>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DNS PORTABILITY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parent DNS. Keep traffic steering.</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Managed or self-hosted: the application zone stays with CoreDNS.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46300"/>
            <a:ext cx="5181600" cy="1917700"/>
          </a:xfrm>
          <a:prstGeom prst="roundRect">
            <a:avLst>
              <a:gd name="adj" fmla="val 662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95500"/>
            <a:ext cx="5181600" cy="1917700"/>
          </a:xfrm>
          <a:prstGeom prst="roundRect">
            <a:avLst>
              <a:gd name="adj" fmla="val 662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914400" y="2108200"/>
            <a:ext cx="4572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2349500"/>
            <a:ext cx="812800" cy="812800"/>
          </a:xfrm>
          <a:prstGeom prst="roundRect">
            <a:avLst>
              <a:gd name="adj" fmla="val 1875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30400" y="2374900"/>
            <a:ext cx="3556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Managed DNS</a:t>
            </a:r>
          </a:p>
        </p:txBody>
      </p:sp>
      <p:sp>
        <p:nvSpPr>
          <p:cNvPr id="15" name="TextBox 14"/>
          <p:cNvSpPr txBox="1"/>
          <p:nvPr/>
        </p:nvSpPr>
        <p:spPr>
          <a:xfrm>
            <a:off x="1930400" y="2819400"/>
            <a:ext cx="35560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5D6F82"/>
                </a:solidFill>
                <a:latin typeface="Arial"/>
              </a:rPr>
              <a:t>Operated by your provider</a:t>
            </a:r>
          </a:p>
        </p:txBody>
      </p:sp>
      <p:sp>
        <p:nvSpPr>
          <p:cNvPr id="16" name="Rounded Rectangle 15"/>
          <p:cNvSpPr/>
          <p:nvPr/>
        </p:nvSpPr>
        <p:spPr>
          <a:xfrm>
            <a:off x="914400" y="3403600"/>
            <a:ext cx="4572000" cy="3937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6800" y="3467100"/>
            <a:ext cx="426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2762C8"/>
                </a:solidFill>
                <a:latin typeface="Arial"/>
              </a:rPr>
              <a:t>Provider API</a:t>
            </a:r>
          </a:p>
        </p:txBody>
      </p:sp>
      <p:sp>
        <p:nvSpPr>
          <p:cNvPr id="18" name="Rounded Rectangle 17"/>
          <p:cNvSpPr/>
          <p:nvPr/>
        </p:nvSpPr>
        <p:spPr>
          <a:xfrm>
            <a:off x="6400800" y="2146300"/>
            <a:ext cx="5181600" cy="1917700"/>
          </a:xfrm>
          <a:prstGeom prst="roundRect">
            <a:avLst>
              <a:gd name="adj" fmla="val 662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2095500"/>
            <a:ext cx="5181600" cy="1917700"/>
          </a:xfrm>
          <a:prstGeom prst="roundRect">
            <a:avLst>
              <a:gd name="adj" fmla="val 662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705600" y="2108200"/>
            <a:ext cx="4572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705600" y="2349500"/>
            <a:ext cx="812800" cy="812800"/>
          </a:xfrm>
          <a:prstGeom prst="roundRect">
            <a:avLst>
              <a:gd name="adj" fmla="val 1875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21600" y="2374900"/>
            <a:ext cx="3556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Self-hosted DNS</a:t>
            </a:r>
          </a:p>
        </p:txBody>
      </p:sp>
      <p:sp>
        <p:nvSpPr>
          <p:cNvPr id="23" name="TextBox 22"/>
          <p:cNvSpPr txBox="1"/>
          <p:nvPr/>
        </p:nvSpPr>
        <p:spPr>
          <a:xfrm>
            <a:off x="7721600" y="2819400"/>
            <a:ext cx="35560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5D6F82"/>
                </a:solidFill>
                <a:latin typeface="Arial"/>
              </a:rPr>
              <a:t>Operated by your team · BIND9</a:t>
            </a:r>
          </a:p>
        </p:txBody>
      </p:sp>
      <p:sp>
        <p:nvSpPr>
          <p:cNvPr id="24" name="Rounded Rectangle 23"/>
          <p:cNvSpPr/>
          <p:nvPr/>
        </p:nvSpPr>
        <p:spPr>
          <a:xfrm>
            <a:off x="6705600" y="3403600"/>
            <a:ext cx="4572000" cy="3937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0" y="3467100"/>
            <a:ext cx="426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087F85"/>
                </a:solidFill>
                <a:latin typeface="Arial"/>
              </a:rPr>
              <a:t>RFC 2136 + TSIG</a:t>
            </a:r>
          </a:p>
        </p:txBody>
      </p:sp>
      <p:sp>
        <p:nvSpPr>
          <p:cNvPr id="26" name="Oval 25"/>
          <p:cNvSpPr/>
          <p:nvPr/>
        </p:nvSpPr>
        <p:spPr>
          <a:xfrm>
            <a:off x="1003300" y="2654300"/>
            <a:ext cx="254000" cy="254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117600" y="2489200"/>
            <a:ext cx="330200" cy="330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333500" y="26289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30300" y="2768600"/>
            <a:ext cx="342900" cy="1397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858000" y="2489200"/>
            <a:ext cx="508000" cy="127000"/>
          </a:xfrm>
          <a:prstGeom prst="roundRect">
            <a:avLst>
              <a:gd name="adj" fmla="val 20000"/>
            </a:avLst>
          </a:prstGeom>
          <a:solidFill>
            <a:srgbClr val="FFFFFF"/>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34200" y="2552700"/>
            <a:ext cx="1778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258050" y="2533650"/>
            <a:ext cx="38100" cy="381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58000" y="2679700"/>
            <a:ext cx="508000" cy="127000"/>
          </a:xfrm>
          <a:prstGeom prst="roundRect">
            <a:avLst>
              <a:gd name="adj" fmla="val 20000"/>
            </a:avLst>
          </a:prstGeom>
          <a:solidFill>
            <a:srgbClr val="FFFFFF"/>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6934200" y="2743200"/>
            <a:ext cx="1778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258050" y="2724150"/>
            <a:ext cx="38100" cy="381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858000" y="2870200"/>
            <a:ext cx="508000" cy="127000"/>
          </a:xfrm>
          <a:prstGeom prst="roundRect">
            <a:avLst>
              <a:gd name="adj" fmla="val 20000"/>
            </a:avLst>
          </a:prstGeom>
          <a:solidFill>
            <a:srgbClr val="FFFFFF"/>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6934200" y="2933700"/>
            <a:ext cx="1778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7258050" y="2914650"/>
            <a:ext cx="38100" cy="381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918200" y="2857500"/>
            <a:ext cx="355600" cy="355600"/>
          </a:xfrm>
          <a:prstGeom prst="ellipse">
            <a:avLst/>
          </a:prstGeom>
          <a:solidFill>
            <a:srgbClr val="F8FAFC"/>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18200" y="2959100"/>
            <a:ext cx="355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5D6F82"/>
                </a:solidFill>
                <a:latin typeface="Arial"/>
              </a:rPr>
              <a:t>OR</a:t>
            </a:r>
          </a:p>
        </p:txBody>
      </p:sp>
      <p:cxnSp>
        <p:nvCxnSpPr>
          <p:cNvPr id="41" name="Connector 40"/>
          <p:cNvCxnSpPr/>
          <p:nvPr/>
        </p:nvCxnSpPr>
        <p:spPr>
          <a:xfrm flipV="1">
            <a:off x="5181600" y="4229100"/>
            <a:ext cx="0" cy="2159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3200400" y="4229100"/>
            <a:ext cx="1981200" cy="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200400" y="4013200"/>
            <a:ext cx="0" cy="21590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010400" y="4229100"/>
            <a:ext cx="0" cy="2159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010400" y="4229100"/>
            <a:ext cx="1981200" cy="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8991600" y="4013200"/>
            <a:ext cx="0" cy="21590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4216400" y="4445000"/>
            <a:ext cx="3759200" cy="660400"/>
          </a:xfrm>
          <a:prstGeom prst="roundRect">
            <a:avLst>
              <a:gd name="adj" fmla="val 1538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2"/>
          <a:stretch>
            <a:fillRect/>
          </a:stretch>
        </p:blipFill>
        <p:spPr>
          <a:xfrm>
            <a:off x="4394348" y="4546600"/>
            <a:ext cx="469603" cy="469900"/>
          </a:xfrm>
          <a:prstGeom prst="rect">
            <a:avLst/>
          </a:prstGeom>
        </p:spPr>
      </p:pic>
      <p:sp>
        <p:nvSpPr>
          <p:cNvPr id="49" name="TextBox 48"/>
          <p:cNvSpPr txBox="1"/>
          <p:nvPr/>
        </p:nvSpPr>
        <p:spPr>
          <a:xfrm>
            <a:off x="5041900" y="4521200"/>
            <a:ext cx="27432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ExternalDNS</a:t>
            </a:r>
          </a:p>
        </p:txBody>
      </p:sp>
      <p:sp>
        <p:nvSpPr>
          <p:cNvPr id="50" name="TextBox 49"/>
          <p:cNvSpPr txBox="1"/>
          <p:nvPr/>
        </p:nvSpPr>
        <p:spPr>
          <a:xfrm>
            <a:off x="5041900" y="4851400"/>
            <a:ext cx="2743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Updates parent-zone delegation</a:t>
            </a:r>
          </a:p>
        </p:txBody>
      </p:sp>
      <p:sp>
        <p:nvSpPr>
          <p:cNvPr id="51" name="Rounded Rectangle 50"/>
          <p:cNvSpPr/>
          <p:nvPr/>
        </p:nvSpPr>
        <p:spPr>
          <a:xfrm>
            <a:off x="609600" y="5321300"/>
            <a:ext cx="10972800" cy="952500"/>
          </a:xfrm>
          <a:prstGeom prst="roundRect">
            <a:avLst>
              <a:gd name="adj" fmla="val 10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63600" y="5461000"/>
            <a:ext cx="6350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B8C8D9"/>
                </a:solidFill>
                <a:latin typeface="Arial"/>
              </a:rPr>
              <a:t>SAME TRAFFIC STEERING IN EVERY CLUSTER</a:t>
            </a:r>
          </a:p>
        </p:txBody>
      </p:sp>
      <p:pic>
        <p:nvPicPr>
          <p:cNvPr id="53" name="Picture 52" descr="image.png"/>
          <p:cNvPicPr>
            <a:picLocks noChangeAspect="1"/>
          </p:cNvPicPr>
          <p:nvPr/>
        </p:nvPicPr>
        <p:blipFill>
          <a:blip r:embed="rId3"/>
          <a:stretch>
            <a:fillRect/>
          </a:stretch>
        </p:blipFill>
        <p:spPr>
          <a:xfrm>
            <a:off x="863600" y="5732415"/>
            <a:ext cx="393700" cy="384268"/>
          </a:xfrm>
          <a:prstGeom prst="rect">
            <a:avLst/>
          </a:prstGeom>
        </p:spPr>
      </p:pic>
      <p:sp>
        <p:nvSpPr>
          <p:cNvPr id="54" name="TextBox 53"/>
          <p:cNvSpPr txBox="1"/>
          <p:nvPr/>
        </p:nvSpPr>
        <p:spPr>
          <a:xfrm>
            <a:off x="1422400" y="5715000"/>
            <a:ext cx="24892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Gslb + k8gb</a:t>
            </a:r>
          </a:p>
        </p:txBody>
      </p:sp>
      <p:cxnSp>
        <p:nvCxnSpPr>
          <p:cNvPr id="55" name="Connector 54"/>
          <p:cNvCxnSpPr/>
          <p:nvPr/>
        </p:nvCxnSpPr>
        <p:spPr>
          <a:xfrm>
            <a:off x="4013200" y="5930900"/>
            <a:ext cx="711200" cy="0"/>
          </a:xfrm>
          <a:prstGeom prst="line">
            <a:avLst/>
          </a:prstGeom>
          <a:ln w="22860">
            <a:solidFill>
              <a:srgbClr val="B8C8D9"/>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56" name="Picture 55" descr="image.png"/>
          <p:cNvPicPr>
            <a:picLocks noChangeAspect="1"/>
          </p:cNvPicPr>
          <p:nvPr/>
        </p:nvPicPr>
        <p:blipFill>
          <a:blip r:embed="rId4"/>
          <a:stretch>
            <a:fillRect/>
          </a:stretch>
        </p:blipFill>
        <p:spPr>
          <a:xfrm>
            <a:off x="4953000" y="5727700"/>
            <a:ext cx="393700" cy="393700"/>
          </a:xfrm>
          <a:prstGeom prst="rect">
            <a:avLst/>
          </a:prstGeom>
        </p:spPr>
      </p:pic>
      <p:sp>
        <p:nvSpPr>
          <p:cNvPr id="57" name="TextBox 56"/>
          <p:cNvSpPr txBox="1"/>
          <p:nvPr/>
        </p:nvSpPr>
        <p:spPr>
          <a:xfrm>
            <a:off x="5499100" y="5715000"/>
            <a:ext cx="18923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CoreDNS</a:t>
            </a:r>
          </a:p>
        </p:txBody>
      </p:sp>
      <p:cxnSp>
        <p:nvCxnSpPr>
          <p:cNvPr id="58" name="Connector 57"/>
          <p:cNvCxnSpPr/>
          <p:nvPr/>
        </p:nvCxnSpPr>
        <p:spPr>
          <a:xfrm>
            <a:off x="7569200" y="5562600"/>
            <a:ext cx="0" cy="52070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848600" y="5499100"/>
            <a:ext cx="345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Your choice of parent DNS.</a:t>
            </a:r>
          </a:p>
        </p:txBody>
      </p:sp>
      <p:sp>
        <p:nvSpPr>
          <p:cNvPr id="60" name="TextBox 59"/>
          <p:cNvSpPr txBox="1"/>
          <p:nvPr/>
        </p:nvSpPr>
        <p:spPr>
          <a:xfrm>
            <a:off x="7848600" y="5854700"/>
            <a:ext cx="34544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B8C8D9"/>
                </a:solidFill>
                <a:latin typeface="Arial"/>
              </a:rPr>
              <a:t>Your Gslb strategy stays the same.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13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16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OBSERVABILITY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Compare the answers your users can receive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During a partition, compare the same hostname from each viewpoint.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19300"/>
            <a:ext cx="6756400" cy="3581400"/>
          </a:xfrm>
          <a:prstGeom prst="roundRect">
            <a:avLst>
              <a:gd name="adj" fmla="val 319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9000" y="2247900"/>
            <a:ext cx="6197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ILLUSTRATIVE PARTITION</a:t>
            </a:r>
          </a:p>
        </p:txBody>
      </p:sp>
      <p:sp>
        <p:nvSpPr>
          <p:cNvPr id="12" name="Rounded Rectangle 11"/>
          <p:cNvSpPr/>
          <p:nvPr/>
        </p:nvSpPr>
        <p:spPr>
          <a:xfrm>
            <a:off x="889000" y="2667000"/>
            <a:ext cx="4826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2"/>
          <a:stretch>
            <a:fillRect/>
          </a:stretch>
        </p:blipFill>
        <p:spPr>
          <a:xfrm>
            <a:off x="952500" y="2730500"/>
            <a:ext cx="355600" cy="355600"/>
          </a:xfrm>
          <a:prstGeom prst="rect">
            <a:avLst/>
          </a:prstGeom>
        </p:spPr>
      </p:pic>
      <p:sp>
        <p:nvSpPr>
          <p:cNvPr id="14" name="TextBox 13"/>
          <p:cNvSpPr txBox="1"/>
          <p:nvPr/>
        </p:nvSpPr>
        <p:spPr>
          <a:xfrm>
            <a:off x="1524000" y="2768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A</a:t>
            </a:r>
          </a:p>
        </p:txBody>
      </p:sp>
      <p:sp>
        <p:nvSpPr>
          <p:cNvPr id="15" name="Rounded Rectangle 14"/>
          <p:cNvSpPr/>
          <p:nvPr/>
        </p:nvSpPr>
        <p:spPr>
          <a:xfrm>
            <a:off x="4508500" y="2667000"/>
            <a:ext cx="25781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5500" y="2781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2762C8"/>
                </a:solidFill>
                <a:latin typeface="Arial"/>
              </a:rPr>
              <a:t>Cluster A IPs</a:t>
            </a:r>
          </a:p>
        </p:txBody>
      </p:sp>
      <p:cxnSp>
        <p:nvCxnSpPr>
          <p:cNvPr id="17" name="Connector 16"/>
          <p:cNvCxnSpPr/>
          <p:nvPr/>
        </p:nvCxnSpPr>
        <p:spPr>
          <a:xfrm>
            <a:off x="889000" y="3251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89000" y="3365500"/>
            <a:ext cx="4826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952500" y="3429000"/>
            <a:ext cx="355600" cy="355600"/>
          </a:xfrm>
          <a:prstGeom prst="rect">
            <a:avLst/>
          </a:prstGeom>
        </p:spPr>
      </p:pic>
      <p:sp>
        <p:nvSpPr>
          <p:cNvPr id="20" name="TextBox 19"/>
          <p:cNvSpPr txBox="1"/>
          <p:nvPr/>
        </p:nvSpPr>
        <p:spPr>
          <a:xfrm>
            <a:off x="1524000" y="3467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B</a:t>
            </a:r>
          </a:p>
        </p:txBody>
      </p:sp>
      <p:sp>
        <p:nvSpPr>
          <p:cNvPr id="21" name="Rounded Rectangle 20"/>
          <p:cNvSpPr/>
          <p:nvPr/>
        </p:nvSpPr>
        <p:spPr>
          <a:xfrm>
            <a:off x="4508500" y="3365500"/>
            <a:ext cx="25781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5500" y="3479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087F85"/>
                </a:solidFill>
                <a:latin typeface="Arial"/>
              </a:rPr>
              <a:t>Cluster B IPs</a:t>
            </a:r>
          </a:p>
        </p:txBody>
      </p:sp>
      <p:cxnSp>
        <p:nvCxnSpPr>
          <p:cNvPr id="23" name="Connector 22"/>
          <p:cNvCxnSpPr/>
          <p:nvPr/>
        </p:nvCxnSpPr>
        <p:spPr>
          <a:xfrm>
            <a:off x="889000" y="39497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89000" y="4064000"/>
            <a:ext cx="4826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0600" y="4165600"/>
            <a:ext cx="279400" cy="279400"/>
          </a:xfrm>
          <a:prstGeom prst="ellipse">
            <a:avLst/>
          </a:prstGeom>
          <a:solidFill>
            <a:srgbClr val="EFF3F7"/>
          </a:solidFill>
          <a:ln w="19050">
            <a:solidFill>
              <a:srgbClr val="5D6F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130300" y="4216400"/>
            <a:ext cx="0" cy="889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0300" y="4305300"/>
            <a:ext cx="76200" cy="381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24000" y="4165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Resolver cache</a:t>
            </a:r>
          </a:p>
        </p:txBody>
      </p:sp>
      <p:sp>
        <p:nvSpPr>
          <p:cNvPr id="29" name="Rounded Rectangle 28"/>
          <p:cNvSpPr/>
          <p:nvPr/>
        </p:nvSpPr>
        <p:spPr>
          <a:xfrm>
            <a:off x="4508500" y="4064000"/>
            <a:ext cx="25781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5500" y="4178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5D6F82"/>
                </a:solidFill>
                <a:latin typeface="Arial"/>
              </a:rPr>
              <a:t>May still return A</a:t>
            </a:r>
          </a:p>
        </p:txBody>
      </p:sp>
      <p:cxnSp>
        <p:nvCxnSpPr>
          <p:cNvPr id="31" name="Connector 30"/>
          <p:cNvCxnSpPr/>
          <p:nvPr/>
        </p:nvCxnSpPr>
        <p:spPr>
          <a:xfrm>
            <a:off x="889000" y="4648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89000" y="4762500"/>
            <a:ext cx="4826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0600" y="4876800"/>
            <a:ext cx="279400" cy="254000"/>
          </a:xfrm>
          <a:prstGeom prst="roundRect">
            <a:avLst>
              <a:gd name="adj" fmla="val 15000"/>
            </a:avLst>
          </a:prstGeom>
          <a:solidFill>
            <a:srgbClr val="FFFFFF"/>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90600" y="4953000"/>
            <a:ext cx="279400" cy="0"/>
          </a:xfrm>
          <a:prstGeom prst="line">
            <a:avLst/>
          </a:prstGeom>
          <a:ln w="12700">
            <a:solidFill>
              <a:srgbClr val="CF003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028700" y="4902200"/>
            <a:ext cx="25400" cy="25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1054100" y="5029200"/>
            <a:ext cx="50800" cy="508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04900" y="4991100"/>
            <a:ext cx="101600" cy="889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4000" y="4864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Real request</a:t>
            </a:r>
          </a:p>
        </p:txBody>
      </p:sp>
      <p:sp>
        <p:nvSpPr>
          <p:cNvPr id="39" name="Rounded Rectangle 38"/>
          <p:cNvSpPr/>
          <p:nvPr/>
        </p:nvSpPr>
        <p:spPr>
          <a:xfrm>
            <a:off x="4508500" y="4762500"/>
            <a:ext cx="25781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5500" y="4876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CF0035"/>
                </a:solidFill>
                <a:latin typeface="Arial"/>
              </a:rPr>
              <a:t>Verify the result</a:t>
            </a:r>
          </a:p>
        </p:txBody>
      </p:sp>
      <p:sp>
        <p:nvSpPr>
          <p:cNvPr id="41" name="Rounded Rectangle 40"/>
          <p:cNvSpPr/>
          <p:nvPr/>
        </p:nvSpPr>
        <p:spPr>
          <a:xfrm>
            <a:off x="7670800" y="2019300"/>
            <a:ext cx="3911600" cy="2133600"/>
          </a:xfrm>
          <a:prstGeom prst="roundRect">
            <a:avLst>
              <a:gd name="adj" fmla="val 535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24800" y="2247900"/>
            <a:ext cx="340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Correlate the signals</a:t>
            </a:r>
          </a:p>
        </p:txBody>
      </p:sp>
      <p:sp>
        <p:nvSpPr>
          <p:cNvPr id="43" name="Oval 42"/>
          <p:cNvSpPr/>
          <p:nvPr/>
        </p:nvSpPr>
        <p:spPr>
          <a:xfrm>
            <a:off x="7937500" y="2857500"/>
            <a:ext cx="101600" cy="101600"/>
          </a:xfrm>
          <a:prstGeom prst="ellipse">
            <a:avLst/>
          </a:prstGeom>
          <a:solidFill>
            <a:srgbClr val="78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78800" y="27813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Pod readiness</a:t>
            </a:r>
          </a:p>
        </p:txBody>
      </p:sp>
      <p:sp>
        <p:nvSpPr>
          <p:cNvPr id="45" name="Oval 44"/>
          <p:cNvSpPr/>
          <p:nvPr/>
        </p:nvSpPr>
        <p:spPr>
          <a:xfrm>
            <a:off x="7937500" y="3263900"/>
            <a:ext cx="101600" cy="101600"/>
          </a:xfrm>
          <a:prstGeom prst="ellipse">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78800" y="31877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k8gb errors and logs</a:t>
            </a:r>
          </a:p>
        </p:txBody>
      </p:sp>
      <p:sp>
        <p:nvSpPr>
          <p:cNvPr id="47" name="Oval 46"/>
          <p:cNvSpPr/>
          <p:nvPr/>
        </p:nvSpPr>
        <p:spPr>
          <a:xfrm>
            <a:off x="7937500" y="3670300"/>
            <a:ext cx="101600" cy="101600"/>
          </a:xfrm>
          <a:prstGeom prst="ellipse">
            <a:avLst/>
          </a:prstGeom>
          <a:solidFill>
            <a:srgbClr val="F79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78800" y="35941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Application results</a:t>
            </a:r>
          </a:p>
        </p:txBody>
      </p:sp>
      <p:sp>
        <p:nvSpPr>
          <p:cNvPr id="49" name="Rounded Rectangle 48"/>
          <p:cNvSpPr/>
          <p:nvPr/>
        </p:nvSpPr>
        <p:spPr>
          <a:xfrm>
            <a:off x="7670800" y="4330700"/>
            <a:ext cx="3911600" cy="1270000"/>
          </a:xfrm>
          <a:prstGeom prst="roundRect">
            <a:avLst>
              <a:gd name="adj" fmla="val 9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24800" y="4495800"/>
            <a:ext cx="340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METRIC EXAMPLE · ONE HOSTNAME</a:t>
            </a:r>
          </a:p>
        </p:txBody>
      </p:sp>
      <p:pic>
        <p:nvPicPr>
          <p:cNvPr id="51" name="Picture 50" descr="image.png"/>
          <p:cNvPicPr>
            <a:picLocks noChangeAspect="1"/>
          </p:cNvPicPr>
          <p:nvPr/>
        </p:nvPicPr>
        <p:blipFill>
          <a:blip r:embed="rId3"/>
          <a:stretch>
            <a:fillRect/>
          </a:stretch>
        </p:blipFill>
        <p:spPr>
          <a:xfrm>
            <a:off x="7924800" y="4787900"/>
            <a:ext cx="368300" cy="368300"/>
          </a:xfrm>
          <a:prstGeom prst="rect">
            <a:avLst/>
          </a:prstGeom>
        </p:spPr>
      </p:pic>
      <p:sp>
        <p:nvSpPr>
          <p:cNvPr id="52" name="TextBox 51"/>
          <p:cNvSpPr txBox="1"/>
          <p:nvPr/>
        </p:nvSpPr>
        <p:spPr>
          <a:xfrm>
            <a:off x="8445500" y="4813300"/>
            <a:ext cx="28829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1 cluster → 3 healthy IPs</a:t>
            </a:r>
          </a:p>
        </p:txBody>
      </p:sp>
      <p:sp>
        <p:nvSpPr>
          <p:cNvPr id="53" name="TextBox 52"/>
          <p:cNvSpPr txBox="1"/>
          <p:nvPr/>
        </p:nvSpPr>
        <p:spPr>
          <a:xfrm>
            <a:off x="7924800" y="5245100"/>
            <a:ext cx="34036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Healthy-record count: 3</a:t>
            </a:r>
          </a:p>
        </p:txBody>
      </p:sp>
      <p:sp>
        <p:nvSpPr>
          <p:cNvPr id="54" name="Rounded Rectangle 53"/>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Query both authorities. Check the cache. Test a real request.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Perform end-to-end resilience tests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Change one condition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1549400" y="1968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CHANGE ONE CONDITION</a:t>
            </a:r>
          </a:p>
        </p:txBody>
      </p:sp>
      <p:sp>
        <p:nvSpPr>
          <p:cNvPr id="11" name="TextBox 10"/>
          <p:cNvSpPr txBox="1"/>
          <p:nvPr/>
        </p:nvSpPr>
        <p:spPr>
          <a:xfrm>
            <a:off x="6807200" y="1968500"/>
            <a:ext cx="4495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VERIFY DNS + APPLICATION</a:t>
            </a:r>
          </a:p>
        </p:txBody>
      </p:sp>
      <p:sp>
        <p:nvSpPr>
          <p:cNvPr id="12" name="Rounded Rectangle 11"/>
          <p:cNvSpPr/>
          <p:nvPr/>
        </p:nvSpPr>
        <p:spPr>
          <a:xfrm>
            <a:off x="609600" y="23114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09600" y="22733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22300" y="2438400"/>
            <a:ext cx="0" cy="43180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2800" y="2400300"/>
            <a:ext cx="508000" cy="508000"/>
          </a:xfrm>
          <a:prstGeom prst="roundRect">
            <a:avLst>
              <a:gd name="adj" fmla="val 20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9800" y="2514600"/>
            <a:ext cx="254000" cy="279400"/>
          </a:xfrm>
          <a:prstGeom prst="roundRect">
            <a:avLst>
              <a:gd name="adj" fmla="val 15000"/>
            </a:avLst>
          </a:prstGeom>
          <a:solidFill>
            <a:srgbClr val="FFFFFF"/>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39800" y="2590800"/>
            <a:ext cx="2540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9779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87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549400" y="23749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Remove A’s ready endpoints</a:t>
            </a:r>
          </a:p>
        </p:txBody>
      </p:sp>
      <p:sp>
        <p:nvSpPr>
          <p:cNvPr id="23" name="TextBox 22"/>
          <p:cNvSpPr txBox="1"/>
          <p:nvPr/>
        </p:nvSpPr>
        <p:spPr>
          <a:xfrm>
            <a:off x="1562100" y="2730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01 · WORKLOAD FAILURE</a:t>
            </a:r>
          </a:p>
        </p:txBody>
      </p:sp>
      <p:cxnSp>
        <p:nvCxnSpPr>
          <p:cNvPr id="24" name="Connector 23"/>
          <p:cNvCxnSpPr/>
          <p:nvPr/>
        </p:nvCxnSpPr>
        <p:spPr>
          <a:xfrm>
            <a:off x="6172200" y="2654300"/>
            <a:ext cx="2794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04000" y="2349500"/>
            <a:ext cx="4826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07200" y="24003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Both DNS answers → B</a:t>
            </a:r>
          </a:p>
        </p:txBody>
      </p:sp>
      <p:sp>
        <p:nvSpPr>
          <p:cNvPr id="27" name="TextBox 26"/>
          <p:cNvSpPr txBox="1"/>
          <p:nvPr/>
        </p:nvSpPr>
        <p:spPr>
          <a:xfrm>
            <a:off x="6807200" y="27051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Verify successful requests to B.</a:t>
            </a:r>
          </a:p>
        </p:txBody>
      </p:sp>
      <p:sp>
        <p:nvSpPr>
          <p:cNvPr id="28" name="Rounded Rectangle 27"/>
          <p:cNvSpPr/>
          <p:nvPr/>
        </p:nvSpPr>
        <p:spPr>
          <a:xfrm>
            <a:off x="609600" y="31750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9600" y="31369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22300" y="3302000"/>
            <a:ext cx="0" cy="43180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2800" y="3263900"/>
            <a:ext cx="508000" cy="508000"/>
          </a:xfrm>
          <a:prstGeom prst="roundRect">
            <a:avLst>
              <a:gd name="adj" fmla="val 20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2"/>
          <a:stretch>
            <a:fillRect/>
          </a:stretch>
        </p:blipFill>
        <p:spPr>
          <a:xfrm>
            <a:off x="876300" y="3327400"/>
            <a:ext cx="381000" cy="381000"/>
          </a:xfrm>
          <a:prstGeom prst="rect">
            <a:avLst/>
          </a:prstGeom>
        </p:spPr>
      </p:pic>
      <p:sp>
        <p:nvSpPr>
          <p:cNvPr id="33" name="TextBox 32"/>
          <p:cNvSpPr txBox="1"/>
          <p:nvPr/>
        </p:nvSpPr>
        <p:spPr>
          <a:xfrm>
            <a:off x="1549400" y="32385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Make cluster A unavailable</a:t>
            </a:r>
          </a:p>
        </p:txBody>
      </p:sp>
      <p:sp>
        <p:nvSpPr>
          <p:cNvPr id="34" name="TextBox 33"/>
          <p:cNvSpPr txBox="1"/>
          <p:nvPr/>
        </p:nvSpPr>
        <p:spPr>
          <a:xfrm>
            <a:off x="1562100" y="35941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02 · CLUSTER FAILURE</a:t>
            </a:r>
          </a:p>
        </p:txBody>
      </p:sp>
      <p:cxnSp>
        <p:nvCxnSpPr>
          <p:cNvPr id="35" name="Connector 34"/>
          <p:cNvCxnSpPr/>
          <p:nvPr/>
        </p:nvCxnSpPr>
        <p:spPr>
          <a:xfrm>
            <a:off x="6172200" y="3517900"/>
            <a:ext cx="2794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04000" y="3213100"/>
            <a:ext cx="4826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7200" y="32639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087F85"/>
                </a:solidFill>
                <a:latin typeface="Arial"/>
              </a:rPr>
              <a:t>B serves DNS and application</a:t>
            </a:r>
          </a:p>
        </p:txBody>
      </p:sp>
      <p:sp>
        <p:nvSpPr>
          <p:cNvPr id="38" name="TextBox 37"/>
          <p:cNvSpPr txBox="1"/>
          <p:nvPr/>
        </p:nvSpPr>
        <p:spPr>
          <a:xfrm>
            <a:off x="6807200" y="35687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Test through a client resolver.</a:t>
            </a:r>
          </a:p>
        </p:txBody>
      </p:sp>
      <p:sp>
        <p:nvSpPr>
          <p:cNvPr id="39" name="Rounded Rectangle 38"/>
          <p:cNvSpPr/>
          <p:nvPr/>
        </p:nvSpPr>
        <p:spPr>
          <a:xfrm>
            <a:off x="609600" y="40386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09600" y="40005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22300" y="4165600"/>
            <a:ext cx="0" cy="431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2800" y="4127500"/>
            <a:ext cx="508000" cy="508000"/>
          </a:xfrm>
          <a:prstGeom prst="roundRect">
            <a:avLst>
              <a:gd name="adj" fmla="val 20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914400" y="4381500"/>
            <a:ext cx="304800" cy="0"/>
          </a:xfrm>
          <a:prstGeom prst="line">
            <a:avLst/>
          </a:prstGeom>
          <a:ln w="19050">
            <a:solidFill>
              <a:srgbClr val="CF0035"/>
            </a:solidFill>
            <a:prstDash val="dash"/>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8763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11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77900" y="4292600"/>
            <a:ext cx="177800" cy="177800"/>
          </a:xfrm>
          <a:prstGeom prst="ellipse">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549400" y="41021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Block B’s peer-health lookup</a:t>
            </a:r>
          </a:p>
        </p:txBody>
      </p:sp>
      <p:sp>
        <p:nvSpPr>
          <p:cNvPr id="50" name="TextBox 49"/>
          <p:cNvSpPr txBox="1"/>
          <p:nvPr/>
        </p:nvSpPr>
        <p:spPr>
          <a:xfrm>
            <a:off x="1562100" y="44577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03 · PEER DNS PARTITION</a:t>
            </a:r>
          </a:p>
        </p:txBody>
      </p:sp>
      <p:cxnSp>
        <p:nvCxnSpPr>
          <p:cNvPr id="51" name="Connector 50"/>
          <p:cNvCxnSpPr/>
          <p:nvPr/>
        </p:nvCxnSpPr>
        <p:spPr>
          <a:xfrm>
            <a:off x="6172200" y="4381500"/>
            <a:ext cx="279400" cy="0"/>
          </a:xfrm>
          <a:prstGeom prst="line">
            <a:avLst/>
          </a:prstGeom>
          <a:ln w="2032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604000" y="4076700"/>
            <a:ext cx="4826000" cy="609600"/>
          </a:xfrm>
          <a:prstGeom prst="roundRect">
            <a:avLst>
              <a:gd name="adj" fmla="val 125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07200" y="41275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CF0035"/>
                </a:solidFill>
                <a:latin typeface="Arial"/>
              </a:rPr>
              <a:t>A answers A · B answers B</a:t>
            </a:r>
          </a:p>
        </p:txBody>
      </p:sp>
      <p:sp>
        <p:nvSpPr>
          <p:cNvPr id="54" name="TextBox 53"/>
          <p:cNvSpPr txBox="1"/>
          <p:nvPr/>
        </p:nvSpPr>
        <p:spPr>
          <a:xfrm>
            <a:off x="6807200" y="44323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the impact on real requests.</a:t>
            </a:r>
          </a:p>
        </p:txBody>
      </p:sp>
      <p:sp>
        <p:nvSpPr>
          <p:cNvPr id="55" name="Rounded Rectangle 54"/>
          <p:cNvSpPr/>
          <p:nvPr/>
        </p:nvSpPr>
        <p:spPr>
          <a:xfrm>
            <a:off x="609600" y="49022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48641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622300" y="5029200"/>
            <a:ext cx="0" cy="431800"/>
          </a:xfrm>
          <a:prstGeom prst="line">
            <a:avLst/>
          </a:prstGeom>
          <a:ln w="38100">
            <a:solidFill>
              <a:srgbClr val="177C5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812800" y="4991100"/>
            <a:ext cx="508000" cy="508000"/>
          </a:xfrm>
          <a:prstGeom prst="roundRect">
            <a:avLst>
              <a:gd name="adj" fmla="val 20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1193273" y="5138975"/>
            <a:ext cx="16025" cy="22744"/>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209298" y="5161719"/>
            <a:ext cx="11977" cy="2511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221275" y="5186831"/>
            <a:ext cx="7591" cy="2676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28866" y="5213597"/>
            <a:ext cx="2989" cy="276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230156" y="5241258"/>
            <a:ext cx="1699" cy="2777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223819" y="5269028"/>
            <a:ext cx="6337" cy="2709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213023" y="5296118"/>
            <a:ext cx="10796" cy="2564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98074" y="5321760"/>
            <a:ext cx="14949" cy="2346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79397" y="5345225"/>
            <a:ext cx="18677" cy="2062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57523" y="5365846"/>
            <a:ext cx="21874" cy="1719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33073" y="5383039"/>
            <a:ext cx="24450" cy="1327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06741" y="5396314"/>
            <a:ext cx="26332" cy="898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079274" y="5405295"/>
            <a:ext cx="27467" cy="443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051453" y="5409485"/>
            <a:ext cx="27821" cy="24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024068" y="5404574"/>
            <a:ext cx="27385" cy="491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997897" y="5395134"/>
            <a:ext cx="26171" cy="944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73682" y="5381434"/>
            <a:ext cx="24215" cy="137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952111" y="5363863"/>
            <a:ext cx="21571" cy="1757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933798" y="5342918"/>
            <a:ext cx="18313" cy="2094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919261" y="5319196"/>
            <a:ext cx="14537" cy="2372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908914" y="5293370"/>
            <a:ext cx="10347" cy="2582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903050" y="5266173"/>
            <a:ext cx="5864" cy="27197"/>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901836" y="5238378"/>
            <a:ext cx="1214" cy="2779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1836" y="5210773"/>
            <a:ext cx="3471" cy="2760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905307" y="5184144"/>
            <a:ext cx="8057" cy="2662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913364" y="5159245"/>
            <a:ext cx="12414" cy="2489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925778" y="5136784"/>
            <a:ext cx="16419" cy="224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42197" y="5117399"/>
            <a:ext cx="19957" cy="1938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62154" y="5101641"/>
            <a:ext cx="22929" cy="15758"/>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5083" y="5089956"/>
            <a:ext cx="25249" cy="11685"/>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90600" y="5245100"/>
            <a:ext cx="50800" cy="508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41400" y="5181600"/>
            <a:ext cx="101600" cy="1143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549400" y="49657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Restore A’s readiness</a:t>
            </a:r>
          </a:p>
        </p:txBody>
      </p:sp>
      <p:sp>
        <p:nvSpPr>
          <p:cNvPr id="92" name="TextBox 91"/>
          <p:cNvSpPr txBox="1"/>
          <p:nvPr/>
        </p:nvSpPr>
        <p:spPr>
          <a:xfrm>
            <a:off x="1562100" y="53213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177C58"/>
                </a:solidFill>
                <a:latin typeface="Arial"/>
              </a:rPr>
              <a:t>04 · RECOVERY</a:t>
            </a:r>
          </a:p>
        </p:txBody>
      </p:sp>
      <p:cxnSp>
        <p:nvCxnSpPr>
          <p:cNvPr id="93" name="Connector 92"/>
          <p:cNvCxnSpPr/>
          <p:nvPr/>
        </p:nvCxnSpPr>
        <p:spPr>
          <a:xfrm>
            <a:off x="6172200" y="5245100"/>
            <a:ext cx="279400" cy="0"/>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6604000" y="4940300"/>
            <a:ext cx="4826000" cy="609600"/>
          </a:xfrm>
          <a:prstGeom prst="roundRect">
            <a:avLst>
              <a:gd name="adj" fmla="val 125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807200" y="49911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77C58"/>
                </a:solidFill>
                <a:latin typeface="Arial"/>
              </a:rPr>
              <a:t>Both DNS answers → A</a:t>
            </a:r>
          </a:p>
        </p:txBody>
      </p:sp>
      <p:sp>
        <p:nvSpPr>
          <p:cNvPr id="96" name="TextBox 95"/>
          <p:cNvSpPr txBox="1"/>
          <p:nvPr/>
        </p:nvSpPr>
        <p:spPr>
          <a:xfrm>
            <a:off x="6807200" y="52959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requests and data correctness.</a:t>
            </a:r>
          </a:p>
        </p:txBody>
      </p:sp>
      <p:sp>
        <p:nvSpPr>
          <p:cNvPr id="97" name="Rounded Rectangle 96"/>
          <p:cNvSpPr/>
          <p:nvPr/>
        </p:nvSpPr>
        <p:spPr>
          <a:xfrm>
            <a:off x="609600" y="58674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87400" y="59690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Time DNS convergence and the return of successful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19 / 20</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DISCUSSION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How would failover work in your environment?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33600"/>
            <a:ext cx="3556000" cy="4165600"/>
          </a:xfrm>
          <a:prstGeom prst="roundRect">
            <a:avLst>
              <a:gd name="adj" fmla="val 357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16572"/>
            <a:ext cx="431800" cy="421455"/>
          </a:xfrm>
          <a:prstGeom prst="rect">
            <a:avLst/>
          </a:prstGeom>
        </p:spPr>
      </p:pic>
      <p:sp>
        <p:nvSpPr>
          <p:cNvPr id="13" name="TextBox 12"/>
          <p:cNvSpPr txBox="1"/>
          <p:nvPr/>
        </p:nvSpPr>
        <p:spPr>
          <a:xfrm>
            <a:off x="1460500" y="2362200"/>
            <a:ext cx="24511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Explore k8gb</a:t>
            </a:r>
          </a:p>
        </p:txBody>
      </p:sp>
      <p:pic>
        <p:nvPicPr>
          <p:cNvPr id="14" name="Picture 13" descr="image.png"/>
          <p:cNvPicPr>
            <a:picLocks noChangeAspect="1"/>
          </p:cNvPicPr>
          <p:nvPr/>
        </p:nvPicPr>
        <p:blipFill>
          <a:blip r:embed="rId3"/>
          <a:stretch>
            <a:fillRect/>
          </a:stretch>
        </p:blipFill>
        <p:spPr>
          <a:xfrm>
            <a:off x="889000" y="2857500"/>
            <a:ext cx="2997200" cy="2997200"/>
          </a:xfrm>
          <a:prstGeom prst="rect">
            <a:avLst/>
          </a:prstGeom>
        </p:spPr>
      </p:pic>
      <p:sp>
        <p:nvSpPr>
          <p:cNvPr id="15" name="TextBox 14"/>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6" name="Rounded Rectangle 15"/>
          <p:cNvSpPr/>
          <p:nvPr/>
        </p:nvSpPr>
        <p:spPr>
          <a:xfrm>
            <a:off x="4572000" y="2133600"/>
            <a:ext cx="7010400" cy="1397000"/>
          </a:xfrm>
          <a:prstGeom prst="roundRect">
            <a:avLst>
              <a:gd name="adj" fmla="val 9090"/>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2082800"/>
            <a:ext cx="7010400" cy="1397000"/>
          </a:xfrm>
          <a:prstGeom prst="roundRect">
            <a:avLst>
              <a:gd name="adj" fmla="val 909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826000" y="2349500"/>
            <a:ext cx="558800" cy="558800"/>
          </a:xfrm>
          <a:prstGeom prst="roundRect">
            <a:avLst>
              <a:gd name="adj" fmla="val 20454"/>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029200" y="2451100"/>
            <a:ext cx="152400" cy="152400"/>
          </a:xfrm>
          <a:prstGeom prst="ellipse">
            <a:avLst/>
          </a:prstGeom>
          <a:solidFill>
            <a:srgbClr val="1A3047"/>
          </a:solidFill>
          <a:ln w="1905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49530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9530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016500" y="2641600"/>
            <a:ext cx="177800" cy="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943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578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88000" y="2273300"/>
            <a:ext cx="56896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Yury Tsarev</a:t>
            </a:r>
          </a:p>
        </p:txBody>
      </p:sp>
      <p:sp>
        <p:nvSpPr>
          <p:cNvPr id="26" name="TextBox 25"/>
          <p:cNvSpPr txBox="1"/>
          <p:nvPr/>
        </p:nvSpPr>
        <p:spPr>
          <a:xfrm>
            <a:off x="5588000" y="2692400"/>
            <a:ext cx="568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Creator &amp; Project Lead · k8gb</a:t>
            </a:r>
          </a:p>
        </p:txBody>
      </p:sp>
      <p:sp>
        <p:nvSpPr>
          <p:cNvPr id="27" name="TextBox 26"/>
          <p:cNvSpPr txBox="1"/>
          <p:nvPr/>
        </p:nvSpPr>
        <p:spPr>
          <a:xfrm>
            <a:off x="5588000" y="3048000"/>
            <a:ext cx="56896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5"/>
              </a:rPr>
              <a:t>linkedin.com/in/yurytsarev</a:t>
            </a:r>
          </a:p>
        </p:txBody>
      </p:sp>
      <p:sp>
        <p:nvSpPr>
          <p:cNvPr id="28" name="Rounded Rectangle 27"/>
          <p:cNvSpPr/>
          <p:nvPr/>
        </p:nvSpPr>
        <p:spPr>
          <a:xfrm>
            <a:off x="4572000" y="3759200"/>
            <a:ext cx="7010400" cy="1092200"/>
          </a:xfrm>
          <a:prstGeom prst="roundRect">
            <a:avLst>
              <a:gd name="adj" fmla="val 1046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572000" y="3708400"/>
            <a:ext cx="7010400" cy="1092200"/>
          </a:xfrm>
          <a:prstGeom prst="roundRect">
            <a:avLst>
              <a:gd name="adj" fmla="val 104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826000" y="4000500"/>
            <a:ext cx="381000" cy="381000"/>
          </a:xfrm>
          <a:prstGeom prst="roundRect">
            <a:avLst>
              <a:gd name="adj" fmla="val 23333"/>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H="1">
            <a:off x="48895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895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0673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0673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35600" y="38989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SOURCE &amp; CONTRIBUTIONS</a:t>
            </a:r>
          </a:p>
        </p:txBody>
      </p:sp>
      <p:sp>
        <p:nvSpPr>
          <p:cNvPr id="36" name="TextBox 35"/>
          <p:cNvSpPr txBox="1"/>
          <p:nvPr/>
        </p:nvSpPr>
        <p:spPr>
          <a:xfrm>
            <a:off x="5435600" y="4241800"/>
            <a:ext cx="58928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hlinkClick r:id="rId6"/>
              </a:rPr>
              <a:t>github.com/k8gb-io/k8gb</a:t>
            </a:r>
          </a:p>
        </p:txBody>
      </p:sp>
      <p:sp>
        <p:nvSpPr>
          <p:cNvPr id="37" name="Rounded Rectangle 36"/>
          <p:cNvSpPr/>
          <p:nvPr/>
        </p:nvSpPr>
        <p:spPr>
          <a:xfrm>
            <a:off x="4572000" y="5054600"/>
            <a:ext cx="7010400" cy="1193800"/>
          </a:xfrm>
          <a:prstGeom prst="roundRect">
            <a:avLst>
              <a:gd name="adj" fmla="val 957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72000" y="5003800"/>
            <a:ext cx="7010400" cy="1193800"/>
          </a:xfrm>
          <a:prstGeom prst="roundRect">
            <a:avLst>
              <a:gd name="adj" fmla="val 95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26000" y="5295900"/>
            <a:ext cx="381000" cy="381000"/>
          </a:xfrm>
          <a:prstGeom prst="roundRect">
            <a:avLst>
              <a:gd name="adj" fmla="val 233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927600" y="5359400"/>
            <a:ext cx="177800" cy="254000"/>
          </a:xfrm>
          <a:prstGeom prst="roundRect">
            <a:avLst>
              <a:gd name="adj" fmla="val 14285"/>
            </a:avLst>
          </a:prstGeom>
          <a:solidFill>
            <a:srgbClr val="E8F4F3"/>
          </a:solidFill>
          <a:ln w="1524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4978400" y="54356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978400" y="54864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978400" y="55372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435600" y="51943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PRODUCTION CASE STUDY</a:t>
            </a:r>
          </a:p>
        </p:txBody>
      </p:sp>
      <p:sp>
        <p:nvSpPr>
          <p:cNvPr id="45" name="TextBox 44"/>
          <p:cNvSpPr txBox="1"/>
          <p:nvPr/>
        </p:nvSpPr>
        <p:spPr>
          <a:xfrm>
            <a:off x="5435600" y="5473700"/>
            <a:ext cx="58928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Millennium bcp</a:t>
            </a:r>
          </a:p>
        </p:txBody>
      </p:sp>
      <p:sp>
        <p:nvSpPr>
          <p:cNvPr id="46" name="TextBox 45"/>
          <p:cNvSpPr txBox="1"/>
          <p:nvPr/>
        </p:nvSpPr>
        <p:spPr>
          <a:xfrm>
            <a:off x="5435600" y="5905500"/>
            <a:ext cx="58928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087F85"/>
                </a:solidFill>
                <a:latin typeface="Arial"/>
                <a:hlinkClick r:id="rId7"/>
              </a:rPr>
              <a:t>cncf.io/case-studies/millennium-bcp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A4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A5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A6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