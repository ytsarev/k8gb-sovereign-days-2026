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27; reserve eight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detailed delegation remains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8–9.25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9.25–10.25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11:15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11.25–17.25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17:15 elapsed.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17.25–18.75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18.75–20.75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20.75–22.75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the combined test plan and the checks we perform for every fault.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22.75–24.25 minutes elapsed.</a:t>
            </a:r>
          </a:p>
          <a:p/>
          <a:p>
            <a:r>
              <a:t>Spend 90 seconds on one test plan. Start from A as the configured primary and B healthy; reset to that baseline between independent fault tests. Stop the app in A means remove all ready application endpoints while both authorities remain reachable: after reconciliation, both should publish B and real requests should succeed there. For loss of cluster A, verify surviving B DNS and application access through a client resolver. For the health-lookup test, block B from obtaining A’s peer-health answer through all query paths while both applications remain ready and both authorities remain reachable to clients. Compare the same hostname at both authorities: A may answer A while B answers B. Divergence is a possible observation to investigate, not the success criterion or a guarantee for every partition. For recovery, restore A’s readiness and peer visibility, then verify automatic failback for new requests; existing connections do not move with a DNS change. In every test, query both authorities, inspect a representative client resolver’s cached answer, and send a real application request. Record when DNS changes and when successful requests return; correlate readiness and controller logs if they disagree. Verify application and data correctness as appropriate; DNS steering does not provide database promotion or fencing. The local demo covered application endpoint loss and recovery; the other rows extend that test coverage. Finish this section by 24:15 elapsed.</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24.25–25.25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25:15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25.25–26.25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26:15 elapsed, move from the public adopter logos to the Millennium bcp case study. Questions follow at minute 27.</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26.25–27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27.</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8 minutes.</a:t>
            </a:r>
          </a:p>
          <a:p/>
          <a:p>
            <a:r>
              <a:t>RUN OF SHOW: 27–35 minutes elapsed.</a:t>
            </a:r>
          </a:p>
          <a:p/>
          <a:p>
            <a:r>
              <a:t>Reserve eight minutes for questions, from minute 27 to minute 35. Leave the QR code, GitHub, Slack, community-calendar, adopters and LinkedIn links visible. Hidden appendix slides follow: A1 delegation (physical slide 22), A2 normal state (23), A3 failover (24), A4 failback (25), A5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Test failover with real requests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Test one change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863600" y="2070100"/>
            <a:ext cx="488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CHANGE</a:t>
            </a:r>
          </a:p>
        </p:txBody>
      </p:sp>
      <p:sp>
        <p:nvSpPr>
          <p:cNvPr id="11" name="TextBox 10"/>
          <p:cNvSpPr txBox="1"/>
          <p:nvPr/>
        </p:nvSpPr>
        <p:spPr>
          <a:xfrm>
            <a:off x="6756400" y="2070100"/>
            <a:ext cx="4572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CHECK</a:t>
            </a:r>
          </a:p>
        </p:txBody>
      </p:sp>
      <p:sp>
        <p:nvSpPr>
          <p:cNvPr id="12" name="Rounded Rectangle 11"/>
          <p:cNvSpPr/>
          <p:nvPr/>
        </p:nvSpPr>
        <p:spPr>
          <a:xfrm>
            <a:off x="609600" y="2387600"/>
            <a:ext cx="10972800" cy="3098800"/>
          </a:xfrm>
          <a:prstGeom prst="roundRect">
            <a:avLst>
              <a:gd name="adj" fmla="val 368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3600" y="26162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the app in A</a:t>
            </a:r>
          </a:p>
        </p:txBody>
      </p:sp>
      <p:cxnSp>
        <p:nvCxnSpPr>
          <p:cNvPr id="14" name="Connector 13"/>
          <p:cNvCxnSpPr/>
          <p:nvPr/>
        </p:nvCxnSpPr>
        <p:spPr>
          <a:xfrm>
            <a:off x="6019800" y="27813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756400" y="26289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the application</a:t>
            </a:r>
          </a:p>
        </p:txBody>
      </p:sp>
      <p:cxnSp>
        <p:nvCxnSpPr>
          <p:cNvPr id="16" name="Connector 15"/>
          <p:cNvCxnSpPr/>
          <p:nvPr/>
        </p:nvCxnSpPr>
        <p:spPr>
          <a:xfrm>
            <a:off x="863600" y="31623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600" y="33909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cluster A</a:t>
            </a:r>
          </a:p>
        </p:txBody>
      </p:sp>
      <p:cxnSp>
        <p:nvCxnSpPr>
          <p:cNvPr id="18" name="Connector 17"/>
          <p:cNvCxnSpPr/>
          <p:nvPr/>
        </p:nvCxnSpPr>
        <p:spPr>
          <a:xfrm>
            <a:off x="6019800" y="35560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6400" y="34036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DNS and the application</a:t>
            </a:r>
          </a:p>
        </p:txBody>
      </p:sp>
      <p:cxnSp>
        <p:nvCxnSpPr>
          <p:cNvPr id="20" name="Connector 19"/>
          <p:cNvCxnSpPr/>
          <p:nvPr/>
        </p:nvCxnSpPr>
        <p:spPr>
          <a:xfrm>
            <a:off x="863600" y="39370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63600" y="41656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Block B’s health lookup to A</a:t>
            </a:r>
          </a:p>
        </p:txBody>
      </p:sp>
      <p:cxnSp>
        <p:nvCxnSpPr>
          <p:cNvPr id="22" name="Connector 21"/>
          <p:cNvCxnSpPr/>
          <p:nvPr/>
        </p:nvCxnSpPr>
        <p:spPr>
          <a:xfrm>
            <a:off x="6019800" y="43307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6400" y="41783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Compare both DNS answers</a:t>
            </a:r>
          </a:p>
        </p:txBody>
      </p:sp>
      <p:cxnSp>
        <p:nvCxnSpPr>
          <p:cNvPr id="24" name="Connector 23"/>
          <p:cNvCxnSpPr/>
          <p:nvPr/>
        </p:nvCxnSpPr>
        <p:spPr>
          <a:xfrm>
            <a:off x="863600" y="47117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3600" y="49403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Restore A</a:t>
            </a:r>
          </a:p>
        </p:txBody>
      </p:sp>
      <p:cxnSp>
        <p:nvCxnSpPr>
          <p:cNvPr id="26" name="Connector 25"/>
          <p:cNvCxnSpPr/>
          <p:nvPr/>
        </p:nvCxnSpPr>
        <p:spPr>
          <a:xfrm>
            <a:off x="6019800" y="51054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6400" y="49530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New requests return to A</a:t>
            </a:r>
          </a:p>
        </p:txBody>
      </p:sp>
      <p:sp>
        <p:nvSpPr>
          <p:cNvPr id="28" name="Rounded Rectangle 27"/>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7400" y="5892800"/>
            <a:ext cx="106172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42338"/>
                </a:solidFill>
                <a:latin typeface="Arial"/>
              </a:rPr>
              <a:t>Query both authorities. Check the client’s cache. Send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18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