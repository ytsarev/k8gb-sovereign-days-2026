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same three components. The parent directs resolvers to the cluster authorities. Peer health is learned by querying peer CoreDNS; the controllers do not elect a central leader. Two of N clusters are shown. Use the next slide to explain the three component roles.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26–28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Invite questions by minute 28.</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project links and LinkedIn contact visible. Hidden appendix slides follow: A1 reconciliation (physical slide 21), A2 delegation (22), A3 normal state (23), A4 failover (24), A5 failback (25), A6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reachability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24" name="Rounded Rectangle 23"/>
          <p:cNvSpPr/>
          <p:nvPr/>
        </p:nvSpPr>
        <p:spPr>
          <a:xfrm>
            <a:off x="8382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4183472"/>
            <a:ext cx="431800" cy="421455"/>
          </a:xfrm>
          <a:prstGeom prst="rect">
            <a:avLst/>
          </a:prstGeom>
        </p:spPr>
      </p:pic>
      <p:sp>
        <p:nvSpPr>
          <p:cNvPr id="27" name="TextBox 26"/>
          <p:cNvSpPr txBox="1"/>
          <p:nvPr/>
        </p:nvSpPr>
        <p:spPr>
          <a:xfrm>
            <a:off x="15494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4178300"/>
            <a:ext cx="431800" cy="431800"/>
          </a:xfrm>
          <a:prstGeom prst="rect">
            <a:avLst/>
          </a:prstGeom>
        </p:spPr>
      </p:pic>
      <p:sp>
        <p:nvSpPr>
          <p:cNvPr id="31" name="TextBox 30"/>
          <p:cNvSpPr txBox="1"/>
          <p:nvPr/>
        </p:nvSpPr>
        <p:spPr>
          <a:xfrm>
            <a:off x="38354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3815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34" name="TextBox 33"/>
          <p:cNvSpPr txBox="1"/>
          <p:nvPr/>
        </p:nvSpPr>
        <p:spPr>
          <a:xfrm>
            <a:off x="8382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sp>
        <p:nvSpPr>
          <p:cNvPr id="35" name="Rounded Rectangle 34"/>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38" name="Rounded Rectangle 37"/>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mage.png"/>
          <p:cNvPicPr>
            <a:picLocks noChangeAspect="1"/>
          </p:cNvPicPr>
          <p:nvPr/>
        </p:nvPicPr>
        <p:blipFill>
          <a:blip r:embed="rId2"/>
          <a:stretch>
            <a:fillRect/>
          </a:stretch>
        </p:blipFill>
        <p:spPr>
          <a:xfrm>
            <a:off x="7836060" y="2933700"/>
            <a:ext cx="507679" cy="508000"/>
          </a:xfrm>
          <a:prstGeom prst="rect">
            <a:avLst/>
          </a:prstGeom>
        </p:spPr>
      </p:pic>
      <p:sp>
        <p:nvSpPr>
          <p:cNvPr id="40" name="TextBox 39"/>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41" name="Connector 40"/>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088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44" name="Rounded Rectangle 43"/>
          <p:cNvSpPr/>
          <p:nvPr/>
        </p:nvSpPr>
        <p:spPr>
          <a:xfrm>
            <a:off x="69088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08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3"/>
          <a:stretch>
            <a:fillRect/>
          </a:stretch>
        </p:blipFill>
        <p:spPr>
          <a:xfrm>
            <a:off x="7061200" y="4183472"/>
            <a:ext cx="431800" cy="421455"/>
          </a:xfrm>
          <a:prstGeom prst="rect">
            <a:avLst/>
          </a:prstGeom>
        </p:spPr>
      </p:pic>
      <p:sp>
        <p:nvSpPr>
          <p:cNvPr id="47" name="TextBox 46"/>
          <p:cNvSpPr txBox="1"/>
          <p:nvPr/>
        </p:nvSpPr>
        <p:spPr>
          <a:xfrm>
            <a:off x="76200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48" name="Rounded Rectangle 47"/>
          <p:cNvSpPr/>
          <p:nvPr/>
        </p:nvSpPr>
        <p:spPr>
          <a:xfrm>
            <a:off x="91948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94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png"/>
          <p:cNvPicPr>
            <a:picLocks noChangeAspect="1"/>
          </p:cNvPicPr>
          <p:nvPr/>
        </p:nvPicPr>
        <p:blipFill>
          <a:blip r:embed="rId4"/>
          <a:stretch>
            <a:fillRect/>
          </a:stretch>
        </p:blipFill>
        <p:spPr>
          <a:xfrm>
            <a:off x="9347200" y="4178300"/>
            <a:ext cx="431800" cy="431800"/>
          </a:xfrm>
          <a:prstGeom prst="rect">
            <a:avLst/>
          </a:prstGeom>
        </p:spPr>
      </p:pic>
      <p:sp>
        <p:nvSpPr>
          <p:cNvPr id="51" name="TextBox 50"/>
          <p:cNvSpPr txBox="1"/>
          <p:nvPr/>
        </p:nvSpPr>
        <p:spPr>
          <a:xfrm>
            <a:off x="99060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52" name="Connector 51"/>
          <p:cNvCxnSpPr/>
          <p:nvPr/>
        </p:nvCxnSpPr>
        <p:spPr>
          <a:xfrm>
            <a:off x="8686800" y="43815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4074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54" name="TextBox 53"/>
          <p:cNvSpPr txBox="1"/>
          <p:nvPr/>
        </p:nvSpPr>
        <p:spPr>
          <a:xfrm>
            <a:off x="69088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cxnSp>
        <p:nvCxnSpPr>
          <p:cNvPr id="55" name="Connector 54"/>
          <p:cNvCxnSpPr/>
          <p:nvPr/>
        </p:nvCxnSpPr>
        <p:spPr>
          <a:xfrm flipH="1">
            <a:off x="431800" y="43942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318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17602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353800" y="43942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61" name="TextBox 60"/>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