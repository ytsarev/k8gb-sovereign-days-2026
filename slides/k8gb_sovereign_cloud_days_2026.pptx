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29:00 elapsed; reserve six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End by zooming into the independent-cluster case on the next slide.</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1.75–2.25 minutes elapsed.</a:t>
            </a:r>
          </a:p>
          <a:p/>
          <a:p>
            <a:r>
              <a:t>Spend 30 seconds zooming into the right-hand panel of the previous slide. This illustrative topology deploys the same application in three independent Kubernetes clusters: A in Europe on Cloud 1, B in North America on Cloud 2, and C in an on-premises datacenter in Asia Pacific. The provider and region labels are examples, not a prescribed deployment or a claim that a single cluster spans them. Cloud 1 and Cloud 2 represent different providers; the third site makes the example hybrid. Clients use one application hostname. A is unavailable; B and C are healthy candidate destinations. The connectors show the hostname’s logical destinations, not a central HTTP proxy, data replication or the detailed DNS lookup path. The chosen traffic strategy determines which healthy targets are returned; the picture does not prescribe a fixed fallback order or simultaneous traffic to both. Ask which healthy cluster should receive the next request, then introduce k8gb as Kubernetes Global Balancer. Keep DNS components, cache timing and data-recovery detail for the later slides.</a:t>
            </a:r>
          </a:p>
          <a:p/>
          <a:p>
            <a:r>
              <a:t>SOURCE CHECK</a:t>
            </a:r>
          </a:p>
          <a:p>
            <a:r>
              <a:t>Local k8gb checkout: 330d33335981b9716bc8ca245660d90893eae272</a:t>
            </a:r>
          </a:p>
          <a:p>
            <a:r>
              <a:t>https://github.com/k8gb-io/k8gb/blob/330d33335981b9716bc8ca245660d90893eae272/README.md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2.25–3.25 minutes elapsed.</a:t>
            </a:r>
          </a:p>
          <a:p/>
          <a:p>
            <a:r>
              <a:t>Start by expanding the name: k8gb means Kubernetes Global Balancer. It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3.25–3.75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3.75–4.75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4.75–5.5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5.5–6.5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6.5–7.5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after the demo recap.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7.5–8.5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8.5–9.5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9.5–10.75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10.75–11.75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11.75–12.75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12:45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12.75–18.75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18:45 elapsed. Return to the normal-operation recap slide at 18:45 elapsed. Use the next three diagrams for a one-minute summary of A → B → A before starting Part 2 at 19:45. The recap follows the observed run; it is not a second demonstration.</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18.75–19 minutes elapsed.</a:t>
            </a:r>
          </a:p>
          <a:p/>
          <a:p>
            <a:r>
              <a:t>15 seconds. Summarize the baseline from the demo: A/eu and B/us were both ready, and both CoreDNS authorities returned A because eu was the configured primary. Point to the two matching A answers. Both authorities were active; this is application target preference, not a DNS-master election. Advance to the fault without repeating the architecture walkthrough.</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19–19.5 minutes elapsed.</a:t>
            </a:r>
          </a:p>
          <a:p/>
          <a:p>
            <a:r>
              <a:t>30 seconds. Summarize the injected fault: we removed A/eu’s ready application endpoints while its CoreDNS authority stayed reachable. After the controllers reconciled and learned peer health through DNS, both authorities returned B/us application IPs; the HTTP observer then showed successful requests from B. The matching answers describe convergence with peer visibility, not an instantaneous switch. Client caches could still hold A, and existing connections did not migrate. This was workload failure, not a whole-cluster outage. Point to A’s UNREADY badge and the two B answers, then advance.</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19.5–19.75 minutes elapsed.</a:t>
            </a:r>
          </a:p>
          <a:p/>
          <a:p>
            <a:r>
              <a:t>15 seconds. Summarize recovery: we restored A/eu’s original replica count, its application became ready again, and the primary preference automatically returned both authoritative answers to A. The observer verified the return of successful requests from A. Point to the READY badge and matching A answers. End the recap at 19:45 elapsed. Transition to Part 2 using the footer: the authorities agree after reconciliation, but clients can still hold cached answers. Now examine what determines the time until a real request succeeds. Save readiness, partition and data-safety detail for the following slides.</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19.75–21.25 minutes elapsed.</a:t>
            </a:r>
          </a:p>
          <a:p/>
          <a:p>
            <a:r>
              <a:t>Start Part 2 at 19:45 elapsed, using the recap footer about cache lag as the transition: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21.25–22.75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22.75–24.25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24.25–25.25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Turn these responsibilities into the four repeatable testing steps on the next slide.</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25.25–26.75 minutes elapsed.</a:t>
            </a:r>
          </a:p>
          <a:p/>
          <a:p>
            <a:r>
              <a:t>Spend 90 seconds closing the technical section with four actions. Define expectations: version the Gslb manifest and specify where traffic should go during normal operation, failure and recovery for the strategy you actually use. Rehearse scenarios: repeat the demo approach with your own applications, DNS and network. Test workload failure, cluster loss, peer-health partitions and restoration as separate scenarios, resetting to a known baseline each time. The local demo covered workload endpoint loss and recovery; other scenarios need their own rehearsal. For failover, verify the expected primary-to-secondary-to-primary sequence; for other Gslb strategies, verify their configured routing behavior. Verify the result: compare the same hostname at the relevant authorities and a representative client resolver, send real application requests, and measure DNS convergence and the return of successful operations. Interpret different answers against the configured strategy and observation point. In a peer-health partition, divergent answers can occur and must be investigated; agreement alone does not prove application correctness. Automate and repeat: run these checks after configuration, application or infrastructure changes. k8gb automatically reconciles traffic steering; the team automates validation of the complete request path. Retain the distinction between traffic, data and session recovery without repeating the previous slide. Rehearsal establishes evidence for the tested environment and conditions, not a guarantee for every failure. Keep the detailed scenarios in these notes; speak to the four short actions on screen. Finish at 26:45 elapsed, then invite participation through the community slide.</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26.75–27.75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27:45 elapsed, move from the public adopter logos to the Millennium bcp case study. The sovereignty closing follows the case study at 28:30 elapsed; Questions starts at 29:00.</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27.75–28.5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return to the sovereignty theme at 28:30 elapsed.</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28.5–29 minutes elapsed.</a:t>
            </a:r>
          </a:p>
          <a:p/>
          <a:p>
            <a:r>
              <a:t>Spend 30 seconds returning to the opening question: who controls the failover? Point to the three cards once. Environment agnostic: k8gb runs on conformant Kubernetes across cloud, on-premises and hybrid environments; your team chooses the infrastructure and participating locations. Distributed DNS: each participating cluster runs a k8gb controller and its own authoritative CoreDNS for the delegated zone. This is the k8gb DNS component, separate from Kubernetes internal service discovery. Own your DNS: the parent can be a self-hosted BIND9 deployment, with delegation to those cluster CoreDNS authorities; the local demo used this arrangement. BIND9 does not replace the per-cluster CoreDNS role. The project is open source, and the configured Gslb strategy drives automatic steering. Close with the footer: you define the traffic strategy; k8gb automates it. Move to Questions at 29:00. Keep the detailed architecture and operating qualifications in the earlier slides; this closing summarizes infrastructure and DNS control, not a compliance guarantee.</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https://github.com/k8gb-io/k8gb/blob/330d33335981b9716bc8ca245660d90893eae272/docs/components.md</a:t>
            </a:r>
          </a:p>
          <a:p>
            <a:r>
              <a:t>https://github.com/k8gb-io/k8gb/blob/330d33335981b9716bc8ca245660d90893eae272/docs/provider_rfc2136.md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29–35 minutes elapsed.</a:t>
            </a:r>
          </a:p>
          <a:p/>
          <a:p>
            <a:r>
              <a:t>Reserve six minutes for questions, from 29:00 to 35:00 elapsed. Leave the QR code, GitHub, Slack, community-calendar, adopters and LinkedIn links visible. Questions is the final slide. If a question needs the failover-state diagrams, revisit the demo recap on slides 16–18. All 27 slides are part of the main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27</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ACROSS CLUSTERS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MULTI-REGION · MULTI-CLOUD · HYBRID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One application across regions and clouds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The same application in three independent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5156200" y="2717800"/>
            <a:ext cx="0" cy="279400"/>
          </a:xfrm>
          <a:prstGeom prst="line">
            <a:avLst/>
          </a:prstGeom>
          <a:ln w="2159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311400" y="2997200"/>
            <a:ext cx="2844800" cy="0"/>
          </a:xfrm>
          <a:prstGeom prst="line">
            <a:avLst/>
          </a:prstGeom>
          <a:ln w="2159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311400" y="2997200"/>
            <a:ext cx="0" cy="292100"/>
          </a:xfrm>
          <a:prstGeom prst="line">
            <a:avLst/>
          </a:prstGeom>
          <a:ln w="2159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6000" y="2717800"/>
            <a:ext cx="0" cy="5715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5800" y="2717800"/>
            <a:ext cx="0" cy="2794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035800" y="2997200"/>
            <a:ext cx="28448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80600" y="2997200"/>
            <a:ext cx="0" cy="2921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165600" y="1917700"/>
            <a:ext cx="3860800" cy="800100"/>
          </a:xfrm>
          <a:prstGeom prst="roundRect">
            <a:avLst>
              <a:gd name="adj" fmla="val 1428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2044700"/>
            <a:ext cx="35052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B8C8D9"/>
                </a:solidFill>
                <a:latin typeface="Arial"/>
              </a:rPr>
              <a:t>ONE APPLICATION HOSTNAME</a:t>
            </a:r>
          </a:p>
        </p:txBody>
      </p:sp>
      <p:sp>
        <p:nvSpPr>
          <p:cNvPr id="19" name="TextBox 18"/>
          <p:cNvSpPr txBox="1"/>
          <p:nvPr/>
        </p:nvSpPr>
        <p:spPr>
          <a:xfrm>
            <a:off x="4343400" y="2286000"/>
            <a:ext cx="3505200" cy="374015"/>
          </a:xfrm>
          <a:prstGeom prst="rect">
            <a:avLst/>
          </a:prstGeom>
          <a:noFill/>
        </p:spPr>
        <p:txBody>
          <a:bodyPr wrap="none" lIns="0" rIns="0" tIns="0" bIns="0" anchor="t">
            <a:noAutofit/>
          </a:bodyPr>
          <a:lstStyle/>
          <a:p>
            <a:pPr algn="ctr">
              <a:lnSpc>
                <a:spcPts val="2645"/>
              </a:lnSpc>
              <a:spcBef>
                <a:spcPts val="0"/>
              </a:spcBef>
              <a:spcAft>
                <a:spcPts val="0"/>
              </a:spcAft>
            </a:pPr>
            <a:r>
              <a:rPr sz="2300" b="0">
                <a:solidFill>
                  <a:srgbClr val="FFFFFF"/>
                </a:solidFill>
                <a:latin typeface="Courier New"/>
              </a:rPr>
              <a:t>app.example.com</a:t>
            </a:r>
          </a:p>
        </p:txBody>
      </p:sp>
      <p:sp>
        <p:nvSpPr>
          <p:cNvPr id="20" name="Rounded Rectangle 19"/>
          <p:cNvSpPr/>
          <p:nvPr/>
        </p:nvSpPr>
        <p:spPr>
          <a:xfrm>
            <a:off x="6096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838200" y="33020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36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CLOUD 1</a:t>
            </a:r>
          </a:p>
        </p:txBody>
      </p:sp>
      <p:sp>
        <p:nvSpPr>
          <p:cNvPr id="23" name="Oval 22"/>
          <p:cNvSpPr/>
          <p:nvPr/>
        </p:nvSpPr>
        <p:spPr>
          <a:xfrm>
            <a:off x="3556000" y="3429000"/>
            <a:ext cx="254000" cy="254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632200" y="3505200"/>
            <a:ext cx="101600" cy="101600"/>
          </a:xfrm>
          <a:prstGeom prst="line">
            <a:avLst/>
          </a:prstGeom>
          <a:ln w="2159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32200" y="3505200"/>
            <a:ext cx="101600" cy="101600"/>
          </a:xfrm>
          <a:prstGeom prst="line">
            <a:avLst/>
          </a:prstGeom>
          <a:ln w="21590">
            <a:solidFill>
              <a:srgbClr val="FFFFF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636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Europe</a:t>
            </a:r>
          </a:p>
        </p:txBody>
      </p:sp>
      <p:pic>
        <p:nvPicPr>
          <p:cNvPr id="27" name="Picture 26" descr="image.png"/>
          <p:cNvPicPr>
            <a:picLocks noChangeAspect="1"/>
          </p:cNvPicPr>
          <p:nvPr/>
        </p:nvPicPr>
        <p:blipFill>
          <a:blip r:embed="rId2"/>
          <a:stretch>
            <a:fillRect/>
          </a:stretch>
        </p:blipFill>
        <p:spPr>
          <a:xfrm>
            <a:off x="863600" y="4203700"/>
            <a:ext cx="495300" cy="495300"/>
          </a:xfrm>
          <a:prstGeom prst="rect">
            <a:avLst/>
          </a:prstGeom>
        </p:spPr>
      </p:pic>
      <p:sp>
        <p:nvSpPr>
          <p:cNvPr id="28" name="TextBox 27"/>
          <p:cNvSpPr txBox="1"/>
          <p:nvPr/>
        </p:nvSpPr>
        <p:spPr>
          <a:xfrm>
            <a:off x="15621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A</a:t>
            </a:r>
          </a:p>
        </p:txBody>
      </p:sp>
      <p:sp>
        <p:nvSpPr>
          <p:cNvPr id="29" name="Rounded Rectangle 28"/>
          <p:cNvSpPr/>
          <p:nvPr/>
        </p:nvSpPr>
        <p:spPr>
          <a:xfrm>
            <a:off x="838200" y="4889500"/>
            <a:ext cx="2946400" cy="419100"/>
          </a:xfrm>
          <a:prstGeom prst="roundRect">
            <a:avLst>
              <a:gd name="adj" fmla="val 1818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98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Application · OFFLINE</a:t>
            </a:r>
          </a:p>
        </p:txBody>
      </p:sp>
      <p:sp>
        <p:nvSpPr>
          <p:cNvPr id="31" name="Rounded Rectangle 30"/>
          <p:cNvSpPr/>
          <p:nvPr/>
        </p:nvSpPr>
        <p:spPr>
          <a:xfrm>
            <a:off x="43942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4622800" y="33020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482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CLOUD 2</a:t>
            </a:r>
          </a:p>
        </p:txBody>
      </p:sp>
      <p:sp>
        <p:nvSpPr>
          <p:cNvPr id="34" name="Oval 33"/>
          <p:cNvSpPr/>
          <p:nvPr/>
        </p:nvSpPr>
        <p:spPr>
          <a:xfrm>
            <a:off x="7340600" y="3429000"/>
            <a:ext cx="254000" cy="2540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404100" y="3556000"/>
            <a:ext cx="50800" cy="508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7454900" y="3505200"/>
            <a:ext cx="889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6482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North America</a:t>
            </a:r>
          </a:p>
        </p:txBody>
      </p:sp>
      <p:pic>
        <p:nvPicPr>
          <p:cNvPr id="38" name="Picture 37" descr="image.png"/>
          <p:cNvPicPr>
            <a:picLocks noChangeAspect="1"/>
          </p:cNvPicPr>
          <p:nvPr/>
        </p:nvPicPr>
        <p:blipFill>
          <a:blip r:embed="rId2"/>
          <a:stretch>
            <a:fillRect/>
          </a:stretch>
        </p:blipFill>
        <p:spPr>
          <a:xfrm>
            <a:off x="4648200" y="4203700"/>
            <a:ext cx="495300" cy="495300"/>
          </a:xfrm>
          <a:prstGeom prst="rect">
            <a:avLst/>
          </a:prstGeom>
        </p:spPr>
      </p:pic>
      <p:sp>
        <p:nvSpPr>
          <p:cNvPr id="39" name="TextBox 38"/>
          <p:cNvSpPr txBox="1"/>
          <p:nvPr/>
        </p:nvSpPr>
        <p:spPr>
          <a:xfrm>
            <a:off x="53467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B</a:t>
            </a:r>
          </a:p>
        </p:txBody>
      </p:sp>
      <p:sp>
        <p:nvSpPr>
          <p:cNvPr id="40" name="Rounded Rectangle 39"/>
          <p:cNvSpPr/>
          <p:nvPr/>
        </p:nvSpPr>
        <p:spPr>
          <a:xfrm>
            <a:off x="4622800" y="4889500"/>
            <a:ext cx="2946400" cy="419100"/>
          </a:xfrm>
          <a:prstGeom prst="roundRect">
            <a:avLst>
              <a:gd name="adj" fmla="val 1818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244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Application · READY</a:t>
            </a:r>
          </a:p>
        </p:txBody>
      </p:sp>
      <p:sp>
        <p:nvSpPr>
          <p:cNvPr id="42" name="Rounded Rectangle 41"/>
          <p:cNvSpPr/>
          <p:nvPr/>
        </p:nvSpPr>
        <p:spPr>
          <a:xfrm>
            <a:off x="81788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3020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328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ON-PREMISES</a:t>
            </a:r>
          </a:p>
        </p:txBody>
      </p:sp>
      <p:sp>
        <p:nvSpPr>
          <p:cNvPr id="45" name="Oval 44"/>
          <p:cNvSpPr/>
          <p:nvPr/>
        </p:nvSpPr>
        <p:spPr>
          <a:xfrm>
            <a:off x="11125200" y="3429000"/>
            <a:ext cx="254000" cy="2540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188700" y="3556000"/>
            <a:ext cx="50800" cy="508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1239500" y="3505200"/>
            <a:ext cx="889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4328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Asia Pacific</a:t>
            </a:r>
          </a:p>
        </p:txBody>
      </p:sp>
      <p:pic>
        <p:nvPicPr>
          <p:cNvPr id="49" name="Picture 48" descr="image.png"/>
          <p:cNvPicPr>
            <a:picLocks noChangeAspect="1"/>
          </p:cNvPicPr>
          <p:nvPr/>
        </p:nvPicPr>
        <p:blipFill>
          <a:blip r:embed="rId2"/>
          <a:stretch>
            <a:fillRect/>
          </a:stretch>
        </p:blipFill>
        <p:spPr>
          <a:xfrm>
            <a:off x="8432800" y="4203700"/>
            <a:ext cx="495300" cy="495300"/>
          </a:xfrm>
          <a:prstGeom prst="rect">
            <a:avLst/>
          </a:prstGeom>
        </p:spPr>
      </p:pic>
      <p:sp>
        <p:nvSpPr>
          <p:cNvPr id="50" name="TextBox 49"/>
          <p:cNvSpPr txBox="1"/>
          <p:nvPr/>
        </p:nvSpPr>
        <p:spPr>
          <a:xfrm>
            <a:off x="91313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C</a:t>
            </a:r>
          </a:p>
        </p:txBody>
      </p:sp>
      <p:sp>
        <p:nvSpPr>
          <p:cNvPr id="51" name="Rounded Rectangle 50"/>
          <p:cNvSpPr/>
          <p:nvPr/>
        </p:nvSpPr>
        <p:spPr>
          <a:xfrm>
            <a:off x="8407400" y="4889500"/>
            <a:ext cx="2946400" cy="419100"/>
          </a:xfrm>
          <a:prstGeom prst="roundRect">
            <a:avLst>
              <a:gd name="adj" fmla="val 1818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090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Application · READY</a:t>
            </a:r>
          </a:p>
        </p:txBody>
      </p:sp>
      <p:sp>
        <p:nvSpPr>
          <p:cNvPr id="53" name="Rounded Rectangle 52"/>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Which healthy cluster should receive the next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 Kubernetes Global Balancer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15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21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23 / 27</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825500"/>
            <a:ext cx="9271000" cy="1080516"/>
          </a:xfrm>
          <a:prstGeom prst="rect">
            <a:avLst/>
          </a:prstGeom>
          <a:noFill/>
        </p:spPr>
        <p:txBody>
          <a:bodyPr wrap="none" lIns="0" rIns="0" tIns="0" bIns="0" anchor="t">
            <a:noAutofit/>
          </a:bodyPr>
          <a:lstStyle/>
          <a:p>
            <a:pPr algn="l">
              <a:lnSpc>
                <a:spcPts val="4104"/>
              </a:lnSpc>
              <a:spcBef>
                <a:spcPts val="0"/>
              </a:spcBef>
              <a:spcAft>
                <a:spcPts val="0"/>
              </a:spcAft>
            </a:pPr>
            <a:r>
              <a:rPr sz="3800" b="1">
                <a:solidFill>
                  <a:srgbClr val="FFFFFF"/>
                </a:solidFill>
                <a:latin typeface="Arial"/>
              </a:rPr>
              <a:t>Test your traffic strategy</a:t>
            </a:r>
          </a:p>
          <a:p>
            <a:pPr algn="l">
              <a:lnSpc>
                <a:spcPts val="4104"/>
              </a:lnSpc>
              <a:spcBef>
                <a:spcPts val="0"/>
              </a:spcBef>
              <a:spcAft>
                <a:spcPts val="0"/>
              </a:spcAft>
            </a:pPr>
            <a:r>
              <a:rPr sz="3800" b="1">
                <a:solidFill>
                  <a:srgbClr val="FFFFFF"/>
                </a:solidFill>
                <a:latin typeface="Arial"/>
              </a:rPr>
              <a:t>in your environment</a:t>
            </a:r>
          </a:p>
        </p:txBody>
      </p:sp>
      <p:pic>
        <p:nvPicPr>
          <p:cNvPr id="9" name="Picture 8" descr="image.png"/>
          <p:cNvPicPr>
            <a:picLocks noChangeAspect="1"/>
          </p:cNvPicPr>
          <p:nvPr/>
        </p:nvPicPr>
        <p:blipFill>
          <a:blip r:embed="rId2"/>
          <a:stretch>
            <a:fillRect/>
          </a:stretch>
        </p:blipFill>
        <p:spPr>
          <a:xfrm>
            <a:off x="10388600" y="915086"/>
            <a:ext cx="1117600" cy="1090827"/>
          </a:xfrm>
          <a:prstGeom prst="rect">
            <a:avLst/>
          </a:prstGeom>
        </p:spPr>
      </p:pic>
      <p:sp>
        <p:nvSpPr>
          <p:cNvPr id="10" name="TextBox 9"/>
          <p:cNvSpPr txBox="1"/>
          <p:nvPr/>
        </p:nvSpPr>
        <p:spPr>
          <a:xfrm>
            <a:off x="812800" y="24257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3ADFF"/>
                </a:solidFill>
                <a:latin typeface="Arial"/>
              </a:rPr>
              <a:t>Define expectations</a:t>
            </a:r>
          </a:p>
        </p:txBody>
      </p:sp>
      <p:sp>
        <p:nvSpPr>
          <p:cNvPr id="11" name="TextBox 10"/>
          <p:cNvSpPr txBox="1"/>
          <p:nvPr/>
        </p:nvSpPr>
        <p:spPr>
          <a:xfrm>
            <a:off x="5029200" y="24511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Expected routing for each scenario.</a:t>
            </a:r>
          </a:p>
        </p:txBody>
      </p:sp>
      <p:cxnSp>
        <p:nvCxnSpPr>
          <p:cNvPr id="12" name="Connector 11"/>
          <p:cNvCxnSpPr/>
          <p:nvPr/>
        </p:nvCxnSpPr>
        <p:spPr>
          <a:xfrm>
            <a:off x="812800" y="29845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2800" y="32004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66CBC9"/>
                </a:solidFill>
                <a:latin typeface="Arial"/>
              </a:rPr>
              <a:t>Rehearse scenarios</a:t>
            </a:r>
          </a:p>
        </p:txBody>
      </p:sp>
      <p:sp>
        <p:nvSpPr>
          <p:cNvPr id="14" name="TextBox 13"/>
          <p:cNvSpPr txBox="1"/>
          <p:nvPr/>
        </p:nvSpPr>
        <p:spPr>
          <a:xfrm>
            <a:off x="5029200" y="32258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Failures and recovery in your environment.</a:t>
            </a:r>
          </a:p>
        </p:txBody>
      </p:sp>
      <p:cxnSp>
        <p:nvCxnSpPr>
          <p:cNvPr id="15" name="Connector 14"/>
          <p:cNvCxnSpPr/>
          <p:nvPr/>
        </p:nvCxnSpPr>
        <p:spPr>
          <a:xfrm>
            <a:off x="812800" y="37592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2800" y="39751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79BB0"/>
                </a:solidFill>
                <a:latin typeface="Arial"/>
              </a:rPr>
              <a:t>Verify the result</a:t>
            </a:r>
          </a:p>
        </p:txBody>
      </p:sp>
      <p:sp>
        <p:nvSpPr>
          <p:cNvPr id="17" name="TextBox 16"/>
          <p:cNvSpPr txBox="1"/>
          <p:nvPr/>
        </p:nvSpPr>
        <p:spPr>
          <a:xfrm>
            <a:off x="5029200" y="40005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DNS answers, real requests and timing.</a:t>
            </a:r>
          </a:p>
        </p:txBody>
      </p:sp>
      <p:cxnSp>
        <p:nvCxnSpPr>
          <p:cNvPr id="18" name="Connector 17"/>
          <p:cNvCxnSpPr/>
          <p:nvPr/>
        </p:nvCxnSpPr>
        <p:spPr>
          <a:xfrm>
            <a:off x="812800" y="45339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47498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ED1AF"/>
                </a:solidFill>
                <a:latin typeface="Arial"/>
              </a:rPr>
              <a:t>Automate and repeat</a:t>
            </a:r>
          </a:p>
        </p:txBody>
      </p:sp>
      <p:sp>
        <p:nvSpPr>
          <p:cNvPr id="20" name="TextBox 19"/>
          <p:cNvSpPr txBox="1"/>
          <p:nvPr/>
        </p:nvSpPr>
        <p:spPr>
          <a:xfrm>
            <a:off x="5029200" y="47752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Run the checks after changes.</a:t>
            </a:r>
          </a:p>
        </p:txBody>
      </p:sp>
      <p:sp>
        <p:nvSpPr>
          <p:cNvPr id="21" name="Rounded Rectangle 20"/>
          <p:cNvSpPr/>
          <p:nvPr/>
        </p:nvSpPr>
        <p:spPr>
          <a:xfrm>
            <a:off x="609600" y="5727700"/>
            <a:ext cx="10972800" cy="520700"/>
          </a:xfrm>
          <a:prstGeom prst="roundRect">
            <a:avLst>
              <a:gd name="adj" fmla="val 1707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854700"/>
            <a:ext cx="105156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Validate failover, failback, and every Gslb strategy you rely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25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SOVEREIGNTY WITH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26 / 27</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825500"/>
            <a:ext cx="9271000" cy="1135380"/>
          </a:xfrm>
          <a:prstGeom prst="rect">
            <a:avLst/>
          </a:prstGeom>
          <a:noFill/>
        </p:spPr>
        <p:txBody>
          <a:bodyPr wrap="none" lIns="0" rIns="0" tIns="0" bIns="0" anchor="t">
            <a:noAutofit/>
          </a:bodyPr>
          <a:lstStyle/>
          <a:p>
            <a:pPr algn="l">
              <a:lnSpc>
                <a:spcPts val="4320"/>
              </a:lnSpc>
              <a:spcBef>
                <a:spcPts val="0"/>
              </a:spcBef>
              <a:spcAft>
                <a:spcPts val="0"/>
              </a:spcAft>
            </a:pPr>
            <a:r>
              <a:rPr sz="4000" b="1">
                <a:solidFill>
                  <a:srgbClr val="FFFFFF"/>
                </a:solidFill>
                <a:latin typeface="Arial"/>
              </a:rPr>
              <a:t>Your infrastructure.</a:t>
            </a:r>
          </a:p>
          <a:p>
            <a:pPr algn="l">
              <a:lnSpc>
                <a:spcPts val="4320"/>
              </a:lnSpc>
              <a:spcBef>
                <a:spcPts val="0"/>
              </a:spcBef>
              <a:spcAft>
                <a:spcPts val="0"/>
              </a:spcAft>
            </a:pPr>
            <a:r>
              <a:rPr sz="4000" b="1">
                <a:solidFill>
                  <a:srgbClr val="FFFFFF"/>
                </a:solidFill>
                <a:latin typeface="Arial"/>
              </a:rPr>
              <a:t>Your DNS. Your failover.</a:t>
            </a:r>
          </a:p>
        </p:txBody>
      </p:sp>
      <p:pic>
        <p:nvPicPr>
          <p:cNvPr id="9" name="Picture 8" descr="image.png"/>
          <p:cNvPicPr>
            <a:picLocks noChangeAspect="1"/>
          </p:cNvPicPr>
          <p:nvPr/>
        </p:nvPicPr>
        <p:blipFill>
          <a:blip r:embed="rId2"/>
          <a:stretch>
            <a:fillRect/>
          </a:stretch>
        </p:blipFill>
        <p:spPr>
          <a:xfrm>
            <a:off x="10388600" y="940486"/>
            <a:ext cx="1117600" cy="1090827"/>
          </a:xfrm>
          <a:prstGeom prst="rect">
            <a:avLst/>
          </a:prstGeom>
        </p:spPr>
      </p:pic>
      <p:sp>
        <p:nvSpPr>
          <p:cNvPr id="10" name="Rounded Rectangle 9"/>
          <p:cNvSpPr/>
          <p:nvPr/>
        </p:nvSpPr>
        <p:spPr>
          <a:xfrm>
            <a:off x="609600" y="2654300"/>
            <a:ext cx="3352800" cy="2705100"/>
          </a:xfrm>
          <a:prstGeom prst="roundRect">
            <a:avLst>
              <a:gd name="adj" fmla="val 4225"/>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12800" y="2654300"/>
            <a:ext cx="29464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2800" y="2870200"/>
            <a:ext cx="609600" cy="609600"/>
          </a:xfrm>
          <a:prstGeom prst="roundRect">
            <a:avLst>
              <a:gd name="adj" fmla="val 187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png"/>
          <p:cNvPicPr>
            <a:picLocks noChangeAspect="1"/>
          </p:cNvPicPr>
          <p:nvPr/>
        </p:nvPicPr>
        <p:blipFill>
          <a:blip r:embed="rId3"/>
          <a:stretch>
            <a:fillRect/>
          </a:stretch>
        </p:blipFill>
        <p:spPr>
          <a:xfrm>
            <a:off x="876300" y="2933700"/>
            <a:ext cx="482600" cy="482600"/>
          </a:xfrm>
          <a:prstGeom prst="rect">
            <a:avLst/>
          </a:prstGeom>
        </p:spPr>
      </p:pic>
      <p:sp>
        <p:nvSpPr>
          <p:cNvPr id="14" name="TextBox 13"/>
          <p:cNvSpPr txBox="1"/>
          <p:nvPr/>
        </p:nvSpPr>
        <p:spPr>
          <a:xfrm>
            <a:off x="812800" y="3683000"/>
            <a:ext cx="2946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Environment agnostic</a:t>
            </a:r>
          </a:p>
        </p:txBody>
      </p:sp>
      <p:sp>
        <p:nvSpPr>
          <p:cNvPr id="15" name="TextBox 14"/>
          <p:cNvSpPr txBox="1"/>
          <p:nvPr/>
        </p:nvSpPr>
        <p:spPr>
          <a:xfrm>
            <a:off x="812800" y="4178300"/>
            <a:ext cx="2946400" cy="921257"/>
          </a:xfrm>
          <a:prstGeom prst="rect">
            <a:avLst/>
          </a:prstGeom>
          <a:noFill/>
        </p:spPr>
        <p:txBody>
          <a:bodyPr wrap="none" lIns="0" rIns="0" tIns="0" bIns="0" anchor="t">
            <a:noAutofit/>
          </a:bodyPr>
          <a:lstStyle/>
          <a:p>
            <a:pPr algn="l">
              <a:lnSpc>
                <a:spcPts val="2318"/>
              </a:lnSpc>
              <a:spcBef>
                <a:spcPts val="0"/>
              </a:spcBef>
              <a:spcAft>
                <a:spcPts val="0"/>
              </a:spcAft>
            </a:pPr>
            <a:r>
              <a:rPr sz="1900" b="0">
                <a:solidFill>
                  <a:srgbClr val="FFFFFF"/>
                </a:solidFill>
                <a:latin typeface="Arial"/>
              </a:rPr>
              <a:t>Conformant Kubernetes.</a:t>
            </a:r>
          </a:p>
          <a:p>
            <a:pPr algn="l">
              <a:lnSpc>
                <a:spcPts val="2318"/>
              </a:lnSpc>
              <a:spcBef>
                <a:spcPts val="0"/>
              </a:spcBef>
              <a:spcAft>
                <a:spcPts val="0"/>
              </a:spcAft>
            </a:pPr>
            <a:r>
              <a:rPr sz="1900" b="0">
                <a:solidFill>
                  <a:srgbClr val="FFFFFF"/>
                </a:solidFill>
                <a:latin typeface="Arial"/>
              </a:rPr>
              <a:t>Cloud, on-premises,</a:t>
            </a:r>
          </a:p>
          <a:p>
            <a:pPr algn="l">
              <a:lnSpc>
                <a:spcPts val="2318"/>
              </a:lnSpc>
              <a:spcBef>
                <a:spcPts val="0"/>
              </a:spcBef>
              <a:spcAft>
                <a:spcPts val="0"/>
              </a:spcAft>
            </a:pPr>
            <a:r>
              <a:rPr sz="1900" b="0">
                <a:solidFill>
                  <a:srgbClr val="FFFFFF"/>
                </a:solidFill>
                <a:latin typeface="Arial"/>
              </a:rPr>
              <a:t>or hybrid.</a:t>
            </a:r>
          </a:p>
        </p:txBody>
      </p:sp>
      <p:sp>
        <p:nvSpPr>
          <p:cNvPr id="16" name="Rounded Rectangle 15"/>
          <p:cNvSpPr/>
          <p:nvPr/>
        </p:nvSpPr>
        <p:spPr>
          <a:xfrm>
            <a:off x="4419600" y="2654300"/>
            <a:ext cx="3352800" cy="2705100"/>
          </a:xfrm>
          <a:prstGeom prst="roundRect">
            <a:avLst>
              <a:gd name="adj" fmla="val 4225"/>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22800" y="2654300"/>
            <a:ext cx="29464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22800" y="2870200"/>
            <a:ext cx="609600" cy="609600"/>
          </a:xfrm>
          <a:prstGeom prst="roundRect">
            <a:avLst>
              <a:gd name="adj" fmla="val 187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4"/>
          <a:stretch>
            <a:fillRect/>
          </a:stretch>
        </p:blipFill>
        <p:spPr>
          <a:xfrm>
            <a:off x="4686300" y="2933700"/>
            <a:ext cx="482600" cy="482600"/>
          </a:xfrm>
          <a:prstGeom prst="rect">
            <a:avLst/>
          </a:prstGeom>
        </p:spPr>
      </p:pic>
      <p:sp>
        <p:nvSpPr>
          <p:cNvPr id="20" name="TextBox 19"/>
          <p:cNvSpPr txBox="1"/>
          <p:nvPr/>
        </p:nvSpPr>
        <p:spPr>
          <a:xfrm>
            <a:off x="4622800" y="3683000"/>
            <a:ext cx="2946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Distributed DNS</a:t>
            </a:r>
          </a:p>
        </p:txBody>
      </p:sp>
      <p:sp>
        <p:nvSpPr>
          <p:cNvPr id="21" name="TextBox 20"/>
          <p:cNvSpPr txBox="1"/>
          <p:nvPr/>
        </p:nvSpPr>
        <p:spPr>
          <a:xfrm>
            <a:off x="4622800" y="4178300"/>
            <a:ext cx="2946400" cy="921257"/>
          </a:xfrm>
          <a:prstGeom prst="rect">
            <a:avLst/>
          </a:prstGeom>
          <a:noFill/>
        </p:spPr>
        <p:txBody>
          <a:bodyPr wrap="none" lIns="0" rIns="0" tIns="0" bIns="0" anchor="t">
            <a:noAutofit/>
          </a:bodyPr>
          <a:lstStyle/>
          <a:p>
            <a:pPr algn="l">
              <a:lnSpc>
                <a:spcPts val="2318"/>
              </a:lnSpc>
              <a:spcBef>
                <a:spcPts val="0"/>
              </a:spcBef>
              <a:spcAft>
                <a:spcPts val="0"/>
              </a:spcAft>
            </a:pPr>
            <a:r>
              <a:rPr sz="1900" b="0">
                <a:solidFill>
                  <a:srgbClr val="FFFFFF"/>
                </a:solidFill>
                <a:latin typeface="Arial"/>
              </a:rPr>
              <a:t>k8gb + authoritative</a:t>
            </a:r>
          </a:p>
          <a:p>
            <a:pPr algn="l">
              <a:lnSpc>
                <a:spcPts val="2318"/>
              </a:lnSpc>
              <a:spcBef>
                <a:spcPts val="0"/>
              </a:spcBef>
              <a:spcAft>
                <a:spcPts val="0"/>
              </a:spcAft>
            </a:pPr>
            <a:r>
              <a:rPr sz="1900" b="0">
                <a:solidFill>
                  <a:srgbClr val="FFFFFF"/>
                </a:solidFill>
                <a:latin typeface="Arial"/>
              </a:rPr>
              <a:t>CoreDNS in each</a:t>
            </a:r>
          </a:p>
          <a:p>
            <a:pPr algn="l">
              <a:lnSpc>
                <a:spcPts val="2318"/>
              </a:lnSpc>
              <a:spcBef>
                <a:spcPts val="0"/>
              </a:spcBef>
              <a:spcAft>
                <a:spcPts val="0"/>
              </a:spcAft>
            </a:pPr>
            <a:r>
              <a:rPr sz="1900" b="0">
                <a:solidFill>
                  <a:srgbClr val="FFFFFF"/>
                </a:solidFill>
                <a:latin typeface="Arial"/>
              </a:rPr>
              <a:t>participating cluster.</a:t>
            </a:r>
          </a:p>
        </p:txBody>
      </p:sp>
      <p:sp>
        <p:nvSpPr>
          <p:cNvPr id="22" name="Rounded Rectangle 21"/>
          <p:cNvSpPr/>
          <p:nvPr/>
        </p:nvSpPr>
        <p:spPr>
          <a:xfrm>
            <a:off x="8229600" y="2654300"/>
            <a:ext cx="3352800" cy="2705100"/>
          </a:xfrm>
          <a:prstGeom prst="roundRect">
            <a:avLst>
              <a:gd name="adj" fmla="val 4225"/>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8432800" y="2654300"/>
            <a:ext cx="29464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432800" y="2870200"/>
            <a:ext cx="609600" cy="609600"/>
          </a:xfrm>
          <a:prstGeom prst="roundRect">
            <a:avLst>
              <a:gd name="adj" fmla="val 187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534400" y="2971800"/>
            <a:ext cx="406400" cy="406400"/>
          </a:xfrm>
          <a:prstGeom prst="ellipse">
            <a:avLst/>
          </a:prstGeom>
          <a:solidFill>
            <a:srgbClr val="FFFFFF"/>
          </a:solidFill>
          <a:ln w="1905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a:off x="8821079" y="3175000"/>
            <a:ext cx="1865" cy="42247"/>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8815565" y="3217247"/>
            <a:ext cx="5514" cy="40401"/>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8806644" y="3257648"/>
            <a:ext cx="8921" cy="3678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794706" y="3294437"/>
            <a:ext cx="11938" cy="3157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8780272" y="3326007"/>
            <a:ext cx="14434" cy="2496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8763972" y="3350976"/>
            <a:ext cx="16300" cy="1727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8746520" y="3368254"/>
            <a:ext cx="17452" cy="8832"/>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8728679" y="3377086"/>
            <a:ext cx="17841" cy="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8711227" y="3368254"/>
            <a:ext cx="17452" cy="8832"/>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8694928" y="3350976"/>
            <a:ext cx="16299" cy="1727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8680493" y="3326007"/>
            <a:ext cx="14435" cy="2496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8668555" y="3294437"/>
            <a:ext cx="11938" cy="3157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8659634" y="3257648"/>
            <a:ext cx="8921" cy="3678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8654120" y="3217247"/>
            <a:ext cx="5514" cy="40401"/>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8652256" y="3175000"/>
            <a:ext cx="1864" cy="42247"/>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8652256" y="3132752"/>
            <a:ext cx="1864" cy="4224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8654120" y="3092351"/>
            <a:ext cx="5514" cy="40401"/>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8659634" y="3055562"/>
            <a:ext cx="8921" cy="3678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8668555" y="3023992"/>
            <a:ext cx="11938" cy="3157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680493" y="2999023"/>
            <a:ext cx="14435" cy="2496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694928" y="2981745"/>
            <a:ext cx="16299" cy="1727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711227" y="2972913"/>
            <a:ext cx="17452" cy="8832"/>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8728679" y="2972913"/>
            <a:ext cx="17841" cy="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746520" y="2972913"/>
            <a:ext cx="17452" cy="8832"/>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63972" y="2981745"/>
            <a:ext cx="16300" cy="1727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80272" y="2999023"/>
            <a:ext cx="14434" cy="2496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794706" y="3023992"/>
            <a:ext cx="11938" cy="3157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806644" y="3055562"/>
            <a:ext cx="8921" cy="36789"/>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15565" y="3092351"/>
            <a:ext cx="5514" cy="40401"/>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8821079" y="3132752"/>
            <a:ext cx="1865" cy="42248"/>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534400" y="3175000"/>
            <a:ext cx="406400" cy="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562340" y="3073400"/>
            <a:ext cx="350520" cy="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62340" y="3276600"/>
            <a:ext cx="350520" cy="0"/>
          </a:xfrm>
          <a:prstGeom prst="line">
            <a:avLst/>
          </a:prstGeom>
          <a:ln w="15240">
            <a:solidFill>
              <a:srgbClr val="CF0035"/>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8432800" y="3683000"/>
            <a:ext cx="2946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Own your DNS</a:t>
            </a:r>
          </a:p>
        </p:txBody>
      </p:sp>
      <p:sp>
        <p:nvSpPr>
          <p:cNvPr id="60" name="TextBox 59"/>
          <p:cNvSpPr txBox="1"/>
          <p:nvPr/>
        </p:nvSpPr>
        <p:spPr>
          <a:xfrm>
            <a:off x="8432800" y="4178300"/>
            <a:ext cx="2946400" cy="921257"/>
          </a:xfrm>
          <a:prstGeom prst="rect">
            <a:avLst/>
          </a:prstGeom>
          <a:noFill/>
        </p:spPr>
        <p:txBody>
          <a:bodyPr wrap="none" lIns="0" rIns="0" tIns="0" bIns="0" anchor="t">
            <a:noAutofit/>
          </a:bodyPr>
          <a:lstStyle/>
          <a:p>
            <a:pPr algn="l">
              <a:lnSpc>
                <a:spcPts val="2318"/>
              </a:lnSpc>
              <a:spcBef>
                <a:spcPts val="0"/>
              </a:spcBef>
              <a:spcAft>
                <a:spcPts val="0"/>
              </a:spcAft>
            </a:pPr>
            <a:r>
              <a:rPr sz="1900" b="0">
                <a:solidFill>
                  <a:srgbClr val="FFFFFF"/>
                </a:solidFill>
                <a:latin typeface="Arial"/>
              </a:rPr>
              <a:t>Self-hosted BIND9</a:t>
            </a:r>
          </a:p>
          <a:p>
            <a:pPr algn="l">
              <a:lnSpc>
                <a:spcPts val="2318"/>
              </a:lnSpc>
              <a:spcBef>
                <a:spcPts val="0"/>
              </a:spcBef>
              <a:spcAft>
                <a:spcPts val="0"/>
              </a:spcAft>
            </a:pPr>
            <a:r>
              <a:rPr sz="1900" b="0">
                <a:solidFill>
                  <a:srgbClr val="FFFFFF"/>
                </a:solidFill>
                <a:latin typeface="Arial"/>
              </a:rPr>
              <a:t>for the parent zone</a:t>
            </a:r>
          </a:p>
          <a:p>
            <a:pPr algn="l">
              <a:lnSpc>
                <a:spcPts val="2318"/>
              </a:lnSpc>
              <a:spcBef>
                <a:spcPts val="0"/>
              </a:spcBef>
              <a:spcAft>
                <a:spcPts val="0"/>
              </a:spcAft>
            </a:pPr>
            <a:r>
              <a:rPr sz="1900" b="0">
                <a:solidFill>
                  <a:srgbClr val="FFFFFF"/>
                </a:solidFill>
                <a:latin typeface="Arial"/>
              </a:rPr>
              <a:t>and delegation.</a:t>
            </a:r>
          </a:p>
        </p:txBody>
      </p:sp>
      <p:sp>
        <p:nvSpPr>
          <p:cNvPr id="61" name="Rounded Rectangle 60"/>
          <p:cNvSpPr/>
          <p:nvPr/>
        </p:nvSpPr>
        <p:spPr>
          <a:xfrm>
            <a:off x="609600" y="5727700"/>
            <a:ext cx="10972800" cy="520700"/>
          </a:xfrm>
          <a:prstGeom prst="roundRect">
            <a:avLst>
              <a:gd name="adj" fmla="val 1707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38200" y="5854700"/>
            <a:ext cx="105156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You define the traffic strategy. k8gb automates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27 / 27</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