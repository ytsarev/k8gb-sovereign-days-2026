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3.25–4.25 minutes elapsed.</a:t>
            </a:r>
          </a:p>
          <a:p/>
          <a:p>
            <a:r>
              <a:t>Spend 60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The two reconciliation loops follow the component roles; the delegation diagram follows the client request path.</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4.25–5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Next, trace how the two k8gb reconciliation loops connect these components.</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5–6 minutes elapsed.</a:t>
            </a:r>
          </a:p>
          <a:p/>
          <a:p>
            <a:r>
              <a:t>Spend one minute tracing the two lanes. The upper lane manages zone configuration and DNS-server membership: ZoneDelegation writes delegation records for ExternalDNS to sync to the parent and configures the CoreDNS zone. The lower lane combines Gslb strategy and ready endpoints, writes eligible application targets to a separate DNSEndpoint, and lets CoreDNS serve the authoritative answers. Point to the dashed peer-address input once. The two CoreDNS boxes represent two roles of the same per-cluster service. These are the two k8gb loops; ExternalDNS also has its own reconciliation. Membership refresh and application reconciliation have separate cadences. Save edge-DNS failures, partitions and timing detail for Part 2 or questions. Now follow a client request through the DNS state these loops publish.</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6–7 minutes elapsed.</a:t>
            </a:r>
          </a:p>
          <a:p/>
          <a:p>
            <a:r>
              <a:t>Spend 60 seconds on the client path. 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 Next, show how the parent zone delegates to the cluster authorities.</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7–8 minutes elapsed.</a:t>
            </a:r>
          </a:p>
          <a:p/>
          <a:p>
            <a:r>
              <a:t>Spend one minute on the delegation boundary. The parent zone example.com publishes NS records for gslb.example.com, pointing to the two cluster CoreDNS authorities. The recursive resolver follows this delegation; CoreDNS returns eligible application IPs for app.gslb.example.com. Both authorities serve the same delegated zone. The parent does not proxy application traffic or choose the failover target for each request. The ns-a and ns-b labels abbreviate nameserver hostnames. Nameserver address records depend on the naming arrangement; glue is specifically needed for in-bailiwick nameserver names. Your team retains control of the parent zone, registrar access and DNS recovery; k8gb does not take ownership of those. Keep this explanation focused on who answers which zone, then move to the traffic strategies that determine application answers.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8–9 minutes elapsed.</a:t>
            </a:r>
          </a:p>
          <a:p/>
          <a:p>
            <a:r>
              <a:t>Spend 60 seconds on the four strategies. 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9–10.25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10.25–11.25 minutes elapsed.</a:t>
            </a:r>
          </a:p>
          <a:p/>
          <a:p>
            <a:r>
              <a:t>Spend 60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11.25–12.25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12:15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12.25–18.25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18:15 elapsed.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18.25–19.75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19.75–21.25 minutes elapsed.</a:t>
            </a:r>
          </a:p>
          <a:p/>
          <a:p>
            <a:r>
              <a:t>Spend 90 seconds on the readiness signal and the failed-payment example. Kubernetes runs readinessProbe checks and reflects Pod readiness in EndpointSlices; k8gb consumes that state when selecting targets. GET /healthz returns 200 while a real payment write fails because the database is read-only. The application must define readiness around the operation it needs to serve. State that principle once, then move to the partition case. Leave replication, fencing and session recovery for the availability slide immediately after the partition.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21.25–22.75 minutes elapsed.</a:t>
            </a:r>
          </a:p>
          <a:p/>
          <a:p>
            <a:r>
              <a:t>Spend 90 seconds on the partition. 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Use this disagreement to introduce the next slide: steering traffic and keeping application state safe require separate recovery mechanisms.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22.75–23.75 minutes elapsed.</a:t>
            </a:r>
          </a:p>
          <a:p/>
          <a:p>
            <a:r>
              <a:t>Spend one minute connecting the partition to application recovery responsibilities. The left panel describes k8gb traffic steering: exclude targets when readiness is lost, and publish healthy cluster targets after observation and reconciliation. For cluster loss, new resolutions and requests require a surviving authority, application and network path. These are not promises of instantaneous recovery or restoration of the failed cluster. The partition on the previous slide can direct clients to both locations; a DNS answer does not establish safe database writer ownership. The application recovery design must handle replication, fencing of a former writer, and session recovery. DNS steering does not perform those jobs. Keep the three outcomes separate: traffic recovery, data recovery and session continuity. Avoid repeating the failed-payment example. Move directly to the combined test plan: check what clients receive and whether real operations succeed.</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23.75–25.25 minutes elapsed.</a:t>
            </a:r>
          </a:p>
          <a:p/>
          <a:p>
            <a:r>
              <a:t>Spend 90 seconds on one test plan. Start from A as the configured primary and B healthy; reset to that baseline between independent fault tests. Stop the app in A means remove all ready application endpoints while both authorities remain reachable: after reconciliation, both should publish B and real requests should succeed there. For loss of cluster A, verify surviving B DNS and application access through a client resolver. For the health-lookup test, block B from obtaining A’s peer-health answer through all query paths while both applications remain ready and both authorities remain reachable to clients. Compare the same hostname at both authorities: A may answer A while B answers B. Divergence is a possible observation to investigate, not the success criterion or a guarantee for every partition. For recovery, restore A’s readiness and peer visibility, then verify automatic failback for new requests; existing connections do not move with a DNS change. In every test, query both authorities, inspect a representative client resolver’s cached answer, and send a real application request. Record when DNS changes and when successful requests return; correlate readiness and controller logs if they disagree. Verify application and data correctness as appropriate; DNS steering does not provide database promotion or fencing. The local demo covered application endpoint loss and recovery; the other rows extend that test coverage. Finish this section by 25:15 elapsed.</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25.25–26.25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Finish at 26:15 elapsed and move to the community invitation.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26.25–27.25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27:15 elapsed, move from the public adopter logos to the Millennium bcp case study. Questions follow at minute 28.</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27.25–28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invite questions at minute 28.</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GitHub, Slack, community-calendar, adopters and LinkedIn links visible. Hidden appendix slides follow: A1 normal state (physical slide 24), A2 failover (25), A3 failback (26).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23</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14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17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Test failover with real requests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Test one change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863600" y="2070100"/>
            <a:ext cx="488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CHANGE</a:t>
            </a:r>
          </a:p>
        </p:txBody>
      </p:sp>
      <p:sp>
        <p:nvSpPr>
          <p:cNvPr id="11" name="TextBox 10"/>
          <p:cNvSpPr txBox="1"/>
          <p:nvPr/>
        </p:nvSpPr>
        <p:spPr>
          <a:xfrm>
            <a:off x="6756400" y="2070100"/>
            <a:ext cx="4572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CHECK</a:t>
            </a:r>
          </a:p>
        </p:txBody>
      </p:sp>
      <p:sp>
        <p:nvSpPr>
          <p:cNvPr id="12" name="Rounded Rectangle 11"/>
          <p:cNvSpPr/>
          <p:nvPr/>
        </p:nvSpPr>
        <p:spPr>
          <a:xfrm>
            <a:off x="609600" y="2387600"/>
            <a:ext cx="10972800" cy="3098800"/>
          </a:xfrm>
          <a:prstGeom prst="roundRect">
            <a:avLst>
              <a:gd name="adj" fmla="val 368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3600" y="26162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Stop the app in A</a:t>
            </a:r>
          </a:p>
        </p:txBody>
      </p:sp>
      <p:cxnSp>
        <p:nvCxnSpPr>
          <p:cNvPr id="14" name="Connector 13"/>
          <p:cNvCxnSpPr/>
          <p:nvPr/>
        </p:nvCxnSpPr>
        <p:spPr>
          <a:xfrm>
            <a:off x="6019800" y="27813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756400" y="26289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B serves the application</a:t>
            </a:r>
          </a:p>
        </p:txBody>
      </p:sp>
      <p:cxnSp>
        <p:nvCxnSpPr>
          <p:cNvPr id="16" name="Connector 15"/>
          <p:cNvCxnSpPr/>
          <p:nvPr/>
        </p:nvCxnSpPr>
        <p:spPr>
          <a:xfrm>
            <a:off x="863600" y="31623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3600" y="33909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Stop cluster A</a:t>
            </a:r>
          </a:p>
        </p:txBody>
      </p:sp>
      <p:cxnSp>
        <p:nvCxnSpPr>
          <p:cNvPr id="18" name="Connector 17"/>
          <p:cNvCxnSpPr/>
          <p:nvPr/>
        </p:nvCxnSpPr>
        <p:spPr>
          <a:xfrm>
            <a:off x="6019800" y="35560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56400" y="34036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B serves DNS and the application</a:t>
            </a:r>
          </a:p>
        </p:txBody>
      </p:sp>
      <p:cxnSp>
        <p:nvCxnSpPr>
          <p:cNvPr id="20" name="Connector 19"/>
          <p:cNvCxnSpPr/>
          <p:nvPr/>
        </p:nvCxnSpPr>
        <p:spPr>
          <a:xfrm>
            <a:off x="863600" y="39370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63600" y="41656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Block B’s health lookup to A</a:t>
            </a:r>
          </a:p>
        </p:txBody>
      </p:sp>
      <p:cxnSp>
        <p:nvCxnSpPr>
          <p:cNvPr id="22" name="Connector 21"/>
          <p:cNvCxnSpPr/>
          <p:nvPr/>
        </p:nvCxnSpPr>
        <p:spPr>
          <a:xfrm>
            <a:off x="6019800" y="43307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756400" y="41783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Compare both DNS answers</a:t>
            </a:r>
          </a:p>
        </p:txBody>
      </p:sp>
      <p:cxnSp>
        <p:nvCxnSpPr>
          <p:cNvPr id="24" name="Connector 23"/>
          <p:cNvCxnSpPr/>
          <p:nvPr/>
        </p:nvCxnSpPr>
        <p:spPr>
          <a:xfrm>
            <a:off x="863600" y="47117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63600" y="49403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Restore A</a:t>
            </a:r>
          </a:p>
        </p:txBody>
      </p:sp>
      <p:cxnSp>
        <p:nvCxnSpPr>
          <p:cNvPr id="26" name="Connector 25"/>
          <p:cNvCxnSpPr/>
          <p:nvPr/>
        </p:nvCxnSpPr>
        <p:spPr>
          <a:xfrm>
            <a:off x="6019800" y="51054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56400" y="49530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New requests return to A</a:t>
            </a:r>
          </a:p>
        </p:txBody>
      </p:sp>
      <p:sp>
        <p:nvSpPr>
          <p:cNvPr id="28" name="Rounded Rectangle 27"/>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7400" y="5892800"/>
            <a:ext cx="106172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142338"/>
                </a:solidFill>
                <a:latin typeface="Arial"/>
              </a:rPr>
              <a:t>Query both authorities. Check the client’s cache. Send a real request.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20 / 23</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22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23 / 23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03</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