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3.25–4.5 minutes elapsed.</a:t>
            </a:r>
          </a:p>
          <a:p/>
          <a:p>
            <a:r>
              <a:t>Spend 75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Detailed delegation and reconciliation diagrams remain in the appendix.</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4.5–5.25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Move straight to the client request path.</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5.25–6.5 minutes elapsed.</a:t>
            </a:r>
          </a:p>
          <a:p/>
          <a:p>
            <a:r>
              <a:t>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6.5–7.75 minutes elapsed.</a:t>
            </a:r>
          </a:p>
          <a:p/>
          <a:p>
            <a:r>
              <a:t>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7.75–9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9–10.25 minutes elapsed.</a:t>
            </a:r>
          </a:p>
          <a:p/>
          <a:p>
            <a:r>
              <a:t>Spend 75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10.25–11.25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11:15 elapsed.</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11.25–17.25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17:15 elapsed.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17.25–18.75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18.75–20.75 minutes elapsed.</a:t>
            </a:r>
          </a:p>
          <a:p/>
          <a:p>
            <a:r>
              <a:t>Use this single slide for application readiness and data safety. Kubernetes runs readinessProbe checks and reflects Pod readiness in EndpointSlices; k8gb consumes that state when selecting targets. The lower example is illustrative: GET /healthz returns 200 while a real payment write fails because the database is read-only. The application must define readiness around the operation it needs to serve. k8gb steers traffic; replication, safe writer ownership and fencing remain application responsibilities. State this once, using the example, then move 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20.75–22.75 minutes elapsed.</a:t>
            </a:r>
          </a:p>
          <a:p/>
          <a:p>
            <a:r>
              <a:t>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Transition directly to how we observe the disagreement.</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22.75–24 minutes elapsed.</a:t>
            </a:r>
          </a:p>
          <a:p/>
          <a:p>
            <a:r>
              <a:t>Query the same application name against each authority. Then compare what the recursive cache returns and test a real request. Correlate readiness, controller errors and application results. The metric example shows why three healthy IPs can belong to one cluster; do not spend time deriving the metric. This is the practical response to the partition diagram, not a separate monitoring-tool tour.</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24–25.25 minutes elapsed.</a:t>
            </a:r>
          </a:p>
          <a:p/>
          <a:p>
            <a:r>
              <a:t>Turn the hard parts into four specific tests: remove ready application endpoints, lose a whole cluster, interrupt a peer-health lookup, and restore the primary. Verify authoritative answers, resolver behavior and successful real requests for each test. Automate the sequence and measure recovery. We exercised the workload case; the remaining rows are the production test plan. Finish this section by 25:15 elapsed.</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https://github.com/k8gb-io/k8gb/blob/330d33335981b9716bc8ca245660d90893eae272/controllers/runtime_shared.go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25.25–26.25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Finish at 26:15 elapsed and move to the community invitation.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26.25–27.25 minutes elapsed.</a:t>
            </a:r>
          </a:p>
          <a:p/>
          <a:p>
            <a:r>
              <a:t>Spend one minute on the people behind the project. k8gb is CNCF Incubating, with seven public adopters, 46 contributors and 1,335 GitHub stars, checked on 23 October 2026. The contributor count uses the complete GitHub contributors API response and excludes three automated accounts (renovate, github-actions and dependabot). Mention the breadth of public users without reading every name. The adopter list is voluntary and is not the total installation count. Logos shown: Absa, Millennium bcp, Eficode, Open Systems, PagBank, Darede and Envio. Official brand artwork retains its original colors and proportions. Open Systems logo credit: Uvifian, CC BY-SA 4.0, https://commons.wikimedia.org/wiki/File:Open-systems-logo.svg; original artwork unchanged apart from proportional scaling and PNG rendering. Star count indicates interest, not reliability. Invite the audience to a community meeting; dates and local time are in the linked calendar. At 27:15 elapsed, move from the public adopter logos to the Millennium bcp case study. Questions follow at minute 28.</a:t>
            </a:r>
          </a:p>
          <a:p/>
          <a:p>
            <a:r>
              <a:t>SOURCE CHECK</a:t>
            </a:r>
          </a:p>
          <a:p>
            <a:r>
              <a:t>Local k8gb checkout: 330d33335981b9716bc8ca245660d90893eae272</a:t>
            </a:r>
          </a:p>
          <a:p>
            <a:r>
              <a:t>https://www.cncf.io/projects/k8gb/</a:t>
            </a:r>
          </a:p>
          <a:p>
            <a:r>
              <a:t>https://github.com/k8gb-io/k8gb/blob/330d33335981b9716bc8ca245660d90893eae272/ADOPTERS.md</a:t>
            </a:r>
          </a:p>
          <a:p>
            <a:r>
              <a:t>https://api.github.com/repos/k8gb-io/k8gb/contributors?per_page=100</a:t>
            </a:r>
          </a:p>
          <a:p>
            <a:r>
              <a:t>https://github.com/k8gb-io/k8gb/graphs/contributors</a:t>
            </a:r>
          </a:p>
          <a:p>
            <a:r>
              <a:t>https://commons.wikimedia.org/wiki/File:Open-systems-logo.svg</a:t>
            </a:r>
          </a:p>
          <a:p>
            <a:r>
              <a:t>https://www.absa.co.za/</a:t>
            </a:r>
          </a:p>
          <a:p>
            <a:r>
              <a:t>https://www.eficode.com/</a:t>
            </a:r>
          </a:p>
          <a:p>
            <a:r>
              <a:t>https://pagbank.com.br/</a:t>
            </a:r>
          </a:p>
          <a:p>
            <a:r>
              <a:t>https://darede.com.br/</a:t>
            </a:r>
          </a:p>
          <a:p>
            <a:r>
              <a:t>https://envio.dev/brand</a:t>
            </a:r>
          </a:p>
          <a:p>
            <a:r>
              <a:t>https://github.com/k8gb-io/k8gb/blob/330d33335981b9716bc8ca245660d90893eae272/GOVERNANCE.md</a:t>
            </a:r>
          </a:p>
          <a:p>
            <a:r>
              <a:t>https://github.com/k8gb-io/k8gb/blob/330d33335981b9716bc8ca245660d90893eae272/CONTRIBUTING.md</a:t>
            </a:r>
          </a:p>
          <a:p>
            <a:r>
              <a:t>https://api.github.com/repos/k8gb-io/k8gb</a:t>
            </a:r>
          </a:p>
          <a:p>
            <a:r>
              <a:t>https://zoom-lfx.platform.linuxfoundation.org/meetings/k8gb?view=month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27.25–28 minutes elapsed.</a:t>
            </a:r>
          </a:p>
          <a:p/>
          <a:p>
            <a:r>
              <a:t>Follow the public adopter logos with one concrete production example. Spend 45 seconds on Millennium bcp. Millennium bcp reports five regions across two cloud providers and on-premises, shorter DNS incident response, and zero downtime in the reported regional failover tests. These are the case study’s reported results for that deployment. Keep to the three displayed facts, then invite questions at minute 28.</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GitHub, Slack, community-calendar, adopters and LinkedIn links visible. Hidden appendix slides follow: A1 reconciliation (physical slide 22), A2 delegation (23), A3 normal state (24), A4 failover (25), A5 failback (26), A6 availability responsibilities (27).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https://cloud-native.slack.com/archives/C021P656HGB</a:t>
            </a:r>
          </a:p>
          <a:p>
            <a:r>
              <a:t>https://zoom-lfx.platform.linuxfoundation.org/meetings/k8gb?view=month</a:t>
            </a:r>
          </a:p>
          <a:p>
            <a:r>
              <a:t>https://github.com/k8gb-io/k8gb/blob/330d33335981b9716bc8ca245660d90893eae272/ADOPTERS.md</a:t>
            </a:r>
          </a:p>
          <a:p>
            <a:r>
              <a:t>https://github.com/k8gb-io/k8gb/blob/330d33335981b9716bc8ca245660d90893eae272/CONTRIBUTING.md</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 deliberately simplified view of the local checkout at 330d3333. ZoneDelegation manages zone configuration and DNS-server membership, including status.dnsServers. Gslb reconciliation evaluates Service EndpointSlices and uses those peer addresses for health queries. It writes the application DNSEndpoint consumed by CoreDNS. Therefore an edge-DNS interruption must be analysed separately from a failed peer-health query; an edge failure does not by itself prove immediate loss of all cached peer addresses. The chart has separate Gslb and ZoneDelegation reconciliation intervals. Do not present a single exact failover timer. This diagram shows the ExternalDNS provider path: ZoneDelegation reconciliation writes a delegation DNSEndpoint with NS and nameserver-address records. ExternalDNS consumes that resource and updates the parent DNS. A separate branch updates the CoreDNS zone ConfigMap. The lower DNSEndpoint contains application targets and is consumed by CoreDNS, not by ExternalDNS for parent delegation. The two CoreDNS boxes show two roles of the same per-cluster service. The title counts the two k8gb loops; ExternalDNS has its own reconciliation.</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parent zone publishes NS records for the delegated application subzone, plus the address records required by the chosen naming arrangement. Glue is specifically required for in-bailiwick nameserver names; do not use glue to mean every address record universally. The recursive resolver follows that delegation to a reachable CoreDNS authority. CoreDNS answers application A records. Redundant authority, public DNS reachability and recovery credentials remain production responsibilities. k8gb does not take ownership of the registrar or parent zone. The ns-a and ns-b labels abbreviate illustrative nameserver hostnames. Both cluster authorities serve the same delegated zone. The arrows represent delegation and a DNS answer, not application packets or a proxy hop through the parent DNS.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jp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cncf.io/projects/k8gb/" TargetMode="External"/><Relationship Id="rId4" Type="http://schemas.openxmlformats.org/officeDocument/2006/relationships/hyperlink" Target="https://github.com/k8gb-io/k8gb/blob/master/ADOPTERS.md" TargetMode="External"/><Relationship Id="rId5" Type="http://schemas.openxmlformats.org/officeDocument/2006/relationships/hyperlink" Target="https://github.com/k8gb-io/k8gb/graphs/contributors" TargetMode="External"/><Relationship Id="rId6" Type="http://schemas.openxmlformats.org/officeDocument/2006/relationships/hyperlink" Target="https://github.com/k8gb-io/k8gb"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hyperlink" Target="https://zoom-lfx.platform.linuxfoundation.org/meetings/k8gb?view=month" TargetMode="Externa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www.k8gb.io/" TargetMode="External"/><Relationship Id="rId5" Type="http://schemas.openxmlformats.org/officeDocument/2006/relationships/hyperlink" Target="https://github.com/k8gb-io/k8gb" TargetMode="External"/><Relationship Id="rId6" Type="http://schemas.openxmlformats.org/officeDocument/2006/relationships/hyperlink" Target="https://cloud-native.slack.com/archives/C021P656H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hyperlink" Target="https://github.com/k8gb-io/k8gb/blob/master/ADOPTERS.md" TargetMode="External"/><Relationship Id="rId9" Type="http://schemas.openxmlformats.org/officeDocument/2006/relationships/hyperlink" Target="https://www.linkedin.com/in/yurytsarev/" TargetMode="Externa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21</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12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13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15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OBSERVABILITY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16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Compare the answers your users can receive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During a partition, compare the same hostname from each viewpoint.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19300"/>
            <a:ext cx="6756400" cy="3581400"/>
          </a:xfrm>
          <a:prstGeom prst="roundRect">
            <a:avLst>
              <a:gd name="adj" fmla="val 319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9000" y="2247900"/>
            <a:ext cx="6197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ILLUSTRATIVE PARTITION</a:t>
            </a:r>
          </a:p>
        </p:txBody>
      </p:sp>
      <p:sp>
        <p:nvSpPr>
          <p:cNvPr id="12" name="Rounded Rectangle 11"/>
          <p:cNvSpPr/>
          <p:nvPr/>
        </p:nvSpPr>
        <p:spPr>
          <a:xfrm>
            <a:off x="889000" y="2667000"/>
            <a:ext cx="4826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2"/>
          <a:stretch>
            <a:fillRect/>
          </a:stretch>
        </p:blipFill>
        <p:spPr>
          <a:xfrm>
            <a:off x="952500" y="2730500"/>
            <a:ext cx="355600" cy="355600"/>
          </a:xfrm>
          <a:prstGeom prst="rect">
            <a:avLst/>
          </a:prstGeom>
        </p:spPr>
      </p:pic>
      <p:sp>
        <p:nvSpPr>
          <p:cNvPr id="14" name="TextBox 13"/>
          <p:cNvSpPr txBox="1"/>
          <p:nvPr/>
        </p:nvSpPr>
        <p:spPr>
          <a:xfrm>
            <a:off x="1524000" y="2768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A</a:t>
            </a:r>
          </a:p>
        </p:txBody>
      </p:sp>
      <p:sp>
        <p:nvSpPr>
          <p:cNvPr id="15" name="Rounded Rectangle 14"/>
          <p:cNvSpPr/>
          <p:nvPr/>
        </p:nvSpPr>
        <p:spPr>
          <a:xfrm>
            <a:off x="4508500" y="2667000"/>
            <a:ext cx="25781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5500" y="2781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2762C8"/>
                </a:solidFill>
                <a:latin typeface="Arial"/>
              </a:rPr>
              <a:t>Cluster A IPs</a:t>
            </a:r>
          </a:p>
        </p:txBody>
      </p:sp>
      <p:cxnSp>
        <p:nvCxnSpPr>
          <p:cNvPr id="17" name="Connector 16"/>
          <p:cNvCxnSpPr/>
          <p:nvPr/>
        </p:nvCxnSpPr>
        <p:spPr>
          <a:xfrm>
            <a:off x="889000" y="3251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89000" y="3365500"/>
            <a:ext cx="4826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952500" y="3429000"/>
            <a:ext cx="355600" cy="355600"/>
          </a:xfrm>
          <a:prstGeom prst="rect">
            <a:avLst/>
          </a:prstGeom>
        </p:spPr>
      </p:pic>
      <p:sp>
        <p:nvSpPr>
          <p:cNvPr id="20" name="TextBox 19"/>
          <p:cNvSpPr txBox="1"/>
          <p:nvPr/>
        </p:nvSpPr>
        <p:spPr>
          <a:xfrm>
            <a:off x="1524000" y="3467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B</a:t>
            </a:r>
          </a:p>
        </p:txBody>
      </p:sp>
      <p:sp>
        <p:nvSpPr>
          <p:cNvPr id="21" name="Rounded Rectangle 20"/>
          <p:cNvSpPr/>
          <p:nvPr/>
        </p:nvSpPr>
        <p:spPr>
          <a:xfrm>
            <a:off x="4508500" y="3365500"/>
            <a:ext cx="25781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5500" y="3479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087F85"/>
                </a:solidFill>
                <a:latin typeface="Arial"/>
              </a:rPr>
              <a:t>Cluster B IPs</a:t>
            </a:r>
          </a:p>
        </p:txBody>
      </p:sp>
      <p:cxnSp>
        <p:nvCxnSpPr>
          <p:cNvPr id="23" name="Connector 22"/>
          <p:cNvCxnSpPr/>
          <p:nvPr/>
        </p:nvCxnSpPr>
        <p:spPr>
          <a:xfrm>
            <a:off x="889000" y="39497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89000" y="4064000"/>
            <a:ext cx="4826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0600" y="4165600"/>
            <a:ext cx="279400" cy="279400"/>
          </a:xfrm>
          <a:prstGeom prst="ellipse">
            <a:avLst/>
          </a:prstGeom>
          <a:solidFill>
            <a:srgbClr val="EFF3F7"/>
          </a:solidFill>
          <a:ln w="19050">
            <a:solidFill>
              <a:srgbClr val="5D6F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130300" y="4216400"/>
            <a:ext cx="0" cy="889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0300" y="4305300"/>
            <a:ext cx="76200" cy="381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24000" y="4165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Resolver cache</a:t>
            </a:r>
          </a:p>
        </p:txBody>
      </p:sp>
      <p:sp>
        <p:nvSpPr>
          <p:cNvPr id="29" name="Rounded Rectangle 28"/>
          <p:cNvSpPr/>
          <p:nvPr/>
        </p:nvSpPr>
        <p:spPr>
          <a:xfrm>
            <a:off x="4508500" y="4064000"/>
            <a:ext cx="25781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5500" y="4178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5D6F82"/>
                </a:solidFill>
                <a:latin typeface="Arial"/>
              </a:rPr>
              <a:t>May still return A</a:t>
            </a:r>
          </a:p>
        </p:txBody>
      </p:sp>
      <p:cxnSp>
        <p:nvCxnSpPr>
          <p:cNvPr id="31" name="Connector 30"/>
          <p:cNvCxnSpPr/>
          <p:nvPr/>
        </p:nvCxnSpPr>
        <p:spPr>
          <a:xfrm>
            <a:off x="889000" y="4648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89000" y="4762500"/>
            <a:ext cx="4826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0600" y="4876800"/>
            <a:ext cx="279400" cy="254000"/>
          </a:xfrm>
          <a:prstGeom prst="roundRect">
            <a:avLst>
              <a:gd name="adj" fmla="val 15000"/>
            </a:avLst>
          </a:prstGeom>
          <a:solidFill>
            <a:srgbClr val="FFFFFF"/>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90600" y="4953000"/>
            <a:ext cx="279400" cy="0"/>
          </a:xfrm>
          <a:prstGeom prst="line">
            <a:avLst/>
          </a:prstGeom>
          <a:ln w="12700">
            <a:solidFill>
              <a:srgbClr val="CF003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028700" y="4902200"/>
            <a:ext cx="25400" cy="25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1054100" y="5029200"/>
            <a:ext cx="50800" cy="508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04900" y="4991100"/>
            <a:ext cx="101600" cy="889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4000" y="4864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Real request</a:t>
            </a:r>
          </a:p>
        </p:txBody>
      </p:sp>
      <p:sp>
        <p:nvSpPr>
          <p:cNvPr id="39" name="Rounded Rectangle 38"/>
          <p:cNvSpPr/>
          <p:nvPr/>
        </p:nvSpPr>
        <p:spPr>
          <a:xfrm>
            <a:off x="4508500" y="4762500"/>
            <a:ext cx="25781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5500" y="4876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CF0035"/>
                </a:solidFill>
                <a:latin typeface="Arial"/>
              </a:rPr>
              <a:t>Verify the result</a:t>
            </a:r>
          </a:p>
        </p:txBody>
      </p:sp>
      <p:sp>
        <p:nvSpPr>
          <p:cNvPr id="41" name="Rounded Rectangle 40"/>
          <p:cNvSpPr/>
          <p:nvPr/>
        </p:nvSpPr>
        <p:spPr>
          <a:xfrm>
            <a:off x="7670800" y="2019300"/>
            <a:ext cx="3911600" cy="2133600"/>
          </a:xfrm>
          <a:prstGeom prst="roundRect">
            <a:avLst>
              <a:gd name="adj" fmla="val 535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24800" y="2247900"/>
            <a:ext cx="340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Correlate the signals</a:t>
            </a:r>
          </a:p>
        </p:txBody>
      </p:sp>
      <p:sp>
        <p:nvSpPr>
          <p:cNvPr id="43" name="Oval 42"/>
          <p:cNvSpPr/>
          <p:nvPr/>
        </p:nvSpPr>
        <p:spPr>
          <a:xfrm>
            <a:off x="7937500" y="2857500"/>
            <a:ext cx="101600" cy="101600"/>
          </a:xfrm>
          <a:prstGeom prst="ellipse">
            <a:avLst/>
          </a:prstGeom>
          <a:solidFill>
            <a:srgbClr val="78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78800" y="27813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Pod readiness</a:t>
            </a:r>
          </a:p>
        </p:txBody>
      </p:sp>
      <p:sp>
        <p:nvSpPr>
          <p:cNvPr id="45" name="Oval 44"/>
          <p:cNvSpPr/>
          <p:nvPr/>
        </p:nvSpPr>
        <p:spPr>
          <a:xfrm>
            <a:off x="7937500" y="3263900"/>
            <a:ext cx="101600" cy="101600"/>
          </a:xfrm>
          <a:prstGeom prst="ellipse">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78800" y="31877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k8gb errors and logs</a:t>
            </a:r>
          </a:p>
        </p:txBody>
      </p:sp>
      <p:sp>
        <p:nvSpPr>
          <p:cNvPr id="47" name="Oval 46"/>
          <p:cNvSpPr/>
          <p:nvPr/>
        </p:nvSpPr>
        <p:spPr>
          <a:xfrm>
            <a:off x="7937500" y="3670300"/>
            <a:ext cx="101600" cy="101600"/>
          </a:xfrm>
          <a:prstGeom prst="ellipse">
            <a:avLst/>
          </a:prstGeom>
          <a:solidFill>
            <a:srgbClr val="F79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78800" y="35941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Application results</a:t>
            </a:r>
          </a:p>
        </p:txBody>
      </p:sp>
      <p:sp>
        <p:nvSpPr>
          <p:cNvPr id="49" name="Rounded Rectangle 48"/>
          <p:cNvSpPr/>
          <p:nvPr/>
        </p:nvSpPr>
        <p:spPr>
          <a:xfrm>
            <a:off x="7670800" y="4330700"/>
            <a:ext cx="3911600" cy="1270000"/>
          </a:xfrm>
          <a:prstGeom prst="roundRect">
            <a:avLst>
              <a:gd name="adj" fmla="val 9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24800" y="4495800"/>
            <a:ext cx="340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METRIC EXAMPLE · ONE HOSTNAME</a:t>
            </a:r>
          </a:p>
        </p:txBody>
      </p:sp>
      <p:pic>
        <p:nvPicPr>
          <p:cNvPr id="51" name="Picture 50" descr="image.png"/>
          <p:cNvPicPr>
            <a:picLocks noChangeAspect="1"/>
          </p:cNvPicPr>
          <p:nvPr/>
        </p:nvPicPr>
        <p:blipFill>
          <a:blip r:embed="rId3"/>
          <a:stretch>
            <a:fillRect/>
          </a:stretch>
        </p:blipFill>
        <p:spPr>
          <a:xfrm>
            <a:off x="7924800" y="4787900"/>
            <a:ext cx="368300" cy="368300"/>
          </a:xfrm>
          <a:prstGeom prst="rect">
            <a:avLst/>
          </a:prstGeom>
        </p:spPr>
      </p:pic>
      <p:sp>
        <p:nvSpPr>
          <p:cNvPr id="52" name="TextBox 51"/>
          <p:cNvSpPr txBox="1"/>
          <p:nvPr/>
        </p:nvSpPr>
        <p:spPr>
          <a:xfrm>
            <a:off x="8445500" y="4813300"/>
            <a:ext cx="28829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1 cluster → 3 healthy IPs</a:t>
            </a:r>
          </a:p>
        </p:txBody>
      </p:sp>
      <p:sp>
        <p:nvSpPr>
          <p:cNvPr id="53" name="TextBox 52"/>
          <p:cNvSpPr txBox="1"/>
          <p:nvPr/>
        </p:nvSpPr>
        <p:spPr>
          <a:xfrm>
            <a:off x="7924800" y="5245100"/>
            <a:ext cx="34036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Healthy-record count: 3</a:t>
            </a:r>
          </a:p>
        </p:txBody>
      </p:sp>
      <p:sp>
        <p:nvSpPr>
          <p:cNvPr id="54" name="Rounded Rectangle 53"/>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Query both authorities. Check the cache. Test a real request.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Perform end-to-end resilience tests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Change one condition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1549400" y="1968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CHANGE ONE CONDITION</a:t>
            </a:r>
          </a:p>
        </p:txBody>
      </p:sp>
      <p:sp>
        <p:nvSpPr>
          <p:cNvPr id="11" name="TextBox 10"/>
          <p:cNvSpPr txBox="1"/>
          <p:nvPr/>
        </p:nvSpPr>
        <p:spPr>
          <a:xfrm>
            <a:off x="6807200" y="1968500"/>
            <a:ext cx="4495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VERIFY DNS + APPLICATION</a:t>
            </a:r>
          </a:p>
        </p:txBody>
      </p:sp>
      <p:sp>
        <p:nvSpPr>
          <p:cNvPr id="12" name="Rounded Rectangle 11"/>
          <p:cNvSpPr/>
          <p:nvPr/>
        </p:nvSpPr>
        <p:spPr>
          <a:xfrm>
            <a:off x="609600" y="23114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09600" y="22733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22300" y="2438400"/>
            <a:ext cx="0" cy="43180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2800" y="2400300"/>
            <a:ext cx="508000" cy="508000"/>
          </a:xfrm>
          <a:prstGeom prst="roundRect">
            <a:avLst>
              <a:gd name="adj" fmla="val 20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9800" y="2514600"/>
            <a:ext cx="254000" cy="279400"/>
          </a:xfrm>
          <a:prstGeom prst="roundRect">
            <a:avLst>
              <a:gd name="adj" fmla="val 15000"/>
            </a:avLst>
          </a:prstGeom>
          <a:solidFill>
            <a:srgbClr val="FFFFFF"/>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39800" y="2590800"/>
            <a:ext cx="2540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9779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87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549400" y="23749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Remove A’s ready endpoints</a:t>
            </a:r>
          </a:p>
        </p:txBody>
      </p:sp>
      <p:sp>
        <p:nvSpPr>
          <p:cNvPr id="23" name="TextBox 22"/>
          <p:cNvSpPr txBox="1"/>
          <p:nvPr/>
        </p:nvSpPr>
        <p:spPr>
          <a:xfrm>
            <a:off x="1562100" y="2730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01 · WORKLOAD FAILURE</a:t>
            </a:r>
          </a:p>
        </p:txBody>
      </p:sp>
      <p:cxnSp>
        <p:nvCxnSpPr>
          <p:cNvPr id="24" name="Connector 23"/>
          <p:cNvCxnSpPr/>
          <p:nvPr/>
        </p:nvCxnSpPr>
        <p:spPr>
          <a:xfrm>
            <a:off x="6172200" y="2654300"/>
            <a:ext cx="2794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04000" y="2349500"/>
            <a:ext cx="4826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07200" y="24003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Both DNS answers → B</a:t>
            </a:r>
          </a:p>
        </p:txBody>
      </p:sp>
      <p:sp>
        <p:nvSpPr>
          <p:cNvPr id="27" name="TextBox 26"/>
          <p:cNvSpPr txBox="1"/>
          <p:nvPr/>
        </p:nvSpPr>
        <p:spPr>
          <a:xfrm>
            <a:off x="6807200" y="27051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Verify successful requests to B.</a:t>
            </a:r>
          </a:p>
        </p:txBody>
      </p:sp>
      <p:sp>
        <p:nvSpPr>
          <p:cNvPr id="28" name="Rounded Rectangle 27"/>
          <p:cNvSpPr/>
          <p:nvPr/>
        </p:nvSpPr>
        <p:spPr>
          <a:xfrm>
            <a:off x="609600" y="31750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9600" y="31369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22300" y="3302000"/>
            <a:ext cx="0" cy="43180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2800" y="3263900"/>
            <a:ext cx="508000" cy="508000"/>
          </a:xfrm>
          <a:prstGeom prst="roundRect">
            <a:avLst>
              <a:gd name="adj" fmla="val 20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2"/>
          <a:stretch>
            <a:fillRect/>
          </a:stretch>
        </p:blipFill>
        <p:spPr>
          <a:xfrm>
            <a:off x="876300" y="3327400"/>
            <a:ext cx="381000" cy="381000"/>
          </a:xfrm>
          <a:prstGeom prst="rect">
            <a:avLst/>
          </a:prstGeom>
        </p:spPr>
      </p:pic>
      <p:sp>
        <p:nvSpPr>
          <p:cNvPr id="33" name="TextBox 32"/>
          <p:cNvSpPr txBox="1"/>
          <p:nvPr/>
        </p:nvSpPr>
        <p:spPr>
          <a:xfrm>
            <a:off x="1549400" y="32385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Make cluster A unavailable</a:t>
            </a:r>
          </a:p>
        </p:txBody>
      </p:sp>
      <p:sp>
        <p:nvSpPr>
          <p:cNvPr id="34" name="TextBox 33"/>
          <p:cNvSpPr txBox="1"/>
          <p:nvPr/>
        </p:nvSpPr>
        <p:spPr>
          <a:xfrm>
            <a:off x="1562100" y="35941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02 · CLUSTER FAILURE</a:t>
            </a:r>
          </a:p>
        </p:txBody>
      </p:sp>
      <p:cxnSp>
        <p:nvCxnSpPr>
          <p:cNvPr id="35" name="Connector 34"/>
          <p:cNvCxnSpPr/>
          <p:nvPr/>
        </p:nvCxnSpPr>
        <p:spPr>
          <a:xfrm>
            <a:off x="6172200" y="3517900"/>
            <a:ext cx="2794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04000" y="3213100"/>
            <a:ext cx="4826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7200" y="32639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087F85"/>
                </a:solidFill>
                <a:latin typeface="Arial"/>
              </a:rPr>
              <a:t>B serves DNS and application</a:t>
            </a:r>
          </a:p>
        </p:txBody>
      </p:sp>
      <p:sp>
        <p:nvSpPr>
          <p:cNvPr id="38" name="TextBox 37"/>
          <p:cNvSpPr txBox="1"/>
          <p:nvPr/>
        </p:nvSpPr>
        <p:spPr>
          <a:xfrm>
            <a:off x="6807200" y="35687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Test through a client resolver.</a:t>
            </a:r>
          </a:p>
        </p:txBody>
      </p:sp>
      <p:sp>
        <p:nvSpPr>
          <p:cNvPr id="39" name="Rounded Rectangle 38"/>
          <p:cNvSpPr/>
          <p:nvPr/>
        </p:nvSpPr>
        <p:spPr>
          <a:xfrm>
            <a:off x="609600" y="40386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09600" y="40005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22300" y="4165600"/>
            <a:ext cx="0" cy="431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2800" y="4127500"/>
            <a:ext cx="508000" cy="508000"/>
          </a:xfrm>
          <a:prstGeom prst="roundRect">
            <a:avLst>
              <a:gd name="adj" fmla="val 20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914400" y="4381500"/>
            <a:ext cx="304800" cy="0"/>
          </a:xfrm>
          <a:prstGeom prst="line">
            <a:avLst/>
          </a:prstGeom>
          <a:ln w="19050">
            <a:solidFill>
              <a:srgbClr val="CF0035"/>
            </a:solidFill>
            <a:prstDash val="dash"/>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8763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11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77900" y="4292600"/>
            <a:ext cx="177800" cy="177800"/>
          </a:xfrm>
          <a:prstGeom prst="ellipse">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549400" y="41021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Block B’s peer-health lookup</a:t>
            </a:r>
          </a:p>
        </p:txBody>
      </p:sp>
      <p:sp>
        <p:nvSpPr>
          <p:cNvPr id="50" name="TextBox 49"/>
          <p:cNvSpPr txBox="1"/>
          <p:nvPr/>
        </p:nvSpPr>
        <p:spPr>
          <a:xfrm>
            <a:off x="1562100" y="44577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03 · PEER DNS PARTITION</a:t>
            </a:r>
          </a:p>
        </p:txBody>
      </p:sp>
      <p:cxnSp>
        <p:nvCxnSpPr>
          <p:cNvPr id="51" name="Connector 50"/>
          <p:cNvCxnSpPr/>
          <p:nvPr/>
        </p:nvCxnSpPr>
        <p:spPr>
          <a:xfrm>
            <a:off x="6172200" y="4381500"/>
            <a:ext cx="279400" cy="0"/>
          </a:xfrm>
          <a:prstGeom prst="line">
            <a:avLst/>
          </a:prstGeom>
          <a:ln w="2032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604000" y="4076700"/>
            <a:ext cx="4826000" cy="609600"/>
          </a:xfrm>
          <a:prstGeom prst="roundRect">
            <a:avLst>
              <a:gd name="adj" fmla="val 125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07200" y="41275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CF0035"/>
                </a:solidFill>
                <a:latin typeface="Arial"/>
              </a:rPr>
              <a:t>A answers A · B answers B</a:t>
            </a:r>
          </a:p>
        </p:txBody>
      </p:sp>
      <p:sp>
        <p:nvSpPr>
          <p:cNvPr id="54" name="TextBox 53"/>
          <p:cNvSpPr txBox="1"/>
          <p:nvPr/>
        </p:nvSpPr>
        <p:spPr>
          <a:xfrm>
            <a:off x="6807200" y="44323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the impact on real requests.</a:t>
            </a:r>
          </a:p>
        </p:txBody>
      </p:sp>
      <p:sp>
        <p:nvSpPr>
          <p:cNvPr id="55" name="Rounded Rectangle 54"/>
          <p:cNvSpPr/>
          <p:nvPr/>
        </p:nvSpPr>
        <p:spPr>
          <a:xfrm>
            <a:off x="609600" y="49022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48641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622300" y="5029200"/>
            <a:ext cx="0" cy="431800"/>
          </a:xfrm>
          <a:prstGeom prst="line">
            <a:avLst/>
          </a:prstGeom>
          <a:ln w="38100">
            <a:solidFill>
              <a:srgbClr val="177C5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812800" y="4991100"/>
            <a:ext cx="508000" cy="508000"/>
          </a:xfrm>
          <a:prstGeom prst="roundRect">
            <a:avLst>
              <a:gd name="adj" fmla="val 20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1193273" y="5138975"/>
            <a:ext cx="16025" cy="22744"/>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209298" y="5161719"/>
            <a:ext cx="11977" cy="2511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221275" y="5186831"/>
            <a:ext cx="7591" cy="2676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28866" y="5213597"/>
            <a:ext cx="2989" cy="276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230156" y="5241258"/>
            <a:ext cx="1699" cy="2777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223819" y="5269028"/>
            <a:ext cx="6337" cy="2709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213023" y="5296118"/>
            <a:ext cx="10796" cy="2564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98074" y="5321760"/>
            <a:ext cx="14949" cy="2346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79397" y="5345225"/>
            <a:ext cx="18677" cy="2062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57523" y="5365846"/>
            <a:ext cx="21874" cy="1719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33073" y="5383039"/>
            <a:ext cx="24450" cy="1327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06741" y="5396314"/>
            <a:ext cx="26332" cy="898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079274" y="5405295"/>
            <a:ext cx="27467" cy="443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051453" y="5409485"/>
            <a:ext cx="27821" cy="24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024068" y="5404574"/>
            <a:ext cx="27385" cy="491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997897" y="5395134"/>
            <a:ext cx="26171" cy="944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73682" y="5381434"/>
            <a:ext cx="24215" cy="137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952111" y="5363863"/>
            <a:ext cx="21571" cy="1757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933798" y="5342918"/>
            <a:ext cx="18313" cy="2094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919261" y="5319196"/>
            <a:ext cx="14537" cy="2372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908914" y="5293370"/>
            <a:ext cx="10347" cy="2582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903050" y="5266173"/>
            <a:ext cx="5864" cy="27197"/>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901836" y="5238378"/>
            <a:ext cx="1214" cy="2779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1836" y="5210773"/>
            <a:ext cx="3471" cy="2760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905307" y="5184144"/>
            <a:ext cx="8057" cy="2662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913364" y="5159245"/>
            <a:ext cx="12414" cy="2489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925778" y="5136784"/>
            <a:ext cx="16419" cy="224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42197" y="5117399"/>
            <a:ext cx="19957" cy="1938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62154" y="5101641"/>
            <a:ext cx="22929" cy="15758"/>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5083" y="5089956"/>
            <a:ext cx="25249" cy="11685"/>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90600" y="5245100"/>
            <a:ext cx="50800" cy="508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41400" y="5181600"/>
            <a:ext cx="101600" cy="1143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549400" y="49657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Restore A’s readiness</a:t>
            </a:r>
          </a:p>
        </p:txBody>
      </p:sp>
      <p:sp>
        <p:nvSpPr>
          <p:cNvPr id="92" name="TextBox 91"/>
          <p:cNvSpPr txBox="1"/>
          <p:nvPr/>
        </p:nvSpPr>
        <p:spPr>
          <a:xfrm>
            <a:off x="1562100" y="53213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177C58"/>
                </a:solidFill>
                <a:latin typeface="Arial"/>
              </a:rPr>
              <a:t>04 · RECOVERY</a:t>
            </a:r>
          </a:p>
        </p:txBody>
      </p:sp>
      <p:cxnSp>
        <p:nvCxnSpPr>
          <p:cNvPr id="93" name="Connector 92"/>
          <p:cNvCxnSpPr/>
          <p:nvPr/>
        </p:nvCxnSpPr>
        <p:spPr>
          <a:xfrm>
            <a:off x="6172200" y="5245100"/>
            <a:ext cx="279400" cy="0"/>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6604000" y="4940300"/>
            <a:ext cx="4826000" cy="609600"/>
          </a:xfrm>
          <a:prstGeom prst="roundRect">
            <a:avLst>
              <a:gd name="adj" fmla="val 125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807200" y="49911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77C58"/>
                </a:solidFill>
                <a:latin typeface="Arial"/>
              </a:rPr>
              <a:t>Both DNS answers → A</a:t>
            </a:r>
          </a:p>
        </p:txBody>
      </p:sp>
      <p:sp>
        <p:nvSpPr>
          <p:cNvPr id="96" name="TextBox 95"/>
          <p:cNvSpPr txBox="1"/>
          <p:nvPr/>
        </p:nvSpPr>
        <p:spPr>
          <a:xfrm>
            <a:off x="6807200" y="52959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requests and data correctness.</a:t>
            </a:r>
          </a:p>
        </p:txBody>
      </p:sp>
      <p:sp>
        <p:nvSpPr>
          <p:cNvPr id="97" name="Rounded Rectangle 96"/>
          <p:cNvSpPr/>
          <p:nvPr/>
        </p:nvSpPr>
        <p:spPr>
          <a:xfrm>
            <a:off x="609600" y="58674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87400" y="59690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Time DNS convergence and the return of successful requests.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18 / 21</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PROJECT &amp;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19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 community behind k8gb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Public users, shared maintenance, open participation.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048000" cy="3429000"/>
          </a:xfrm>
          <a:prstGeom prst="roundRect">
            <a:avLst>
              <a:gd name="adj" fmla="val 41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384300" y="2367450"/>
            <a:ext cx="1498600" cy="1462699"/>
          </a:xfrm>
          <a:prstGeom prst="rect">
            <a:avLst/>
          </a:prstGeom>
        </p:spPr>
      </p:pic>
      <p:sp>
        <p:nvSpPr>
          <p:cNvPr id="12" name="TextBox 11"/>
          <p:cNvSpPr txBox="1"/>
          <p:nvPr/>
        </p:nvSpPr>
        <p:spPr>
          <a:xfrm>
            <a:off x="863600" y="4076700"/>
            <a:ext cx="2540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B8C8D9"/>
                </a:solidFill>
                <a:latin typeface="Arial"/>
              </a:rPr>
              <a:t>CNCF</a:t>
            </a:r>
          </a:p>
        </p:txBody>
      </p:sp>
      <p:sp>
        <p:nvSpPr>
          <p:cNvPr id="13" name="TextBox 12"/>
          <p:cNvSpPr txBox="1"/>
          <p:nvPr/>
        </p:nvSpPr>
        <p:spPr>
          <a:xfrm>
            <a:off x="787400" y="4394200"/>
            <a:ext cx="2692400" cy="508000"/>
          </a:xfrm>
          <a:prstGeom prst="rect">
            <a:avLst/>
          </a:prstGeom>
          <a:noFill/>
        </p:spPr>
        <p:txBody>
          <a:bodyPr wrap="none" lIns="0" rIns="0" tIns="0" bIns="0" anchor="t">
            <a:noAutofit/>
          </a:bodyPr>
          <a:lstStyle/>
          <a:p>
            <a:pPr algn="ctr">
              <a:lnSpc>
                <a:spcPts val="3679"/>
              </a:lnSpc>
              <a:spcBef>
                <a:spcPts val="0"/>
              </a:spcBef>
              <a:spcAft>
                <a:spcPts val="0"/>
              </a:spcAft>
            </a:pPr>
            <a:r>
              <a:rPr sz="3200" b="1">
                <a:solidFill>
                  <a:srgbClr val="FFFFFF"/>
                </a:solidFill>
                <a:latin typeface="Arial"/>
                <a:hlinkClick r:id="rId3"/>
              </a:rPr>
              <a:t>Incubating</a:t>
            </a:r>
          </a:p>
        </p:txBody>
      </p:sp>
      <p:sp>
        <p:nvSpPr>
          <p:cNvPr id="14" name="TextBox 13"/>
          <p:cNvSpPr txBox="1"/>
          <p:nvPr/>
        </p:nvSpPr>
        <p:spPr>
          <a:xfrm>
            <a:off x="863600" y="5041900"/>
            <a:ext cx="2540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Since July 2026</a:t>
            </a:r>
          </a:p>
        </p:txBody>
      </p:sp>
      <p:sp>
        <p:nvSpPr>
          <p:cNvPr id="15" name="Rounded Rectangle 14"/>
          <p:cNvSpPr/>
          <p:nvPr/>
        </p:nvSpPr>
        <p:spPr>
          <a:xfrm>
            <a:off x="3962400" y="2082800"/>
            <a:ext cx="2387600" cy="1625600"/>
          </a:xfrm>
          <a:prstGeom prst="roundRect">
            <a:avLst>
              <a:gd name="adj" fmla="val 703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402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CF0035"/>
                </a:solidFill>
                <a:latin typeface="Arial"/>
                <a:hlinkClick r:id="rId4"/>
              </a:rPr>
              <a:t>7</a:t>
            </a:r>
          </a:p>
        </p:txBody>
      </p:sp>
      <p:sp>
        <p:nvSpPr>
          <p:cNvPr id="17" name="TextBox 16"/>
          <p:cNvSpPr txBox="1"/>
          <p:nvPr/>
        </p:nvSpPr>
        <p:spPr>
          <a:xfrm>
            <a:off x="41402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4"/>
              </a:rPr>
              <a:t>public adopters</a:t>
            </a:r>
          </a:p>
        </p:txBody>
      </p:sp>
      <p:sp>
        <p:nvSpPr>
          <p:cNvPr id="18" name="Rounded Rectangle 17"/>
          <p:cNvSpPr/>
          <p:nvPr/>
        </p:nvSpPr>
        <p:spPr>
          <a:xfrm>
            <a:off x="6578600" y="2082800"/>
            <a:ext cx="2387600" cy="1625600"/>
          </a:xfrm>
          <a:prstGeom prst="roundRect">
            <a:avLst>
              <a:gd name="adj" fmla="val 703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64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087F85"/>
                </a:solidFill>
                <a:latin typeface="Arial"/>
                <a:hlinkClick r:id="rId5"/>
              </a:rPr>
              <a:t>46</a:t>
            </a:r>
          </a:p>
        </p:txBody>
      </p:sp>
      <p:sp>
        <p:nvSpPr>
          <p:cNvPr id="20" name="TextBox 19"/>
          <p:cNvSpPr txBox="1"/>
          <p:nvPr/>
        </p:nvSpPr>
        <p:spPr>
          <a:xfrm>
            <a:off x="67564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5"/>
              </a:rPr>
              <a:t>contributors</a:t>
            </a:r>
          </a:p>
        </p:txBody>
      </p:sp>
      <p:sp>
        <p:nvSpPr>
          <p:cNvPr id="21" name="Rounded Rectangle 20"/>
          <p:cNvSpPr/>
          <p:nvPr/>
        </p:nvSpPr>
        <p:spPr>
          <a:xfrm>
            <a:off x="9194800" y="2082800"/>
            <a:ext cx="2387600" cy="1625600"/>
          </a:xfrm>
          <a:prstGeom prst="roundRect">
            <a:avLst>
              <a:gd name="adj" fmla="val 703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2762C8"/>
                </a:solidFill>
                <a:latin typeface="Arial"/>
                <a:hlinkClick r:id="rId6"/>
              </a:rPr>
              <a:t>1,335</a:t>
            </a:r>
          </a:p>
        </p:txBody>
      </p:sp>
      <p:cxnSp>
        <p:nvCxnSpPr>
          <p:cNvPr id="23" name="Connector 22"/>
          <p:cNvCxnSpPr/>
          <p:nvPr/>
        </p:nvCxnSpPr>
        <p:spPr>
          <a:xfrm>
            <a:off x="9563100" y="3238500"/>
            <a:ext cx="33591"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596691"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617452"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17452"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9563100" y="3422650"/>
            <a:ext cx="74648"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9488451" y="3422650"/>
            <a:ext cx="74649"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88451"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9442315"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442315"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529508" y="3238500"/>
            <a:ext cx="33592"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66300" y="3238500"/>
            <a:ext cx="16383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6"/>
              </a:rPr>
              <a:t>GitHub stars</a:t>
            </a:r>
          </a:p>
        </p:txBody>
      </p:sp>
      <p:sp>
        <p:nvSpPr>
          <p:cNvPr id="34" name="TextBox 33"/>
          <p:cNvSpPr txBox="1"/>
          <p:nvPr/>
        </p:nvSpPr>
        <p:spPr>
          <a:xfrm>
            <a:off x="3962400" y="38862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PUBLIC ADOPTERS</a:t>
            </a:r>
          </a:p>
        </p:txBody>
      </p:sp>
      <p:sp>
        <p:nvSpPr>
          <p:cNvPr id="35" name="Rounded Rectangle 34"/>
          <p:cNvSpPr/>
          <p:nvPr/>
        </p:nvSpPr>
        <p:spPr>
          <a:xfrm>
            <a:off x="39624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4559300" y="4178300"/>
            <a:ext cx="558800" cy="558800"/>
          </a:xfrm>
          <a:prstGeom prst="rect">
            <a:avLst/>
          </a:prstGeom>
        </p:spPr>
      </p:pic>
      <p:sp>
        <p:nvSpPr>
          <p:cNvPr id="37" name="Rounded Rectangle 36"/>
          <p:cNvSpPr/>
          <p:nvPr/>
        </p:nvSpPr>
        <p:spPr>
          <a:xfrm>
            <a:off x="59182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8"/>
          <a:stretch>
            <a:fillRect/>
          </a:stretch>
        </p:blipFill>
        <p:spPr>
          <a:xfrm>
            <a:off x="6020137" y="4203700"/>
            <a:ext cx="1548725" cy="508000"/>
          </a:xfrm>
          <a:prstGeom prst="rect">
            <a:avLst/>
          </a:prstGeom>
        </p:spPr>
      </p:pic>
      <p:sp>
        <p:nvSpPr>
          <p:cNvPr id="39" name="Rounded Rectangle 38"/>
          <p:cNvSpPr/>
          <p:nvPr/>
        </p:nvSpPr>
        <p:spPr>
          <a:xfrm>
            <a:off x="78740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9"/>
          <a:stretch>
            <a:fillRect/>
          </a:stretch>
        </p:blipFill>
        <p:spPr>
          <a:xfrm>
            <a:off x="8382000" y="4178300"/>
            <a:ext cx="736600" cy="558800"/>
          </a:xfrm>
          <a:prstGeom prst="rect">
            <a:avLst/>
          </a:prstGeom>
        </p:spPr>
      </p:pic>
      <p:sp>
        <p:nvSpPr>
          <p:cNvPr id="41" name="Rounded Rectangle 40"/>
          <p:cNvSpPr/>
          <p:nvPr/>
        </p:nvSpPr>
        <p:spPr>
          <a:xfrm>
            <a:off x="98298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10"/>
          <a:stretch>
            <a:fillRect/>
          </a:stretch>
        </p:blipFill>
        <p:spPr>
          <a:xfrm>
            <a:off x="9931400" y="4240309"/>
            <a:ext cx="1549400" cy="434780"/>
          </a:xfrm>
          <a:prstGeom prst="rect">
            <a:avLst/>
          </a:prstGeom>
        </p:spPr>
      </p:pic>
      <p:sp>
        <p:nvSpPr>
          <p:cNvPr id="43" name="Rounded Rectangle 42"/>
          <p:cNvSpPr/>
          <p:nvPr/>
        </p:nvSpPr>
        <p:spPr>
          <a:xfrm>
            <a:off x="49403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11"/>
          <a:stretch>
            <a:fillRect/>
          </a:stretch>
        </p:blipFill>
        <p:spPr>
          <a:xfrm>
            <a:off x="5041900" y="4946542"/>
            <a:ext cx="1549399" cy="393915"/>
          </a:xfrm>
          <a:prstGeom prst="rect">
            <a:avLst/>
          </a:prstGeom>
        </p:spPr>
      </p:pic>
      <p:sp>
        <p:nvSpPr>
          <p:cNvPr id="45" name="Rounded Rectangle 44"/>
          <p:cNvSpPr/>
          <p:nvPr/>
        </p:nvSpPr>
        <p:spPr>
          <a:xfrm>
            <a:off x="68961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12"/>
          <a:stretch>
            <a:fillRect/>
          </a:stretch>
        </p:blipFill>
        <p:spPr>
          <a:xfrm>
            <a:off x="7151511" y="4864100"/>
            <a:ext cx="1241777" cy="558800"/>
          </a:xfrm>
          <a:prstGeom prst="rect">
            <a:avLst/>
          </a:prstGeom>
        </p:spPr>
      </p:pic>
      <p:sp>
        <p:nvSpPr>
          <p:cNvPr id="47" name="Rounded Rectangle 46"/>
          <p:cNvSpPr/>
          <p:nvPr/>
        </p:nvSpPr>
        <p:spPr>
          <a:xfrm>
            <a:off x="8851900" y="4851400"/>
            <a:ext cx="1752600" cy="584200"/>
          </a:xfrm>
          <a:prstGeom prst="roundRect">
            <a:avLst>
              <a:gd name="adj" fmla="val 1304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13"/>
          <a:stretch>
            <a:fillRect/>
          </a:stretch>
        </p:blipFill>
        <p:spPr>
          <a:xfrm>
            <a:off x="9017000" y="4972082"/>
            <a:ext cx="1422399" cy="342834"/>
          </a:xfrm>
          <a:prstGeom prst="rect">
            <a:avLst/>
          </a:prstGeom>
        </p:spPr>
      </p:pic>
      <p:sp>
        <p:nvSpPr>
          <p:cNvPr id="49" name="TextBox 48"/>
          <p:cNvSpPr txBox="1"/>
          <p:nvPr/>
        </p:nvSpPr>
        <p:spPr>
          <a:xfrm>
            <a:off x="3962400" y="5524500"/>
            <a:ext cx="7620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CNCF / GitHub · checked 23 October 2026</a:t>
            </a:r>
          </a:p>
        </p:txBody>
      </p:sp>
      <p:sp>
        <p:nvSpPr>
          <p:cNvPr id="50" name="Rounded Rectangle 49"/>
          <p:cNvSpPr/>
          <p:nvPr/>
        </p:nvSpPr>
        <p:spPr>
          <a:xfrm>
            <a:off x="609600" y="5753100"/>
            <a:ext cx="10972800" cy="495300"/>
          </a:xfrm>
          <a:prstGeom prst="roundRect">
            <a:avLst>
              <a:gd name="adj" fmla="val 1794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200" y="5880100"/>
            <a:ext cx="3365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hlinkClick r:id="rId14"/>
              </a:rPr>
              <a:t>Meet the community</a:t>
            </a:r>
          </a:p>
        </p:txBody>
      </p:sp>
      <p:sp>
        <p:nvSpPr>
          <p:cNvPr id="52" name="TextBox 51"/>
          <p:cNvSpPr txBox="1"/>
          <p:nvPr/>
        </p:nvSpPr>
        <p:spPr>
          <a:xfrm>
            <a:off x="4279900" y="5892800"/>
            <a:ext cx="70739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142338"/>
                </a:solidFill>
                <a:latin typeface="Arial"/>
                <a:hlinkClick r:id="rId14"/>
              </a:rPr>
              <a:t>Every other Wednesday · everyone welcome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JOIN THE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21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Try k8gb, meet the maintainers, share your deployment.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863600" y="2291172"/>
            <a:ext cx="431800" cy="421455"/>
          </a:xfrm>
          <a:prstGeom prst="rect">
            <a:avLst/>
          </a:prstGeom>
        </p:spPr>
      </p:pic>
      <p:sp>
        <p:nvSpPr>
          <p:cNvPr id="12" name="TextBox 11"/>
          <p:cNvSpPr txBox="1"/>
          <p:nvPr/>
        </p:nvSpPr>
        <p:spPr>
          <a:xfrm>
            <a:off x="1460500" y="2336800"/>
            <a:ext cx="2451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Try k8gb</a:t>
            </a:r>
          </a:p>
        </p:txBody>
      </p:sp>
      <p:pic>
        <p:nvPicPr>
          <p:cNvPr id="13" name="Picture 12" descr="image.png"/>
          <p:cNvPicPr>
            <a:picLocks noChangeAspect="1"/>
          </p:cNvPicPr>
          <p:nvPr/>
        </p:nvPicPr>
        <p:blipFill>
          <a:blip r:embed="rId3"/>
          <a:stretch>
            <a:fillRect/>
          </a:stretch>
        </p:blipFill>
        <p:spPr>
          <a:xfrm>
            <a:off x="889000" y="2857500"/>
            <a:ext cx="2997200" cy="2997200"/>
          </a:xfrm>
          <a:prstGeom prst="rect">
            <a:avLst/>
          </a:prstGeom>
        </p:spPr>
      </p:pic>
      <p:sp>
        <p:nvSpPr>
          <p:cNvPr id="14" name="TextBox 13"/>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5" name="Rounded Rectangle 14"/>
          <p:cNvSpPr/>
          <p:nvPr/>
        </p:nvSpPr>
        <p:spPr>
          <a:xfrm>
            <a:off x="4470400" y="20828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6300" y="2298700"/>
            <a:ext cx="482600" cy="482600"/>
          </a:xfrm>
          <a:prstGeom prst="roundRect">
            <a:avLst>
              <a:gd name="adj" fmla="val 21052"/>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0400" y="31242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86300" y="3340100"/>
            <a:ext cx="482600" cy="482600"/>
          </a:xfrm>
          <a:prstGeom prst="roundRect">
            <a:avLst>
              <a:gd name="adj" fmla="val 21052"/>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70400" y="41656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86300" y="4381500"/>
            <a:ext cx="482600" cy="482600"/>
          </a:xfrm>
          <a:prstGeom prst="roundRect">
            <a:avLst>
              <a:gd name="adj" fmla="val 21052"/>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927600" y="2374900"/>
            <a:ext cx="42549"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70149"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996446"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99644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927600" y="2612390"/>
            <a:ext cx="97043"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30556" y="2612390"/>
            <a:ext cx="97044"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83055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4770580"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770580"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85050" y="2374900"/>
            <a:ext cx="42550"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384800" y="22225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STAR &amp; CONTRIBUTE</a:t>
            </a:r>
          </a:p>
        </p:txBody>
      </p:sp>
      <p:sp>
        <p:nvSpPr>
          <p:cNvPr id="32" name="TextBox 31"/>
          <p:cNvSpPr txBox="1"/>
          <p:nvPr/>
        </p:nvSpPr>
        <p:spPr>
          <a:xfrm>
            <a:off x="5384800" y="2527300"/>
            <a:ext cx="594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hlinkClick r:id="rId5"/>
              </a:rPr>
              <a:t>github.com/k8gb-io/k8gb</a:t>
            </a:r>
          </a:p>
        </p:txBody>
      </p:sp>
      <p:sp>
        <p:nvSpPr>
          <p:cNvPr id="33" name="Rounded Rectangle 32"/>
          <p:cNvSpPr/>
          <p:nvPr/>
        </p:nvSpPr>
        <p:spPr>
          <a:xfrm>
            <a:off x="4775200" y="3454400"/>
            <a:ext cx="304800" cy="190500"/>
          </a:xfrm>
          <a:prstGeom prst="roundRect">
            <a:avLst>
              <a:gd name="adj" fmla="val 2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38700" y="3644900"/>
            <a:ext cx="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838700" y="3644900"/>
            <a:ext cx="8890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8374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9136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9898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84800" y="32639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JOIN THE CONVERSATION</a:t>
            </a:r>
          </a:p>
        </p:txBody>
      </p:sp>
      <p:sp>
        <p:nvSpPr>
          <p:cNvPr id="40" name="TextBox 39"/>
          <p:cNvSpPr txBox="1"/>
          <p:nvPr/>
        </p:nvSpPr>
        <p:spPr>
          <a:xfrm>
            <a:off x="5384800" y="3568700"/>
            <a:ext cx="32004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6"/>
              </a:rPr>
              <a:t>#k8gb · CNCF Slack</a:t>
            </a:r>
          </a:p>
        </p:txBody>
      </p:sp>
      <p:sp>
        <p:nvSpPr>
          <p:cNvPr id="41" name="TextBox 40"/>
          <p:cNvSpPr txBox="1"/>
          <p:nvPr/>
        </p:nvSpPr>
        <p:spPr>
          <a:xfrm>
            <a:off x="8610600" y="35941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hlinkClick r:id="rId7"/>
              </a:rPr>
              <a:t>Community meetings</a:t>
            </a:r>
          </a:p>
        </p:txBody>
      </p:sp>
      <p:sp>
        <p:nvSpPr>
          <p:cNvPr id="42" name="Rounded Rectangle 41"/>
          <p:cNvSpPr/>
          <p:nvPr/>
        </p:nvSpPr>
        <p:spPr>
          <a:xfrm>
            <a:off x="4813300" y="4457700"/>
            <a:ext cx="215900" cy="292100"/>
          </a:xfrm>
          <a:prstGeom prst="roundRect">
            <a:avLst>
              <a:gd name="adj" fmla="val 11764"/>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4864100" y="45339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864100" y="45847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41900" y="4648200"/>
            <a:ext cx="0" cy="1524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5700" y="4724400"/>
            <a:ext cx="1524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384800" y="43053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SHARE YOUR DEPLOYMENT</a:t>
            </a:r>
          </a:p>
        </p:txBody>
      </p:sp>
      <p:sp>
        <p:nvSpPr>
          <p:cNvPr id="48" name="TextBox 47"/>
          <p:cNvSpPr txBox="1"/>
          <p:nvPr/>
        </p:nvSpPr>
        <p:spPr>
          <a:xfrm>
            <a:off x="5384800" y="4610100"/>
            <a:ext cx="5943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8"/>
              </a:rPr>
              <a:t>Add your organization to ADOPTERS.md</a:t>
            </a:r>
          </a:p>
        </p:txBody>
      </p:sp>
      <p:sp>
        <p:nvSpPr>
          <p:cNvPr id="49" name="Rounded Rectangle 48"/>
          <p:cNvSpPr/>
          <p:nvPr/>
        </p:nvSpPr>
        <p:spPr>
          <a:xfrm>
            <a:off x="4470400" y="5283200"/>
            <a:ext cx="7112000" cy="965200"/>
          </a:xfrm>
          <a:prstGeom prst="roundRect">
            <a:avLst>
              <a:gd name="adj" fmla="val 11842"/>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4400" y="5422900"/>
            <a:ext cx="2603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Yury Tsarev</a:t>
            </a:r>
          </a:p>
        </p:txBody>
      </p:sp>
      <p:sp>
        <p:nvSpPr>
          <p:cNvPr id="51" name="TextBox 50"/>
          <p:cNvSpPr txBox="1"/>
          <p:nvPr/>
        </p:nvSpPr>
        <p:spPr>
          <a:xfrm>
            <a:off x="7404100" y="5511800"/>
            <a:ext cx="39116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B8C8D9"/>
                </a:solidFill>
                <a:latin typeface="Arial"/>
              </a:rPr>
              <a:t>Creator &amp; Project Lead · k8gb</a:t>
            </a:r>
          </a:p>
        </p:txBody>
      </p:sp>
      <p:sp>
        <p:nvSpPr>
          <p:cNvPr id="52" name="TextBox 51"/>
          <p:cNvSpPr txBox="1"/>
          <p:nvPr/>
        </p:nvSpPr>
        <p:spPr>
          <a:xfrm>
            <a:off x="4724400" y="5854700"/>
            <a:ext cx="660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9"/>
              </a:rPr>
              <a:t>linkedin.com/in/yurytsarev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A4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A5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A6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