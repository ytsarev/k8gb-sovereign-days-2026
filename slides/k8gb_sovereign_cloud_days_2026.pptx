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0.5 minutes.</a:t>
            </a:r>
          </a:p>
          <a:p/>
          <a:p>
            <a:r>
              <a:t>RUN OF SHOW: 0–0.5 minutes elapsed.</a:t>
            </a:r>
          </a:p>
          <a:p/>
          <a:p>
            <a:r>
              <a:t>Open with one question: when a cluster disappears, who controls the next connection? Introduce yourself as k8gb creator and project lead. Set the route: first the product and a working local demo, then the operational cases to test. Reach Questions at minute 28; reserve seven minutes for discussion.</a:t>
            </a:r>
          </a:p>
          <a:p/>
          <a:p>
            <a:r>
              <a:t>SOURCE CHECK</a:t>
            </a:r>
          </a:p>
          <a:p>
            <a:r>
              <a:t>Local k8gb checkout: 330d33335981b9716bc8ca245660d90893eae272</a:t>
            </a:r>
          </a:p>
          <a:p>
            <a:r>
              <a:t>https://www.sovereign-cloud-days.eu/event/sovereign-cloud-days-2026-1/track/who-controls-the-failover-sovereign-global-traffic-management-with-kubernetes-63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1.25 minutes.</a:t>
            </a:r>
          </a:p>
          <a:p/>
          <a:p>
            <a:r>
              <a:t>RUN OF SHOW: 0.5–1.75 minutes elapsed.</a:t>
            </a:r>
          </a:p>
          <a:p/>
          <a:p>
            <a:r>
              <a:t>Use this single progression: replicas across workers address node loss; a cluster spread across availability zones addresses a wider failure domain; independent clusters need traffic steering for the same hostname. Point to one failed member at each level, then ask who sends the next request to a surviving cluster. Keep the explanation at the reachability level.</a:t>
            </a:r>
          </a:p>
          <a:p/>
          <a:p>
            <a:r>
              <a:t>SOURCE CHECK</a:t>
            </a:r>
          </a:p>
          <a:p>
            <a:r>
              <a:t>Local k8gb checkout: 330d33335981b9716bc8ca245660d90893eae272</a:t>
            </a:r>
          </a:p>
          <a:p>
            <a:r>
              <a:t>https://kubernetes.io/docs/concepts/scheduling-eviction/topology-spread-constraints/</a:t>
            </a:r>
          </a:p>
          <a:p>
            <a:r>
              <a:t>https://kubernetes.io/docs/concepts/services-networking/service/</a:t>
            </a:r>
          </a:p>
          <a:p>
            <a:r>
              <a:t>https://kubernetes.io/docs/concepts/workloads/controllers/deployment/</a:t>
            </a:r>
          </a:p>
          <a:p>
            <a:r>
              <a:t>https://kubernetes.io/docs/setup/best-practices/multiple-zones/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1 minutes.</a:t>
            </a:r>
          </a:p>
          <a:p/>
          <a:p>
            <a:r>
              <a:t>RUN OF SHOW: 1.75–2.75 minutes elapsed.</a:t>
            </a:r>
          </a:p>
          <a:p/>
          <a:p>
            <a:r>
              <a:t>k8gb is Kubernetes-native, decentralized, and declarative. Each participating cluster has its own controller and authoritative DNS. There is no dedicated central management cluster. Mention two or more clusters and that the two-cluster drawings are examples; this is not a tested unlimited-scale claim. Readiness and the Gslb strategy determine eligible application targets. Move directly to the production origins.</a:t>
            </a:r>
          </a:p>
          <a:p/>
          <a:p>
            <a:r>
              <a:t>SOURCE CHECK</a:t>
            </a:r>
          </a:p>
          <a:p>
            <a:r>
              <a:t>Local k8gb checkout: 330d33335981b9716bc8ca245660d90893eae272</a:t>
            </a:r>
          </a:p>
          <a:p>
            <a:r>
              <a:t>https://github.com/k8gb-io/k8gb/blob/330d33335981b9716bc8ca245660d90893eae272/controllers/providers/k8gbendpoint/applicationDNSEndpoint.go</a:t>
            </a:r>
          </a:p>
          <a:p>
            <a:r>
              <a:t>https://github.com/k8gb-io/k8gb/blob/330d33335981b9716bc8ca245660d90893eae272/docs/resource_ref.md</a:t>
            </a:r>
          </a:p>
          <a:p>
            <a:r>
              <a:t>https://github.com/k8gb-io/k8gb/blob/330d33335981b9716bc8ca245660d90893eae272/docs/dynamic_geotags.md</a:t>
            </a:r>
          </a:p>
          <a:p>
            <a:r>
              <a:t>https://github.com/k8gb-io/k8gb/blob/330d33335981b9716bc8ca245660d90893eae272/api/v1beta1io/zonedelegation_types.go</a:t>
            </a:r>
          </a:p>
          <a:p>
            <a:r>
              <a:t>https://github.com/k8gb-io/k8gb/blob/330d33335981b9716bc8ca245660d90893eae272/controllers/resolver/config.go</a:t>
            </a:r>
          </a:p>
          <a:p>
            <a:r>
              <a:t>https://www.cncf.io/projects/k8gb/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0.5 minutes.</a:t>
            </a:r>
          </a:p>
          <a:p/>
          <a:p>
            <a:r>
              <a:t>RUN OF SHOW: 2.75–3.25 minutes elapsed.</a:t>
            </a:r>
          </a:p>
          <a:p/>
          <a:p>
            <a:r>
              <a:t>Thirty-second history: originated at Absa for real production needs across on-prem datacenters and later hybrid deployments; CNCF Sandbox in 2021; adoption beyond Absa; Incubating in July 2026. The timeline is context, not a separate project-history talk.</a:t>
            </a:r>
          </a:p>
          <a:p/>
          <a:p>
            <a:r>
              <a:t>SOURCE CHECK</a:t>
            </a:r>
          </a:p>
          <a:p>
            <a:r>
              <a:t>Local k8gb checkout: 330d33335981b9716bc8ca245660d90893eae272</a:t>
            </a:r>
          </a:p>
          <a:p>
            <a:r>
              <a:t>https://github.com/k8gb-io/k8gb/blob/330d33335981b9716bc8ca245660d90893eae272/README.md#motivation-and-architecture</a:t>
            </a:r>
          </a:p>
          <a:p>
            <a:r>
              <a:t>https://github.com/k8gb-io/k8gb/blob/330d33335981b9716bc8ca245660d90893eae272/ADOPTERS.md</a:t>
            </a:r>
          </a:p>
          <a:p>
            <a:r>
              <a:t>https://www.cncf.io/projects/k8gb/</a:t>
            </a:r>
          </a:p>
          <a:p>
            <a:r>
              <a:t>https://www.cncf.io/announcements/2026/08/05/k8gb-becomes-a-cncf-incubating-project/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0.75 minutes.</a:t>
            </a:r>
          </a:p>
          <a:p/>
          <a:p>
            <a:r>
              <a:t>RUN OF SHOW: 3.25–4 minutes elapsed.</a:t>
            </a:r>
          </a:p>
          <a:p/>
          <a:p>
            <a:r>
              <a:t>Use one production example to establish adoption. Millennium bcp reports five regions across two cloud providers and on-premises, shorter DNS incident response, and zero downtime in the reported regional failover tests. These are the case study’s reported results for that deployment. Keep to the three displayed facts and move to the architecture.</a:t>
            </a:r>
          </a:p>
          <a:p/>
          <a:p>
            <a:r>
              <a:t>SOURCE CHECK</a:t>
            </a:r>
          </a:p>
          <a:p>
            <a:r>
              <a:t>Local k8gb checkout: 330d33335981b9716bc8ca245660d90893eae272</a:t>
            </a:r>
          </a:p>
          <a:p>
            <a:r>
              <a:t>https://www.cncf.io/case-studies/millennium-bcp/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2 minutes.</a:t>
            </a:r>
          </a:p>
          <a:p/>
          <a:p>
            <a:r>
              <a:t>RUN OF SHOW: 4–6 minutes elapsed.</a:t>
            </a:r>
          </a:p>
          <a:p/>
          <a:p>
            <a:r>
              <a:t>This is the main architecture explanation. Each cluster runs the same three roles: k8gb evaluates readiness and the Gslb strategy, CoreDNS answers for the application zone, and ExternalDNS updates parent delegation. The parent directs resolvers to these authorities. Peer health is learned by querying peer CoreDNS; the controllers do not elect a central leader. Two of N clusters are shown. Detailed component, delegation and reconciliation diagrams are in the appendix. Do not open those during the prepared talk.</a:t>
            </a:r>
          </a:p>
          <a:p/>
          <a:p>
            <a:r>
              <a:t>SOURCE CHECK</a:t>
            </a:r>
          </a:p>
          <a:p>
            <a:r>
              <a:t>Local k8gb checkout: 330d33335981b9716bc8ca245660d90893eae272</a:t>
            </a:r>
          </a:p>
          <a:p>
            <a:r>
              <a:t>https://github.com/k8gb-io/k8gb/blob/330d33335981b9716bc8ca245660d90893eae272/controllers/zones/authoritative.go</a:t>
            </a:r>
          </a:p>
          <a:p>
            <a:r>
              <a:t>https://github.com/k8gb-io/k8gb/blob/330d33335981b9716bc8ca245660d90893eae272/controllers/providers/k8gbendpoint/applicationDNSEndpoint.go</a:t>
            </a:r>
          </a:p>
          <a:p>
            <a:r>
              <a:t>https://github.com/k8gb-io/k8gb/blob/330d33335981b9716bc8ca245660d90893eae272/controllers/providers/dns/external.go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1.25 minutes.</a:t>
            </a:r>
          </a:p>
          <a:p/>
          <a:p>
            <a:r>
              <a:t>RUN OF SHOW: 6–7.25 minutes elapsed.</a:t>
            </a:r>
          </a:p>
          <a:p/>
          <a:p>
            <a:r>
              <a:t>Walk the DNS lookup once: client, recursive resolver, authoritative CoreDNS, returned application address. Then point to the separate application connection through Gateway or Ingress. DNS is outside the application data path, so k8gb steers new connections without proxying application traffic. Save the cache-delay discussion for immediately after the demo.</a:t>
            </a:r>
          </a:p>
          <a:p/>
          <a:p>
            <a:r>
              <a:t>SOURCE CHECK</a:t>
            </a:r>
          </a:p>
          <a:p>
            <a:r>
              <a:t>Local k8gb checkout: 330d33335981b9716bc8ca245660d90893eae272</a:t>
            </a:r>
          </a:p>
          <a:p>
            <a:r>
              <a:t>https://github.com/k8gb-io/k8gb/blob/330d33335981b9716bc8ca245660d90893eae272/docs/intro.md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1.25 minutes.</a:t>
            </a:r>
          </a:p>
          <a:p/>
          <a:p>
            <a:r>
              <a:t>RUN OF SHOW: 7.25–8.5 minutes elapsed.</a:t>
            </a:r>
          </a:p>
          <a:p/>
          <a:p>
            <a:r>
              <a:t>Failover prefers a primary cluster and returns to it when ready again; this is the demo strategy. Introduce the other modes in one sentence each: round robin uses healthy clusters, weights express relative preference, GeoIP uses client subnet information. Keep the displayed DNS-level qualifications brief. Do not pre-explain the three failover states; the audience will see them in the demo.</a:t>
            </a:r>
          </a:p>
          <a:p/>
          <a:p>
            <a:r>
              <a:t>SOURCE CHECK</a:t>
            </a:r>
          </a:p>
          <a:p>
            <a:r>
              <a:t>Local k8gb checkout: 330d33335981b9716bc8ca245660d90893eae272</a:t>
            </a:r>
          </a:p>
          <a:p>
            <a:r>
              <a:t>https://github.com/k8gb-io/k8gb/blob/330d33335981b9716bc8ca245660d90893eae272/docs/strategy.md</a:t>
            </a:r>
          </a:p>
          <a:p>
            <a:r>
              <a:t>https://github.com/k8gb-io/k8gb/blob/330d33335981b9716bc8ca245660d90893eae272/docs/wrr_caveats.md</a:t>
            </a:r>
          </a:p>
          <a:p>
            <a:r>
              <a:t>https://github.com/k8gb-io/k8gb/blob/330d33335981b9716bc8ca245660d90893eae272/controllers/providers/k8gbendpoint/applicationDNSEndpoint.go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1.25 minutes.</a:t>
            </a:r>
          </a:p>
          <a:p/>
          <a:p>
            <a:r>
              <a:t>RUN OF SHOW: 8.5–9.75 minutes elapsed.</a:t>
            </a:r>
          </a:p>
          <a:p/>
          <a:p>
            <a:r>
              <a:t>Show the familiar apiVersion, kind, metadata and spec: Gslb is a standard Kubernetes custom resource. primaryGeoTag: eu selects the cluster tagged eu, called Cluster A in the demo; Cluster B is us. The same steering configuration is deployed per cluster. The slide uses HTTPRoute; the local demo uses Ingress with the same failover strategy. The route and delegated zone are already prepared for the demo.</a:t>
            </a:r>
          </a:p>
          <a:p/>
          <a:p>
            <a:r>
              <a:t>SOURCE CHECK</a:t>
            </a:r>
          </a:p>
          <a:p>
            <a:r>
              <a:t>Local k8gb checkout: 330d33335981b9716bc8ca245660d90893eae272</a:t>
            </a:r>
          </a:p>
          <a:p>
            <a:r>
              <a:t>https://github.com/k8gb-io/k8gb/blob/330d33335981b9716bc8ca245660d90893eae272/api/v1beta1io/gslb_types.go</a:t>
            </a:r>
          </a:p>
          <a:p>
            <a:r>
              <a:t>https://github.com/k8gb-io/k8gb/blob/330d33335981b9716bc8ca245660d90893eae272/docs/resource_ref.md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1.25 minutes.</a:t>
            </a:r>
          </a:p>
          <a:p/>
          <a:p>
            <a:r>
              <a:t>RUN OF SHOW: 9.75–11 minutes elapsed.</a:t>
            </a:r>
          </a:p>
          <a:p/>
          <a:p>
            <a:r>
              <a:t>The parent DNS can be provider-operated or team-operated. ExternalDNS uses the selected provider API, or RFC 2136 with TSIG for BIND9. The Gslb strategy and application-zone CoreDNS layer remain the same. This is the concrete sovereignty choice: your team chooses the parent authority and its integration. Provider changes still require configuration and delegation planning; avoid a second delegation walkthrough.</a:t>
            </a:r>
          </a:p>
          <a:p/>
          <a:p>
            <a:r>
              <a:t>SOURCE CHECK</a:t>
            </a:r>
          </a:p>
          <a:p>
            <a:r>
              <a:t>Local k8gb checkout: 330d33335981b9716bc8ca245660d90893eae272</a:t>
            </a:r>
          </a:p>
          <a:p>
            <a:r>
              <a:t>https://github.com/k8gb-io/k8gb/blob/330d33335981b9716bc8ca245660d90893eae272/docs/provider_rfc2136.md</a:t>
            </a:r>
          </a:p>
          <a:p>
            <a:r>
              <a:t>https://github.com/k8gb-io/k8gb/blob/330d33335981b9716bc8ca245660d90893eae272/controllers/providers/dns/external.go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1 minutes.</a:t>
            </a:r>
          </a:p>
          <a:p/>
          <a:p>
            <a:r>
              <a:t>RUN OF SHOW: 11–12 minutes elapsed.</a:t>
            </a:r>
          </a:p>
          <a:p/>
          <a:p>
            <a:r>
              <a:t>Connect geotags to the audience’s topology. A tag identifies a participating k8gb cluster; it can represent a region, datacenter, rack, server, or another boundary. Rack or server examples still mean independent Kubernetes clusters, including single-node clusters. Our demo names them A/eu and B/us. End the capability section here and switch to the local setup at minute 12.</a:t>
            </a:r>
          </a:p>
          <a:p/>
          <a:p>
            <a:r>
              <a:t>SOURCE CHECK</a:t>
            </a:r>
          </a:p>
          <a:p>
            <a:r>
              <a:t>Local k8gb checkout: 330d33335981b9716bc8ca245660d90893eae272</a:t>
            </a:r>
          </a:p>
          <a:p>
            <a:r>
              <a:t>https://github.com/k8gb-io/k8gb/blob/330d33335981b9716bc8ca245660d90893eae272/chart/k8gb/values.yaml</a:t>
            </a:r>
          </a:p>
          <a:p>
            <a:r>
              <a:t>https://github.com/k8gb-io/k8gb/blob/330d33335981b9716bc8ca245660d90893eae272/docs/dynamic_geotags.md</a:t>
            </a:r>
          </a:p>
          <a:p>
            <a:r>
              <a:t>https://github.com/k8gb-io/k8gb/blob/330d33335981b9716bc8ca245660d90893eae272/controllers/resolver/config.go</a:t>
            </a:r>
          </a:p>
          <a:p>
            <a:r>
              <a:t>https://github.com/k8gb-io/k8gb/blob/330d33335981b9716bc8ca245660d90893eae272/controllers/resolver/config_validations.go</a:t>
            </a:r>
          </a:p>
          <a:p>
            <a:r>
              <a:t>https://github.com/k8gb-io/k8gb/blob/330d33335981b9716bc8ca245660d90893eae272/controllers/providers/k8gbendpoint/applicationDNSEndpoint.go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6 minutes.</a:t>
            </a:r>
          </a:p>
          <a:p/>
          <a:p>
            <a:r>
              <a:t>RUN OF SHOW: 12–18 minutes elapsed.</a:t>
            </a:r>
          </a:p>
          <a:p/>
          <a:p>
            <a:r>
              <a:t>SIX MINUTES INCLUDING INTRODUCTION. Spend about 45 seconds on this diagram: local BIND9 is the parent authority; A/eu is primary, B/us is secondary; the CLI observes DNS, the resolver, and actual HTTP identity. Then switch to the terminal. Show the Gslb failover strategy, compare both authoritative answers, remove A’s ready application endpoints, observe HTTP from B, restore the captured original replica count, and verify A again. Keep notes short and let the traffic pane show readiness and cache lag. Do not explain each Kubernetes object field or inspect unrelated internals. The operation is application endpoint loss, while DNS remains available. Launch the prepared presentation with ./demo/demo.sh up; the isolated recorded fallback is ./demo/demo.sh offline and is explicitly labelled recorded replay. This setup uses Ingress. Finish and restore A by minute 18. Return directly to the timing slide with: We have seen application failover and recovery. Now let us examine what changes when observations disagree or readiness gives the wrong signal.</a:t>
            </a:r>
          </a:p>
          <a:p/>
          <a:p>
            <a:r>
              <a:t>SOURCE CHECK</a:t>
            </a:r>
          </a:p>
          <a:p>
            <a:r>
              <a:t>Local k8gb checkout: 330d33335981b9716bc8ca245660d90893eae272</a:t>
            </a:r>
          </a:p>
          <a:p>
            <a:r>
              <a:t>https://github.com/k8gb-io/k8gb/blob/330d33335981b9716bc8ca245660d90893eae272/hack/demo-failover.sh</a:t>
            </a:r>
          </a:p>
          <a:p>
            <a:r>
              <a:t>https://github.com/k8gb-io/k8gb/blob/330d33335981b9716bc8ca245660d90893eae272/k3d/test-gslb1.yaml</a:t>
            </a:r>
          </a:p>
          <a:p>
            <a:r>
              <a:t>https://github.com/k8gb-io/k8gb/blob/330d33335981b9716bc8ca245660d90893eae272/k3d/test-gslb2.yaml</a:t>
            </a:r>
          </a:p>
          <a:p>
            <a:r>
              <a:t>https://github.com/k8gb-io/k8gb/blob/330d33335981b9716bc8ca245660d90893eae272/k3d/edge-dns.yaml</a:t>
            </a:r>
          </a:p>
          <a:p>
            <a:r>
              <a:t>https://github.com/k8gb-io/k8gb/blob/330d33335981b9716bc8ca245660d90893eae272/deploy/edge/deployment.yaml</a:t>
            </a:r>
          </a:p>
          <a:p>
            <a:r>
              <a:t>https://github.com/k8gb-io/k8gb/blob/330d33335981b9716bc8ca245660d90893eae272/deploy/edge/zone.yaml</a:t>
            </a:r>
          </a:p>
          <a:p>
            <a:r>
              <a:t>https://github.com/k8gb-io/k8gb/blob/330d33335981b9716bc8ca245660d90893eae272/deploy/gslb/k8gb.absa.oss_v1beta1_gslb_cr_failover_ingress_ref.yaml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1.5 minutes.</a:t>
            </a:r>
          </a:p>
          <a:p/>
          <a:p>
            <a:r>
              <a:t>RUN OF SHOW: 18–19.5 minutes elapsed.</a:t>
            </a:r>
          </a:p>
          <a:p/>
          <a:p>
            <a:r>
              <a:t>Start Part 2 with what the audience just saw: readiness changes, controllers reconcile, authorities publish, resolvers refresh, clients retry. These moments are distinct. Existing connections do not migrate when DNS changes; reconnect and session behavior need testing with the actual application. Measure the return of successful requests, not only a controller update. Spend 90 seconds; detailed timer arithmetic belongs in questions.</a:t>
            </a:r>
          </a:p>
          <a:p/>
          <a:p>
            <a:r>
              <a:t>SOURCE CHECK</a:t>
            </a:r>
          </a:p>
          <a:p>
            <a:r>
              <a:t>Local k8gb checkout: 330d33335981b9716bc8ca245660d90893eae272</a:t>
            </a:r>
          </a:p>
          <a:p>
            <a:r>
              <a:t>https://github.com/k8gb-io/k8gb/blob/330d33335981b9716bc8ca245660d90893eae272/chart/k8gb/values.yaml</a:t>
            </a:r>
          </a:p>
          <a:p>
            <a:r>
              <a:t>https://github.com/k8gb-io/k8gb/blob/330d33335981b9716bc8ca245660d90893eae272/controllers/zone_delegation_reconciliation.go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2 minutes.</a:t>
            </a:r>
          </a:p>
          <a:p/>
          <a:p>
            <a:r>
              <a:t>RUN OF SHOW: 19.5–21.5 minutes elapsed.</a:t>
            </a:r>
          </a:p>
          <a:p/>
          <a:p>
            <a:r>
              <a:t>Use this single slide for application readiness and data safety. Kubernetes runs readinessProbe checks and reflects Pod readiness in EndpointSlices; k8gb consumes that state when selecting targets. The lower example is illustrative: GET /healthz returns 200 while a real payment write fails because the database is read-only. The application must define readiness around the operation it needs to serve. k8gb steers traffic; replication, safe writer ownership and fencing remain application responsibilities. State this once, using the example, then move on. Probe details and Any/All service aggregation can be discussed in questions; a readiness probe does not itself repair the database or guarantee every request.</a:t>
            </a:r>
          </a:p>
          <a:p/>
          <a:p>
            <a:r>
              <a:t>SOURCE CHECK</a:t>
            </a:r>
          </a:p>
          <a:p>
            <a:r>
              <a:t>Local k8gb checkout: 330d33335981b9716bc8ca245660d90893eae272</a:t>
            </a:r>
          </a:p>
          <a:p>
            <a:r>
              <a:t>https://github.com/k8gb-io/k8gb/blob/330d33335981b9716bc8ca245660d90893eae272/controllers/runtime_shared.go</a:t>
            </a:r>
          </a:p>
          <a:p>
            <a:r>
              <a:t>https://github.com/k8gb-io/k8gb/blob/330d33335981b9716bc8ca245660d90893eae272/api/v1beta1io/gslb_types.go</a:t>
            </a:r>
          </a:p>
          <a:p>
            <a:r>
              <a:t>https://github.com/k8gb-io/k8gb/blob/330d33335981b9716bc8ca245660d90893eae272/controllers/providers/k8gbendpoint/applicationDNSEndpoint.go</a:t>
            </a:r>
          </a:p>
          <a:p>
            <a:r>
              <a:t>https://kubernetes.io/docs/concepts/workloads/pods/probes/#readiness-probe</a:t>
            </a:r>
          </a:p>
          <a:p>
            <a:r>
              <a:t>https://kubernetes.io/docs/concepts/services-networking/endpoint-slices/#conditions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2 minutes.</a:t>
            </a:r>
          </a:p>
          <a:p/>
          <a:p>
            <a:r>
              <a:t>RUN OF SHOW: 21.5–23.5 minutes elapsed.</a:t>
            </a:r>
          </a:p>
          <a:p/>
          <a:p>
            <a:r>
              <a:t>Now change the failure condition: both applications are ready and clients can reach both authorities, but B cannot obtain A’s peer-health answer. A can continue returning A while B returns B. The illustration shows a possible divergent state, not a claim that every partition has identical behavior. A failed observation is not proof that the remote application is down. Compare this with the clean workload failover the demo showed. Transition directly to how we observe the disagreement.</a:t>
            </a:r>
          </a:p>
          <a:p/>
          <a:p>
            <a:r>
              <a:t>SOURCE CHECK</a:t>
            </a:r>
          </a:p>
          <a:p>
            <a:r>
              <a:t>Local k8gb checkout: 330d33335981b9716bc8ca245660d90893eae272</a:t>
            </a:r>
          </a:p>
          <a:p>
            <a:r>
              <a:t>https://github.com/k8gb-io/k8gb/blob/330d33335981b9716bc8ca245660d90893eae272/controllers/providers/k8gbendpoint/applicationDNSEndpoint.go</a:t>
            </a:r>
          </a:p>
          <a:p>
            <a:r>
              <a:t>https://github.com/k8gb-io/k8gb/blob/330d33335981b9716bc8ca245660d90893eae272/controllers/zones/authoritative.go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1.25 minutes.</a:t>
            </a:r>
          </a:p>
          <a:p/>
          <a:p>
            <a:r>
              <a:t>RUN OF SHOW: 23.5–24.75 minutes elapsed.</a:t>
            </a:r>
          </a:p>
          <a:p/>
          <a:p>
            <a:r>
              <a:t>Query the same application name against each authority. Then compare what the recursive cache returns and test a real request. Correlate readiness, controller errors and application results. The metric example shows why three healthy IPs can belong to one cluster; do not spend time deriving the metric. This is the practical response to the partition diagram, not a separate monitoring-tool tour.</a:t>
            </a:r>
          </a:p>
          <a:p/>
          <a:p>
            <a:r>
              <a:t>SOURCE CHECK</a:t>
            </a:r>
          </a:p>
          <a:p>
            <a:r>
              <a:t>Local k8gb checkout: 330d33335981b9716bc8ca245660d90893eae272</a:t>
            </a:r>
          </a:p>
          <a:p>
            <a:r>
              <a:t>https://github.com/k8gb-io/k8gb/blob/330d33335981b9716bc8ca245660d90893eae272/controllers/providers/metrics/prometheus.go</a:t>
            </a:r>
          </a:p>
          <a:p>
            <a:r>
              <a:t>https://github.com/k8gb-io/k8gb/blob/330d33335981b9716bc8ca245660d90893eae272/controllers/runtime_shared.go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1.25 minutes.</a:t>
            </a:r>
          </a:p>
          <a:p/>
          <a:p>
            <a:r>
              <a:t>RUN OF SHOW: 24.75–26 minutes elapsed.</a:t>
            </a:r>
          </a:p>
          <a:p/>
          <a:p>
            <a:r>
              <a:t>Turn the hard parts into four specific tests: remove ready application endpoints, lose a whole cluster, interrupt a peer-health lookup, and restore the primary. Verify authoritative answers, resolver behavior and successful real requests for each test. Automate the sequence and measure recovery. We exercised the workload case; the remaining rows are the production test plan. Finish this section by minute 26.</a:t>
            </a:r>
          </a:p>
          <a:p/>
          <a:p>
            <a:r>
              <a:t>SOURCE CHECK</a:t>
            </a:r>
          </a:p>
          <a:p>
            <a:r>
              <a:t>Local k8gb checkout: 330d33335981b9716bc8ca245660d90893eae272</a:t>
            </a:r>
          </a:p>
          <a:p>
            <a:r>
              <a:t>https://github.com/k8gb-io/k8gb/blob/330d33335981b9716bc8ca245660d90893eae272/controllers/providers/k8gbendpoint/applicationDNSEndpoint.go</a:t>
            </a:r>
          </a:p>
          <a:p>
            <a:r>
              <a:t>https://github.com/k8gb-io/k8gb/blob/330d33335981b9716bc8ca245660d90893eae272/controllers/runtime_shared.go</a:t>
            </a:r>
          </a:p>
          <a:p>
            <a:r>
              <a:t>https://github.com/k8gb-io/k8gb/blob/330d33335981b9716bc8ca245660d90893eae272/controllers/zones/authoritative.go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2 minutes.</a:t>
            </a:r>
          </a:p>
          <a:p/>
          <a:p>
            <a:r>
              <a:t>RUN OF SHOW: 26–28 minutes elapsed.</a:t>
            </a:r>
          </a:p>
          <a:p/>
          <a:p>
            <a:r>
              <a:t>Close with configure, verify, test. k8gb automatically reconciles traffic failover and failback; the team automates end-to-end tests of that behavior. Version the Gslb manifest; choose and own the delegated DNS path; use multiple observable authorities; make readiness describe the real operation; verify client-visible requests; automate failure and recovery tests. These absorb the separate operational checklist. Return to the title: control comes from choosing the configuration, seeing the result, and repeatedly testing recovery. Do not reopen the data discussion or recap every slide. Invite questions by minute 28.</a:t>
            </a:r>
          </a:p>
          <a:p/>
          <a:p>
            <a:r>
              <a:t>SOURCE CHECK</a:t>
            </a:r>
          </a:p>
          <a:p>
            <a:r>
              <a:t>Local k8gb checkout: 330d33335981b9716bc8ca245660d90893eae272</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7 minutes.</a:t>
            </a:r>
          </a:p>
          <a:p/>
          <a:p>
            <a:r>
              <a:t>RUN OF SHOW: 28–35 minutes elapsed.</a:t>
            </a:r>
          </a:p>
          <a:p/>
          <a:p>
            <a:r>
              <a:t>Reserve seven minutes for questions, from minute 28 to minute 35. Leave the QR code, project links and LinkedIn contact visible. Hidden appendix slides follow: A1 components (physical slide 20), A2 reconciliation (21), A3 delegation (22), A4 normal state (23), A5 failover (24), A6 failback (25), A7 availability responsibilities (26). Jump to one only when relevant to a question; hidden slides are skipped in the normal PowerPoint slideshow.</a:t>
            </a:r>
          </a:p>
          <a:p/>
          <a:p>
            <a:r>
              <a:t>SOURCE CHECK</a:t>
            </a:r>
          </a:p>
          <a:p>
            <a:r>
              <a:t>Local k8gb checkout: 330d33335981b9716bc8ca245660d90893eae272</a:t>
            </a:r>
          </a:p>
          <a:p>
            <a:r>
              <a:t>https://www.sovereign-cloud-days.eu/event/sovereign-cloud-days-2026-1/track/who-controls-the-failover-sovereign-global-traffic-management-with-kubernetes-63</a:t>
            </a:r>
          </a:p>
          <a:p>
            <a:r>
              <a:t>https://www.k8gb.io/</a:t>
            </a:r>
          </a:p>
          <a:p>
            <a:r>
              <a:t>https://github.com/k8gb-io/k8gb</a:t>
            </a:r>
          </a:p>
          <a:p>
            <a:r>
              <a:t>https://www.cncf.io/case-studies/millennium-bcp/</a:t>
            </a:r>
          </a:p>
          <a:p>
            <a:r>
              <a:t>https://www.linkedin.com/in/yurytsarev/</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0 minutes.</a:t>
            </a:r>
          </a:p>
          <a:p/>
          <a:p>
            <a:r>
              <a:t>BACKUP ONLY — hidden from the main slideshow. Use during questions if relevant.</a:t>
            </a:r>
          </a:p>
          <a:p/>
          <a:p>
            <a:r>
              <a:t>Borrow the kiosk deck’s useful three-part explanation. k8gb calculates target eligibility and reconciles Kubernetes DNS resources. CoreDNS watches application DNS state and answers for the delegated zone. ExternalDNS watches delegation DNS resources and updates the parent provider. It does not run on each application DNS query. This slide describes the ExternalDNS provider path; other providers such as Infoblox have their own integration.</a:t>
            </a:r>
          </a:p>
          <a:p/>
          <a:p>
            <a:r>
              <a:t>SOURCE CHECK</a:t>
            </a:r>
          </a:p>
          <a:p>
            <a:r>
              <a:t>Local k8gb checkout: 330d33335981b9716bc8ca245660d90893eae272</a:t>
            </a:r>
          </a:p>
          <a:p>
            <a:r>
              <a:t>https://github.com/k8gb-io/k8gb/blob/330d33335981b9716bc8ca245660d90893eae272/controllers/providers/dns/external.go</a:t>
            </a:r>
          </a:p>
          <a:p>
            <a:r>
              <a:t>https://github.com/k8gb-io/k8gb/blob/330d33335981b9716bc8ca245660d90893eae272/controllers/providers/k8gbendpoint/applicationDNSEndpoint.go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0 minutes.</a:t>
            </a:r>
          </a:p>
          <a:p/>
          <a:p>
            <a:r>
              <a:t>BACKUP ONLY — hidden from the main slideshow. Use during questions if relevant.</a:t>
            </a:r>
          </a:p>
          <a:p/>
          <a:p>
            <a:r>
              <a:t>This is a deliberately simplified view of the local checkout at 330d3333. ZoneDelegation manages zone configuration and DNS-server membership, including status.dnsServers. Gslb reconciliation evaluates Service EndpointSlices and uses those peer addresses for health queries. It writes the application DNSEndpoint consumed by CoreDNS. Therefore an edge-DNS interruption must be analysed separately from a failed peer-health query; an edge failure does not by itself prove immediate loss of all cached peer addresses. The chart has separate Gslb and ZoneDelegation reconciliation intervals. Do not present a single exact failover timer. This diagram shows the ExternalDNS provider path: ZoneDelegation reconciliation writes a delegation DNSEndpoint with NS and nameserver-address records. ExternalDNS consumes that resource and updates the parent DNS. A separate branch updates the CoreDNS zone ConfigMap. The lower DNSEndpoint contains application targets and is consumed by CoreDNS, not by ExternalDNS for parent delegation. The two CoreDNS boxes show two roles of the same per-cluster service. The title counts the two k8gb loops; ExternalDNS has its own reconciliation.</a:t>
            </a:r>
          </a:p>
          <a:p/>
          <a:p>
            <a:r>
              <a:t>SOURCE CHECK</a:t>
            </a:r>
          </a:p>
          <a:p>
            <a:r>
              <a:t>Local k8gb checkout: 330d33335981b9716bc8ca245660d90893eae272</a:t>
            </a:r>
          </a:p>
          <a:p>
            <a:r>
              <a:t>https://github.com/k8gb-io/k8gb/blob/330d33335981b9716bc8ca245660d90893eae272/controllers/zone_delegation_reconciliation.go</a:t>
            </a:r>
          </a:p>
          <a:p>
            <a:r>
              <a:t>https://github.com/k8gb-io/k8gb/blob/330d33335981b9716bc8ca245660d90893eae272/controllers/zones/zone_service.go</a:t>
            </a:r>
          </a:p>
          <a:p>
            <a:r>
              <a:t>https://github.com/k8gb-io/k8gb/blob/330d33335981b9716bc8ca245660d90893eae272/controllers/zones/authoritative.go</a:t>
            </a:r>
          </a:p>
          <a:p>
            <a:r>
              <a:t>https://github.com/k8gb-io/k8gb/blob/330d33335981b9716bc8ca245660d90893eae272/controllers/runtime_shared.go</a:t>
            </a:r>
          </a:p>
          <a:p>
            <a:r>
              <a:t>https://github.com/k8gb-io/k8gb/blob/330d33335981b9716bc8ca245660d90893eae272/controllers/providers/dns/external.go</a:t>
            </a:r>
          </a:p>
          <a:p>
            <a:r>
              <a:t>https://github.com/k8gb-io/k8gb/blob/330d33335981b9716bc8ca245660d90893eae272/controllers/providers/k8gbendpoint/delegationDNSEndpoint.go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0 minutes.</a:t>
            </a:r>
          </a:p>
          <a:p/>
          <a:p>
            <a:r>
              <a:t>BACKUP ONLY — hidden from the main slideshow. Use during questions if relevant.</a:t>
            </a:r>
          </a:p>
          <a:p/>
          <a:p>
            <a:r>
              <a:t>The parent zone publishes NS records for the delegated application subzone, plus the address records required by the chosen naming arrangement. Glue is specifically required for in-bailiwick nameserver names; do not use glue to mean every address record universally. The recursive resolver follows that delegation to a reachable CoreDNS authority. CoreDNS answers application A records. Redundant authority, public DNS reachability and recovery credentials remain production responsibilities. k8gb does not take ownership of the registrar or parent zone. The ns-a and ns-b labels abbreviate illustrative nameserver hostnames. Both cluster authorities serve the same delegated zone. The arrows represent delegation and a DNS answer, not application packets or a proxy hop through the parent DNS.</a:t>
            </a:r>
          </a:p>
          <a:p/>
          <a:p>
            <a:r>
              <a:t>SOURCE CHECK</a:t>
            </a:r>
          </a:p>
          <a:p>
            <a:r>
              <a:t>Local k8gb checkout: 330d33335981b9716bc8ca245660d90893eae272</a:t>
            </a:r>
          </a:p>
          <a:p>
            <a:r>
              <a:t>https://github.com/k8gb-io/k8gb/blob/330d33335981b9716bc8ca245660d90893eae272/controllers/providers/k8gbendpoint/delegationDNSEndpoint.go</a:t>
            </a:r>
          </a:p>
          <a:p>
            <a:r>
              <a:t>https://github.com/k8gb-io/k8gb/blob/330d33335981b9716bc8ca245660d90893eae272/docs/exposing_dns.md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0 minutes.</a:t>
            </a:r>
          </a:p>
          <a:p/>
          <a:p>
            <a:r>
              <a:t>BACKUP ONLY — hidden from the main slideshow. Use during questions if relevant.</a:t>
            </a:r>
          </a:p>
          <a:p/>
          <a:p>
            <a:r>
              <a:t>Both applications are ready. Both clusters run independent k8gb and CoreDNS instances. With complete peer visibility, each authority publishes the primary application addresses. There is no active DNS-master election between the clusters. Passive describes application target selection in this strategy, not a powered-off controller or authority. The readiness badges describe application workloads, not whole-cluster availability. The dashed cluster-level connector summarizes peer-health queries: each k8gb controller queries the other cluster’s CoreDNS. It does not represent CoreDNS-to-CoreDNS replication or leader election. The matching answers show the converged state with peer visibility.</a:t>
            </a:r>
          </a:p>
          <a:p/>
          <a:p>
            <a:r>
              <a:t>SOURCE CHECK</a:t>
            </a:r>
          </a:p>
          <a:p>
            <a:r>
              <a:t>Local k8gb checkout: 330d33335981b9716bc8ca245660d90893eae272</a:t>
            </a:r>
          </a:p>
          <a:p>
            <a:r>
              <a:t>https://github.com/k8gb-io/k8gb/blob/330d33335981b9716bc8ca245660d90893eae272/controllers/providers/k8gbendpoint/applicationDNSEndpoint.go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0 minutes.</a:t>
            </a:r>
          </a:p>
          <a:p/>
          <a:p>
            <a:r>
              <a:t>BACKUP ONLY — hidden from the main slideshow. Use during questions if relevant.</a:t>
            </a:r>
          </a:p>
          <a:p/>
          <a:p>
            <a:r>
              <a:t>This is application failure, not loss of the entire cluster. A’s CoreDNS remains reachable while its workload has no ready endpoints. After reconciliation, A can publish B’s healthy targets, and B no longer finds healthy primary targets. Existing connections are not migrated and cached A answers may persist. If the whole primary cluster is lost, the surviving authority must also remain reachable by resolvers. The readiness badges describe application workloads, not whole-cluster availability. The dashed cluster-level connector summarizes peer-health queries: each k8gb controller queries the other cluster’s CoreDNS. It does not represent CoreDNS-to-CoreDNS replication or leader election. The matching answers show the converged state with peer visibility.</a:t>
            </a:r>
          </a:p>
          <a:p/>
          <a:p>
            <a:r>
              <a:t>SOURCE CHECK</a:t>
            </a:r>
          </a:p>
          <a:p>
            <a:r>
              <a:t>Local k8gb checkout: 330d33335981b9716bc8ca245660d90893eae272</a:t>
            </a:r>
          </a:p>
          <a:p>
            <a:r>
              <a:t>https://github.com/k8gb-io/k8gb/blob/330d33335981b9716bc8ca245660d90893eae272/controllers/providers/k8gbendpoint/applicationDNSEndpoint.go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0 minutes.</a:t>
            </a:r>
          </a:p>
          <a:p/>
          <a:p>
            <a:r>
              <a:t>BACKUP ONLY — hidden from the main slideshow. Use during questions if relevant.</a:t>
            </a:r>
          </a:p>
          <a:p/>
          <a:p>
            <a:r>
              <a:t>The code automatically prefers a healthy primary again. There is no implied built-in manual failback approval gate. If the application is not safe to receive traffic yet, its readiness and operational controls must prevent premature eligibility. Database leadership, replication consistency, fencing and session continuity belong to the application recovery design. The readiness badges describe application workloads, not whole-cluster availability. The dashed cluster-level connector summarizes peer-health queries: each k8gb controller queries the other cluster’s CoreDNS. It does not represent CoreDNS-to-CoreDNS replication or leader election. The matching answers show the converged state with peer visibility.</a:t>
            </a:r>
          </a:p>
          <a:p/>
          <a:p>
            <a:r>
              <a:t>SOURCE CHECK</a:t>
            </a:r>
          </a:p>
          <a:p>
            <a:r>
              <a:t>Local k8gb checkout: 330d33335981b9716bc8ca245660d90893eae272</a:t>
            </a:r>
          </a:p>
          <a:p>
            <a:r>
              <a:t>https://github.com/k8gb-io/k8gb/blob/330d33335981b9716bc8ca245660d90893eae272/controllers/providers/k8gbendpoint/applicationDNSEndpoint.go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delivery: 0 minutes.</a:t>
            </a:r>
          </a:p>
          <a:p/>
          <a:p>
            <a:r>
              <a:t>BACKUP ONLY — hidden from the main slideshow. Use during questions if relevant.</a:t>
            </a:r>
          </a:p>
          <a:p/>
          <a:p>
            <a:r>
              <a:t>If a Service has no ready endpoints, k8gb can exclude the local application target. A surviving cluster can serve new resolutions when its authority, application and required network paths remain available. This does not replicate data, fence a former database writer, or restore client sessions. Explicitly assign those responsibilities to the application recovery design. Read the left panel as two examples of DNS responses after observation and reconciliation, not as guaranteed instantaneous recovery or cluster restoration. The data and session responsibilities on the right require their own design and validation.</a:t>
            </a:r>
          </a:p>
          <a:p/>
          <a:p>
            <a:r>
              <a:t>SOURCE CHECK</a:t>
            </a:r>
          </a:p>
          <a:p>
            <a:r>
              <a:t>Local k8gb checkout: 330d33335981b9716bc8ca245660d90893eae272</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hyperlink" Target="https://www.k8gb.io/" TargetMode="External"/><Relationship Id="rId5" Type="http://schemas.openxmlformats.org/officeDocument/2006/relationships/hyperlink" Target="https://www.linkedin.com/in/yurytsarev/" TargetMode="External"/><Relationship Id="rId6" Type="http://schemas.openxmlformats.org/officeDocument/2006/relationships/hyperlink" Target="https://github.com/k8gb-io/k8gb" TargetMode="External"/><Relationship Id="rId7" Type="http://schemas.openxmlformats.org/officeDocument/2006/relationships/hyperlink" Target="https://www.cncf.io/case-studies/millennium-bcp/" TargetMode="Externa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F46A87"/>
                </a:solidFill>
                <a:latin typeface="Arial"/>
              </a:rPr>
              <a:t>SOVEREIGN GLOBAL TRAFFIC MANAGEMENT</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Arial"/>
              </a:rPr>
              <a:t>01 / 19</a:t>
            </a:r>
          </a:p>
        </p:txBody>
      </p:sp>
      <p:cxnSp>
        <p:nvCxnSpPr>
          <p:cNvPr id="5" name="Connector 4"/>
          <p:cNvCxnSpPr/>
          <p:nvPr/>
        </p:nvCxnSpPr>
        <p:spPr>
          <a:xfrm>
            <a:off x="609600" y="6426200"/>
            <a:ext cx="10972800" cy="0"/>
          </a:xfrm>
          <a:prstGeom prst="line">
            <a:avLst/>
          </a:prstGeom>
          <a:ln w="8890">
            <a:solidFill>
              <a:srgbClr val="38506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B8C8D9"/>
                </a:solidFill>
                <a:latin typeface="Arial"/>
              </a:rPr>
              <a:t>SOVEREIGN CLOUD DAYS 2026</a:t>
            </a:r>
          </a:p>
        </p:txBody>
      </p:sp>
      <p:sp>
        <p:nvSpPr>
          <p:cNvPr id="7" name="TextBox 6"/>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B8C8D9"/>
                </a:solidFill>
                <a:latin typeface="Arial"/>
              </a:rPr>
              <a:t>YURY TSAREV  /  K8GB</a:t>
            </a:r>
          </a:p>
        </p:txBody>
      </p:sp>
      <p:sp>
        <p:nvSpPr>
          <p:cNvPr id="8" name="TextBox 7"/>
          <p:cNvSpPr txBox="1"/>
          <p:nvPr/>
        </p:nvSpPr>
        <p:spPr>
          <a:xfrm>
            <a:off x="609600" y="1206500"/>
            <a:ext cx="7874000" cy="1531620"/>
          </a:xfrm>
          <a:prstGeom prst="rect">
            <a:avLst/>
          </a:prstGeom>
          <a:noFill/>
        </p:spPr>
        <p:txBody>
          <a:bodyPr wrap="none" lIns="0" rIns="0" tIns="0" bIns="0" anchor="t">
            <a:noAutofit/>
          </a:bodyPr>
          <a:lstStyle/>
          <a:p>
            <a:pPr algn="l">
              <a:lnSpc>
                <a:spcPts val="5880"/>
              </a:lnSpc>
              <a:spcBef>
                <a:spcPts val="0"/>
              </a:spcBef>
              <a:spcAft>
                <a:spcPts val="0"/>
              </a:spcAft>
            </a:pPr>
            <a:r>
              <a:rPr sz="5600" b="1">
                <a:solidFill>
                  <a:srgbClr val="FFFFFF"/>
                </a:solidFill>
                <a:latin typeface="Arial"/>
              </a:rPr>
              <a:t>Who controls</a:t>
            </a:r>
          </a:p>
          <a:p>
            <a:pPr algn="l">
              <a:lnSpc>
                <a:spcPts val="5880"/>
              </a:lnSpc>
              <a:spcBef>
                <a:spcPts val="0"/>
              </a:spcBef>
              <a:spcAft>
                <a:spcPts val="0"/>
              </a:spcAft>
            </a:pPr>
            <a:r>
              <a:rPr sz="5600" b="1">
                <a:solidFill>
                  <a:srgbClr val="FFFFFF"/>
                </a:solidFill>
                <a:latin typeface="Arial"/>
              </a:rPr>
              <a:t>the failover?</a:t>
            </a:r>
          </a:p>
        </p:txBody>
      </p:sp>
      <p:sp>
        <p:nvSpPr>
          <p:cNvPr id="9" name="TextBox 8"/>
          <p:cNvSpPr txBox="1"/>
          <p:nvPr/>
        </p:nvSpPr>
        <p:spPr>
          <a:xfrm>
            <a:off x="647700" y="3162300"/>
            <a:ext cx="8001000" cy="843788"/>
          </a:xfrm>
          <a:prstGeom prst="rect">
            <a:avLst/>
          </a:prstGeom>
          <a:noFill/>
        </p:spPr>
        <p:txBody>
          <a:bodyPr wrap="none" lIns="0" rIns="0" tIns="0" bIns="0" anchor="t">
            <a:noAutofit/>
          </a:bodyPr>
          <a:lstStyle/>
          <a:p>
            <a:pPr algn="l">
              <a:lnSpc>
                <a:spcPts val="3172"/>
              </a:lnSpc>
              <a:spcBef>
                <a:spcPts val="0"/>
              </a:spcBef>
              <a:spcAft>
                <a:spcPts val="0"/>
              </a:spcAft>
            </a:pPr>
            <a:r>
              <a:rPr sz="2600" b="0">
                <a:solidFill>
                  <a:srgbClr val="B8C8D9"/>
                </a:solidFill>
                <a:latin typeface="Arial"/>
              </a:rPr>
              <a:t>Sovereign global traffic management</a:t>
            </a:r>
          </a:p>
          <a:p>
            <a:pPr algn="l">
              <a:lnSpc>
                <a:spcPts val="3172"/>
              </a:lnSpc>
              <a:spcBef>
                <a:spcPts val="0"/>
              </a:spcBef>
              <a:spcAft>
                <a:spcPts val="0"/>
              </a:spcAft>
            </a:pPr>
            <a:r>
              <a:rPr sz="2600" b="0">
                <a:solidFill>
                  <a:srgbClr val="B8C8D9"/>
                </a:solidFill>
                <a:latin typeface="Arial"/>
              </a:rPr>
              <a:t>with Kubernetes</a:t>
            </a:r>
          </a:p>
        </p:txBody>
      </p:sp>
      <p:pic>
        <p:nvPicPr>
          <p:cNvPr id="10" name="Picture 9" descr="image.png"/>
          <p:cNvPicPr>
            <a:picLocks noChangeAspect="1"/>
          </p:cNvPicPr>
          <p:nvPr/>
        </p:nvPicPr>
        <p:blipFill>
          <a:blip r:embed="rId2"/>
          <a:stretch>
            <a:fillRect/>
          </a:stretch>
        </p:blipFill>
        <p:spPr>
          <a:xfrm>
            <a:off x="9486900" y="1333500"/>
            <a:ext cx="1841500" cy="1841500"/>
          </a:xfrm>
          <a:prstGeom prst="rect">
            <a:avLst/>
          </a:prstGeom>
        </p:spPr>
      </p:pic>
      <p:cxnSp>
        <p:nvCxnSpPr>
          <p:cNvPr id="11" name="Connector 10"/>
          <p:cNvCxnSpPr/>
          <p:nvPr/>
        </p:nvCxnSpPr>
        <p:spPr>
          <a:xfrm>
            <a:off x="660400" y="4470400"/>
            <a:ext cx="10871200" cy="0"/>
          </a:xfrm>
          <a:prstGeom prst="line">
            <a:avLst/>
          </a:prstGeom>
          <a:ln w="12700">
            <a:solidFill>
              <a:srgbClr val="38506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698500" y="4864100"/>
            <a:ext cx="127000" cy="1270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0600" y="4737100"/>
            <a:ext cx="31750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FFFFFF"/>
                </a:solidFill>
                <a:latin typeface="Arial"/>
              </a:rPr>
              <a:t>TRAFFIC MANAGEMENT</a:t>
            </a:r>
          </a:p>
        </p:txBody>
      </p:sp>
      <p:sp>
        <p:nvSpPr>
          <p:cNvPr id="14" name="Oval 13"/>
          <p:cNvSpPr/>
          <p:nvPr/>
        </p:nvSpPr>
        <p:spPr>
          <a:xfrm>
            <a:off x="4889500" y="4864100"/>
            <a:ext cx="127000" cy="127000"/>
          </a:xfrm>
          <a:prstGeom prst="ellipse">
            <a:avLst/>
          </a:prstGeom>
          <a:solidFill>
            <a:srgbClr val="CF0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81600" y="4737100"/>
            <a:ext cx="21590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FFFFFF"/>
                </a:solidFill>
                <a:latin typeface="Arial"/>
              </a:rPr>
              <a:t>DNS STEERING</a:t>
            </a:r>
          </a:p>
        </p:txBody>
      </p:sp>
      <p:sp>
        <p:nvSpPr>
          <p:cNvPr id="16" name="Oval 15"/>
          <p:cNvSpPr/>
          <p:nvPr/>
        </p:nvSpPr>
        <p:spPr>
          <a:xfrm>
            <a:off x="7785100" y="4864100"/>
            <a:ext cx="127000" cy="127000"/>
          </a:xfrm>
          <a:prstGeom prst="ellipse">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77200" y="4737100"/>
            <a:ext cx="35052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FFFFFF"/>
                </a:solidFill>
                <a:latin typeface="Arial"/>
              </a:rPr>
              <a:t>MULTI-REGION RESILIENCE</a:t>
            </a:r>
          </a:p>
        </p:txBody>
      </p:sp>
      <p:sp>
        <p:nvSpPr>
          <p:cNvPr id="18" name="TextBox 17"/>
          <p:cNvSpPr txBox="1"/>
          <p:nvPr/>
        </p:nvSpPr>
        <p:spPr>
          <a:xfrm>
            <a:off x="660400" y="5524500"/>
            <a:ext cx="104140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FFFFFF"/>
                </a:solidFill>
                <a:latin typeface="Arial"/>
              </a:rPr>
              <a:t>Yury Tsarev  ·  Creator &amp; Project Lead, k8gb</a:t>
            </a:r>
          </a:p>
        </p:txBody>
      </p:sp>
      <p:sp>
        <p:nvSpPr>
          <p:cNvPr id="19" name="TextBox 18"/>
          <p:cNvSpPr txBox="1"/>
          <p:nvPr/>
        </p:nvSpPr>
        <p:spPr>
          <a:xfrm>
            <a:off x="660400" y="5943600"/>
            <a:ext cx="104140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B8C8D9"/>
                </a:solidFill>
                <a:latin typeface="Arial"/>
              </a:rPr>
              <a:t>24 October 2026  ·  Saarbrücken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THE REACHABILITY PROBLEM</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02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From node resilience to cluster failover</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Spread replicas, then widen the failure boundary.</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2159000"/>
            <a:ext cx="3403600" cy="3327400"/>
          </a:xfrm>
          <a:prstGeom prst="roundRect">
            <a:avLst>
              <a:gd name="adj" fmla="val 3816"/>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838200" y="2171700"/>
            <a:ext cx="2946400" cy="0"/>
          </a:xfrm>
          <a:prstGeom prst="line">
            <a:avLst/>
          </a:prstGeom>
          <a:ln w="38100">
            <a:solidFill>
              <a:srgbClr val="2762C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38200" y="2387600"/>
            <a:ext cx="4445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2762C8"/>
                </a:solidFill>
                <a:latin typeface="Arial"/>
              </a:rPr>
              <a:t>01</a:t>
            </a:r>
          </a:p>
        </p:txBody>
      </p:sp>
      <p:sp>
        <p:nvSpPr>
          <p:cNvPr id="13" name="TextBox 12"/>
          <p:cNvSpPr txBox="1"/>
          <p:nvPr/>
        </p:nvSpPr>
        <p:spPr>
          <a:xfrm>
            <a:off x="1308100" y="2362200"/>
            <a:ext cx="2476500" cy="271780"/>
          </a:xfrm>
          <a:prstGeom prst="rect">
            <a:avLst/>
          </a:prstGeom>
          <a:noFill/>
        </p:spPr>
        <p:txBody>
          <a:bodyPr wrap="none" lIns="0" rIns="0" tIns="0" bIns="0" anchor="t">
            <a:noAutofit/>
          </a:bodyPr>
          <a:lstStyle/>
          <a:p>
            <a:pPr algn="l">
              <a:lnSpc>
                <a:spcPts val="1839"/>
              </a:lnSpc>
              <a:spcBef>
                <a:spcPts val="0"/>
              </a:spcBef>
              <a:spcAft>
                <a:spcPts val="0"/>
              </a:spcAft>
            </a:pPr>
            <a:r>
              <a:rPr sz="1600" b="1">
                <a:solidFill>
                  <a:srgbClr val="142338"/>
                </a:solidFill>
                <a:latin typeface="Arial"/>
              </a:rPr>
              <a:t>NODES</a:t>
            </a:r>
          </a:p>
        </p:txBody>
      </p:sp>
      <p:sp>
        <p:nvSpPr>
          <p:cNvPr id="14" name="TextBox 13"/>
          <p:cNvSpPr txBox="1"/>
          <p:nvPr/>
        </p:nvSpPr>
        <p:spPr>
          <a:xfrm>
            <a:off x="838200" y="2768600"/>
            <a:ext cx="29464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One Kubernetes cluster</a:t>
            </a:r>
          </a:p>
        </p:txBody>
      </p:sp>
      <p:sp>
        <p:nvSpPr>
          <p:cNvPr id="15" name="Rounded Rectangle 14"/>
          <p:cNvSpPr/>
          <p:nvPr/>
        </p:nvSpPr>
        <p:spPr>
          <a:xfrm>
            <a:off x="838200" y="3327400"/>
            <a:ext cx="863600" cy="850900"/>
          </a:xfrm>
          <a:prstGeom prst="roundRect">
            <a:avLst>
              <a:gd name="adj" fmla="val 7462"/>
            </a:avLst>
          </a:prstGeom>
          <a:solidFill>
            <a:srgbClr val="FBE9EE"/>
          </a:solidFill>
          <a:ln w="1397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6300" y="3429000"/>
            <a:ext cx="787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1">
                <a:solidFill>
                  <a:srgbClr val="CF0035"/>
                </a:solidFill>
                <a:latin typeface="Arial"/>
              </a:rPr>
              <a:t>NODE 1</a:t>
            </a:r>
          </a:p>
        </p:txBody>
      </p:sp>
      <p:sp>
        <p:nvSpPr>
          <p:cNvPr id="17" name="Rounded Rectangle 16"/>
          <p:cNvSpPr/>
          <p:nvPr/>
        </p:nvSpPr>
        <p:spPr>
          <a:xfrm>
            <a:off x="990600" y="3708400"/>
            <a:ext cx="558800" cy="279400"/>
          </a:xfrm>
          <a:prstGeom prst="roundRect">
            <a:avLst>
              <a:gd name="adj" fmla="val 13636"/>
            </a:avLst>
          </a:prstGeom>
          <a:solidFill>
            <a:srgbClr val="FFFFFF"/>
          </a:solidFill>
          <a:ln w="1270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8700" y="3746500"/>
            <a:ext cx="4826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CF0035"/>
                </a:solidFill>
                <a:latin typeface="Arial"/>
              </a:rPr>
              <a:t>Pod</a:t>
            </a:r>
          </a:p>
        </p:txBody>
      </p:sp>
      <p:sp>
        <p:nvSpPr>
          <p:cNvPr id="19" name="Oval 18"/>
          <p:cNvSpPr/>
          <p:nvPr/>
        </p:nvSpPr>
        <p:spPr>
          <a:xfrm>
            <a:off x="1422400" y="3086100"/>
            <a:ext cx="228600" cy="228600"/>
          </a:xfrm>
          <a:prstGeom prst="ellipse">
            <a:avLst/>
          </a:prstGeom>
          <a:solidFill>
            <a:srgbClr val="CF0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85900" y="3149600"/>
            <a:ext cx="101600" cy="10160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485900" y="3149600"/>
            <a:ext cx="101600" cy="10160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841500" y="3327400"/>
            <a:ext cx="863600" cy="850900"/>
          </a:xfrm>
          <a:prstGeom prst="roundRect">
            <a:avLst>
              <a:gd name="adj" fmla="val 7462"/>
            </a:avLst>
          </a:prstGeom>
          <a:solidFill>
            <a:srgbClr val="EAF0FB"/>
          </a:solidFill>
          <a:ln w="1397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79600" y="3429000"/>
            <a:ext cx="787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1">
                <a:solidFill>
                  <a:srgbClr val="2762C8"/>
                </a:solidFill>
                <a:latin typeface="Arial"/>
              </a:rPr>
              <a:t>NODE 2</a:t>
            </a:r>
          </a:p>
        </p:txBody>
      </p:sp>
      <p:sp>
        <p:nvSpPr>
          <p:cNvPr id="24" name="Rounded Rectangle 23"/>
          <p:cNvSpPr/>
          <p:nvPr/>
        </p:nvSpPr>
        <p:spPr>
          <a:xfrm>
            <a:off x="1993900" y="3708400"/>
            <a:ext cx="558800" cy="279400"/>
          </a:xfrm>
          <a:prstGeom prst="roundRect">
            <a:avLst>
              <a:gd name="adj" fmla="val 13636"/>
            </a:avLst>
          </a:prstGeom>
          <a:solidFill>
            <a:srgbClr val="FFFFFF"/>
          </a:solidFill>
          <a:ln w="1270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32000" y="3746500"/>
            <a:ext cx="4826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2762C8"/>
                </a:solidFill>
                <a:latin typeface="Arial"/>
              </a:rPr>
              <a:t>Pod</a:t>
            </a:r>
          </a:p>
        </p:txBody>
      </p:sp>
      <p:sp>
        <p:nvSpPr>
          <p:cNvPr id="26" name="Oval 25"/>
          <p:cNvSpPr/>
          <p:nvPr/>
        </p:nvSpPr>
        <p:spPr>
          <a:xfrm>
            <a:off x="2425700" y="3086100"/>
            <a:ext cx="228600" cy="228600"/>
          </a:xfrm>
          <a:prstGeom prst="ellipse">
            <a:avLst/>
          </a:prstGeom>
          <a:solidFill>
            <a:srgbClr val="177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2476500" y="3200400"/>
            <a:ext cx="50800" cy="508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527300" y="3149600"/>
            <a:ext cx="76200" cy="1016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844800" y="3327400"/>
            <a:ext cx="863600" cy="850900"/>
          </a:xfrm>
          <a:prstGeom prst="roundRect">
            <a:avLst>
              <a:gd name="adj" fmla="val 7462"/>
            </a:avLst>
          </a:prstGeom>
          <a:solidFill>
            <a:srgbClr val="EAF0FB"/>
          </a:solidFill>
          <a:ln w="1397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2900" y="3429000"/>
            <a:ext cx="787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1">
                <a:solidFill>
                  <a:srgbClr val="2762C8"/>
                </a:solidFill>
                <a:latin typeface="Arial"/>
              </a:rPr>
              <a:t>NODE 3</a:t>
            </a:r>
          </a:p>
        </p:txBody>
      </p:sp>
      <p:sp>
        <p:nvSpPr>
          <p:cNvPr id="31" name="Rounded Rectangle 30"/>
          <p:cNvSpPr/>
          <p:nvPr/>
        </p:nvSpPr>
        <p:spPr>
          <a:xfrm>
            <a:off x="2997200" y="3708400"/>
            <a:ext cx="558800" cy="279400"/>
          </a:xfrm>
          <a:prstGeom prst="roundRect">
            <a:avLst>
              <a:gd name="adj" fmla="val 13636"/>
            </a:avLst>
          </a:prstGeom>
          <a:solidFill>
            <a:srgbClr val="FFFFFF"/>
          </a:solidFill>
          <a:ln w="1270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35300" y="3746500"/>
            <a:ext cx="4826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2762C8"/>
                </a:solidFill>
                <a:latin typeface="Arial"/>
              </a:rPr>
              <a:t>Pod</a:t>
            </a:r>
          </a:p>
        </p:txBody>
      </p:sp>
      <p:sp>
        <p:nvSpPr>
          <p:cNvPr id="33" name="Oval 32"/>
          <p:cNvSpPr/>
          <p:nvPr/>
        </p:nvSpPr>
        <p:spPr>
          <a:xfrm>
            <a:off x="3429000" y="3086100"/>
            <a:ext cx="228600" cy="228600"/>
          </a:xfrm>
          <a:prstGeom prst="ellipse">
            <a:avLst/>
          </a:prstGeom>
          <a:solidFill>
            <a:srgbClr val="177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3479800" y="3200400"/>
            <a:ext cx="50800" cy="508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530600" y="3149600"/>
            <a:ext cx="76200" cy="1016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8200" y="4559300"/>
            <a:ext cx="29464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2762C8"/>
                </a:solidFill>
                <a:latin typeface="Arial"/>
              </a:rPr>
              <a:t>Spread replicas</a:t>
            </a:r>
          </a:p>
        </p:txBody>
      </p:sp>
      <p:sp>
        <p:nvSpPr>
          <p:cNvPr id="37" name="TextBox 36"/>
          <p:cNvSpPr txBox="1"/>
          <p:nvPr/>
        </p:nvSpPr>
        <p:spPr>
          <a:xfrm>
            <a:off x="838200" y="4978400"/>
            <a:ext cx="29464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Survive a worker failure.</a:t>
            </a:r>
          </a:p>
        </p:txBody>
      </p:sp>
      <p:sp>
        <p:nvSpPr>
          <p:cNvPr id="38" name="Rounded Rectangle 37"/>
          <p:cNvSpPr/>
          <p:nvPr/>
        </p:nvSpPr>
        <p:spPr>
          <a:xfrm>
            <a:off x="4394200" y="2159000"/>
            <a:ext cx="3403600" cy="3327400"/>
          </a:xfrm>
          <a:prstGeom prst="roundRect">
            <a:avLst>
              <a:gd name="adj" fmla="val 3816"/>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4622800" y="2171700"/>
            <a:ext cx="2946400" cy="0"/>
          </a:xfrm>
          <a:prstGeom prst="line">
            <a:avLst/>
          </a:prstGeom>
          <a:ln w="38100">
            <a:solidFill>
              <a:srgbClr val="087F85"/>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622800" y="2387600"/>
            <a:ext cx="4445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087F85"/>
                </a:solidFill>
                <a:latin typeface="Arial"/>
              </a:rPr>
              <a:t>02</a:t>
            </a:r>
          </a:p>
        </p:txBody>
      </p:sp>
      <p:sp>
        <p:nvSpPr>
          <p:cNvPr id="41" name="TextBox 40"/>
          <p:cNvSpPr txBox="1"/>
          <p:nvPr/>
        </p:nvSpPr>
        <p:spPr>
          <a:xfrm>
            <a:off x="5092700" y="2362200"/>
            <a:ext cx="2476500" cy="271780"/>
          </a:xfrm>
          <a:prstGeom prst="rect">
            <a:avLst/>
          </a:prstGeom>
          <a:noFill/>
        </p:spPr>
        <p:txBody>
          <a:bodyPr wrap="none" lIns="0" rIns="0" tIns="0" bIns="0" anchor="t">
            <a:noAutofit/>
          </a:bodyPr>
          <a:lstStyle/>
          <a:p>
            <a:pPr algn="l">
              <a:lnSpc>
                <a:spcPts val="1839"/>
              </a:lnSpc>
              <a:spcBef>
                <a:spcPts val="0"/>
              </a:spcBef>
              <a:spcAft>
                <a:spcPts val="0"/>
              </a:spcAft>
            </a:pPr>
            <a:r>
              <a:rPr sz="1600" b="1">
                <a:solidFill>
                  <a:srgbClr val="142338"/>
                </a:solidFill>
                <a:latin typeface="Arial"/>
              </a:rPr>
              <a:t>AVAILABILITY ZONES</a:t>
            </a:r>
          </a:p>
        </p:txBody>
      </p:sp>
      <p:sp>
        <p:nvSpPr>
          <p:cNvPr id="42" name="TextBox 41"/>
          <p:cNvSpPr txBox="1"/>
          <p:nvPr/>
        </p:nvSpPr>
        <p:spPr>
          <a:xfrm>
            <a:off x="4622800" y="2768600"/>
            <a:ext cx="29464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One Kubernetes cluster</a:t>
            </a:r>
          </a:p>
        </p:txBody>
      </p:sp>
      <p:sp>
        <p:nvSpPr>
          <p:cNvPr id="43" name="Rounded Rectangle 42"/>
          <p:cNvSpPr/>
          <p:nvPr/>
        </p:nvSpPr>
        <p:spPr>
          <a:xfrm>
            <a:off x="4622800" y="3225800"/>
            <a:ext cx="863600" cy="1054100"/>
          </a:xfrm>
          <a:prstGeom prst="roundRect">
            <a:avLst>
              <a:gd name="adj" fmla="val 7352"/>
            </a:avLst>
          </a:prstGeom>
          <a:solidFill>
            <a:srgbClr val="FBE9EE"/>
          </a:solidFill>
          <a:ln w="1397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73600" y="3365500"/>
            <a:ext cx="7620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CF0035"/>
                </a:solidFill>
                <a:latin typeface="Arial"/>
              </a:rPr>
              <a:t>AZ 1</a:t>
            </a:r>
          </a:p>
        </p:txBody>
      </p:sp>
      <p:sp>
        <p:nvSpPr>
          <p:cNvPr id="45" name="Rounded Rectangle 44"/>
          <p:cNvSpPr/>
          <p:nvPr/>
        </p:nvSpPr>
        <p:spPr>
          <a:xfrm>
            <a:off x="4762500" y="3683000"/>
            <a:ext cx="584200" cy="190500"/>
          </a:xfrm>
          <a:prstGeom prst="roundRect">
            <a:avLst>
              <a:gd name="adj" fmla="val 20000"/>
            </a:avLst>
          </a:prstGeom>
          <a:solidFill>
            <a:srgbClr val="FFFFFF"/>
          </a:solidFill>
          <a:ln w="1016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87900" y="3695700"/>
            <a:ext cx="533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0">
                <a:solidFill>
                  <a:srgbClr val="CF0035"/>
                </a:solidFill>
                <a:latin typeface="Arial"/>
              </a:rPr>
              <a:t>replica</a:t>
            </a:r>
          </a:p>
        </p:txBody>
      </p:sp>
      <p:sp>
        <p:nvSpPr>
          <p:cNvPr id="47" name="Rounded Rectangle 46"/>
          <p:cNvSpPr/>
          <p:nvPr/>
        </p:nvSpPr>
        <p:spPr>
          <a:xfrm>
            <a:off x="4762500" y="3949700"/>
            <a:ext cx="584200" cy="190500"/>
          </a:xfrm>
          <a:prstGeom prst="roundRect">
            <a:avLst>
              <a:gd name="adj" fmla="val 20000"/>
            </a:avLst>
          </a:prstGeom>
          <a:solidFill>
            <a:srgbClr val="FFFFFF"/>
          </a:solidFill>
          <a:ln w="1016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87900" y="3962400"/>
            <a:ext cx="533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0">
                <a:solidFill>
                  <a:srgbClr val="CF0035"/>
                </a:solidFill>
                <a:latin typeface="Arial"/>
              </a:rPr>
              <a:t>replica</a:t>
            </a:r>
          </a:p>
        </p:txBody>
      </p:sp>
      <p:sp>
        <p:nvSpPr>
          <p:cNvPr id="49" name="Oval 48"/>
          <p:cNvSpPr/>
          <p:nvPr/>
        </p:nvSpPr>
        <p:spPr>
          <a:xfrm>
            <a:off x="5207000" y="3086100"/>
            <a:ext cx="228600" cy="228600"/>
          </a:xfrm>
          <a:prstGeom prst="ellipse">
            <a:avLst/>
          </a:prstGeom>
          <a:solidFill>
            <a:srgbClr val="CF0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5270500" y="3149600"/>
            <a:ext cx="101600" cy="10160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5270500" y="3149600"/>
            <a:ext cx="101600" cy="10160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5626100" y="3225800"/>
            <a:ext cx="863600" cy="1054100"/>
          </a:xfrm>
          <a:prstGeom prst="roundRect">
            <a:avLst>
              <a:gd name="adj" fmla="val 7352"/>
            </a:avLst>
          </a:prstGeom>
          <a:solidFill>
            <a:srgbClr val="E8F4F3"/>
          </a:solidFill>
          <a:ln w="1397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76900" y="3365500"/>
            <a:ext cx="7620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087F85"/>
                </a:solidFill>
                <a:latin typeface="Arial"/>
              </a:rPr>
              <a:t>AZ 2</a:t>
            </a:r>
          </a:p>
        </p:txBody>
      </p:sp>
      <p:sp>
        <p:nvSpPr>
          <p:cNvPr id="54" name="Rounded Rectangle 53"/>
          <p:cNvSpPr/>
          <p:nvPr/>
        </p:nvSpPr>
        <p:spPr>
          <a:xfrm>
            <a:off x="5765800" y="3683000"/>
            <a:ext cx="584200" cy="190500"/>
          </a:xfrm>
          <a:prstGeom prst="roundRect">
            <a:avLst>
              <a:gd name="adj" fmla="val 20000"/>
            </a:avLst>
          </a:prstGeom>
          <a:solidFill>
            <a:srgbClr val="FFFFFF"/>
          </a:solidFill>
          <a:ln w="1016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91200" y="3695700"/>
            <a:ext cx="533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0">
                <a:solidFill>
                  <a:srgbClr val="087F85"/>
                </a:solidFill>
                <a:latin typeface="Arial"/>
              </a:rPr>
              <a:t>replica</a:t>
            </a:r>
          </a:p>
        </p:txBody>
      </p:sp>
      <p:sp>
        <p:nvSpPr>
          <p:cNvPr id="56" name="Rounded Rectangle 55"/>
          <p:cNvSpPr/>
          <p:nvPr/>
        </p:nvSpPr>
        <p:spPr>
          <a:xfrm>
            <a:off x="5765800" y="3949700"/>
            <a:ext cx="584200" cy="190500"/>
          </a:xfrm>
          <a:prstGeom prst="roundRect">
            <a:avLst>
              <a:gd name="adj" fmla="val 20000"/>
            </a:avLst>
          </a:prstGeom>
          <a:solidFill>
            <a:srgbClr val="FFFFFF"/>
          </a:solidFill>
          <a:ln w="1016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791200" y="3962400"/>
            <a:ext cx="533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0">
                <a:solidFill>
                  <a:srgbClr val="087F85"/>
                </a:solidFill>
                <a:latin typeface="Arial"/>
              </a:rPr>
              <a:t>replica</a:t>
            </a:r>
          </a:p>
        </p:txBody>
      </p:sp>
      <p:sp>
        <p:nvSpPr>
          <p:cNvPr id="58" name="Oval 57"/>
          <p:cNvSpPr/>
          <p:nvPr/>
        </p:nvSpPr>
        <p:spPr>
          <a:xfrm>
            <a:off x="6210300" y="3086100"/>
            <a:ext cx="228600" cy="228600"/>
          </a:xfrm>
          <a:prstGeom prst="ellipse">
            <a:avLst/>
          </a:prstGeom>
          <a:solidFill>
            <a:srgbClr val="177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6261100" y="3200400"/>
            <a:ext cx="50800" cy="508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6311900" y="3149600"/>
            <a:ext cx="76200" cy="1016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6629400" y="3225800"/>
            <a:ext cx="863600" cy="1054100"/>
          </a:xfrm>
          <a:prstGeom prst="roundRect">
            <a:avLst>
              <a:gd name="adj" fmla="val 7352"/>
            </a:avLst>
          </a:prstGeom>
          <a:solidFill>
            <a:srgbClr val="E8F4F3"/>
          </a:solidFill>
          <a:ln w="1397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80200" y="3365500"/>
            <a:ext cx="7620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087F85"/>
                </a:solidFill>
                <a:latin typeface="Arial"/>
              </a:rPr>
              <a:t>AZ 3</a:t>
            </a:r>
          </a:p>
        </p:txBody>
      </p:sp>
      <p:sp>
        <p:nvSpPr>
          <p:cNvPr id="63" name="Rounded Rectangle 62"/>
          <p:cNvSpPr/>
          <p:nvPr/>
        </p:nvSpPr>
        <p:spPr>
          <a:xfrm>
            <a:off x="6769100" y="3683000"/>
            <a:ext cx="584200" cy="190500"/>
          </a:xfrm>
          <a:prstGeom prst="roundRect">
            <a:avLst>
              <a:gd name="adj" fmla="val 20000"/>
            </a:avLst>
          </a:prstGeom>
          <a:solidFill>
            <a:srgbClr val="FFFFFF"/>
          </a:solidFill>
          <a:ln w="1016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94500" y="3695700"/>
            <a:ext cx="533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0">
                <a:solidFill>
                  <a:srgbClr val="087F85"/>
                </a:solidFill>
                <a:latin typeface="Arial"/>
              </a:rPr>
              <a:t>replica</a:t>
            </a:r>
          </a:p>
        </p:txBody>
      </p:sp>
      <p:sp>
        <p:nvSpPr>
          <p:cNvPr id="65" name="Rounded Rectangle 64"/>
          <p:cNvSpPr/>
          <p:nvPr/>
        </p:nvSpPr>
        <p:spPr>
          <a:xfrm>
            <a:off x="6769100" y="3949700"/>
            <a:ext cx="584200" cy="190500"/>
          </a:xfrm>
          <a:prstGeom prst="roundRect">
            <a:avLst>
              <a:gd name="adj" fmla="val 20000"/>
            </a:avLst>
          </a:prstGeom>
          <a:solidFill>
            <a:srgbClr val="FFFFFF"/>
          </a:solidFill>
          <a:ln w="1016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794500" y="3962400"/>
            <a:ext cx="533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0">
                <a:solidFill>
                  <a:srgbClr val="087F85"/>
                </a:solidFill>
                <a:latin typeface="Arial"/>
              </a:rPr>
              <a:t>replica</a:t>
            </a:r>
          </a:p>
        </p:txBody>
      </p:sp>
      <p:sp>
        <p:nvSpPr>
          <p:cNvPr id="67" name="Oval 66"/>
          <p:cNvSpPr/>
          <p:nvPr/>
        </p:nvSpPr>
        <p:spPr>
          <a:xfrm>
            <a:off x="7213600" y="3086100"/>
            <a:ext cx="228600" cy="228600"/>
          </a:xfrm>
          <a:prstGeom prst="ellipse">
            <a:avLst/>
          </a:prstGeom>
          <a:solidFill>
            <a:srgbClr val="177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7264400" y="3200400"/>
            <a:ext cx="50800" cy="508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315200" y="3149600"/>
            <a:ext cx="76200" cy="1016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4622800" y="4559300"/>
            <a:ext cx="29464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087F85"/>
                </a:solidFill>
                <a:latin typeface="Arial"/>
              </a:rPr>
              <a:t>Spread across zones</a:t>
            </a:r>
          </a:p>
        </p:txBody>
      </p:sp>
      <p:sp>
        <p:nvSpPr>
          <p:cNvPr id="71" name="TextBox 70"/>
          <p:cNvSpPr txBox="1"/>
          <p:nvPr/>
        </p:nvSpPr>
        <p:spPr>
          <a:xfrm>
            <a:off x="4622800" y="4978400"/>
            <a:ext cx="29464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Survive a zone failure.</a:t>
            </a:r>
          </a:p>
        </p:txBody>
      </p:sp>
      <p:sp>
        <p:nvSpPr>
          <p:cNvPr id="72" name="Rounded Rectangle 71"/>
          <p:cNvSpPr/>
          <p:nvPr/>
        </p:nvSpPr>
        <p:spPr>
          <a:xfrm>
            <a:off x="8178800" y="2159000"/>
            <a:ext cx="3403600" cy="3327400"/>
          </a:xfrm>
          <a:prstGeom prst="roundRect">
            <a:avLst>
              <a:gd name="adj" fmla="val 3816"/>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8407400" y="2171700"/>
            <a:ext cx="2946400" cy="0"/>
          </a:xfrm>
          <a:prstGeom prst="line">
            <a:avLst/>
          </a:prstGeom>
          <a:ln w="38100">
            <a:solidFill>
              <a:srgbClr val="CF0035"/>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407400" y="2387600"/>
            <a:ext cx="4445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CF0035"/>
                </a:solidFill>
                <a:latin typeface="Arial"/>
              </a:rPr>
              <a:t>03</a:t>
            </a:r>
          </a:p>
        </p:txBody>
      </p:sp>
      <p:sp>
        <p:nvSpPr>
          <p:cNvPr id="75" name="TextBox 74"/>
          <p:cNvSpPr txBox="1"/>
          <p:nvPr/>
        </p:nvSpPr>
        <p:spPr>
          <a:xfrm>
            <a:off x="8877300" y="2362200"/>
            <a:ext cx="2476500" cy="271780"/>
          </a:xfrm>
          <a:prstGeom prst="rect">
            <a:avLst/>
          </a:prstGeom>
          <a:noFill/>
        </p:spPr>
        <p:txBody>
          <a:bodyPr wrap="none" lIns="0" rIns="0" tIns="0" bIns="0" anchor="t">
            <a:noAutofit/>
          </a:bodyPr>
          <a:lstStyle/>
          <a:p>
            <a:pPr algn="l">
              <a:lnSpc>
                <a:spcPts val="1839"/>
              </a:lnSpc>
              <a:spcBef>
                <a:spcPts val="0"/>
              </a:spcBef>
              <a:spcAft>
                <a:spcPts val="0"/>
              </a:spcAft>
            </a:pPr>
            <a:r>
              <a:rPr sz="1600" b="1">
                <a:solidFill>
                  <a:srgbClr val="142338"/>
                </a:solidFill>
                <a:latin typeface="Arial"/>
              </a:rPr>
              <a:t>CLUSTERS</a:t>
            </a:r>
          </a:p>
        </p:txBody>
      </p:sp>
      <p:sp>
        <p:nvSpPr>
          <p:cNvPr id="76" name="TextBox 75"/>
          <p:cNvSpPr txBox="1"/>
          <p:nvPr/>
        </p:nvSpPr>
        <p:spPr>
          <a:xfrm>
            <a:off x="8407400" y="2768600"/>
            <a:ext cx="29464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Independent clusters</a:t>
            </a:r>
          </a:p>
        </p:txBody>
      </p:sp>
      <p:sp>
        <p:nvSpPr>
          <p:cNvPr id="77" name="Rounded Rectangle 76"/>
          <p:cNvSpPr/>
          <p:nvPr/>
        </p:nvSpPr>
        <p:spPr>
          <a:xfrm>
            <a:off x="8407400" y="3225800"/>
            <a:ext cx="863600" cy="1054100"/>
          </a:xfrm>
          <a:prstGeom prst="roundRect">
            <a:avLst>
              <a:gd name="adj" fmla="val 7352"/>
            </a:avLst>
          </a:prstGeom>
          <a:solidFill>
            <a:srgbClr val="FBE9EE"/>
          </a:solidFill>
          <a:ln w="1397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image.png"/>
          <p:cNvPicPr>
            <a:picLocks noChangeAspect="1"/>
          </p:cNvPicPr>
          <p:nvPr/>
        </p:nvPicPr>
        <p:blipFill>
          <a:blip r:embed="rId2"/>
          <a:stretch>
            <a:fillRect/>
          </a:stretch>
        </p:blipFill>
        <p:spPr>
          <a:xfrm>
            <a:off x="8648700" y="3365500"/>
            <a:ext cx="381000" cy="381000"/>
          </a:xfrm>
          <a:prstGeom prst="rect">
            <a:avLst/>
          </a:prstGeom>
        </p:spPr>
      </p:pic>
      <p:sp>
        <p:nvSpPr>
          <p:cNvPr id="79" name="TextBox 78"/>
          <p:cNvSpPr txBox="1"/>
          <p:nvPr/>
        </p:nvSpPr>
        <p:spPr>
          <a:xfrm>
            <a:off x="8534400" y="3873500"/>
            <a:ext cx="6096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CF0035"/>
                </a:solidFill>
                <a:latin typeface="Arial"/>
              </a:rPr>
              <a:t>A</a:t>
            </a:r>
          </a:p>
        </p:txBody>
      </p:sp>
      <p:sp>
        <p:nvSpPr>
          <p:cNvPr id="80" name="Oval 79"/>
          <p:cNvSpPr/>
          <p:nvPr/>
        </p:nvSpPr>
        <p:spPr>
          <a:xfrm>
            <a:off x="8991600" y="3086100"/>
            <a:ext cx="228600" cy="228600"/>
          </a:xfrm>
          <a:prstGeom prst="ellipse">
            <a:avLst/>
          </a:prstGeom>
          <a:solidFill>
            <a:srgbClr val="CF0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a:off x="9055100" y="3149600"/>
            <a:ext cx="101600" cy="10160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9055100" y="3149600"/>
            <a:ext cx="101600" cy="10160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83" name="Rounded Rectangle 82"/>
          <p:cNvSpPr/>
          <p:nvPr/>
        </p:nvSpPr>
        <p:spPr>
          <a:xfrm>
            <a:off x="9410700" y="3225800"/>
            <a:ext cx="863600" cy="1054100"/>
          </a:xfrm>
          <a:prstGeom prst="roundRect">
            <a:avLst>
              <a:gd name="adj" fmla="val 7352"/>
            </a:avLst>
          </a:prstGeom>
          <a:solidFill>
            <a:srgbClr val="E8F4F3"/>
          </a:solidFill>
          <a:ln w="1397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4" name="Picture 83" descr="image.png"/>
          <p:cNvPicPr>
            <a:picLocks noChangeAspect="1"/>
          </p:cNvPicPr>
          <p:nvPr/>
        </p:nvPicPr>
        <p:blipFill>
          <a:blip r:embed="rId2"/>
          <a:stretch>
            <a:fillRect/>
          </a:stretch>
        </p:blipFill>
        <p:spPr>
          <a:xfrm>
            <a:off x="9652000" y="3365500"/>
            <a:ext cx="381000" cy="381000"/>
          </a:xfrm>
          <a:prstGeom prst="rect">
            <a:avLst/>
          </a:prstGeom>
        </p:spPr>
      </p:pic>
      <p:sp>
        <p:nvSpPr>
          <p:cNvPr id="85" name="TextBox 84"/>
          <p:cNvSpPr txBox="1"/>
          <p:nvPr/>
        </p:nvSpPr>
        <p:spPr>
          <a:xfrm>
            <a:off x="9537700" y="3873500"/>
            <a:ext cx="6096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087F85"/>
                </a:solidFill>
                <a:latin typeface="Arial"/>
              </a:rPr>
              <a:t>B</a:t>
            </a:r>
          </a:p>
        </p:txBody>
      </p:sp>
      <p:sp>
        <p:nvSpPr>
          <p:cNvPr id="86" name="Oval 85"/>
          <p:cNvSpPr/>
          <p:nvPr/>
        </p:nvSpPr>
        <p:spPr>
          <a:xfrm>
            <a:off x="9994900" y="3086100"/>
            <a:ext cx="228600" cy="228600"/>
          </a:xfrm>
          <a:prstGeom prst="ellipse">
            <a:avLst/>
          </a:prstGeom>
          <a:solidFill>
            <a:srgbClr val="177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7" name="Connector 86"/>
          <p:cNvCxnSpPr/>
          <p:nvPr/>
        </p:nvCxnSpPr>
        <p:spPr>
          <a:xfrm>
            <a:off x="10045700" y="3200400"/>
            <a:ext cx="50800" cy="508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0096500" y="3149600"/>
            <a:ext cx="76200" cy="1016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89" name="Rounded Rectangle 88"/>
          <p:cNvSpPr/>
          <p:nvPr/>
        </p:nvSpPr>
        <p:spPr>
          <a:xfrm>
            <a:off x="10414000" y="3225800"/>
            <a:ext cx="863600" cy="1054100"/>
          </a:xfrm>
          <a:prstGeom prst="roundRect">
            <a:avLst>
              <a:gd name="adj" fmla="val 7352"/>
            </a:avLst>
          </a:prstGeom>
          <a:solidFill>
            <a:srgbClr val="E8F4F3"/>
          </a:solidFill>
          <a:ln w="1397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Picture 89" descr="image.png"/>
          <p:cNvPicPr>
            <a:picLocks noChangeAspect="1"/>
          </p:cNvPicPr>
          <p:nvPr/>
        </p:nvPicPr>
        <p:blipFill>
          <a:blip r:embed="rId2"/>
          <a:stretch>
            <a:fillRect/>
          </a:stretch>
        </p:blipFill>
        <p:spPr>
          <a:xfrm>
            <a:off x="10655300" y="3365500"/>
            <a:ext cx="381000" cy="381000"/>
          </a:xfrm>
          <a:prstGeom prst="rect">
            <a:avLst/>
          </a:prstGeom>
        </p:spPr>
      </p:pic>
      <p:sp>
        <p:nvSpPr>
          <p:cNvPr id="91" name="TextBox 90"/>
          <p:cNvSpPr txBox="1"/>
          <p:nvPr/>
        </p:nvSpPr>
        <p:spPr>
          <a:xfrm>
            <a:off x="10541000" y="3873500"/>
            <a:ext cx="6096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087F85"/>
                </a:solidFill>
                <a:latin typeface="Arial"/>
              </a:rPr>
              <a:t>C</a:t>
            </a:r>
          </a:p>
        </p:txBody>
      </p:sp>
      <p:sp>
        <p:nvSpPr>
          <p:cNvPr id="92" name="Oval 91"/>
          <p:cNvSpPr/>
          <p:nvPr/>
        </p:nvSpPr>
        <p:spPr>
          <a:xfrm>
            <a:off x="10998200" y="3086100"/>
            <a:ext cx="228600" cy="228600"/>
          </a:xfrm>
          <a:prstGeom prst="ellipse">
            <a:avLst/>
          </a:prstGeom>
          <a:solidFill>
            <a:srgbClr val="177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3" name="Connector 92"/>
          <p:cNvCxnSpPr/>
          <p:nvPr/>
        </p:nvCxnSpPr>
        <p:spPr>
          <a:xfrm>
            <a:off x="11049000" y="3200400"/>
            <a:ext cx="50800" cy="508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1099800" y="3149600"/>
            <a:ext cx="76200" cy="1016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8407400" y="4559300"/>
            <a:ext cx="29464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CF0035"/>
                </a:solidFill>
                <a:latin typeface="Arial"/>
              </a:rPr>
              <a:t>Steer across clusters</a:t>
            </a:r>
          </a:p>
        </p:txBody>
      </p:sp>
      <p:sp>
        <p:nvSpPr>
          <p:cNvPr id="96" name="TextBox 95"/>
          <p:cNvSpPr txBox="1"/>
          <p:nvPr/>
        </p:nvSpPr>
        <p:spPr>
          <a:xfrm>
            <a:off x="8407400" y="4978400"/>
            <a:ext cx="29464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Keep one application hostname.</a:t>
            </a:r>
          </a:p>
        </p:txBody>
      </p:sp>
      <p:cxnSp>
        <p:nvCxnSpPr>
          <p:cNvPr id="97" name="Connector 96"/>
          <p:cNvCxnSpPr/>
          <p:nvPr/>
        </p:nvCxnSpPr>
        <p:spPr>
          <a:xfrm>
            <a:off x="4114800" y="3810000"/>
            <a:ext cx="177800" cy="0"/>
          </a:xfrm>
          <a:prstGeom prst="line">
            <a:avLst/>
          </a:prstGeom>
          <a:ln w="21590">
            <a:solidFill>
              <a:srgbClr val="5D6F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899400" y="3810000"/>
            <a:ext cx="177800" cy="0"/>
          </a:xfrm>
          <a:prstGeom prst="line">
            <a:avLst/>
          </a:prstGeom>
          <a:ln w="21590">
            <a:solidFill>
              <a:srgbClr val="5D6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Rounded Rectangle 98"/>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87400" y="5892800"/>
            <a:ext cx="10617200" cy="317500"/>
          </a:xfrm>
          <a:prstGeom prst="rect">
            <a:avLst/>
          </a:prstGeom>
          <a:noFill/>
        </p:spPr>
        <p:txBody>
          <a:bodyPr wrap="none" lIns="0" rIns="0" tIns="0" bIns="0" anchor="t">
            <a:noAutofit/>
          </a:bodyPr>
          <a:lstStyle/>
          <a:p>
            <a:pPr algn="ctr">
              <a:lnSpc>
                <a:spcPts val="2000"/>
              </a:lnSpc>
              <a:spcBef>
                <a:spcPts val="0"/>
              </a:spcBef>
              <a:spcAft>
                <a:spcPts val="0"/>
              </a:spcAft>
            </a:pPr>
            <a:r>
              <a:rPr sz="2000" b="1">
                <a:solidFill>
                  <a:srgbClr val="142338"/>
                </a:solidFill>
                <a:latin typeface="Arial"/>
              </a:rPr>
              <a:t>When an entire cluster is unavailable, who steers the next request?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PART 1 · WHAT K8GB ENABLES</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03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k8gb in one minute</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Two or more clusters. No fixed cluster-count limit in k8gb.</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pic>
        <p:nvPicPr>
          <p:cNvPr id="10" name="Picture 9" descr="image.png"/>
          <p:cNvPicPr>
            <a:picLocks noChangeAspect="1"/>
          </p:cNvPicPr>
          <p:nvPr/>
        </p:nvPicPr>
        <p:blipFill>
          <a:blip r:embed="rId2"/>
          <a:stretch>
            <a:fillRect/>
          </a:stretch>
        </p:blipFill>
        <p:spPr>
          <a:xfrm>
            <a:off x="939800" y="2324100"/>
            <a:ext cx="2286000" cy="2286000"/>
          </a:xfrm>
          <a:prstGeom prst="rect">
            <a:avLst/>
          </a:prstGeom>
        </p:spPr>
      </p:pic>
      <p:sp>
        <p:nvSpPr>
          <p:cNvPr id="11" name="Rounded Rectangle 10"/>
          <p:cNvSpPr/>
          <p:nvPr/>
        </p:nvSpPr>
        <p:spPr>
          <a:xfrm>
            <a:off x="800100" y="4978400"/>
            <a:ext cx="2565400" cy="317500"/>
          </a:xfrm>
          <a:prstGeom prst="roundRect">
            <a:avLst>
              <a:gd name="adj" fmla="val 48000"/>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5029200"/>
            <a:ext cx="2438400" cy="222250"/>
          </a:xfrm>
          <a:prstGeom prst="rect">
            <a:avLst/>
          </a:prstGeom>
          <a:noFill/>
        </p:spPr>
        <p:txBody>
          <a:bodyPr wrap="none" lIns="0" rIns="0" tIns="0" bIns="0" anchor="t">
            <a:noAutofit/>
          </a:bodyPr>
          <a:lstStyle/>
          <a:p>
            <a:pPr algn="ctr">
              <a:lnSpc>
                <a:spcPts val="1400"/>
              </a:lnSpc>
              <a:spcBef>
                <a:spcPts val="0"/>
              </a:spcBef>
              <a:spcAft>
                <a:spcPts val="0"/>
              </a:spcAft>
            </a:pPr>
            <a:r>
              <a:rPr sz="1400" b="1">
                <a:solidFill>
                  <a:srgbClr val="CF0035"/>
                </a:solidFill>
                <a:latin typeface="Arial"/>
              </a:rPr>
              <a:t>CNCF INCUBATING</a:t>
            </a:r>
          </a:p>
        </p:txBody>
      </p:sp>
      <p:sp>
        <p:nvSpPr>
          <p:cNvPr id="13" name="TextBox 12"/>
          <p:cNvSpPr txBox="1"/>
          <p:nvPr/>
        </p:nvSpPr>
        <p:spPr>
          <a:xfrm>
            <a:off x="4152900" y="2197100"/>
            <a:ext cx="7112000"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142338"/>
                </a:solidFill>
                <a:latin typeface="Arial"/>
              </a:rPr>
              <a:t>Kubernetes-native</a:t>
            </a:r>
          </a:p>
        </p:txBody>
      </p:sp>
      <p:sp>
        <p:nvSpPr>
          <p:cNvPr id="14" name="TextBox 13"/>
          <p:cNvSpPr txBox="1"/>
          <p:nvPr/>
        </p:nvSpPr>
        <p:spPr>
          <a:xfrm>
            <a:off x="4152900" y="2679700"/>
            <a:ext cx="7112000" cy="344805"/>
          </a:xfrm>
          <a:prstGeom prst="rect">
            <a:avLst/>
          </a:prstGeom>
          <a:noFill/>
        </p:spPr>
        <p:txBody>
          <a:bodyPr wrap="none" lIns="0" rIns="0" tIns="0" bIns="0" anchor="t">
            <a:noAutofit/>
          </a:bodyPr>
          <a:lstStyle/>
          <a:p>
            <a:pPr algn="l">
              <a:lnSpc>
                <a:spcPts val="2415"/>
              </a:lnSpc>
              <a:spcBef>
                <a:spcPts val="0"/>
              </a:spcBef>
              <a:spcAft>
                <a:spcPts val="0"/>
              </a:spcAft>
            </a:pPr>
            <a:r>
              <a:rPr sz="2100" b="0">
                <a:solidFill>
                  <a:srgbClr val="5D6F82"/>
                </a:solidFill>
                <a:latin typeface="Arial"/>
              </a:rPr>
              <a:t>Readiness becomes DNS eligibility.</a:t>
            </a:r>
          </a:p>
        </p:txBody>
      </p:sp>
      <p:sp>
        <p:nvSpPr>
          <p:cNvPr id="15" name="TextBox 14"/>
          <p:cNvSpPr txBox="1"/>
          <p:nvPr/>
        </p:nvSpPr>
        <p:spPr>
          <a:xfrm>
            <a:off x="4152900" y="3352800"/>
            <a:ext cx="7112000"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142338"/>
                </a:solidFill>
                <a:latin typeface="Arial"/>
              </a:rPr>
              <a:t>Decentralized</a:t>
            </a:r>
          </a:p>
        </p:txBody>
      </p:sp>
      <p:sp>
        <p:nvSpPr>
          <p:cNvPr id="16" name="TextBox 15"/>
          <p:cNvSpPr txBox="1"/>
          <p:nvPr/>
        </p:nvSpPr>
        <p:spPr>
          <a:xfrm>
            <a:off x="4152900" y="3835400"/>
            <a:ext cx="7112000" cy="344805"/>
          </a:xfrm>
          <a:prstGeom prst="rect">
            <a:avLst/>
          </a:prstGeom>
          <a:noFill/>
        </p:spPr>
        <p:txBody>
          <a:bodyPr wrap="none" lIns="0" rIns="0" tIns="0" bIns="0" anchor="t">
            <a:noAutofit/>
          </a:bodyPr>
          <a:lstStyle/>
          <a:p>
            <a:pPr algn="l">
              <a:lnSpc>
                <a:spcPts val="2415"/>
              </a:lnSpc>
              <a:spcBef>
                <a:spcPts val="0"/>
              </a:spcBef>
              <a:spcAft>
                <a:spcPts val="0"/>
              </a:spcAft>
            </a:pPr>
            <a:r>
              <a:rPr sz="2100" b="0">
                <a:solidFill>
                  <a:srgbClr val="5D6F82"/>
                </a:solidFill>
                <a:latin typeface="Arial"/>
              </a:rPr>
              <a:t>A control loop at each participating cluster.</a:t>
            </a:r>
          </a:p>
        </p:txBody>
      </p:sp>
      <p:sp>
        <p:nvSpPr>
          <p:cNvPr id="17" name="TextBox 16"/>
          <p:cNvSpPr txBox="1"/>
          <p:nvPr/>
        </p:nvSpPr>
        <p:spPr>
          <a:xfrm>
            <a:off x="4152900" y="4508500"/>
            <a:ext cx="7112000"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142338"/>
                </a:solidFill>
                <a:latin typeface="Arial"/>
              </a:rPr>
              <a:t>Declarative</a:t>
            </a:r>
          </a:p>
        </p:txBody>
      </p:sp>
      <p:sp>
        <p:nvSpPr>
          <p:cNvPr id="18" name="TextBox 17"/>
          <p:cNvSpPr txBox="1"/>
          <p:nvPr/>
        </p:nvSpPr>
        <p:spPr>
          <a:xfrm>
            <a:off x="4152900" y="4991100"/>
            <a:ext cx="7112000" cy="344805"/>
          </a:xfrm>
          <a:prstGeom prst="rect">
            <a:avLst/>
          </a:prstGeom>
          <a:noFill/>
        </p:spPr>
        <p:txBody>
          <a:bodyPr wrap="none" lIns="0" rIns="0" tIns="0" bIns="0" anchor="t">
            <a:noAutofit/>
          </a:bodyPr>
          <a:lstStyle/>
          <a:p>
            <a:pPr algn="l">
              <a:lnSpc>
                <a:spcPts val="2415"/>
              </a:lnSpc>
              <a:spcBef>
                <a:spcPts val="0"/>
              </a:spcBef>
              <a:spcAft>
                <a:spcPts val="0"/>
              </a:spcAft>
            </a:pPr>
            <a:r>
              <a:rPr sz="2100" b="0">
                <a:solidFill>
                  <a:srgbClr val="5D6F82"/>
                </a:solidFill>
                <a:latin typeface="Arial"/>
              </a:rPr>
              <a:t>Review traffic steering in Git.</a:t>
            </a:r>
          </a:p>
        </p:txBody>
      </p:sp>
      <p:sp>
        <p:nvSpPr>
          <p:cNvPr id="19" name="Rounded Rectangle 18"/>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5892800"/>
            <a:ext cx="10617200" cy="333375"/>
          </a:xfrm>
          <a:prstGeom prst="rect">
            <a:avLst/>
          </a:prstGeom>
          <a:noFill/>
        </p:spPr>
        <p:txBody>
          <a:bodyPr wrap="none" lIns="0" rIns="0" tIns="0" bIns="0" anchor="t">
            <a:noAutofit/>
          </a:bodyPr>
          <a:lstStyle/>
          <a:p>
            <a:pPr algn="ctr">
              <a:lnSpc>
                <a:spcPts val="2100"/>
              </a:lnSpc>
              <a:spcBef>
                <a:spcPts val="0"/>
              </a:spcBef>
              <a:spcAft>
                <a:spcPts val="0"/>
              </a:spcAft>
            </a:pPr>
            <a:r>
              <a:rPr sz="2100" b="1">
                <a:solidFill>
                  <a:srgbClr val="142338"/>
                </a:solidFill>
                <a:latin typeface="Arial"/>
              </a:rPr>
              <a:t>Global application reachability across Kubernetes clusters.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A BRIEF HISTORY</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04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From Absa production to CNCF incubation</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An operational need grew into a community project.</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cxnSp>
        <p:nvCxnSpPr>
          <p:cNvPr id="10" name="Connector 9"/>
          <p:cNvCxnSpPr/>
          <p:nvPr/>
        </p:nvCxnSpPr>
        <p:spPr>
          <a:xfrm>
            <a:off x="1866900" y="2641600"/>
            <a:ext cx="8458200" cy="0"/>
          </a:xfrm>
          <a:prstGeom prst="line">
            <a:avLst/>
          </a:prstGeom>
          <a:ln w="38100">
            <a:solidFill>
              <a:srgbClr val="DAE2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2222500"/>
            <a:ext cx="25146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2762C8"/>
                </a:solidFill>
                <a:latin typeface="Arial"/>
              </a:rPr>
              <a:t>PRODUCTION ORIGINS</a:t>
            </a:r>
          </a:p>
        </p:txBody>
      </p:sp>
      <p:sp>
        <p:nvSpPr>
          <p:cNvPr id="12" name="Oval 11"/>
          <p:cNvSpPr/>
          <p:nvPr/>
        </p:nvSpPr>
        <p:spPr>
          <a:xfrm>
            <a:off x="1739900" y="2514600"/>
            <a:ext cx="254000" cy="254000"/>
          </a:xfrm>
          <a:prstGeom prst="ellipse">
            <a:avLst/>
          </a:prstGeom>
          <a:solidFill>
            <a:srgbClr val="F8FAFC"/>
          </a:solidFill>
          <a:ln w="2540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16100" y="2590800"/>
            <a:ext cx="101600" cy="1016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9600" y="3035300"/>
            <a:ext cx="2514600" cy="2552700"/>
          </a:xfrm>
          <a:prstGeom prst="roundRect">
            <a:avLst>
              <a:gd name="adj" fmla="val 4545"/>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09600" y="2984500"/>
            <a:ext cx="2514600" cy="2552700"/>
          </a:xfrm>
          <a:prstGeom prst="roundRect">
            <a:avLst>
              <a:gd name="adj" fmla="val 454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38200" y="2997200"/>
            <a:ext cx="2057400" cy="0"/>
          </a:xfrm>
          <a:prstGeom prst="line">
            <a:avLst/>
          </a:prstGeom>
          <a:ln w="31750">
            <a:solidFill>
              <a:srgbClr val="2762C8"/>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8200" y="3187700"/>
            <a:ext cx="558800" cy="558800"/>
          </a:xfrm>
          <a:prstGeom prst="roundRect">
            <a:avLst>
              <a:gd name="adj" fmla="val 20454"/>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7100" y="3302000"/>
            <a:ext cx="152400" cy="304800"/>
          </a:xfrm>
          <a:prstGeom prst="roundRect">
            <a:avLst>
              <a:gd name="adj" fmla="val 16666"/>
            </a:avLst>
          </a:prstGeom>
          <a:solidFill>
            <a:srgbClr val="EAF0FB"/>
          </a:solidFill>
          <a:ln w="1651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965200" y="3378200"/>
            <a:ext cx="76200" cy="0"/>
          </a:xfrm>
          <a:prstGeom prst="line">
            <a:avLst/>
          </a:prstGeom>
          <a:ln w="1270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65200" y="3454400"/>
            <a:ext cx="76200" cy="0"/>
          </a:xfrm>
          <a:prstGeom prst="line">
            <a:avLst/>
          </a:prstGeom>
          <a:ln w="1270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65200" y="3530600"/>
            <a:ext cx="76200" cy="0"/>
          </a:xfrm>
          <a:prstGeom prst="line">
            <a:avLst/>
          </a:prstGeom>
          <a:ln w="12700">
            <a:solidFill>
              <a:srgbClr val="2762C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181100" y="3302000"/>
            <a:ext cx="152400" cy="304800"/>
          </a:xfrm>
          <a:prstGeom prst="roundRect">
            <a:avLst>
              <a:gd name="adj" fmla="val 16666"/>
            </a:avLst>
          </a:prstGeom>
          <a:solidFill>
            <a:srgbClr val="EAF0FB"/>
          </a:solidFill>
          <a:ln w="1651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1219200" y="3378200"/>
            <a:ext cx="76200" cy="0"/>
          </a:xfrm>
          <a:prstGeom prst="line">
            <a:avLst/>
          </a:prstGeom>
          <a:ln w="1270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19200" y="3454400"/>
            <a:ext cx="76200" cy="0"/>
          </a:xfrm>
          <a:prstGeom prst="line">
            <a:avLst/>
          </a:prstGeom>
          <a:ln w="1270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19200" y="3530600"/>
            <a:ext cx="76200" cy="0"/>
          </a:xfrm>
          <a:prstGeom prst="line">
            <a:avLst/>
          </a:prstGeom>
          <a:ln w="1270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79500" y="3454400"/>
            <a:ext cx="101600" cy="0"/>
          </a:xfrm>
          <a:prstGeom prst="line">
            <a:avLst/>
          </a:prstGeom>
          <a:ln w="19050">
            <a:solidFill>
              <a:srgbClr val="2762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38200" y="3873500"/>
            <a:ext cx="2057400" cy="669036"/>
          </a:xfrm>
          <a:prstGeom prst="rect">
            <a:avLst/>
          </a:prstGeom>
          <a:noFill/>
        </p:spPr>
        <p:txBody>
          <a:bodyPr wrap="none" lIns="0" rIns="0" tIns="0" bIns="0" anchor="t">
            <a:noAutofit/>
          </a:bodyPr>
          <a:lstStyle/>
          <a:p>
            <a:pPr algn="l">
              <a:lnSpc>
                <a:spcPts val="2484"/>
              </a:lnSpc>
              <a:spcBef>
                <a:spcPts val="0"/>
              </a:spcBef>
              <a:spcAft>
                <a:spcPts val="0"/>
              </a:spcAft>
            </a:pPr>
            <a:r>
              <a:rPr sz="2300" b="1">
                <a:solidFill>
                  <a:srgbClr val="142338"/>
                </a:solidFill>
                <a:latin typeface="Arial"/>
              </a:rPr>
              <a:t>Born at</a:t>
            </a:r>
          </a:p>
          <a:p>
            <a:pPr algn="l">
              <a:lnSpc>
                <a:spcPts val="2484"/>
              </a:lnSpc>
              <a:spcBef>
                <a:spcPts val="0"/>
              </a:spcBef>
              <a:spcAft>
                <a:spcPts val="0"/>
              </a:spcAft>
            </a:pPr>
            <a:r>
              <a:rPr sz="2300" b="1">
                <a:solidFill>
                  <a:srgbClr val="142338"/>
                </a:solidFill>
                <a:latin typeface="Arial"/>
              </a:rPr>
              <a:t>Absa</a:t>
            </a:r>
          </a:p>
        </p:txBody>
      </p:sp>
      <p:sp>
        <p:nvSpPr>
          <p:cNvPr id="28" name="TextBox 27"/>
          <p:cNvSpPr txBox="1"/>
          <p:nvPr/>
        </p:nvSpPr>
        <p:spPr>
          <a:xfrm>
            <a:off x="838200" y="4711700"/>
            <a:ext cx="2057400" cy="769619"/>
          </a:xfrm>
          <a:prstGeom prst="rect">
            <a:avLst/>
          </a:prstGeom>
          <a:noFill/>
        </p:spPr>
        <p:txBody>
          <a:bodyPr wrap="none" lIns="0" rIns="0" tIns="0" bIns="0" anchor="t">
            <a:noAutofit/>
          </a:bodyPr>
          <a:lstStyle/>
          <a:p>
            <a:pPr algn="l">
              <a:lnSpc>
                <a:spcPts val="1920"/>
              </a:lnSpc>
              <a:spcBef>
                <a:spcPts val="0"/>
              </a:spcBef>
              <a:spcAft>
                <a:spcPts val="0"/>
              </a:spcAft>
            </a:pPr>
            <a:r>
              <a:rPr sz="1600" b="0">
                <a:solidFill>
                  <a:srgbClr val="5D6F82"/>
                </a:solidFill>
                <a:latin typeface="Arial"/>
              </a:rPr>
              <a:t>Multiple on-prem</a:t>
            </a:r>
          </a:p>
          <a:p>
            <a:pPr algn="l">
              <a:lnSpc>
                <a:spcPts val="1920"/>
              </a:lnSpc>
              <a:spcBef>
                <a:spcPts val="0"/>
              </a:spcBef>
              <a:spcAft>
                <a:spcPts val="0"/>
              </a:spcAft>
            </a:pPr>
            <a:r>
              <a:rPr sz="1600" b="0">
                <a:solidFill>
                  <a:srgbClr val="5D6F82"/>
                </a:solidFill>
                <a:latin typeface="Arial"/>
              </a:rPr>
              <a:t>datacenters, then</a:t>
            </a:r>
          </a:p>
          <a:p>
            <a:pPr algn="l">
              <a:lnSpc>
                <a:spcPts val="1920"/>
              </a:lnSpc>
              <a:spcBef>
                <a:spcPts val="0"/>
              </a:spcBef>
              <a:spcAft>
                <a:spcPts val="0"/>
              </a:spcAft>
            </a:pPr>
            <a:r>
              <a:rPr sz="1600" b="0">
                <a:solidFill>
                  <a:srgbClr val="5D6F82"/>
                </a:solidFill>
                <a:latin typeface="Arial"/>
              </a:rPr>
              <a:t>hybrid deployments</a:t>
            </a:r>
          </a:p>
        </p:txBody>
      </p:sp>
      <p:sp>
        <p:nvSpPr>
          <p:cNvPr id="29" name="TextBox 28"/>
          <p:cNvSpPr txBox="1"/>
          <p:nvPr/>
        </p:nvSpPr>
        <p:spPr>
          <a:xfrm>
            <a:off x="3429000" y="2222500"/>
            <a:ext cx="25146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087F85"/>
                </a:solidFill>
                <a:latin typeface="Arial"/>
              </a:rPr>
              <a:t>30 MAR 2021</a:t>
            </a:r>
          </a:p>
        </p:txBody>
      </p:sp>
      <p:sp>
        <p:nvSpPr>
          <p:cNvPr id="30" name="Oval 29"/>
          <p:cNvSpPr/>
          <p:nvPr/>
        </p:nvSpPr>
        <p:spPr>
          <a:xfrm>
            <a:off x="4559300" y="2514600"/>
            <a:ext cx="254000" cy="254000"/>
          </a:xfrm>
          <a:prstGeom prst="ellipse">
            <a:avLst/>
          </a:prstGeom>
          <a:solidFill>
            <a:srgbClr val="F8FAFC"/>
          </a:solidFill>
          <a:ln w="2540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635500" y="2590800"/>
            <a:ext cx="101600" cy="101600"/>
          </a:xfrm>
          <a:prstGeom prst="ellipse">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429000" y="3035300"/>
            <a:ext cx="2514600" cy="2552700"/>
          </a:xfrm>
          <a:prstGeom prst="roundRect">
            <a:avLst>
              <a:gd name="adj" fmla="val 4545"/>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429000" y="2984500"/>
            <a:ext cx="2514600" cy="2552700"/>
          </a:xfrm>
          <a:prstGeom prst="roundRect">
            <a:avLst>
              <a:gd name="adj" fmla="val 454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3657600" y="2997200"/>
            <a:ext cx="2057400" cy="0"/>
          </a:xfrm>
          <a:prstGeom prst="line">
            <a:avLst/>
          </a:prstGeom>
          <a:ln w="31750">
            <a:solidFill>
              <a:srgbClr val="087F85"/>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657600" y="3187700"/>
            <a:ext cx="558800" cy="558800"/>
          </a:xfrm>
          <a:prstGeom prst="roundRect">
            <a:avLst>
              <a:gd name="adj" fmla="val 20454"/>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3810000" y="3314700"/>
            <a:ext cx="0" cy="266700"/>
          </a:xfrm>
          <a:prstGeom prst="line">
            <a:avLst/>
          </a:prstGeom>
          <a:ln w="2159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810000" y="3581400"/>
            <a:ext cx="254000" cy="0"/>
          </a:xfrm>
          <a:prstGeom prst="line">
            <a:avLst/>
          </a:prstGeom>
          <a:ln w="2159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064000" y="3327400"/>
            <a:ext cx="0" cy="254000"/>
          </a:xfrm>
          <a:prstGeom prst="line">
            <a:avLst/>
          </a:prstGeom>
          <a:ln w="21590">
            <a:solidFill>
              <a:srgbClr val="087F85"/>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3765550" y="3270250"/>
            <a:ext cx="88900" cy="88900"/>
          </a:xfrm>
          <a:prstGeom prst="ellipse">
            <a:avLst/>
          </a:prstGeom>
          <a:solidFill>
            <a:srgbClr val="E8F4F3"/>
          </a:solidFill>
          <a:ln w="2159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765550" y="3536950"/>
            <a:ext cx="88900" cy="88900"/>
          </a:xfrm>
          <a:prstGeom prst="ellipse">
            <a:avLst/>
          </a:prstGeom>
          <a:solidFill>
            <a:srgbClr val="E8F4F3"/>
          </a:solidFill>
          <a:ln w="2159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019550" y="3282950"/>
            <a:ext cx="88900" cy="88900"/>
          </a:xfrm>
          <a:prstGeom prst="ellipse">
            <a:avLst/>
          </a:prstGeom>
          <a:solidFill>
            <a:srgbClr val="E8F4F3"/>
          </a:solidFill>
          <a:ln w="2159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0" y="3873500"/>
            <a:ext cx="2057400" cy="669036"/>
          </a:xfrm>
          <a:prstGeom prst="rect">
            <a:avLst/>
          </a:prstGeom>
          <a:noFill/>
        </p:spPr>
        <p:txBody>
          <a:bodyPr wrap="none" lIns="0" rIns="0" tIns="0" bIns="0" anchor="t">
            <a:noAutofit/>
          </a:bodyPr>
          <a:lstStyle/>
          <a:p>
            <a:pPr algn="l">
              <a:lnSpc>
                <a:spcPts val="2484"/>
              </a:lnSpc>
              <a:spcBef>
                <a:spcPts val="0"/>
              </a:spcBef>
              <a:spcAft>
                <a:spcPts val="0"/>
              </a:spcAft>
            </a:pPr>
            <a:r>
              <a:rPr sz="2300" b="1">
                <a:solidFill>
                  <a:srgbClr val="142338"/>
                </a:solidFill>
                <a:latin typeface="Arial"/>
              </a:rPr>
              <a:t>CNCF</a:t>
            </a:r>
          </a:p>
          <a:p>
            <a:pPr algn="l">
              <a:lnSpc>
                <a:spcPts val="2484"/>
              </a:lnSpc>
              <a:spcBef>
                <a:spcPts val="0"/>
              </a:spcBef>
              <a:spcAft>
                <a:spcPts val="0"/>
              </a:spcAft>
            </a:pPr>
            <a:r>
              <a:rPr sz="2300" b="1">
                <a:solidFill>
                  <a:srgbClr val="142338"/>
                </a:solidFill>
                <a:latin typeface="Arial"/>
              </a:rPr>
              <a:t>Sandbox</a:t>
            </a:r>
          </a:p>
        </p:txBody>
      </p:sp>
      <p:sp>
        <p:nvSpPr>
          <p:cNvPr id="43" name="TextBox 42"/>
          <p:cNvSpPr txBox="1"/>
          <p:nvPr/>
        </p:nvSpPr>
        <p:spPr>
          <a:xfrm>
            <a:off x="3657600" y="4711700"/>
            <a:ext cx="2057400" cy="769619"/>
          </a:xfrm>
          <a:prstGeom prst="rect">
            <a:avLst/>
          </a:prstGeom>
          <a:noFill/>
        </p:spPr>
        <p:txBody>
          <a:bodyPr wrap="none" lIns="0" rIns="0" tIns="0" bIns="0" anchor="t">
            <a:noAutofit/>
          </a:bodyPr>
          <a:lstStyle/>
          <a:p>
            <a:pPr algn="l">
              <a:lnSpc>
                <a:spcPts val="1920"/>
              </a:lnSpc>
              <a:spcBef>
                <a:spcPts val="0"/>
              </a:spcBef>
              <a:spcAft>
                <a:spcPts val="0"/>
              </a:spcAft>
            </a:pPr>
            <a:r>
              <a:rPr sz="1600" b="0">
                <a:solidFill>
                  <a:srgbClr val="5D6F82"/>
                </a:solidFill>
                <a:latin typeface="Arial"/>
              </a:rPr>
              <a:t>Contributed to the</a:t>
            </a:r>
          </a:p>
          <a:p>
            <a:pPr algn="l">
              <a:lnSpc>
                <a:spcPts val="1920"/>
              </a:lnSpc>
              <a:spcBef>
                <a:spcPts val="0"/>
              </a:spcBef>
              <a:spcAft>
                <a:spcPts val="0"/>
              </a:spcAft>
            </a:pPr>
            <a:r>
              <a:rPr sz="1600" b="0">
                <a:solidFill>
                  <a:srgbClr val="5D6F82"/>
                </a:solidFill>
                <a:latin typeface="Arial"/>
              </a:rPr>
              <a:t>cloud native</a:t>
            </a:r>
          </a:p>
          <a:p>
            <a:pPr algn="l">
              <a:lnSpc>
                <a:spcPts val="1920"/>
              </a:lnSpc>
              <a:spcBef>
                <a:spcPts val="0"/>
              </a:spcBef>
              <a:spcAft>
                <a:spcPts val="0"/>
              </a:spcAft>
            </a:pPr>
            <a:r>
              <a:rPr sz="1600" b="0">
                <a:solidFill>
                  <a:srgbClr val="5D6F82"/>
                </a:solidFill>
                <a:latin typeface="Arial"/>
              </a:rPr>
              <a:t>community</a:t>
            </a:r>
          </a:p>
        </p:txBody>
      </p:sp>
      <p:sp>
        <p:nvSpPr>
          <p:cNvPr id="44" name="TextBox 43"/>
          <p:cNvSpPr txBox="1"/>
          <p:nvPr/>
        </p:nvSpPr>
        <p:spPr>
          <a:xfrm>
            <a:off x="6248400" y="2222500"/>
            <a:ext cx="25146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2762C8"/>
                </a:solidFill>
                <a:latin typeface="Arial"/>
              </a:rPr>
              <a:t>PUBLIC ADOPTION</a:t>
            </a:r>
          </a:p>
        </p:txBody>
      </p:sp>
      <p:sp>
        <p:nvSpPr>
          <p:cNvPr id="45" name="Oval 44"/>
          <p:cNvSpPr/>
          <p:nvPr/>
        </p:nvSpPr>
        <p:spPr>
          <a:xfrm>
            <a:off x="7378700" y="2514600"/>
            <a:ext cx="254000" cy="254000"/>
          </a:xfrm>
          <a:prstGeom prst="ellipse">
            <a:avLst/>
          </a:prstGeom>
          <a:solidFill>
            <a:srgbClr val="F8FAFC"/>
          </a:solidFill>
          <a:ln w="2540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454900" y="2590800"/>
            <a:ext cx="101600" cy="1016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248400" y="3035300"/>
            <a:ext cx="2514600" cy="2552700"/>
          </a:xfrm>
          <a:prstGeom prst="roundRect">
            <a:avLst>
              <a:gd name="adj" fmla="val 4545"/>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248400" y="2984500"/>
            <a:ext cx="2514600" cy="2552700"/>
          </a:xfrm>
          <a:prstGeom prst="roundRect">
            <a:avLst>
              <a:gd name="adj" fmla="val 454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6477000" y="2997200"/>
            <a:ext cx="2057400" cy="0"/>
          </a:xfrm>
          <a:prstGeom prst="line">
            <a:avLst/>
          </a:prstGeom>
          <a:ln w="31750">
            <a:solidFill>
              <a:srgbClr val="2762C8"/>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6477000" y="3187700"/>
            <a:ext cx="558800" cy="558800"/>
          </a:xfrm>
          <a:prstGeom prst="roundRect">
            <a:avLst>
              <a:gd name="adj" fmla="val 20454"/>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572250" y="3359150"/>
            <a:ext cx="88900" cy="889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553200" y="3479800"/>
            <a:ext cx="127000" cy="114300"/>
          </a:xfrm>
          <a:prstGeom prst="roundRect">
            <a:avLst>
              <a:gd name="adj" fmla="val 33333"/>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851650" y="3359150"/>
            <a:ext cx="88900" cy="889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832600" y="3479800"/>
            <a:ext cx="127000" cy="114300"/>
          </a:xfrm>
          <a:prstGeom prst="roundRect">
            <a:avLst>
              <a:gd name="adj" fmla="val 33333"/>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711950" y="3257550"/>
            <a:ext cx="88900" cy="889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6692900" y="3378200"/>
            <a:ext cx="127000" cy="114300"/>
          </a:xfrm>
          <a:prstGeom prst="roundRect">
            <a:avLst>
              <a:gd name="adj" fmla="val 33333"/>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77000" y="3873500"/>
            <a:ext cx="2057400" cy="669036"/>
          </a:xfrm>
          <a:prstGeom prst="rect">
            <a:avLst/>
          </a:prstGeom>
          <a:noFill/>
        </p:spPr>
        <p:txBody>
          <a:bodyPr wrap="none" lIns="0" rIns="0" tIns="0" bIns="0" anchor="t">
            <a:noAutofit/>
          </a:bodyPr>
          <a:lstStyle/>
          <a:p>
            <a:pPr algn="l">
              <a:lnSpc>
                <a:spcPts val="2484"/>
              </a:lnSpc>
              <a:spcBef>
                <a:spcPts val="0"/>
              </a:spcBef>
              <a:spcAft>
                <a:spcPts val="0"/>
              </a:spcAft>
            </a:pPr>
            <a:r>
              <a:rPr sz="2300" b="1">
                <a:solidFill>
                  <a:srgbClr val="142338"/>
                </a:solidFill>
                <a:latin typeface="Arial"/>
              </a:rPr>
              <a:t>Beyond</a:t>
            </a:r>
          </a:p>
          <a:p>
            <a:pPr algn="l">
              <a:lnSpc>
                <a:spcPts val="2484"/>
              </a:lnSpc>
              <a:spcBef>
                <a:spcPts val="0"/>
              </a:spcBef>
              <a:spcAft>
                <a:spcPts val="0"/>
              </a:spcAft>
            </a:pPr>
            <a:r>
              <a:rPr sz="2300" b="1">
                <a:solidFill>
                  <a:srgbClr val="142338"/>
                </a:solidFill>
                <a:latin typeface="Arial"/>
              </a:rPr>
              <a:t>Absa</a:t>
            </a:r>
          </a:p>
        </p:txBody>
      </p:sp>
      <p:sp>
        <p:nvSpPr>
          <p:cNvPr id="58" name="TextBox 57"/>
          <p:cNvSpPr txBox="1"/>
          <p:nvPr/>
        </p:nvSpPr>
        <p:spPr>
          <a:xfrm>
            <a:off x="6477000" y="4711700"/>
            <a:ext cx="2057400" cy="769619"/>
          </a:xfrm>
          <a:prstGeom prst="rect">
            <a:avLst/>
          </a:prstGeom>
          <a:noFill/>
        </p:spPr>
        <p:txBody>
          <a:bodyPr wrap="none" lIns="0" rIns="0" tIns="0" bIns="0" anchor="t">
            <a:noAutofit/>
          </a:bodyPr>
          <a:lstStyle/>
          <a:p>
            <a:pPr algn="l">
              <a:lnSpc>
                <a:spcPts val="1920"/>
              </a:lnSpc>
              <a:spcBef>
                <a:spcPts val="0"/>
              </a:spcBef>
              <a:spcAft>
                <a:spcPts val="0"/>
              </a:spcAft>
            </a:pPr>
            <a:r>
              <a:rPr sz="1600" b="0">
                <a:solidFill>
                  <a:srgbClr val="5D6F82"/>
                </a:solidFill>
                <a:latin typeface="Arial"/>
              </a:rPr>
              <a:t>Millennium bcp</a:t>
            </a:r>
          </a:p>
          <a:p>
            <a:pPr algn="l">
              <a:lnSpc>
                <a:spcPts val="1920"/>
              </a:lnSpc>
              <a:spcBef>
                <a:spcPts val="0"/>
              </a:spcBef>
              <a:spcAft>
                <a:spcPts val="0"/>
              </a:spcAft>
            </a:pPr>
            <a:r>
              <a:rPr sz="1600" b="0">
                <a:solidFill>
                  <a:srgbClr val="5D6F82"/>
                </a:solidFill>
                <a:latin typeface="Arial"/>
              </a:rPr>
              <a:t>Open Systems</a:t>
            </a:r>
          </a:p>
          <a:p>
            <a:pPr algn="l">
              <a:lnSpc>
                <a:spcPts val="1920"/>
              </a:lnSpc>
              <a:spcBef>
                <a:spcPts val="0"/>
              </a:spcBef>
              <a:spcAft>
                <a:spcPts val="0"/>
              </a:spcAft>
            </a:pPr>
            <a:r>
              <a:rPr sz="1600" b="0">
                <a:solidFill>
                  <a:srgbClr val="5D6F82"/>
                </a:solidFill>
                <a:latin typeface="Arial"/>
              </a:rPr>
              <a:t>PagBank</a:t>
            </a:r>
          </a:p>
        </p:txBody>
      </p:sp>
      <p:sp>
        <p:nvSpPr>
          <p:cNvPr id="59" name="TextBox 58"/>
          <p:cNvSpPr txBox="1"/>
          <p:nvPr/>
        </p:nvSpPr>
        <p:spPr>
          <a:xfrm>
            <a:off x="9067800" y="2222500"/>
            <a:ext cx="25146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CF0035"/>
                </a:solidFill>
                <a:latin typeface="Arial"/>
              </a:rPr>
              <a:t>18 JUL 2026</a:t>
            </a:r>
          </a:p>
        </p:txBody>
      </p:sp>
      <p:sp>
        <p:nvSpPr>
          <p:cNvPr id="60" name="Oval 59"/>
          <p:cNvSpPr/>
          <p:nvPr/>
        </p:nvSpPr>
        <p:spPr>
          <a:xfrm>
            <a:off x="10198100" y="2514600"/>
            <a:ext cx="254000" cy="254000"/>
          </a:xfrm>
          <a:prstGeom prst="ellipse">
            <a:avLst/>
          </a:prstGeom>
          <a:solidFill>
            <a:srgbClr val="F8FAFC"/>
          </a:solidFill>
          <a:ln w="2540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0274300" y="2590800"/>
            <a:ext cx="101600" cy="101600"/>
          </a:xfrm>
          <a:prstGeom prst="ellipse">
            <a:avLst/>
          </a:prstGeom>
          <a:solidFill>
            <a:srgbClr val="CF0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9067800" y="3035300"/>
            <a:ext cx="2514600" cy="2552700"/>
          </a:xfrm>
          <a:prstGeom prst="roundRect">
            <a:avLst>
              <a:gd name="adj" fmla="val 4545"/>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067800" y="2984500"/>
            <a:ext cx="2514600" cy="2552700"/>
          </a:xfrm>
          <a:prstGeom prst="roundRect">
            <a:avLst>
              <a:gd name="adj" fmla="val 4545"/>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9296400" y="2997200"/>
            <a:ext cx="2057400" cy="0"/>
          </a:xfrm>
          <a:prstGeom prst="line">
            <a:avLst/>
          </a:prstGeom>
          <a:ln w="31750">
            <a:solidFill>
              <a:srgbClr val="CF0035"/>
            </a:solidFill>
          </a:ln>
        </p:spPr>
        <p:style>
          <a:lnRef idx="2">
            <a:schemeClr val="accent1"/>
          </a:lnRef>
          <a:fillRef idx="0">
            <a:schemeClr val="accent1"/>
          </a:fillRef>
          <a:effectRef idx="1">
            <a:schemeClr val="accent1"/>
          </a:effectRef>
          <a:fontRef idx="minor">
            <a:schemeClr val="tx1"/>
          </a:fontRef>
        </p:style>
      </p:cxnSp>
      <p:pic>
        <p:nvPicPr>
          <p:cNvPr id="65" name="Picture 64" descr="image.png"/>
          <p:cNvPicPr>
            <a:picLocks noChangeAspect="1"/>
          </p:cNvPicPr>
          <p:nvPr/>
        </p:nvPicPr>
        <p:blipFill>
          <a:blip r:embed="rId2"/>
          <a:stretch>
            <a:fillRect/>
          </a:stretch>
        </p:blipFill>
        <p:spPr>
          <a:xfrm>
            <a:off x="9296400" y="3181693"/>
            <a:ext cx="558800" cy="545413"/>
          </a:xfrm>
          <a:prstGeom prst="rect">
            <a:avLst/>
          </a:prstGeom>
        </p:spPr>
      </p:pic>
      <p:sp>
        <p:nvSpPr>
          <p:cNvPr id="66" name="TextBox 65"/>
          <p:cNvSpPr txBox="1"/>
          <p:nvPr/>
        </p:nvSpPr>
        <p:spPr>
          <a:xfrm>
            <a:off x="9296400" y="3873500"/>
            <a:ext cx="2057400" cy="669036"/>
          </a:xfrm>
          <a:prstGeom prst="rect">
            <a:avLst/>
          </a:prstGeom>
          <a:noFill/>
        </p:spPr>
        <p:txBody>
          <a:bodyPr wrap="none" lIns="0" rIns="0" tIns="0" bIns="0" anchor="t">
            <a:noAutofit/>
          </a:bodyPr>
          <a:lstStyle/>
          <a:p>
            <a:pPr algn="l">
              <a:lnSpc>
                <a:spcPts val="2484"/>
              </a:lnSpc>
              <a:spcBef>
                <a:spcPts val="0"/>
              </a:spcBef>
              <a:spcAft>
                <a:spcPts val="0"/>
              </a:spcAft>
            </a:pPr>
            <a:r>
              <a:rPr sz="2300" b="1">
                <a:solidFill>
                  <a:srgbClr val="FFFFFF"/>
                </a:solidFill>
                <a:latin typeface="Arial"/>
              </a:rPr>
              <a:t>CNCF</a:t>
            </a:r>
          </a:p>
          <a:p>
            <a:pPr algn="l">
              <a:lnSpc>
                <a:spcPts val="2484"/>
              </a:lnSpc>
              <a:spcBef>
                <a:spcPts val="0"/>
              </a:spcBef>
              <a:spcAft>
                <a:spcPts val="0"/>
              </a:spcAft>
            </a:pPr>
            <a:r>
              <a:rPr sz="2300" b="1">
                <a:solidFill>
                  <a:srgbClr val="FFFFFF"/>
                </a:solidFill>
                <a:latin typeface="Arial"/>
              </a:rPr>
              <a:t>Incubating</a:t>
            </a:r>
          </a:p>
        </p:txBody>
      </p:sp>
      <p:sp>
        <p:nvSpPr>
          <p:cNvPr id="67" name="TextBox 66"/>
          <p:cNvSpPr txBox="1"/>
          <p:nvPr/>
        </p:nvSpPr>
        <p:spPr>
          <a:xfrm>
            <a:off x="9296400" y="4711700"/>
            <a:ext cx="2057400" cy="769619"/>
          </a:xfrm>
          <a:prstGeom prst="rect">
            <a:avLst/>
          </a:prstGeom>
          <a:noFill/>
        </p:spPr>
        <p:txBody>
          <a:bodyPr wrap="none" lIns="0" rIns="0" tIns="0" bIns="0" anchor="t">
            <a:noAutofit/>
          </a:bodyPr>
          <a:lstStyle/>
          <a:p>
            <a:pPr algn="l">
              <a:lnSpc>
                <a:spcPts val="1920"/>
              </a:lnSpc>
              <a:spcBef>
                <a:spcPts val="0"/>
              </a:spcBef>
              <a:spcAft>
                <a:spcPts val="0"/>
              </a:spcAft>
            </a:pPr>
            <a:r>
              <a:rPr sz="1600" b="0">
                <a:solidFill>
                  <a:srgbClr val="B8C8D9"/>
                </a:solidFill>
                <a:latin typeface="Arial"/>
              </a:rPr>
              <a:t>A new milestone</a:t>
            </a:r>
          </a:p>
          <a:p>
            <a:pPr algn="l">
              <a:lnSpc>
                <a:spcPts val="1920"/>
              </a:lnSpc>
              <a:spcBef>
                <a:spcPts val="0"/>
              </a:spcBef>
              <a:spcAft>
                <a:spcPts val="0"/>
              </a:spcAft>
            </a:pPr>
            <a:r>
              <a:rPr sz="1600" b="0">
                <a:solidFill>
                  <a:srgbClr val="B8C8D9"/>
                </a:solidFill>
                <a:latin typeface="Arial"/>
              </a:rPr>
              <a:t>for the project</a:t>
            </a:r>
          </a:p>
          <a:p>
            <a:pPr algn="l">
              <a:lnSpc>
                <a:spcPts val="1920"/>
              </a:lnSpc>
              <a:spcBef>
                <a:spcPts val="0"/>
              </a:spcBef>
              <a:spcAft>
                <a:spcPts val="0"/>
              </a:spcAft>
            </a:pPr>
            <a:r>
              <a:rPr sz="1600" b="0">
                <a:solidFill>
                  <a:srgbClr val="B8C8D9"/>
                </a:solidFill>
                <a:latin typeface="Arial"/>
              </a:rPr>
              <a:t>and its community</a:t>
            </a:r>
          </a:p>
        </p:txBody>
      </p:sp>
      <p:sp>
        <p:nvSpPr>
          <p:cNvPr id="68" name="Rounded Rectangle 67"/>
          <p:cNvSpPr/>
          <p:nvPr/>
        </p:nvSpPr>
        <p:spPr>
          <a:xfrm>
            <a:off x="609600" y="5816600"/>
            <a:ext cx="10972800" cy="457200"/>
          </a:xfrm>
          <a:prstGeom prst="roundRect">
            <a:avLst>
              <a:gd name="adj" fmla="val 16666"/>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87400" y="5905500"/>
            <a:ext cx="10617200" cy="333375"/>
          </a:xfrm>
          <a:prstGeom prst="rect">
            <a:avLst/>
          </a:prstGeom>
          <a:noFill/>
        </p:spPr>
        <p:txBody>
          <a:bodyPr wrap="none" lIns="0" rIns="0" tIns="0" bIns="0" anchor="t">
            <a:noAutofit/>
          </a:bodyPr>
          <a:lstStyle/>
          <a:p>
            <a:pPr algn="ctr">
              <a:lnSpc>
                <a:spcPts val="2100"/>
              </a:lnSpc>
              <a:spcBef>
                <a:spcPts val="0"/>
              </a:spcBef>
              <a:spcAft>
                <a:spcPts val="0"/>
              </a:spcAft>
            </a:pPr>
            <a:r>
              <a:rPr sz="2100" b="1">
                <a:solidFill>
                  <a:srgbClr val="FFFFFF"/>
                </a:solidFill>
                <a:latin typeface="Arial"/>
              </a:rPr>
              <a:t>Born from a production problem. Built with the community.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REAL-WORLD ADOPTION</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05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Resilience in production</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Millennium bcp · Results reported in a CNCF case study</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pic>
        <p:nvPicPr>
          <p:cNvPr id="10" name="Picture 9" descr="image.png"/>
          <p:cNvPicPr>
            <a:picLocks noChangeAspect="1"/>
          </p:cNvPicPr>
          <p:nvPr/>
        </p:nvPicPr>
        <p:blipFill>
          <a:blip r:embed="rId2"/>
          <a:stretch>
            <a:fillRect/>
          </a:stretch>
        </p:blipFill>
        <p:spPr>
          <a:xfrm>
            <a:off x="8915400" y="762746"/>
            <a:ext cx="2667000" cy="874806"/>
          </a:xfrm>
          <a:prstGeom prst="rect">
            <a:avLst/>
          </a:prstGeom>
        </p:spPr>
      </p:pic>
      <p:sp>
        <p:nvSpPr>
          <p:cNvPr id="11" name="Rounded Rectangle 10"/>
          <p:cNvSpPr/>
          <p:nvPr/>
        </p:nvSpPr>
        <p:spPr>
          <a:xfrm>
            <a:off x="609600" y="2133600"/>
            <a:ext cx="5334000" cy="3378200"/>
          </a:xfrm>
          <a:prstGeom prst="roundRect">
            <a:avLst>
              <a:gd name="adj" fmla="val 3759"/>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9600" y="2082800"/>
            <a:ext cx="5334000" cy="3378200"/>
          </a:xfrm>
          <a:prstGeom prst="roundRect">
            <a:avLst>
              <a:gd name="adj" fmla="val 3759"/>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914400" y="2095500"/>
            <a:ext cx="4724400" cy="0"/>
          </a:xfrm>
          <a:prstGeom prst="line">
            <a:avLst/>
          </a:prstGeom>
          <a:ln w="38100">
            <a:solidFill>
              <a:srgbClr val="D1005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2362200"/>
            <a:ext cx="47244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B8C8D9"/>
                </a:solidFill>
                <a:latin typeface="Arial"/>
              </a:rPr>
              <a:t>DNS INCIDENT RESPONSE</a:t>
            </a:r>
          </a:p>
        </p:txBody>
      </p:sp>
      <p:sp>
        <p:nvSpPr>
          <p:cNvPr id="15" name="TextBox 14"/>
          <p:cNvSpPr txBox="1"/>
          <p:nvPr/>
        </p:nvSpPr>
        <p:spPr>
          <a:xfrm>
            <a:off x="876300" y="2641600"/>
            <a:ext cx="4762500" cy="1682750"/>
          </a:xfrm>
          <a:prstGeom prst="rect">
            <a:avLst/>
          </a:prstGeom>
          <a:noFill/>
        </p:spPr>
        <p:txBody>
          <a:bodyPr wrap="none" lIns="0" rIns="0" tIns="0" bIns="0" anchor="t">
            <a:noAutofit/>
          </a:bodyPr>
          <a:lstStyle/>
          <a:p>
            <a:pPr algn="l">
              <a:lnSpc>
                <a:spcPts val="12190"/>
              </a:lnSpc>
              <a:spcBef>
                <a:spcPts val="0"/>
              </a:spcBef>
              <a:spcAft>
                <a:spcPts val="0"/>
              </a:spcAft>
            </a:pPr>
            <a:r>
              <a:rPr sz="10600" b="1">
                <a:solidFill>
                  <a:srgbClr val="FFFFFF"/>
                </a:solidFill>
                <a:latin typeface="Arial"/>
              </a:rPr>
              <a:t>70%</a:t>
            </a:r>
          </a:p>
        </p:txBody>
      </p:sp>
      <p:sp>
        <p:nvSpPr>
          <p:cNvPr id="16" name="TextBox 15"/>
          <p:cNvSpPr txBox="1"/>
          <p:nvPr/>
        </p:nvSpPr>
        <p:spPr>
          <a:xfrm>
            <a:off x="939800" y="4330700"/>
            <a:ext cx="4673600" cy="417830"/>
          </a:xfrm>
          <a:prstGeom prst="rect">
            <a:avLst/>
          </a:prstGeom>
          <a:noFill/>
        </p:spPr>
        <p:txBody>
          <a:bodyPr wrap="none" lIns="0" rIns="0" tIns="0" bIns="0" anchor="t">
            <a:noAutofit/>
          </a:bodyPr>
          <a:lstStyle/>
          <a:p>
            <a:pPr algn="l">
              <a:lnSpc>
                <a:spcPts val="2990"/>
              </a:lnSpc>
              <a:spcBef>
                <a:spcPts val="0"/>
              </a:spcBef>
              <a:spcAft>
                <a:spcPts val="0"/>
              </a:spcAft>
            </a:pPr>
            <a:r>
              <a:rPr sz="2600" b="1">
                <a:solidFill>
                  <a:srgbClr val="FFFFFF"/>
                </a:solidFill>
                <a:latin typeface="Arial"/>
              </a:rPr>
              <a:t>shorter response times</a:t>
            </a:r>
          </a:p>
        </p:txBody>
      </p:sp>
      <p:sp>
        <p:nvSpPr>
          <p:cNvPr id="17" name="TextBox 16"/>
          <p:cNvSpPr txBox="1"/>
          <p:nvPr/>
        </p:nvSpPr>
        <p:spPr>
          <a:xfrm>
            <a:off x="939800" y="4826000"/>
            <a:ext cx="4673600" cy="344805"/>
          </a:xfrm>
          <a:prstGeom prst="rect">
            <a:avLst/>
          </a:prstGeom>
          <a:noFill/>
        </p:spPr>
        <p:txBody>
          <a:bodyPr wrap="none" lIns="0" rIns="0" tIns="0" bIns="0" anchor="t">
            <a:noAutofit/>
          </a:bodyPr>
          <a:lstStyle/>
          <a:p>
            <a:pPr algn="l">
              <a:lnSpc>
                <a:spcPts val="2415"/>
              </a:lnSpc>
              <a:spcBef>
                <a:spcPts val="0"/>
              </a:spcBef>
              <a:spcAft>
                <a:spcPts val="0"/>
              </a:spcAft>
            </a:pPr>
            <a:r>
              <a:rPr sz="2100" b="0">
                <a:solidFill>
                  <a:srgbClr val="B8C8D9"/>
                </a:solidFill>
                <a:latin typeface="Arial"/>
              </a:rPr>
              <a:t>for DNS-related incidents</a:t>
            </a:r>
          </a:p>
        </p:txBody>
      </p:sp>
      <p:sp>
        <p:nvSpPr>
          <p:cNvPr id="18" name="Rounded Rectangle 17"/>
          <p:cNvSpPr/>
          <p:nvPr/>
        </p:nvSpPr>
        <p:spPr>
          <a:xfrm>
            <a:off x="6248400" y="2133600"/>
            <a:ext cx="5334000" cy="1524000"/>
          </a:xfrm>
          <a:prstGeom prst="roundRect">
            <a:avLst>
              <a:gd name="adj" fmla="val 8333"/>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48400" y="2082800"/>
            <a:ext cx="5334000" cy="1524000"/>
          </a:xfrm>
          <a:prstGeom prst="roundRect">
            <a:avLst>
              <a:gd name="adj" fmla="val 8333"/>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27800" y="2209800"/>
            <a:ext cx="1016000" cy="1047750"/>
          </a:xfrm>
          <a:prstGeom prst="rect">
            <a:avLst/>
          </a:prstGeom>
          <a:noFill/>
        </p:spPr>
        <p:txBody>
          <a:bodyPr wrap="none" lIns="0" rIns="0" tIns="0" bIns="0" anchor="t">
            <a:noAutofit/>
          </a:bodyPr>
          <a:lstStyle/>
          <a:p>
            <a:pPr algn="l">
              <a:lnSpc>
                <a:spcPts val="7589"/>
              </a:lnSpc>
              <a:spcBef>
                <a:spcPts val="0"/>
              </a:spcBef>
              <a:spcAft>
                <a:spcPts val="0"/>
              </a:spcAft>
            </a:pPr>
            <a:r>
              <a:rPr sz="6600" b="1">
                <a:solidFill>
                  <a:srgbClr val="2762C8"/>
                </a:solidFill>
                <a:latin typeface="Arial"/>
              </a:rPr>
              <a:t>5</a:t>
            </a:r>
          </a:p>
        </p:txBody>
      </p:sp>
      <p:sp>
        <p:nvSpPr>
          <p:cNvPr id="21" name="TextBox 20"/>
          <p:cNvSpPr txBox="1"/>
          <p:nvPr/>
        </p:nvSpPr>
        <p:spPr>
          <a:xfrm>
            <a:off x="7721600" y="2336800"/>
            <a:ext cx="3556000" cy="461644"/>
          </a:xfrm>
          <a:prstGeom prst="rect">
            <a:avLst/>
          </a:prstGeom>
          <a:noFill/>
        </p:spPr>
        <p:txBody>
          <a:bodyPr wrap="none" lIns="0" rIns="0" tIns="0" bIns="0" anchor="t">
            <a:noAutofit/>
          </a:bodyPr>
          <a:lstStyle/>
          <a:p>
            <a:pPr algn="l">
              <a:lnSpc>
                <a:spcPts val="3334"/>
              </a:lnSpc>
              <a:spcBef>
                <a:spcPts val="0"/>
              </a:spcBef>
              <a:spcAft>
                <a:spcPts val="0"/>
              </a:spcAft>
            </a:pPr>
            <a:r>
              <a:rPr sz="2900" b="1">
                <a:solidFill>
                  <a:srgbClr val="142338"/>
                </a:solidFill>
                <a:latin typeface="Arial"/>
              </a:rPr>
              <a:t>regions</a:t>
            </a:r>
          </a:p>
        </p:txBody>
      </p:sp>
      <p:sp>
        <p:nvSpPr>
          <p:cNvPr id="22" name="TextBox 21"/>
          <p:cNvSpPr txBox="1"/>
          <p:nvPr/>
        </p:nvSpPr>
        <p:spPr>
          <a:xfrm>
            <a:off x="7721600" y="2857500"/>
            <a:ext cx="3556000" cy="556260"/>
          </a:xfrm>
          <a:prstGeom prst="rect">
            <a:avLst/>
          </a:prstGeom>
          <a:noFill/>
        </p:spPr>
        <p:txBody>
          <a:bodyPr wrap="none" lIns="0" rIns="0" tIns="0" bIns="0" anchor="t">
            <a:noAutofit/>
          </a:bodyPr>
          <a:lstStyle/>
          <a:p>
            <a:pPr algn="l">
              <a:lnSpc>
                <a:spcPts val="2039"/>
              </a:lnSpc>
              <a:spcBef>
                <a:spcPts val="0"/>
              </a:spcBef>
              <a:spcAft>
                <a:spcPts val="0"/>
              </a:spcAft>
            </a:pPr>
            <a:r>
              <a:rPr sz="1700" b="0">
                <a:solidFill>
                  <a:srgbClr val="5D6F82"/>
                </a:solidFill>
                <a:latin typeface="Arial"/>
              </a:rPr>
              <a:t>Two cloud providers</a:t>
            </a:r>
          </a:p>
          <a:p>
            <a:pPr algn="l">
              <a:lnSpc>
                <a:spcPts val="2039"/>
              </a:lnSpc>
              <a:spcBef>
                <a:spcPts val="0"/>
              </a:spcBef>
              <a:spcAft>
                <a:spcPts val="0"/>
              </a:spcAft>
            </a:pPr>
            <a:r>
              <a:rPr sz="1700" b="0">
                <a:solidFill>
                  <a:srgbClr val="5D6F82"/>
                </a:solidFill>
                <a:latin typeface="Arial"/>
              </a:rPr>
              <a:t>+ on-premises</a:t>
            </a:r>
          </a:p>
        </p:txBody>
      </p:sp>
      <p:cxnSp>
        <p:nvCxnSpPr>
          <p:cNvPr id="23" name="Connector 22"/>
          <p:cNvCxnSpPr/>
          <p:nvPr/>
        </p:nvCxnSpPr>
        <p:spPr>
          <a:xfrm>
            <a:off x="6642100" y="3403600"/>
            <a:ext cx="812800" cy="0"/>
          </a:xfrm>
          <a:prstGeom prst="line">
            <a:avLst/>
          </a:prstGeom>
          <a:ln w="19050">
            <a:solidFill>
              <a:srgbClr val="DAE2EA"/>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597650" y="3359150"/>
            <a:ext cx="88900" cy="889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00850" y="3359150"/>
            <a:ext cx="88900" cy="889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004050" y="3359150"/>
            <a:ext cx="88900" cy="889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207250" y="3359150"/>
            <a:ext cx="88900" cy="889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10450" y="3359150"/>
            <a:ext cx="88900" cy="889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48400" y="3886200"/>
            <a:ext cx="5334000" cy="1625600"/>
          </a:xfrm>
          <a:prstGeom prst="roundRect">
            <a:avLst>
              <a:gd name="adj" fmla="val 7812"/>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48400" y="3835400"/>
            <a:ext cx="5334000" cy="1625600"/>
          </a:xfrm>
          <a:prstGeom prst="roundRect">
            <a:avLst>
              <a:gd name="adj" fmla="val 7812"/>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553200" y="4127500"/>
            <a:ext cx="609600" cy="609600"/>
          </a:xfrm>
          <a:prstGeom prst="roundRect">
            <a:avLst>
              <a:gd name="adj" fmla="val 20833"/>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667500" y="4241800"/>
            <a:ext cx="381000" cy="381000"/>
          </a:xfrm>
          <a:prstGeom prst="ellipse">
            <a:avLst/>
          </a:prstGeom>
          <a:solidFill>
            <a:srgbClr val="E8F4F3"/>
          </a:solidFill>
          <a:ln w="2159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6756400" y="4432300"/>
            <a:ext cx="76200" cy="76200"/>
          </a:xfrm>
          <a:prstGeom prst="line">
            <a:avLst/>
          </a:prstGeom>
          <a:ln w="3048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832600" y="4343400"/>
            <a:ext cx="139700" cy="165100"/>
          </a:xfrm>
          <a:prstGeom prst="line">
            <a:avLst/>
          </a:prstGeom>
          <a:ln w="30480">
            <a:solidFill>
              <a:srgbClr val="087F8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416800" y="4089400"/>
            <a:ext cx="3860800" cy="432434"/>
          </a:xfrm>
          <a:prstGeom prst="rect">
            <a:avLst/>
          </a:prstGeom>
          <a:noFill/>
        </p:spPr>
        <p:txBody>
          <a:bodyPr wrap="none" lIns="0" rIns="0" tIns="0" bIns="0" anchor="t">
            <a:noAutofit/>
          </a:bodyPr>
          <a:lstStyle/>
          <a:p>
            <a:pPr algn="l">
              <a:lnSpc>
                <a:spcPts val="3104"/>
              </a:lnSpc>
              <a:spcBef>
                <a:spcPts val="0"/>
              </a:spcBef>
              <a:spcAft>
                <a:spcPts val="0"/>
              </a:spcAft>
            </a:pPr>
            <a:r>
              <a:rPr sz="2700" b="1">
                <a:solidFill>
                  <a:srgbClr val="087F85"/>
                </a:solidFill>
                <a:latin typeface="Arial"/>
              </a:rPr>
              <a:t>Zero downtime</a:t>
            </a:r>
          </a:p>
        </p:txBody>
      </p:sp>
      <p:sp>
        <p:nvSpPr>
          <p:cNvPr id="36" name="TextBox 35"/>
          <p:cNvSpPr txBox="1"/>
          <p:nvPr/>
        </p:nvSpPr>
        <p:spPr>
          <a:xfrm>
            <a:off x="7416800" y="4686300"/>
            <a:ext cx="3860800" cy="617220"/>
          </a:xfrm>
          <a:prstGeom prst="rect">
            <a:avLst/>
          </a:prstGeom>
          <a:noFill/>
        </p:spPr>
        <p:txBody>
          <a:bodyPr wrap="none" lIns="0" rIns="0" tIns="0" bIns="0" anchor="t">
            <a:noAutofit/>
          </a:bodyPr>
          <a:lstStyle/>
          <a:p>
            <a:pPr algn="l">
              <a:lnSpc>
                <a:spcPts val="2280"/>
              </a:lnSpc>
              <a:spcBef>
                <a:spcPts val="0"/>
              </a:spcBef>
              <a:spcAft>
                <a:spcPts val="0"/>
              </a:spcAft>
            </a:pPr>
            <a:r>
              <a:rPr sz="1900" b="0">
                <a:solidFill>
                  <a:srgbClr val="5D6F82"/>
                </a:solidFill>
                <a:latin typeface="Arial"/>
              </a:rPr>
              <a:t>Reported during regional</a:t>
            </a:r>
          </a:p>
          <a:p>
            <a:pPr algn="l">
              <a:lnSpc>
                <a:spcPts val="2280"/>
              </a:lnSpc>
              <a:spcBef>
                <a:spcPts val="0"/>
              </a:spcBef>
              <a:spcAft>
                <a:spcPts val="0"/>
              </a:spcAft>
            </a:pPr>
            <a:r>
              <a:rPr sz="1900" b="0">
                <a:solidFill>
                  <a:srgbClr val="5D6F82"/>
                </a:solidFill>
                <a:latin typeface="Arial"/>
              </a:rPr>
              <a:t>failover tests</a:t>
            </a:r>
          </a:p>
        </p:txBody>
      </p:sp>
      <p:sp>
        <p:nvSpPr>
          <p:cNvPr id="37" name="TextBox 36"/>
          <p:cNvSpPr txBox="1"/>
          <p:nvPr/>
        </p:nvSpPr>
        <p:spPr>
          <a:xfrm>
            <a:off x="609600" y="5613400"/>
            <a:ext cx="5461000" cy="227965"/>
          </a:xfrm>
          <a:prstGeom prst="rect">
            <a:avLst/>
          </a:prstGeom>
          <a:noFill/>
        </p:spPr>
        <p:txBody>
          <a:bodyPr wrap="none" lIns="0" rIns="0" tIns="0" bIns="0" anchor="t">
            <a:noAutofit/>
          </a:bodyPr>
          <a:lstStyle/>
          <a:p>
            <a:pPr algn="l">
              <a:lnSpc>
                <a:spcPts val="1495"/>
              </a:lnSpc>
              <a:spcBef>
                <a:spcPts val="0"/>
              </a:spcBef>
              <a:spcAft>
                <a:spcPts val="0"/>
              </a:spcAft>
            </a:pPr>
            <a:r>
              <a:rPr sz="1300" b="0">
                <a:solidFill>
                  <a:srgbClr val="5D6F82"/>
                </a:solidFill>
                <a:latin typeface="Arial"/>
              </a:rPr>
              <a:t>CNCF case study · 16 September 2025</a:t>
            </a:r>
          </a:p>
        </p:txBody>
      </p:sp>
      <p:sp>
        <p:nvSpPr>
          <p:cNvPr id="38" name="TextBox 37"/>
          <p:cNvSpPr txBox="1"/>
          <p:nvPr/>
        </p:nvSpPr>
        <p:spPr>
          <a:xfrm>
            <a:off x="6248400" y="5613400"/>
            <a:ext cx="5334000" cy="227965"/>
          </a:xfrm>
          <a:prstGeom prst="rect">
            <a:avLst/>
          </a:prstGeom>
          <a:noFill/>
        </p:spPr>
        <p:txBody>
          <a:bodyPr wrap="none" lIns="0" rIns="0" tIns="0" bIns="0" anchor="t">
            <a:noAutofit/>
          </a:bodyPr>
          <a:lstStyle/>
          <a:p>
            <a:pPr algn="r">
              <a:lnSpc>
                <a:spcPts val="1495"/>
              </a:lnSpc>
              <a:spcBef>
                <a:spcPts val="0"/>
              </a:spcBef>
              <a:spcAft>
                <a:spcPts val="0"/>
              </a:spcAft>
            </a:pPr>
            <a:r>
              <a:rPr sz="1300" b="0">
                <a:solidFill>
                  <a:srgbClr val="2762C8"/>
                </a:solidFill>
                <a:latin typeface="Arial"/>
              </a:rPr>
              <a:t>cncf.io/case-studies/millennium-bcp</a:t>
            </a:r>
          </a:p>
        </p:txBody>
      </p:sp>
      <p:sp>
        <p:nvSpPr>
          <p:cNvPr id="39" name="Rounded Rectangle 38"/>
          <p:cNvSpPr/>
          <p:nvPr/>
        </p:nvSpPr>
        <p:spPr>
          <a:xfrm>
            <a:off x="609600" y="58928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7400" y="5969000"/>
            <a:ext cx="10617200" cy="333375"/>
          </a:xfrm>
          <a:prstGeom prst="rect">
            <a:avLst/>
          </a:prstGeom>
          <a:noFill/>
        </p:spPr>
        <p:txBody>
          <a:bodyPr wrap="none" lIns="0" rIns="0" tIns="0" bIns="0" anchor="t">
            <a:noAutofit/>
          </a:bodyPr>
          <a:lstStyle/>
          <a:p>
            <a:pPr algn="ctr">
              <a:lnSpc>
                <a:spcPts val="2100"/>
              </a:lnSpc>
              <a:spcBef>
                <a:spcPts val="0"/>
              </a:spcBef>
              <a:spcAft>
                <a:spcPts val="0"/>
              </a:spcAft>
            </a:pPr>
            <a:r>
              <a:rPr sz="2100" b="1">
                <a:solidFill>
                  <a:srgbClr val="142338"/>
                </a:solidFill>
                <a:latin typeface="Arial"/>
              </a:rPr>
              <a:t>Published results from Millennium bcp’s deployment.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REFERENCE ARCHITECTURE</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06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Independent clusters, shared DNS contract</a:t>
            </a:r>
          </a:p>
        </p:txBody>
      </p:sp>
      <p:cxnSp>
        <p:nvCxnSpPr>
          <p:cNvPr id="6" name="Connector 5"/>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8" name="TextBox 7"/>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9" name="Rounded Rectangle 8"/>
          <p:cNvSpPr/>
          <p:nvPr/>
        </p:nvSpPr>
        <p:spPr>
          <a:xfrm>
            <a:off x="3568700" y="1562100"/>
            <a:ext cx="5054600" cy="698500"/>
          </a:xfrm>
          <a:prstGeom prst="roundRect">
            <a:avLst>
              <a:gd name="adj" fmla="val 12727"/>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59200" y="1638300"/>
            <a:ext cx="4673600" cy="359409"/>
          </a:xfrm>
          <a:prstGeom prst="rect">
            <a:avLst/>
          </a:prstGeom>
          <a:noFill/>
        </p:spPr>
        <p:txBody>
          <a:bodyPr wrap="none" lIns="0" rIns="0" tIns="0" bIns="0" anchor="t">
            <a:noAutofit/>
          </a:bodyPr>
          <a:lstStyle/>
          <a:p>
            <a:pPr algn="ctr">
              <a:lnSpc>
                <a:spcPts val="2529"/>
              </a:lnSpc>
              <a:spcBef>
                <a:spcPts val="0"/>
              </a:spcBef>
              <a:spcAft>
                <a:spcPts val="0"/>
              </a:spcAft>
            </a:pPr>
            <a:r>
              <a:rPr sz="2200" b="1">
                <a:solidFill>
                  <a:srgbClr val="FFFFFF"/>
                </a:solidFill>
                <a:latin typeface="Arial"/>
              </a:rPr>
              <a:t>Parent DNS  ·  example.com</a:t>
            </a:r>
          </a:p>
        </p:txBody>
      </p:sp>
      <p:sp>
        <p:nvSpPr>
          <p:cNvPr id="11" name="TextBox 10"/>
          <p:cNvSpPr txBox="1"/>
          <p:nvPr/>
        </p:nvSpPr>
        <p:spPr>
          <a:xfrm>
            <a:off x="3759200" y="2006600"/>
            <a:ext cx="4673600" cy="227965"/>
          </a:xfrm>
          <a:prstGeom prst="rect">
            <a:avLst/>
          </a:prstGeom>
          <a:noFill/>
        </p:spPr>
        <p:txBody>
          <a:bodyPr wrap="none" lIns="0" rIns="0" tIns="0" bIns="0" anchor="t">
            <a:noAutofit/>
          </a:bodyPr>
          <a:lstStyle/>
          <a:p>
            <a:pPr algn="ctr">
              <a:lnSpc>
                <a:spcPts val="1495"/>
              </a:lnSpc>
              <a:spcBef>
                <a:spcPts val="0"/>
              </a:spcBef>
              <a:spcAft>
                <a:spcPts val="0"/>
              </a:spcAft>
            </a:pPr>
            <a:r>
              <a:rPr sz="1300" b="0">
                <a:solidFill>
                  <a:srgbClr val="B8C8D9"/>
                </a:solidFill>
                <a:latin typeface="Arial"/>
              </a:rPr>
              <a:t>NS + address updates</a:t>
            </a:r>
          </a:p>
        </p:txBody>
      </p:sp>
      <p:sp>
        <p:nvSpPr>
          <p:cNvPr id="12" name="Rounded Rectangle 11"/>
          <p:cNvSpPr/>
          <p:nvPr/>
        </p:nvSpPr>
        <p:spPr>
          <a:xfrm>
            <a:off x="9359900" y="1562100"/>
            <a:ext cx="2222500" cy="698500"/>
          </a:xfrm>
          <a:prstGeom prst="roundRect">
            <a:avLst>
              <a:gd name="adj" fmla="val 12727"/>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12300" y="1689100"/>
            <a:ext cx="19177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2762C8"/>
                </a:solidFill>
                <a:latin typeface="Arial"/>
              </a:rPr>
              <a:t>2 OF N CLUSTERS</a:t>
            </a:r>
          </a:p>
        </p:txBody>
      </p:sp>
      <p:sp>
        <p:nvSpPr>
          <p:cNvPr id="14" name="TextBox 13"/>
          <p:cNvSpPr txBox="1"/>
          <p:nvPr/>
        </p:nvSpPr>
        <p:spPr>
          <a:xfrm>
            <a:off x="9512300" y="1943100"/>
            <a:ext cx="1917700" cy="213359"/>
          </a:xfrm>
          <a:prstGeom prst="rect">
            <a:avLst/>
          </a:prstGeom>
          <a:noFill/>
        </p:spPr>
        <p:txBody>
          <a:bodyPr wrap="none" lIns="0" rIns="0" tIns="0" bIns="0" anchor="t">
            <a:noAutofit/>
          </a:bodyPr>
          <a:lstStyle/>
          <a:p>
            <a:pPr algn="ctr">
              <a:lnSpc>
                <a:spcPts val="1380"/>
              </a:lnSpc>
              <a:spcBef>
                <a:spcPts val="0"/>
              </a:spcBef>
              <a:spcAft>
                <a:spcPts val="0"/>
              </a:spcAft>
            </a:pPr>
            <a:r>
              <a:rPr sz="1200" b="0">
                <a:solidFill>
                  <a:srgbClr val="5D6F82"/>
                </a:solidFill>
                <a:latin typeface="Arial"/>
              </a:rPr>
              <a:t>Shown for clarity</a:t>
            </a:r>
          </a:p>
        </p:txBody>
      </p:sp>
      <p:sp>
        <p:nvSpPr>
          <p:cNvPr id="15" name="Rounded Rectangle 14"/>
          <p:cNvSpPr/>
          <p:nvPr/>
        </p:nvSpPr>
        <p:spPr>
          <a:xfrm>
            <a:off x="609600" y="2476500"/>
            <a:ext cx="4902200" cy="2921000"/>
          </a:xfrm>
          <a:prstGeom prst="roundRect">
            <a:avLst>
              <a:gd name="adj" fmla="val 3478"/>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600" y="2476500"/>
            <a:ext cx="4902200" cy="406400"/>
          </a:xfrm>
          <a:prstGeom prst="rect">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7400" y="2552700"/>
            <a:ext cx="1270000" cy="271780"/>
          </a:xfrm>
          <a:prstGeom prst="rect">
            <a:avLst/>
          </a:prstGeom>
          <a:noFill/>
        </p:spPr>
        <p:txBody>
          <a:bodyPr wrap="none" lIns="0" rIns="0" tIns="0" bIns="0" anchor="t">
            <a:noAutofit/>
          </a:bodyPr>
          <a:lstStyle/>
          <a:p>
            <a:pPr algn="l">
              <a:lnSpc>
                <a:spcPts val="1839"/>
              </a:lnSpc>
              <a:spcBef>
                <a:spcPts val="0"/>
              </a:spcBef>
              <a:spcAft>
                <a:spcPts val="0"/>
              </a:spcAft>
            </a:pPr>
            <a:r>
              <a:rPr sz="1600" b="1">
                <a:solidFill>
                  <a:srgbClr val="2762C8"/>
                </a:solidFill>
                <a:latin typeface="Arial"/>
              </a:rPr>
              <a:t>CLUSTER A</a:t>
            </a:r>
          </a:p>
        </p:txBody>
      </p:sp>
      <p:sp>
        <p:nvSpPr>
          <p:cNvPr id="18" name="Rounded Rectangle 17"/>
          <p:cNvSpPr/>
          <p:nvPr/>
        </p:nvSpPr>
        <p:spPr>
          <a:xfrm>
            <a:off x="1676400" y="2933700"/>
            <a:ext cx="2768600" cy="508000"/>
          </a:xfrm>
          <a:prstGeom prst="roundRect">
            <a:avLst>
              <a:gd name="adj" fmla="val 175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2"/>
          <a:stretch>
            <a:fillRect/>
          </a:stretch>
        </p:blipFill>
        <p:spPr>
          <a:xfrm>
            <a:off x="1765460" y="2933700"/>
            <a:ext cx="507679" cy="508000"/>
          </a:xfrm>
          <a:prstGeom prst="rect">
            <a:avLst/>
          </a:prstGeom>
        </p:spPr>
      </p:pic>
      <p:sp>
        <p:nvSpPr>
          <p:cNvPr id="20" name="TextBox 19"/>
          <p:cNvSpPr txBox="1"/>
          <p:nvPr/>
        </p:nvSpPr>
        <p:spPr>
          <a:xfrm>
            <a:off x="2374900" y="3048000"/>
            <a:ext cx="19050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2762C8"/>
                </a:solidFill>
                <a:latin typeface="Arial"/>
              </a:rPr>
              <a:t>ExternalDNS</a:t>
            </a:r>
          </a:p>
        </p:txBody>
      </p:sp>
      <p:cxnSp>
        <p:nvCxnSpPr>
          <p:cNvPr id="21" name="Connector 20"/>
          <p:cNvCxnSpPr/>
          <p:nvPr/>
        </p:nvCxnSpPr>
        <p:spPr>
          <a:xfrm flipV="1">
            <a:off x="3060700" y="1917700"/>
            <a:ext cx="0" cy="1016000"/>
          </a:xfrm>
          <a:prstGeom prst="line">
            <a:avLst/>
          </a:prstGeom>
          <a:ln w="2286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060700" y="1917700"/>
            <a:ext cx="508000" cy="0"/>
          </a:xfrm>
          <a:prstGeom prst="line">
            <a:avLst/>
          </a:prstGeom>
          <a:ln w="2286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38200" y="3543300"/>
            <a:ext cx="44450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Gslb + ready endpoints</a:t>
            </a:r>
          </a:p>
        </p:txBody>
      </p:sp>
      <p:sp>
        <p:nvSpPr>
          <p:cNvPr id="24" name="Rounded Rectangle 23"/>
          <p:cNvSpPr/>
          <p:nvPr/>
        </p:nvSpPr>
        <p:spPr>
          <a:xfrm>
            <a:off x="838200" y="4076700"/>
            <a:ext cx="1778000" cy="635000"/>
          </a:xfrm>
          <a:prstGeom prst="roundRect">
            <a:avLst>
              <a:gd name="adj" fmla="val 14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8200" y="4076700"/>
            <a:ext cx="50800" cy="635000"/>
          </a:xfrm>
          <a:prstGeom prst="rect">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3"/>
          <a:stretch>
            <a:fillRect/>
          </a:stretch>
        </p:blipFill>
        <p:spPr>
          <a:xfrm>
            <a:off x="990600" y="4183472"/>
            <a:ext cx="431800" cy="421455"/>
          </a:xfrm>
          <a:prstGeom prst="rect">
            <a:avLst/>
          </a:prstGeom>
        </p:spPr>
      </p:pic>
      <p:sp>
        <p:nvSpPr>
          <p:cNvPr id="27" name="TextBox 26"/>
          <p:cNvSpPr txBox="1"/>
          <p:nvPr/>
        </p:nvSpPr>
        <p:spPr>
          <a:xfrm>
            <a:off x="1549400" y="4241800"/>
            <a:ext cx="8890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7283E"/>
                </a:solidFill>
                <a:latin typeface="Arial"/>
              </a:rPr>
              <a:t>k8gb</a:t>
            </a:r>
          </a:p>
        </p:txBody>
      </p:sp>
      <p:sp>
        <p:nvSpPr>
          <p:cNvPr id="28" name="Rounded Rectangle 27"/>
          <p:cNvSpPr/>
          <p:nvPr/>
        </p:nvSpPr>
        <p:spPr>
          <a:xfrm>
            <a:off x="3124200" y="4076700"/>
            <a:ext cx="2159000" cy="635000"/>
          </a:xfrm>
          <a:prstGeom prst="roundRect">
            <a:avLst>
              <a:gd name="adj" fmla="val 14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24200" y="4076700"/>
            <a:ext cx="50800" cy="635000"/>
          </a:xfrm>
          <a:prstGeom prst="rect">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4"/>
          <a:stretch>
            <a:fillRect/>
          </a:stretch>
        </p:blipFill>
        <p:spPr>
          <a:xfrm>
            <a:off x="3276600" y="4178300"/>
            <a:ext cx="431800" cy="431800"/>
          </a:xfrm>
          <a:prstGeom prst="rect">
            <a:avLst/>
          </a:prstGeom>
        </p:spPr>
      </p:pic>
      <p:sp>
        <p:nvSpPr>
          <p:cNvPr id="31" name="TextBox 30"/>
          <p:cNvSpPr txBox="1"/>
          <p:nvPr/>
        </p:nvSpPr>
        <p:spPr>
          <a:xfrm>
            <a:off x="3835400" y="4241800"/>
            <a:ext cx="12700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7283E"/>
                </a:solidFill>
                <a:latin typeface="Arial"/>
              </a:rPr>
              <a:t>CoreDNS</a:t>
            </a:r>
          </a:p>
        </p:txBody>
      </p:sp>
      <p:cxnSp>
        <p:nvCxnSpPr>
          <p:cNvPr id="32" name="Connector 31"/>
          <p:cNvCxnSpPr/>
          <p:nvPr/>
        </p:nvCxnSpPr>
        <p:spPr>
          <a:xfrm>
            <a:off x="2616200" y="4381500"/>
            <a:ext cx="508000" cy="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336800" y="3848100"/>
            <a:ext cx="1066800" cy="257175"/>
          </a:xfrm>
          <a:prstGeom prst="rect">
            <a:avLst/>
          </a:prstGeom>
          <a:noFill/>
        </p:spPr>
        <p:txBody>
          <a:bodyPr wrap="none" lIns="0" rIns="0" tIns="0" bIns="0" anchor="t">
            <a:noAutofit/>
          </a:bodyPr>
          <a:lstStyle/>
          <a:p>
            <a:pPr algn="ctr">
              <a:lnSpc>
                <a:spcPts val="1725"/>
              </a:lnSpc>
              <a:spcBef>
                <a:spcPts val="0"/>
              </a:spcBef>
              <a:spcAft>
                <a:spcPts val="0"/>
              </a:spcAft>
            </a:pPr>
            <a:r>
              <a:rPr sz="1500" b="0">
                <a:solidFill>
                  <a:srgbClr val="5D6F82"/>
                </a:solidFill>
                <a:latin typeface="Arial"/>
              </a:rPr>
              <a:t>DNS state</a:t>
            </a:r>
          </a:p>
        </p:txBody>
      </p:sp>
      <p:sp>
        <p:nvSpPr>
          <p:cNvPr id="34" name="TextBox 33"/>
          <p:cNvSpPr txBox="1"/>
          <p:nvPr/>
        </p:nvSpPr>
        <p:spPr>
          <a:xfrm>
            <a:off x="838200" y="4965700"/>
            <a:ext cx="4445000" cy="300990"/>
          </a:xfrm>
          <a:prstGeom prst="rect">
            <a:avLst/>
          </a:prstGeom>
          <a:noFill/>
        </p:spPr>
        <p:txBody>
          <a:bodyPr wrap="none" lIns="0" rIns="0" tIns="0" bIns="0" anchor="t">
            <a:noAutofit/>
          </a:bodyPr>
          <a:lstStyle/>
          <a:p>
            <a:pPr algn="l">
              <a:lnSpc>
                <a:spcPts val="2070"/>
              </a:lnSpc>
              <a:spcBef>
                <a:spcPts val="0"/>
              </a:spcBef>
              <a:spcAft>
                <a:spcPts val="0"/>
              </a:spcAft>
            </a:pPr>
            <a:r>
              <a:rPr sz="1800" b="1">
                <a:solidFill>
                  <a:srgbClr val="142338"/>
                </a:solidFill>
                <a:latin typeface="Arial"/>
              </a:rPr>
              <a:t>Authoritative application zone</a:t>
            </a:r>
          </a:p>
        </p:txBody>
      </p:sp>
      <p:sp>
        <p:nvSpPr>
          <p:cNvPr id="35" name="Rounded Rectangle 34"/>
          <p:cNvSpPr/>
          <p:nvPr/>
        </p:nvSpPr>
        <p:spPr>
          <a:xfrm>
            <a:off x="6680200" y="2476500"/>
            <a:ext cx="4902200" cy="2921000"/>
          </a:xfrm>
          <a:prstGeom prst="roundRect">
            <a:avLst>
              <a:gd name="adj" fmla="val 3478"/>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680200" y="2476500"/>
            <a:ext cx="4902200" cy="406400"/>
          </a:xfrm>
          <a:prstGeom prst="rect">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0" y="2552700"/>
            <a:ext cx="1270000" cy="271780"/>
          </a:xfrm>
          <a:prstGeom prst="rect">
            <a:avLst/>
          </a:prstGeom>
          <a:noFill/>
        </p:spPr>
        <p:txBody>
          <a:bodyPr wrap="none" lIns="0" rIns="0" tIns="0" bIns="0" anchor="t">
            <a:noAutofit/>
          </a:bodyPr>
          <a:lstStyle/>
          <a:p>
            <a:pPr algn="l">
              <a:lnSpc>
                <a:spcPts val="1839"/>
              </a:lnSpc>
              <a:spcBef>
                <a:spcPts val="0"/>
              </a:spcBef>
              <a:spcAft>
                <a:spcPts val="0"/>
              </a:spcAft>
            </a:pPr>
            <a:r>
              <a:rPr sz="1600" b="1">
                <a:solidFill>
                  <a:srgbClr val="087F85"/>
                </a:solidFill>
                <a:latin typeface="Arial"/>
              </a:rPr>
              <a:t>CLUSTER B</a:t>
            </a:r>
          </a:p>
        </p:txBody>
      </p:sp>
      <p:sp>
        <p:nvSpPr>
          <p:cNvPr id="38" name="Rounded Rectangle 37"/>
          <p:cNvSpPr/>
          <p:nvPr/>
        </p:nvSpPr>
        <p:spPr>
          <a:xfrm>
            <a:off x="7747000" y="2933700"/>
            <a:ext cx="2768600" cy="508000"/>
          </a:xfrm>
          <a:prstGeom prst="roundRect">
            <a:avLst>
              <a:gd name="adj" fmla="val 175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2"/>
          <a:stretch>
            <a:fillRect/>
          </a:stretch>
        </p:blipFill>
        <p:spPr>
          <a:xfrm>
            <a:off x="7836060" y="2933700"/>
            <a:ext cx="507679" cy="508000"/>
          </a:xfrm>
          <a:prstGeom prst="rect">
            <a:avLst/>
          </a:prstGeom>
        </p:spPr>
      </p:pic>
      <p:sp>
        <p:nvSpPr>
          <p:cNvPr id="40" name="TextBox 39"/>
          <p:cNvSpPr txBox="1"/>
          <p:nvPr/>
        </p:nvSpPr>
        <p:spPr>
          <a:xfrm>
            <a:off x="8445500" y="3048000"/>
            <a:ext cx="19050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087F85"/>
                </a:solidFill>
                <a:latin typeface="Arial"/>
              </a:rPr>
              <a:t>ExternalDNS</a:t>
            </a:r>
          </a:p>
        </p:txBody>
      </p:sp>
      <p:cxnSp>
        <p:nvCxnSpPr>
          <p:cNvPr id="41" name="Connector 40"/>
          <p:cNvCxnSpPr/>
          <p:nvPr/>
        </p:nvCxnSpPr>
        <p:spPr>
          <a:xfrm flipV="1">
            <a:off x="9131300" y="1917700"/>
            <a:ext cx="0" cy="1016000"/>
          </a:xfrm>
          <a:prstGeom prst="line">
            <a:avLst/>
          </a:prstGeom>
          <a:ln w="2286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8623300" y="1917700"/>
            <a:ext cx="508000" cy="0"/>
          </a:xfrm>
          <a:prstGeom prst="line">
            <a:avLst/>
          </a:prstGeom>
          <a:ln w="2286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908800" y="3543300"/>
            <a:ext cx="44450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Gslb + ready endpoints</a:t>
            </a:r>
          </a:p>
        </p:txBody>
      </p:sp>
      <p:sp>
        <p:nvSpPr>
          <p:cNvPr id="44" name="Rounded Rectangle 43"/>
          <p:cNvSpPr/>
          <p:nvPr/>
        </p:nvSpPr>
        <p:spPr>
          <a:xfrm>
            <a:off x="6908800" y="4076700"/>
            <a:ext cx="1778000" cy="635000"/>
          </a:xfrm>
          <a:prstGeom prst="roundRect">
            <a:avLst>
              <a:gd name="adj" fmla="val 14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908800" y="4076700"/>
            <a:ext cx="50800" cy="6350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3"/>
          <a:stretch>
            <a:fillRect/>
          </a:stretch>
        </p:blipFill>
        <p:spPr>
          <a:xfrm>
            <a:off x="7061200" y="4183472"/>
            <a:ext cx="431800" cy="421455"/>
          </a:xfrm>
          <a:prstGeom prst="rect">
            <a:avLst/>
          </a:prstGeom>
        </p:spPr>
      </p:pic>
      <p:sp>
        <p:nvSpPr>
          <p:cNvPr id="47" name="TextBox 46"/>
          <p:cNvSpPr txBox="1"/>
          <p:nvPr/>
        </p:nvSpPr>
        <p:spPr>
          <a:xfrm>
            <a:off x="7620000" y="4241800"/>
            <a:ext cx="8890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7283E"/>
                </a:solidFill>
                <a:latin typeface="Arial"/>
              </a:rPr>
              <a:t>k8gb</a:t>
            </a:r>
          </a:p>
        </p:txBody>
      </p:sp>
      <p:sp>
        <p:nvSpPr>
          <p:cNvPr id="48" name="Rounded Rectangle 47"/>
          <p:cNvSpPr/>
          <p:nvPr/>
        </p:nvSpPr>
        <p:spPr>
          <a:xfrm>
            <a:off x="9194800" y="4076700"/>
            <a:ext cx="2159000" cy="635000"/>
          </a:xfrm>
          <a:prstGeom prst="roundRect">
            <a:avLst>
              <a:gd name="adj" fmla="val 14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194800" y="4076700"/>
            <a:ext cx="50800" cy="6350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png"/>
          <p:cNvPicPr>
            <a:picLocks noChangeAspect="1"/>
          </p:cNvPicPr>
          <p:nvPr/>
        </p:nvPicPr>
        <p:blipFill>
          <a:blip r:embed="rId4"/>
          <a:stretch>
            <a:fillRect/>
          </a:stretch>
        </p:blipFill>
        <p:spPr>
          <a:xfrm>
            <a:off x="9347200" y="4178300"/>
            <a:ext cx="431800" cy="431800"/>
          </a:xfrm>
          <a:prstGeom prst="rect">
            <a:avLst/>
          </a:prstGeom>
        </p:spPr>
      </p:pic>
      <p:sp>
        <p:nvSpPr>
          <p:cNvPr id="51" name="TextBox 50"/>
          <p:cNvSpPr txBox="1"/>
          <p:nvPr/>
        </p:nvSpPr>
        <p:spPr>
          <a:xfrm>
            <a:off x="9906000" y="4241800"/>
            <a:ext cx="12700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7283E"/>
                </a:solidFill>
                <a:latin typeface="Arial"/>
              </a:rPr>
              <a:t>CoreDNS</a:t>
            </a:r>
          </a:p>
        </p:txBody>
      </p:sp>
      <p:cxnSp>
        <p:nvCxnSpPr>
          <p:cNvPr id="52" name="Connector 51"/>
          <p:cNvCxnSpPr/>
          <p:nvPr/>
        </p:nvCxnSpPr>
        <p:spPr>
          <a:xfrm>
            <a:off x="8686800" y="4381500"/>
            <a:ext cx="508000" cy="0"/>
          </a:xfrm>
          <a:prstGeom prst="line">
            <a:avLst/>
          </a:prstGeom>
          <a:ln w="2540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407400" y="3848100"/>
            <a:ext cx="1066800" cy="257175"/>
          </a:xfrm>
          <a:prstGeom prst="rect">
            <a:avLst/>
          </a:prstGeom>
          <a:noFill/>
        </p:spPr>
        <p:txBody>
          <a:bodyPr wrap="none" lIns="0" rIns="0" tIns="0" bIns="0" anchor="t">
            <a:noAutofit/>
          </a:bodyPr>
          <a:lstStyle/>
          <a:p>
            <a:pPr algn="ctr">
              <a:lnSpc>
                <a:spcPts val="1725"/>
              </a:lnSpc>
              <a:spcBef>
                <a:spcPts val="0"/>
              </a:spcBef>
              <a:spcAft>
                <a:spcPts val="0"/>
              </a:spcAft>
            </a:pPr>
            <a:r>
              <a:rPr sz="1500" b="0">
                <a:solidFill>
                  <a:srgbClr val="5D6F82"/>
                </a:solidFill>
                <a:latin typeface="Arial"/>
              </a:rPr>
              <a:t>DNS state</a:t>
            </a:r>
          </a:p>
        </p:txBody>
      </p:sp>
      <p:sp>
        <p:nvSpPr>
          <p:cNvPr id="54" name="TextBox 53"/>
          <p:cNvSpPr txBox="1"/>
          <p:nvPr/>
        </p:nvSpPr>
        <p:spPr>
          <a:xfrm>
            <a:off x="6908800" y="4965700"/>
            <a:ext cx="4445000" cy="300990"/>
          </a:xfrm>
          <a:prstGeom prst="rect">
            <a:avLst/>
          </a:prstGeom>
          <a:noFill/>
        </p:spPr>
        <p:txBody>
          <a:bodyPr wrap="none" lIns="0" rIns="0" tIns="0" bIns="0" anchor="t">
            <a:noAutofit/>
          </a:bodyPr>
          <a:lstStyle/>
          <a:p>
            <a:pPr algn="l">
              <a:lnSpc>
                <a:spcPts val="2070"/>
              </a:lnSpc>
              <a:spcBef>
                <a:spcPts val="0"/>
              </a:spcBef>
              <a:spcAft>
                <a:spcPts val="0"/>
              </a:spcAft>
            </a:pPr>
            <a:r>
              <a:rPr sz="1800" b="1">
                <a:solidFill>
                  <a:srgbClr val="142338"/>
                </a:solidFill>
                <a:latin typeface="Arial"/>
              </a:rPr>
              <a:t>Authoritative application zone</a:t>
            </a:r>
          </a:p>
        </p:txBody>
      </p:sp>
      <p:cxnSp>
        <p:nvCxnSpPr>
          <p:cNvPr id="55" name="Connector 54"/>
          <p:cNvCxnSpPr/>
          <p:nvPr/>
        </p:nvCxnSpPr>
        <p:spPr>
          <a:xfrm flipH="1">
            <a:off x="431800" y="4394200"/>
            <a:ext cx="406400" cy="0"/>
          </a:xfrm>
          <a:prstGeom prst="line">
            <a:avLst/>
          </a:prstGeom>
          <a:ln w="22860">
            <a:solidFill>
              <a:srgbClr val="CF0035"/>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31800" y="4394200"/>
            <a:ext cx="0" cy="1168400"/>
          </a:xfrm>
          <a:prstGeom prst="line">
            <a:avLst/>
          </a:prstGeom>
          <a:ln w="22860">
            <a:solidFill>
              <a:srgbClr val="CF0035"/>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31800" y="5562600"/>
            <a:ext cx="11328400" cy="0"/>
          </a:xfrm>
          <a:prstGeom prst="line">
            <a:avLst/>
          </a:prstGeom>
          <a:ln w="22860">
            <a:solidFill>
              <a:srgbClr val="CF0035"/>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11760200" y="4394200"/>
            <a:ext cx="0" cy="1168400"/>
          </a:xfrm>
          <a:prstGeom prst="line">
            <a:avLst/>
          </a:prstGeom>
          <a:ln w="22860">
            <a:solidFill>
              <a:srgbClr val="CF0035"/>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1353800" y="4394200"/>
            <a:ext cx="406400" cy="0"/>
          </a:xfrm>
          <a:prstGeom prst="line">
            <a:avLst/>
          </a:prstGeom>
          <a:ln w="22860">
            <a:solidFill>
              <a:srgbClr val="CF003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175000" y="5664200"/>
            <a:ext cx="5842000" cy="300990"/>
          </a:xfrm>
          <a:prstGeom prst="rect">
            <a:avLst/>
          </a:prstGeom>
          <a:noFill/>
        </p:spPr>
        <p:txBody>
          <a:bodyPr wrap="none" lIns="0" rIns="0" tIns="0" bIns="0" anchor="t">
            <a:noAutofit/>
          </a:bodyPr>
          <a:lstStyle/>
          <a:p>
            <a:pPr algn="ctr">
              <a:lnSpc>
                <a:spcPts val="2070"/>
              </a:lnSpc>
              <a:spcBef>
                <a:spcPts val="0"/>
              </a:spcBef>
              <a:spcAft>
                <a:spcPts val="0"/>
              </a:spcAft>
            </a:pPr>
            <a:r>
              <a:rPr sz="1800" b="1">
                <a:solidFill>
                  <a:srgbClr val="CF0035"/>
                </a:solidFill>
                <a:latin typeface="Arial"/>
              </a:rPr>
              <a:t>Peer health is learned through DNS</a:t>
            </a:r>
          </a:p>
        </p:txBody>
      </p:sp>
      <p:sp>
        <p:nvSpPr>
          <p:cNvPr id="61" name="TextBox 60"/>
          <p:cNvSpPr txBox="1"/>
          <p:nvPr/>
        </p:nvSpPr>
        <p:spPr>
          <a:xfrm>
            <a:off x="609600" y="6083300"/>
            <a:ext cx="10972800" cy="257175"/>
          </a:xfrm>
          <a:prstGeom prst="rect">
            <a:avLst/>
          </a:prstGeom>
          <a:noFill/>
        </p:spPr>
        <p:txBody>
          <a:bodyPr wrap="none" lIns="0" rIns="0" tIns="0" bIns="0" anchor="t">
            <a:noAutofit/>
          </a:bodyPr>
          <a:lstStyle/>
          <a:p>
            <a:pPr algn="ctr">
              <a:lnSpc>
                <a:spcPts val="1725"/>
              </a:lnSpc>
              <a:spcBef>
                <a:spcPts val="0"/>
              </a:spcBef>
              <a:spcAft>
                <a:spcPts val="0"/>
              </a:spcAft>
            </a:pPr>
            <a:r>
              <a:rPr sz="1500" b="0">
                <a:solidFill>
                  <a:srgbClr val="5D6F82"/>
                </a:solidFill>
                <a:latin typeface="Arial"/>
              </a:rPr>
              <a:t>One direction shown; each controller queries peer CoreDNS.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THE REQUEST PATH</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07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DNS selects an address. The client connects.</a:t>
            </a:r>
          </a:p>
        </p:txBody>
      </p:sp>
      <p:cxnSp>
        <p:nvCxnSpPr>
          <p:cNvPr id="6" name="Connector 5"/>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8" name="TextBox 7"/>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9" name="Rounded Rectangle 8"/>
          <p:cNvSpPr/>
          <p:nvPr/>
        </p:nvSpPr>
        <p:spPr>
          <a:xfrm>
            <a:off x="609600" y="2413000"/>
            <a:ext cx="2286000" cy="965200"/>
          </a:xfrm>
          <a:prstGeom prst="roundRect">
            <a:avLst>
              <a:gd name="adj" fmla="val 921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600" y="2413000"/>
            <a:ext cx="50800" cy="965200"/>
          </a:xfrm>
          <a:prstGeom prst="rect">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800" y="2578100"/>
            <a:ext cx="19050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Client</a:t>
            </a:r>
          </a:p>
        </p:txBody>
      </p:sp>
      <p:sp>
        <p:nvSpPr>
          <p:cNvPr id="12" name="Rounded Rectangle 11"/>
          <p:cNvSpPr/>
          <p:nvPr/>
        </p:nvSpPr>
        <p:spPr>
          <a:xfrm>
            <a:off x="4635500" y="2413000"/>
            <a:ext cx="2667000" cy="965200"/>
          </a:xfrm>
          <a:prstGeom prst="roundRect">
            <a:avLst>
              <a:gd name="adj" fmla="val 921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35500" y="2413000"/>
            <a:ext cx="50800" cy="965200"/>
          </a:xfrm>
          <a:prstGeom prst="rect">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38700" y="2578100"/>
            <a:ext cx="22860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Resolver</a:t>
            </a:r>
          </a:p>
        </p:txBody>
      </p:sp>
      <p:sp>
        <p:nvSpPr>
          <p:cNvPr id="15" name="TextBox 14"/>
          <p:cNvSpPr txBox="1"/>
          <p:nvPr/>
        </p:nvSpPr>
        <p:spPr>
          <a:xfrm>
            <a:off x="4838700" y="2946400"/>
            <a:ext cx="22860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Caches answers</a:t>
            </a:r>
          </a:p>
        </p:txBody>
      </p:sp>
      <p:sp>
        <p:nvSpPr>
          <p:cNvPr id="16" name="Rounded Rectangle 15"/>
          <p:cNvSpPr/>
          <p:nvPr/>
        </p:nvSpPr>
        <p:spPr>
          <a:xfrm>
            <a:off x="9042400" y="2413000"/>
            <a:ext cx="2540000" cy="965200"/>
          </a:xfrm>
          <a:prstGeom prst="roundRect">
            <a:avLst>
              <a:gd name="adj" fmla="val 921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42400" y="2413000"/>
            <a:ext cx="50800" cy="965200"/>
          </a:xfrm>
          <a:prstGeom prst="rect">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2"/>
          <a:stretch>
            <a:fillRect/>
          </a:stretch>
        </p:blipFill>
        <p:spPr>
          <a:xfrm>
            <a:off x="9194800" y="2616200"/>
            <a:ext cx="558800" cy="558800"/>
          </a:xfrm>
          <a:prstGeom prst="rect">
            <a:avLst/>
          </a:prstGeom>
        </p:spPr>
      </p:pic>
      <p:sp>
        <p:nvSpPr>
          <p:cNvPr id="19" name="TextBox 18"/>
          <p:cNvSpPr txBox="1"/>
          <p:nvPr/>
        </p:nvSpPr>
        <p:spPr>
          <a:xfrm>
            <a:off x="9880600" y="2578100"/>
            <a:ext cx="15240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CoreDNS</a:t>
            </a:r>
          </a:p>
        </p:txBody>
      </p:sp>
      <p:sp>
        <p:nvSpPr>
          <p:cNvPr id="20" name="TextBox 19"/>
          <p:cNvSpPr txBox="1"/>
          <p:nvPr/>
        </p:nvSpPr>
        <p:spPr>
          <a:xfrm>
            <a:off x="9880600" y="2946400"/>
            <a:ext cx="15240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Authoritative</a:t>
            </a:r>
          </a:p>
        </p:txBody>
      </p:sp>
      <p:cxnSp>
        <p:nvCxnSpPr>
          <p:cNvPr id="21" name="Connector 20"/>
          <p:cNvCxnSpPr/>
          <p:nvPr/>
        </p:nvCxnSpPr>
        <p:spPr>
          <a:xfrm>
            <a:off x="2895600" y="2654300"/>
            <a:ext cx="1739900" cy="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302500" y="2654300"/>
            <a:ext cx="1739900" cy="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302500" y="3187700"/>
            <a:ext cx="1739900" cy="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895600" y="3187700"/>
            <a:ext cx="1739900" cy="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971800" y="2159000"/>
            <a:ext cx="1651000" cy="257175"/>
          </a:xfrm>
          <a:prstGeom prst="rect">
            <a:avLst/>
          </a:prstGeom>
          <a:noFill/>
        </p:spPr>
        <p:txBody>
          <a:bodyPr wrap="none" lIns="0" rIns="0" tIns="0" bIns="0" anchor="t">
            <a:noAutofit/>
          </a:bodyPr>
          <a:lstStyle/>
          <a:p>
            <a:pPr algn="ctr">
              <a:lnSpc>
                <a:spcPts val="1725"/>
              </a:lnSpc>
              <a:spcBef>
                <a:spcPts val="0"/>
              </a:spcBef>
              <a:spcAft>
                <a:spcPts val="0"/>
              </a:spcAft>
            </a:pPr>
            <a:r>
              <a:rPr sz="1500" b="0">
                <a:solidFill>
                  <a:srgbClr val="2762C8"/>
                </a:solidFill>
                <a:latin typeface="Arial"/>
              </a:rPr>
              <a:t>DNS query</a:t>
            </a:r>
          </a:p>
        </p:txBody>
      </p:sp>
      <p:sp>
        <p:nvSpPr>
          <p:cNvPr id="26" name="TextBox 25"/>
          <p:cNvSpPr txBox="1"/>
          <p:nvPr/>
        </p:nvSpPr>
        <p:spPr>
          <a:xfrm>
            <a:off x="7340600" y="2159000"/>
            <a:ext cx="1651000" cy="257175"/>
          </a:xfrm>
          <a:prstGeom prst="rect">
            <a:avLst/>
          </a:prstGeom>
          <a:noFill/>
        </p:spPr>
        <p:txBody>
          <a:bodyPr wrap="none" lIns="0" rIns="0" tIns="0" bIns="0" anchor="t">
            <a:noAutofit/>
          </a:bodyPr>
          <a:lstStyle/>
          <a:p>
            <a:pPr algn="ctr">
              <a:lnSpc>
                <a:spcPts val="1725"/>
              </a:lnSpc>
              <a:spcBef>
                <a:spcPts val="0"/>
              </a:spcBef>
              <a:spcAft>
                <a:spcPts val="0"/>
              </a:spcAft>
            </a:pPr>
            <a:r>
              <a:rPr sz="1500" b="0">
                <a:solidFill>
                  <a:srgbClr val="2762C8"/>
                </a:solidFill>
                <a:latin typeface="Arial"/>
              </a:rPr>
              <a:t>DNS query</a:t>
            </a:r>
          </a:p>
        </p:txBody>
      </p:sp>
      <p:sp>
        <p:nvSpPr>
          <p:cNvPr id="27" name="TextBox 26"/>
          <p:cNvSpPr txBox="1"/>
          <p:nvPr/>
        </p:nvSpPr>
        <p:spPr>
          <a:xfrm>
            <a:off x="2997200" y="3441700"/>
            <a:ext cx="1625600" cy="257175"/>
          </a:xfrm>
          <a:prstGeom prst="rect">
            <a:avLst/>
          </a:prstGeom>
          <a:noFill/>
        </p:spPr>
        <p:txBody>
          <a:bodyPr wrap="none" lIns="0" rIns="0" tIns="0" bIns="0" anchor="t">
            <a:noAutofit/>
          </a:bodyPr>
          <a:lstStyle/>
          <a:p>
            <a:pPr algn="ctr">
              <a:lnSpc>
                <a:spcPts val="1725"/>
              </a:lnSpc>
              <a:spcBef>
                <a:spcPts val="0"/>
              </a:spcBef>
              <a:spcAft>
                <a:spcPts val="0"/>
              </a:spcAft>
            </a:pPr>
            <a:r>
              <a:rPr sz="1500" b="0">
                <a:solidFill>
                  <a:srgbClr val="2762C8"/>
                </a:solidFill>
                <a:latin typeface="Arial"/>
              </a:rPr>
              <a:t>A answer</a:t>
            </a:r>
          </a:p>
        </p:txBody>
      </p:sp>
      <p:sp>
        <p:nvSpPr>
          <p:cNvPr id="28" name="TextBox 27"/>
          <p:cNvSpPr txBox="1"/>
          <p:nvPr/>
        </p:nvSpPr>
        <p:spPr>
          <a:xfrm>
            <a:off x="7366000" y="3441700"/>
            <a:ext cx="1625600" cy="257175"/>
          </a:xfrm>
          <a:prstGeom prst="rect">
            <a:avLst/>
          </a:prstGeom>
          <a:noFill/>
        </p:spPr>
        <p:txBody>
          <a:bodyPr wrap="none" lIns="0" rIns="0" tIns="0" bIns="0" anchor="t">
            <a:noAutofit/>
          </a:bodyPr>
          <a:lstStyle/>
          <a:p>
            <a:pPr algn="ctr">
              <a:lnSpc>
                <a:spcPts val="1725"/>
              </a:lnSpc>
              <a:spcBef>
                <a:spcPts val="0"/>
              </a:spcBef>
              <a:spcAft>
                <a:spcPts val="0"/>
              </a:spcAft>
            </a:pPr>
            <a:r>
              <a:rPr sz="1500" b="0">
                <a:solidFill>
                  <a:srgbClr val="2762C8"/>
                </a:solidFill>
                <a:latin typeface="Arial"/>
              </a:rPr>
              <a:t>A answer</a:t>
            </a:r>
          </a:p>
        </p:txBody>
      </p:sp>
      <p:sp>
        <p:nvSpPr>
          <p:cNvPr id="29" name="Rounded Rectangle 28"/>
          <p:cNvSpPr/>
          <p:nvPr/>
        </p:nvSpPr>
        <p:spPr>
          <a:xfrm>
            <a:off x="8648700" y="4445000"/>
            <a:ext cx="2933700" cy="990600"/>
          </a:xfrm>
          <a:prstGeom prst="roundRect">
            <a:avLst>
              <a:gd name="adj" fmla="val 8974"/>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48700" y="4445000"/>
            <a:ext cx="50800" cy="990600"/>
          </a:xfrm>
          <a:prstGeom prst="rect">
            <a:avLst/>
          </a:prstGeom>
          <a:solidFill>
            <a:srgbClr val="CF0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51900" y="4610100"/>
            <a:ext cx="25527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Selected cluster</a:t>
            </a:r>
          </a:p>
        </p:txBody>
      </p:sp>
      <p:sp>
        <p:nvSpPr>
          <p:cNvPr id="32" name="TextBox 31"/>
          <p:cNvSpPr txBox="1"/>
          <p:nvPr/>
        </p:nvSpPr>
        <p:spPr>
          <a:xfrm>
            <a:off x="8851900" y="4978400"/>
            <a:ext cx="25527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Gateway / Ingress</a:t>
            </a:r>
          </a:p>
        </p:txBody>
      </p:sp>
      <p:cxnSp>
        <p:nvCxnSpPr>
          <p:cNvPr id="33" name="Connector 32"/>
          <p:cNvCxnSpPr/>
          <p:nvPr/>
        </p:nvCxnSpPr>
        <p:spPr>
          <a:xfrm>
            <a:off x="1752600" y="3378200"/>
            <a:ext cx="0" cy="1574800"/>
          </a:xfrm>
          <a:prstGeom prst="line">
            <a:avLst/>
          </a:prstGeom>
          <a:ln w="3810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752600" y="4953000"/>
            <a:ext cx="6896100" cy="0"/>
          </a:xfrm>
          <a:prstGeom prst="line">
            <a:avLst/>
          </a:prstGeom>
          <a:ln w="38100">
            <a:solidFill>
              <a:srgbClr val="CF00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429000" y="4495800"/>
            <a:ext cx="4572000" cy="388620"/>
          </a:xfrm>
          <a:prstGeom prst="rect">
            <a:avLst/>
          </a:prstGeom>
          <a:noFill/>
        </p:spPr>
        <p:txBody>
          <a:bodyPr wrap="none" lIns="0" rIns="0" tIns="0" bIns="0" anchor="t">
            <a:noAutofit/>
          </a:bodyPr>
          <a:lstStyle/>
          <a:p>
            <a:pPr algn="ctr">
              <a:lnSpc>
                <a:spcPts val="2760"/>
              </a:lnSpc>
              <a:spcBef>
                <a:spcPts val="0"/>
              </a:spcBef>
              <a:spcAft>
                <a:spcPts val="0"/>
              </a:spcAft>
            </a:pPr>
            <a:r>
              <a:rPr sz="2400" b="1">
                <a:solidFill>
                  <a:srgbClr val="CF0035"/>
                </a:solidFill>
                <a:latin typeface="Arial"/>
              </a:rPr>
              <a:t>Application connection</a:t>
            </a:r>
          </a:p>
        </p:txBody>
      </p:sp>
      <p:sp>
        <p:nvSpPr>
          <p:cNvPr id="36" name="Rounded Rectangle 35"/>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7400" y="5892800"/>
            <a:ext cx="10617200" cy="317500"/>
          </a:xfrm>
          <a:prstGeom prst="rect">
            <a:avLst/>
          </a:prstGeom>
          <a:noFill/>
        </p:spPr>
        <p:txBody>
          <a:bodyPr wrap="none" lIns="0" rIns="0" tIns="0" bIns="0" anchor="t">
            <a:noAutofit/>
          </a:bodyPr>
          <a:lstStyle/>
          <a:p>
            <a:pPr algn="ctr">
              <a:lnSpc>
                <a:spcPts val="2000"/>
              </a:lnSpc>
              <a:spcBef>
                <a:spcPts val="0"/>
              </a:spcBef>
              <a:spcAft>
                <a:spcPts val="0"/>
              </a:spcAft>
            </a:pPr>
            <a:r>
              <a:rPr sz="2000" b="1">
                <a:solidFill>
                  <a:srgbClr val="142338"/>
                </a:solidFill>
                <a:latin typeface="Arial"/>
              </a:rPr>
              <a:t>DNS is outside the application data path.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TRAFFIC STEERING</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08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Choose how eligible clusters are used</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Illustrative DNS selections across Kubernetes clusters.</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1993900"/>
            <a:ext cx="5334000" cy="1727200"/>
          </a:xfrm>
          <a:prstGeom prst="roundRect">
            <a:avLst>
              <a:gd name="adj" fmla="val 6617"/>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1955800"/>
            <a:ext cx="5334000" cy="1727200"/>
          </a:xfrm>
          <a:prstGeom prst="roundRect">
            <a:avLst>
              <a:gd name="adj" fmla="val 6617"/>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38200" y="1968500"/>
            <a:ext cx="1041400" cy="0"/>
          </a:xfrm>
          <a:prstGeom prst="line">
            <a:avLst/>
          </a:prstGeom>
          <a:ln w="38100">
            <a:solidFill>
              <a:srgbClr val="CF003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38200" y="2159000"/>
            <a:ext cx="26416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F79BB0"/>
                </a:solidFill>
                <a:latin typeface="Arial"/>
              </a:rPr>
              <a:t>FAILOVER</a:t>
            </a:r>
          </a:p>
        </p:txBody>
      </p:sp>
      <p:sp>
        <p:nvSpPr>
          <p:cNvPr id="14" name="TextBox 13"/>
          <p:cNvSpPr txBox="1"/>
          <p:nvPr/>
        </p:nvSpPr>
        <p:spPr>
          <a:xfrm>
            <a:off x="838200" y="2527300"/>
            <a:ext cx="26416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FFFFFF"/>
                </a:solidFill>
                <a:latin typeface="Arial"/>
              </a:rPr>
              <a:t>Prefer primary</a:t>
            </a:r>
          </a:p>
        </p:txBody>
      </p:sp>
      <p:sp>
        <p:nvSpPr>
          <p:cNvPr id="15" name="TextBox 14"/>
          <p:cNvSpPr txBox="1"/>
          <p:nvPr/>
        </p:nvSpPr>
        <p:spPr>
          <a:xfrm>
            <a:off x="838200" y="3340100"/>
            <a:ext cx="48768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B8C8D9"/>
                </a:solidFill>
                <a:latin typeface="Arial"/>
              </a:rPr>
              <a:t>Return to primary on recovery</a:t>
            </a:r>
          </a:p>
        </p:txBody>
      </p:sp>
      <p:sp>
        <p:nvSpPr>
          <p:cNvPr id="16" name="TextBox 15"/>
          <p:cNvSpPr txBox="1"/>
          <p:nvPr/>
        </p:nvSpPr>
        <p:spPr>
          <a:xfrm>
            <a:off x="3708400" y="2108200"/>
            <a:ext cx="838200" cy="169545"/>
          </a:xfrm>
          <a:prstGeom prst="rect">
            <a:avLst/>
          </a:prstGeom>
          <a:noFill/>
        </p:spPr>
        <p:txBody>
          <a:bodyPr wrap="none" lIns="0" rIns="0" tIns="0" bIns="0" anchor="t">
            <a:noAutofit/>
          </a:bodyPr>
          <a:lstStyle/>
          <a:p>
            <a:pPr algn="ctr">
              <a:lnSpc>
                <a:spcPts val="1035"/>
              </a:lnSpc>
              <a:spcBef>
                <a:spcPts val="0"/>
              </a:spcBef>
              <a:spcAft>
                <a:spcPts val="0"/>
              </a:spcAft>
            </a:pPr>
            <a:r>
              <a:rPr sz="900" b="1">
                <a:solidFill>
                  <a:srgbClr val="B8C8D9"/>
                </a:solidFill>
                <a:latin typeface="Arial"/>
              </a:rPr>
              <a:t>PRIMARY</a:t>
            </a:r>
          </a:p>
        </p:txBody>
      </p:sp>
      <p:sp>
        <p:nvSpPr>
          <p:cNvPr id="17" name="TextBox 16"/>
          <p:cNvSpPr txBox="1"/>
          <p:nvPr/>
        </p:nvSpPr>
        <p:spPr>
          <a:xfrm>
            <a:off x="4927600" y="2108200"/>
            <a:ext cx="838200" cy="169545"/>
          </a:xfrm>
          <a:prstGeom prst="rect">
            <a:avLst/>
          </a:prstGeom>
          <a:noFill/>
        </p:spPr>
        <p:txBody>
          <a:bodyPr wrap="none" lIns="0" rIns="0" tIns="0" bIns="0" anchor="t">
            <a:noAutofit/>
          </a:bodyPr>
          <a:lstStyle/>
          <a:p>
            <a:pPr algn="ctr">
              <a:lnSpc>
                <a:spcPts val="1035"/>
              </a:lnSpc>
              <a:spcBef>
                <a:spcPts val="0"/>
              </a:spcBef>
              <a:spcAft>
                <a:spcPts val="0"/>
              </a:spcAft>
            </a:pPr>
            <a:r>
              <a:rPr sz="900" b="1">
                <a:solidFill>
                  <a:srgbClr val="B8C8D9"/>
                </a:solidFill>
                <a:latin typeface="Arial"/>
              </a:rPr>
              <a:t>BACKUP</a:t>
            </a:r>
          </a:p>
        </p:txBody>
      </p:sp>
      <p:cxnSp>
        <p:nvCxnSpPr>
          <p:cNvPr id="18" name="Connector 17"/>
          <p:cNvCxnSpPr/>
          <p:nvPr/>
        </p:nvCxnSpPr>
        <p:spPr>
          <a:xfrm flipH="1" flipV="1">
            <a:off x="4127500" y="2717800"/>
            <a:ext cx="406400" cy="266700"/>
          </a:xfrm>
          <a:prstGeom prst="line">
            <a:avLst/>
          </a:prstGeom>
          <a:ln w="19050">
            <a:solidFill>
              <a:srgbClr val="F79BB0"/>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889500" y="2717800"/>
            <a:ext cx="457200" cy="266700"/>
          </a:xfrm>
          <a:prstGeom prst="line">
            <a:avLst/>
          </a:prstGeom>
          <a:ln w="31750">
            <a:solidFill>
              <a:srgbClr val="6DD3C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810000" y="2273300"/>
            <a:ext cx="635000" cy="457200"/>
          </a:xfrm>
          <a:prstGeom prst="roundRect">
            <a:avLst>
              <a:gd name="adj" fmla="val 13888"/>
            </a:avLst>
          </a:prstGeom>
          <a:solidFill>
            <a:srgbClr val="FBE9EE"/>
          </a:solidFill>
          <a:ln w="12700">
            <a:solidFill>
              <a:srgbClr val="EAC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2"/>
          <a:stretch>
            <a:fillRect/>
          </a:stretch>
        </p:blipFill>
        <p:spPr>
          <a:xfrm>
            <a:off x="3860800" y="2362200"/>
            <a:ext cx="279400" cy="279400"/>
          </a:xfrm>
          <a:prstGeom prst="rect">
            <a:avLst/>
          </a:prstGeom>
        </p:spPr>
      </p:pic>
      <p:sp>
        <p:nvSpPr>
          <p:cNvPr id="22" name="TextBox 21"/>
          <p:cNvSpPr txBox="1"/>
          <p:nvPr/>
        </p:nvSpPr>
        <p:spPr>
          <a:xfrm>
            <a:off x="4152900" y="2425700"/>
            <a:ext cx="266700" cy="190500"/>
          </a:xfrm>
          <a:prstGeom prst="rect">
            <a:avLst/>
          </a:prstGeom>
          <a:noFill/>
        </p:spPr>
        <p:txBody>
          <a:bodyPr wrap="none" lIns="0" rIns="0" tIns="0" bIns="0" anchor="t">
            <a:noAutofit/>
          </a:bodyPr>
          <a:lstStyle/>
          <a:p>
            <a:pPr algn="ctr">
              <a:lnSpc>
                <a:spcPts val="1200"/>
              </a:lnSpc>
              <a:spcBef>
                <a:spcPts val="0"/>
              </a:spcBef>
              <a:spcAft>
                <a:spcPts val="0"/>
              </a:spcAft>
            </a:pPr>
            <a:r>
              <a:rPr sz="1200" b="1">
                <a:solidFill>
                  <a:srgbClr val="142338"/>
                </a:solidFill>
                <a:latin typeface="Arial"/>
              </a:rPr>
              <a:t>A</a:t>
            </a:r>
          </a:p>
        </p:txBody>
      </p:sp>
      <p:sp>
        <p:nvSpPr>
          <p:cNvPr id="23" name="Rounded Rectangle 22"/>
          <p:cNvSpPr/>
          <p:nvPr/>
        </p:nvSpPr>
        <p:spPr>
          <a:xfrm>
            <a:off x="5029200" y="2273300"/>
            <a:ext cx="635000" cy="457200"/>
          </a:xfrm>
          <a:prstGeom prst="roundRect">
            <a:avLst>
              <a:gd name="adj" fmla="val 13888"/>
            </a:avLst>
          </a:prstGeom>
          <a:solidFill>
            <a:srgbClr val="E8F4F3"/>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2"/>
          <a:stretch>
            <a:fillRect/>
          </a:stretch>
        </p:blipFill>
        <p:spPr>
          <a:xfrm>
            <a:off x="5080000" y="2362200"/>
            <a:ext cx="279400" cy="279400"/>
          </a:xfrm>
          <a:prstGeom prst="rect">
            <a:avLst/>
          </a:prstGeom>
        </p:spPr>
      </p:pic>
      <p:sp>
        <p:nvSpPr>
          <p:cNvPr id="25" name="TextBox 24"/>
          <p:cNvSpPr txBox="1"/>
          <p:nvPr/>
        </p:nvSpPr>
        <p:spPr>
          <a:xfrm>
            <a:off x="5372100" y="2425700"/>
            <a:ext cx="266700" cy="190500"/>
          </a:xfrm>
          <a:prstGeom prst="rect">
            <a:avLst/>
          </a:prstGeom>
          <a:noFill/>
        </p:spPr>
        <p:txBody>
          <a:bodyPr wrap="none" lIns="0" rIns="0" tIns="0" bIns="0" anchor="t">
            <a:noAutofit/>
          </a:bodyPr>
          <a:lstStyle/>
          <a:p>
            <a:pPr algn="ctr">
              <a:lnSpc>
                <a:spcPts val="1200"/>
              </a:lnSpc>
              <a:spcBef>
                <a:spcPts val="0"/>
              </a:spcBef>
              <a:spcAft>
                <a:spcPts val="0"/>
              </a:spcAft>
            </a:pPr>
            <a:r>
              <a:rPr sz="1200" b="1">
                <a:solidFill>
                  <a:srgbClr val="142338"/>
                </a:solidFill>
                <a:latin typeface="Arial"/>
              </a:rPr>
              <a:t>B</a:t>
            </a:r>
          </a:p>
        </p:txBody>
      </p:sp>
      <p:cxnSp>
        <p:nvCxnSpPr>
          <p:cNvPr id="26" name="Connector 25"/>
          <p:cNvCxnSpPr/>
          <p:nvPr/>
        </p:nvCxnSpPr>
        <p:spPr>
          <a:xfrm>
            <a:off x="3860800" y="2336800"/>
            <a:ext cx="279400" cy="317500"/>
          </a:xfrm>
          <a:prstGeom prst="line">
            <a:avLst/>
          </a:prstGeom>
          <a:ln w="2540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860800" y="2336800"/>
            <a:ext cx="279400" cy="317500"/>
          </a:xfrm>
          <a:prstGeom prst="line">
            <a:avLst/>
          </a:prstGeom>
          <a:ln w="25400">
            <a:solidFill>
              <a:srgbClr val="CF0035"/>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356100" y="2984500"/>
            <a:ext cx="711200" cy="279400"/>
          </a:xfrm>
          <a:prstGeom prst="roundRect">
            <a:avLst>
              <a:gd name="adj" fmla="val 22727"/>
            </a:avLst>
          </a:prstGeom>
          <a:solidFill>
            <a:srgbClr val="1A3047"/>
          </a:solidFill>
          <a:ln w="12700">
            <a:solidFill>
              <a:srgbClr val="3850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06900" y="3035300"/>
            <a:ext cx="609600" cy="190500"/>
          </a:xfrm>
          <a:prstGeom prst="rect">
            <a:avLst/>
          </a:prstGeom>
          <a:noFill/>
        </p:spPr>
        <p:txBody>
          <a:bodyPr wrap="none" lIns="0" rIns="0" tIns="0" bIns="0" anchor="t">
            <a:noAutofit/>
          </a:bodyPr>
          <a:lstStyle/>
          <a:p>
            <a:pPr algn="ctr">
              <a:lnSpc>
                <a:spcPts val="1200"/>
              </a:lnSpc>
              <a:spcBef>
                <a:spcPts val="0"/>
              </a:spcBef>
              <a:spcAft>
                <a:spcPts val="0"/>
              </a:spcAft>
            </a:pPr>
            <a:r>
              <a:rPr sz="1200" b="1">
                <a:solidFill>
                  <a:srgbClr val="FFFFFF"/>
                </a:solidFill>
                <a:latin typeface="Arial"/>
              </a:rPr>
              <a:t>DNS</a:t>
            </a:r>
          </a:p>
        </p:txBody>
      </p:sp>
      <p:sp>
        <p:nvSpPr>
          <p:cNvPr id="30" name="Rounded Rectangle 29"/>
          <p:cNvSpPr/>
          <p:nvPr/>
        </p:nvSpPr>
        <p:spPr>
          <a:xfrm>
            <a:off x="6248400" y="1993900"/>
            <a:ext cx="5334000" cy="1727200"/>
          </a:xfrm>
          <a:prstGeom prst="roundRect">
            <a:avLst>
              <a:gd name="adj" fmla="val 6617"/>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48400" y="1955800"/>
            <a:ext cx="5334000" cy="1727200"/>
          </a:xfrm>
          <a:prstGeom prst="roundRect">
            <a:avLst>
              <a:gd name="adj" fmla="val 6617"/>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6477000" y="1968500"/>
            <a:ext cx="1041400" cy="0"/>
          </a:xfrm>
          <a:prstGeom prst="line">
            <a:avLst/>
          </a:prstGeom>
          <a:ln w="38100">
            <a:solidFill>
              <a:srgbClr val="087F8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77000" y="2159000"/>
            <a:ext cx="26416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087F85"/>
                </a:solidFill>
                <a:latin typeface="Arial"/>
              </a:rPr>
              <a:t>ROUND ROBIN</a:t>
            </a:r>
          </a:p>
        </p:txBody>
      </p:sp>
      <p:sp>
        <p:nvSpPr>
          <p:cNvPr id="34" name="TextBox 33"/>
          <p:cNvSpPr txBox="1"/>
          <p:nvPr/>
        </p:nvSpPr>
        <p:spPr>
          <a:xfrm>
            <a:off x="6477000" y="2527300"/>
            <a:ext cx="26416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42338"/>
                </a:solidFill>
                <a:latin typeface="Arial"/>
              </a:rPr>
              <a:t>Use healthy clusters</a:t>
            </a:r>
          </a:p>
        </p:txBody>
      </p:sp>
      <p:sp>
        <p:nvSpPr>
          <p:cNvPr id="35" name="TextBox 34"/>
          <p:cNvSpPr txBox="1"/>
          <p:nvPr/>
        </p:nvSpPr>
        <p:spPr>
          <a:xfrm>
            <a:off x="6477000" y="3340100"/>
            <a:ext cx="48768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Active / active DNS answers</a:t>
            </a:r>
          </a:p>
        </p:txBody>
      </p:sp>
      <p:cxnSp>
        <p:nvCxnSpPr>
          <p:cNvPr id="36" name="Connector 35"/>
          <p:cNvCxnSpPr/>
          <p:nvPr/>
        </p:nvCxnSpPr>
        <p:spPr>
          <a:xfrm flipH="1" flipV="1">
            <a:off x="9588500" y="2743200"/>
            <a:ext cx="762000" cy="241300"/>
          </a:xfrm>
          <a:prstGeom prst="line">
            <a:avLst/>
          </a:prstGeom>
          <a:ln w="2540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271000" y="2286000"/>
            <a:ext cx="635000" cy="457200"/>
          </a:xfrm>
          <a:prstGeom prst="roundRect">
            <a:avLst>
              <a:gd name="adj" fmla="val 13888"/>
            </a:avLst>
          </a:prstGeom>
          <a:solidFill>
            <a:srgbClr val="E8F4F3"/>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2"/>
          <a:stretch>
            <a:fillRect/>
          </a:stretch>
        </p:blipFill>
        <p:spPr>
          <a:xfrm>
            <a:off x="9321800" y="2374900"/>
            <a:ext cx="279400" cy="279400"/>
          </a:xfrm>
          <a:prstGeom prst="rect">
            <a:avLst/>
          </a:prstGeom>
        </p:spPr>
      </p:pic>
      <p:sp>
        <p:nvSpPr>
          <p:cNvPr id="39" name="TextBox 38"/>
          <p:cNvSpPr txBox="1"/>
          <p:nvPr/>
        </p:nvSpPr>
        <p:spPr>
          <a:xfrm>
            <a:off x="9613900" y="2438400"/>
            <a:ext cx="266700" cy="190500"/>
          </a:xfrm>
          <a:prstGeom prst="rect">
            <a:avLst/>
          </a:prstGeom>
          <a:noFill/>
        </p:spPr>
        <p:txBody>
          <a:bodyPr wrap="none" lIns="0" rIns="0" tIns="0" bIns="0" anchor="t">
            <a:noAutofit/>
          </a:bodyPr>
          <a:lstStyle/>
          <a:p>
            <a:pPr algn="ctr">
              <a:lnSpc>
                <a:spcPts val="1200"/>
              </a:lnSpc>
              <a:spcBef>
                <a:spcPts val="0"/>
              </a:spcBef>
              <a:spcAft>
                <a:spcPts val="0"/>
              </a:spcAft>
            </a:pPr>
            <a:r>
              <a:rPr sz="1200" b="1">
                <a:solidFill>
                  <a:srgbClr val="142338"/>
                </a:solidFill>
                <a:latin typeface="Arial"/>
              </a:rPr>
              <a:t>A</a:t>
            </a:r>
          </a:p>
        </p:txBody>
      </p:sp>
      <p:cxnSp>
        <p:nvCxnSpPr>
          <p:cNvPr id="40" name="Connector 39"/>
          <p:cNvCxnSpPr/>
          <p:nvPr/>
        </p:nvCxnSpPr>
        <p:spPr>
          <a:xfrm flipH="1" flipV="1">
            <a:off x="10325100" y="2743200"/>
            <a:ext cx="25400" cy="241300"/>
          </a:xfrm>
          <a:prstGeom prst="line">
            <a:avLst/>
          </a:prstGeom>
          <a:ln w="2540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0007600" y="2286000"/>
            <a:ext cx="635000" cy="457200"/>
          </a:xfrm>
          <a:prstGeom prst="roundRect">
            <a:avLst>
              <a:gd name="adj" fmla="val 13888"/>
            </a:avLst>
          </a:prstGeom>
          <a:solidFill>
            <a:srgbClr val="E8F4F3"/>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2"/>
          <a:stretch>
            <a:fillRect/>
          </a:stretch>
        </p:blipFill>
        <p:spPr>
          <a:xfrm>
            <a:off x="10058400" y="2374900"/>
            <a:ext cx="279400" cy="279400"/>
          </a:xfrm>
          <a:prstGeom prst="rect">
            <a:avLst/>
          </a:prstGeom>
        </p:spPr>
      </p:pic>
      <p:sp>
        <p:nvSpPr>
          <p:cNvPr id="43" name="TextBox 42"/>
          <p:cNvSpPr txBox="1"/>
          <p:nvPr/>
        </p:nvSpPr>
        <p:spPr>
          <a:xfrm>
            <a:off x="10350500" y="2438400"/>
            <a:ext cx="266700" cy="190500"/>
          </a:xfrm>
          <a:prstGeom prst="rect">
            <a:avLst/>
          </a:prstGeom>
          <a:noFill/>
        </p:spPr>
        <p:txBody>
          <a:bodyPr wrap="none" lIns="0" rIns="0" tIns="0" bIns="0" anchor="t">
            <a:noAutofit/>
          </a:bodyPr>
          <a:lstStyle/>
          <a:p>
            <a:pPr algn="ctr">
              <a:lnSpc>
                <a:spcPts val="1200"/>
              </a:lnSpc>
              <a:spcBef>
                <a:spcPts val="0"/>
              </a:spcBef>
              <a:spcAft>
                <a:spcPts val="0"/>
              </a:spcAft>
            </a:pPr>
            <a:r>
              <a:rPr sz="1200" b="1">
                <a:solidFill>
                  <a:srgbClr val="142338"/>
                </a:solidFill>
                <a:latin typeface="Arial"/>
              </a:rPr>
              <a:t>B</a:t>
            </a:r>
          </a:p>
        </p:txBody>
      </p:sp>
      <p:cxnSp>
        <p:nvCxnSpPr>
          <p:cNvPr id="44" name="Connector 43"/>
          <p:cNvCxnSpPr/>
          <p:nvPr/>
        </p:nvCxnSpPr>
        <p:spPr>
          <a:xfrm flipV="1">
            <a:off x="10350500" y="2743200"/>
            <a:ext cx="711200" cy="241300"/>
          </a:xfrm>
          <a:prstGeom prst="line">
            <a:avLst/>
          </a:prstGeom>
          <a:ln w="2540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0744200" y="2286000"/>
            <a:ext cx="635000" cy="457200"/>
          </a:xfrm>
          <a:prstGeom prst="roundRect">
            <a:avLst>
              <a:gd name="adj" fmla="val 13888"/>
            </a:avLst>
          </a:prstGeom>
          <a:solidFill>
            <a:srgbClr val="E8F4F3"/>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2"/>
          <a:stretch>
            <a:fillRect/>
          </a:stretch>
        </p:blipFill>
        <p:spPr>
          <a:xfrm>
            <a:off x="10795000" y="2374900"/>
            <a:ext cx="279400" cy="279400"/>
          </a:xfrm>
          <a:prstGeom prst="rect">
            <a:avLst/>
          </a:prstGeom>
        </p:spPr>
      </p:pic>
      <p:sp>
        <p:nvSpPr>
          <p:cNvPr id="47" name="TextBox 46"/>
          <p:cNvSpPr txBox="1"/>
          <p:nvPr/>
        </p:nvSpPr>
        <p:spPr>
          <a:xfrm>
            <a:off x="11087100" y="2438400"/>
            <a:ext cx="266700" cy="190500"/>
          </a:xfrm>
          <a:prstGeom prst="rect">
            <a:avLst/>
          </a:prstGeom>
          <a:noFill/>
        </p:spPr>
        <p:txBody>
          <a:bodyPr wrap="none" lIns="0" rIns="0" tIns="0" bIns="0" anchor="t">
            <a:noAutofit/>
          </a:bodyPr>
          <a:lstStyle/>
          <a:p>
            <a:pPr algn="ctr">
              <a:lnSpc>
                <a:spcPts val="1200"/>
              </a:lnSpc>
              <a:spcBef>
                <a:spcPts val="0"/>
              </a:spcBef>
              <a:spcAft>
                <a:spcPts val="0"/>
              </a:spcAft>
            </a:pPr>
            <a:r>
              <a:rPr sz="1200" b="1">
                <a:solidFill>
                  <a:srgbClr val="142338"/>
                </a:solidFill>
                <a:latin typeface="Arial"/>
              </a:rPr>
              <a:t>C</a:t>
            </a:r>
          </a:p>
        </p:txBody>
      </p:sp>
      <p:sp>
        <p:nvSpPr>
          <p:cNvPr id="48" name="Rounded Rectangle 47"/>
          <p:cNvSpPr/>
          <p:nvPr/>
        </p:nvSpPr>
        <p:spPr>
          <a:xfrm>
            <a:off x="9994900" y="2984500"/>
            <a:ext cx="711200" cy="279400"/>
          </a:xfrm>
          <a:prstGeom prst="roundRect">
            <a:avLst>
              <a:gd name="adj" fmla="val 22727"/>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45700" y="3035300"/>
            <a:ext cx="609600" cy="190500"/>
          </a:xfrm>
          <a:prstGeom prst="rect">
            <a:avLst/>
          </a:prstGeom>
          <a:noFill/>
        </p:spPr>
        <p:txBody>
          <a:bodyPr wrap="none" lIns="0" rIns="0" tIns="0" bIns="0" anchor="t">
            <a:noAutofit/>
          </a:bodyPr>
          <a:lstStyle/>
          <a:p>
            <a:pPr algn="ctr">
              <a:lnSpc>
                <a:spcPts val="1200"/>
              </a:lnSpc>
              <a:spcBef>
                <a:spcPts val="0"/>
              </a:spcBef>
              <a:spcAft>
                <a:spcPts val="0"/>
              </a:spcAft>
            </a:pPr>
            <a:r>
              <a:rPr sz="1200" b="1">
                <a:solidFill>
                  <a:srgbClr val="FFFFFF"/>
                </a:solidFill>
                <a:latin typeface="Arial"/>
              </a:rPr>
              <a:t>DNS</a:t>
            </a:r>
          </a:p>
        </p:txBody>
      </p:sp>
      <p:sp>
        <p:nvSpPr>
          <p:cNvPr id="50" name="Rounded Rectangle 49"/>
          <p:cNvSpPr/>
          <p:nvPr/>
        </p:nvSpPr>
        <p:spPr>
          <a:xfrm>
            <a:off x="609600" y="3949700"/>
            <a:ext cx="5334000" cy="1727200"/>
          </a:xfrm>
          <a:prstGeom prst="roundRect">
            <a:avLst>
              <a:gd name="adj" fmla="val 6617"/>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09600" y="3911600"/>
            <a:ext cx="5334000" cy="1727200"/>
          </a:xfrm>
          <a:prstGeom prst="roundRect">
            <a:avLst>
              <a:gd name="adj" fmla="val 6617"/>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838200" y="3924300"/>
            <a:ext cx="1041400" cy="0"/>
          </a:xfrm>
          <a:prstGeom prst="line">
            <a:avLst/>
          </a:prstGeom>
          <a:ln w="38100">
            <a:solidFill>
              <a:srgbClr val="2762C8"/>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38200" y="4114800"/>
            <a:ext cx="26416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2762C8"/>
                </a:solidFill>
                <a:latin typeface="Arial"/>
              </a:rPr>
              <a:t>WEIGHTED ROUND ROBIN</a:t>
            </a:r>
          </a:p>
        </p:txBody>
      </p:sp>
      <p:sp>
        <p:nvSpPr>
          <p:cNvPr id="54" name="TextBox 53"/>
          <p:cNvSpPr txBox="1"/>
          <p:nvPr/>
        </p:nvSpPr>
        <p:spPr>
          <a:xfrm>
            <a:off x="838200" y="4483100"/>
            <a:ext cx="26416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42338"/>
                </a:solidFill>
                <a:latin typeface="Arial"/>
              </a:rPr>
              <a:t>Express preference</a:t>
            </a:r>
          </a:p>
        </p:txBody>
      </p:sp>
      <p:sp>
        <p:nvSpPr>
          <p:cNvPr id="55" name="TextBox 54"/>
          <p:cNvSpPr txBox="1"/>
          <p:nvPr/>
        </p:nvSpPr>
        <p:spPr>
          <a:xfrm>
            <a:off x="838200" y="5295900"/>
            <a:ext cx="48768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Request shares are approximate</a:t>
            </a:r>
          </a:p>
        </p:txBody>
      </p:sp>
      <p:cxnSp>
        <p:nvCxnSpPr>
          <p:cNvPr id="56" name="Connector 55"/>
          <p:cNvCxnSpPr/>
          <p:nvPr/>
        </p:nvCxnSpPr>
        <p:spPr>
          <a:xfrm flipH="1" flipV="1">
            <a:off x="3949700" y="4699000"/>
            <a:ext cx="762000" cy="24130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3632200" y="4241800"/>
            <a:ext cx="635000" cy="457200"/>
          </a:xfrm>
          <a:prstGeom prst="roundRect">
            <a:avLst>
              <a:gd name="adj" fmla="val 13888"/>
            </a:avLst>
          </a:prstGeom>
          <a:solidFill>
            <a:srgbClr val="EAF0FB"/>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image.png"/>
          <p:cNvPicPr>
            <a:picLocks noChangeAspect="1"/>
          </p:cNvPicPr>
          <p:nvPr/>
        </p:nvPicPr>
        <p:blipFill>
          <a:blip r:embed="rId2"/>
          <a:stretch>
            <a:fillRect/>
          </a:stretch>
        </p:blipFill>
        <p:spPr>
          <a:xfrm>
            <a:off x="3683000" y="4330700"/>
            <a:ext cx="279400" cy="279400"/>
          </a:xfrm>
          <a:prstGeom prst="rect">
            <a:avLst/>
          </a:prstGeom>
        </p:spPr>
      </p:pic>
      <p:sp>
        <p:nvSpPr>
          <p:cNvPr id="59" name="TextBox 58"/>
          <p:cNvSpPr txBox="1"/>
          <p:nvPr/>
        </p:nvSpPr>
        <p:spPr>
          <a:xfrm>
            <a:off x="3975100" y="4394200"/>
            <a:ext cx="2667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142338"/>
                </a:solidFill>
                <a:latin typeface="Arial"/>
              </a:rPr>
              <a:t>w=2</a:t>
            </a:r>
          </a:p>
        </p:txBody>
      </p:sp>
      <p:cxnSp>
        <p:nvCxnSpPr>
          <p:cNvPr id="60" name="Connector 59"/>
          <p:cNvCxnSpPr/>
          <p:nvPr/>
        </p:nvCxnSpPr>
        <p:spPr>
          <a:xfrm flipH="1" flipV="1">
            <a:off x="4686300" y="4699000"/>
            <a:ext cx="25400" cy="241300"/>
          </a:xfrm>
          <a:prstGeom prst="line">
            <a:avLst/>
          </a:prstGeom>
          <a:ln w="381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4368800" y="4241800"/>
            <a:ext cx="635000" cy="457200"/>
          </a:xfrm>
          <a:prstGeom prst="roundRect">
            <a:avLst>
              <a:gd name="adj" fmla="val 13888"/>
            </a:avLst>
          </a:prstGeom>
          <a:solidFill>
            <a:srgbClr val="EAF0FB"/>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image.png"/>
          <p:cNvPicPr>
            <a:picLocks noChangeAspect="1"/>
          </p:cNvPicPr>
          <p:nvPr/>
        </p:nvPicPr>
        <p:blipFill>
          <a:blip r:embed="rId2"/>
          <a:stretch>
            <a:fillRect/>
          </a:stretch>
        </p:blipFill>
        <p:spPr>
          <a:xfrm>
            <a:off x="4419600" y="4330700"/>
            <a:ext cx="279400" cy="279400"/>
          </a:xfrm>
          <a:prstGeom prst="rect">
            <a:avLst/>
          </a:prstGeom>
        </p:spPr>
      </p:pic>
      <p:sp>
        <p:nvSpPr>
          <p:cNvPr id="63" name="TextBox 62"/>
          <p:cNvSpPr txBox="1"/>
          <p:nvPr/>
        </p:nvSpPr>
        <p:spPr>
          <a:xfrm>
            <a:off x="4711700" y="4394200"/>
            <a:ext cx="2667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142338"/>
                </a:solidFill>
                <a:latin typeface="Arial"/>
              </a:rPr>
              <a:t>w=3</a:t>
            </a:r>
          </a:p>
        </p:txBody>
      </p:sp>
      <p:cxnSp>
        <p:nvCxnSpPr>
          <p:cNvPr id="64" name="Connector 63"/>
          <p:cNvCxnSpPr/>
          <p:nvPr/>
        </p:nvCxnSpPr>
        <p:spPr>
          <a:xfrm flipV="1">
            <a:off x="4711700" y="4699000"/>
            <a:ext cx="711200" cy="241300"/>
          </a:xfrm>
          <a:prstGeom prst="line">
            <a:avLst/>
          </a:prstGeom>
          <a:ln w="635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5105400" y="4241800"/>
            <a:ext cx="635000" cy="457200"/>
          </a:xfrm>
          <a:prstGeom prst="roundRect">
            <a:avLst>
              <a:gd name="adj" fmla="val 13888"/>
            </a:avLst>
          </a:prstGeom>
          <a:solidFill>
            <a:srgbClr val="EAF0FB"/>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2"/>
          <a:stretch>
            <a:fillRect/>
          </a:stretch>
        </p:blipFill>
        <p:spPr>
          <a:xfrm>
            <a:off x="5156200" y="4330700"/>
            <a:ext cx="279400" cy="279400"/>
          </a:xfrm>
          <a:prstGeom prst="rect">
            <a:avLst/>
          </a:prstGeom>
        </p:spPr>
      </p:pic>
      <p:sp>
        <p:nvSpPr>
          <p:cNvPr id="67" name="TextBox 66"/>
          <p:cNvSpPr txBox="1"/>
          <p:nvPr/>
        </p:nvSpPr>
        <p:spPr>
          <a:xfrm>
            <a:off x="5448300" y="4394200"/>
            <a:ext cx="2667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142338"/>
                </a:solidFill>
                <a:latin typeface="Arial"/>
              </a:rPr>
              <a:t>w=5</a:t>
            </a:r>
          </a:p>
        </p:txBody>
      </p:sp>
      <p:sp>
        <p:nvSpPr>
          <p:cNvPr id="68" name="TextBox 67"/>
          <p:cNvSpPr txBox="1"/>
          <p:nvPr/>
        </p:nvSpPr>
        <p:spPr>
          <a:xfrm>
            <a:off x="3632200" y="4025900"/>
            <a:ext cx="2108200" cy="169545"/>
          </a:xfrm>
          <a:prstGeom prst="rect">
            <a:avLst/>
          </a:prstGeom>
          <a:noFill/>
        </p:spPr>
        <p:txBody>
          <a:bodyPr wrap="none" lIns="0" rIns="0" tIns="0" bIns="0" anchor="t">
            <a:noAutofit/>
          </a:bodyPr>
          <a:lstStyle/>
          <a:p>
            <a:pPr algn="ctr">
              <a:lnSpc>
                <a:spcPts val="1035"/>
              </a:lnSpc>
              <a:spcBef>
                <a:spcPts val="0"/>
              </a:spcBef>
              <a:spcAft>
                <a:spcPts val="0"/>
              </a:spcAft>
            </a:pPr>
            <a:r>
              <a:rPr sz="900" b="1">
                <a:solidFill>
                  <a:srgbClr val="5D6F82"/>
                </a:solidFill>
                <a:latin typeface="Arial"/>
              </a:rPr>
              <a:t>RELATIVE WEIGHTS</a:t>
            </a:r>
          </a:p>
        </p:txBody>
      </p:sp>
      <p:sp>
        <p:nvSpPr>
          <p:cNvPr id="69" name="Rounded Rectangle 68"/>
          <p:cNvSpPr/>
          <p:nvPr/>
        </p:nvSpPr>
        <p:spPr>
          <a:xfrm>
            <a:off x="4356100" y="4940300"/>
            <a:ext cx="711200" cy="279400"/>
          </a:xfrm>
          <a:prstGeom prst="roundRect">
            <a:avLst>
              <a:gd name="adj" fmla="val 22727"/>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406900" y="4991100"/>
            <a:ext cx="609600" cy="190500"/>
          </a:xfrm>
          <a:prstGeom prst="rect">
            <a:avLst/>
          </a:prstGeom>
          <a:noFill/>
        </p:spPr>
        <p:txBody>
          <a:bodyPr wrap="none" lIns="0" rIns="0" tIns="0" bIns="0" anchor="t">
            <a:noAutofit/>
          </a:bodyPr>
          <a:lstStyle/>
          <a:p>
            <a:pPr algn="ctr">
              <a:lnSpc>
                <a:spcPts val="1200"/>
              </a:lnSpc>
              <a:spcBef>
                <a:spcPts val="0"/>
              </a:spcBef>
              <a:spcAft>
                <a:spcPts val="0"/>
              </a:spcAft>
            </a:pPr>
            <a:r>
              <a:rPr sz="1200" b="1">
                <a:solidFill>
                  <a:srgbClr val="FFFFFF"/>
                </a:solidFill>
                <a:latin typeface="Arial"/>
              </a:rPr>
              <a:t>DNS</a:t>
            </a:r>
          </a:p>
        </p:txBody>
      </p:sp>
      <p:sp>
        <p:nvSpPr>
          <p:cNvPr id="71" name="Rounded Rectangle 70"/>
          <p:cNvSpPr/>
          <p:nvPr/>
        </p:nvSpPr>
        <p:spPr>
          <a:xfrm>
            <a:off x="6248400" y="3949700"/>
            <a:ext cx="5334000" cy="1727200"/>
          </a:xfrm>
          <a:prstGeom prst="roundRect">
            <a:avLst>
              <a:gd name="adj" fmla="val 6617"/>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6248400" y="3911600"/>
            <a:ext cx="5334000" cy="1727200"/>
          </a:xfrm>
          <a:prstGeom prst="roundRect">
            <a:avLst>
              <a:gd name="adj" fmla="val 6617"/>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6477000" y="3924300"/>
            <a:ext cx="1041400" cy="0"/>
          </a:xfrm>
          <a:prstGeom prst="line">
            <a:avLst/>
          </a:prstGeom>
          <a:ln w="38100">
            <a:solidFill>
              <a:srgbClr val="087F85"/>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6477000" y="4114800"/>
            <a:ext cx="26416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087F85"/>
                </a:solidFill>
                <a:latin typeface="Arial"/>
              </a:rPr>
              <a:t>GEOIP</a:t>
            </a:r>
          </a:p>
        </p:txBody>
      </p:sp>
      <p:sp>
        <p:nvSpPr>
          <p:cNvPr id="75" name="TextBox 74"/>
          <p:cNvSpPr txBox="1"/>
          <p:nvPr/>
        </p:nvSpPr>
        <p:spPr>
          <a:xfrm>
            <a:off x="6477000" y="4483100"/>
            <a:ext cx="26416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42338"/>
                </a:solidFill>
                <a:latin typeface="Arial"/>
              </a:rPr>
              <a:t>Map client subnets</a:t>
            </a:r>
          </a:p>
        </p:txBody>
      </p:sp>
      <p:sp>
        <p:nvSpPr>
          <p:cNvPr id="76" name="TextBox 75"/>
          <p:cNvSpPr txBox="1"/>
          <p:nvPr/>
        </p:nvSpPr>
        <p:spPr>
          <a:xfrm>
            <a:off x="6477000" y="5295900"/>
            <a:ext cx="48768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Needs GeoIP data + ECS</a:t>
            </a:r>
          </a:p>
        </p:txBody>
      </p:sp>
      <p:cxnSp>
        <p:nvCxnSpPr>
          <p:cNvPr id="77" name="Connector 76"/>
          <p:cNvCxnSpPr/>
          <p:nvPr/>
        </p:nvCxnSpPr>
        <p:spPr>
          <a:xfrm flipV="1">
            <a:off x="9728200" y="4699000"/>
            <a:ext cx="0" cy="22860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9410700" y="4241800"/>
            <a:ext cx="635000" cy="457200"/>
          </a:xfrm>
          <a:prstGeom prst="roundRect">
            <a:avLst>
              <a:gd name="adj" fmla="val 13888"/>
            </a:avLst>
          </a:prstGeom>
          <a:solidFill>
            <a:srgbClr val="EAF0FB"/>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image.png"/>
          <p:cNvPicPr>
            <a:picLocks noChangeAspect="1"/>
          </p:cNvPicPr>
          <p:nvPr/>
        </p:nvPicPr>
        <p:blipFill>
          <a:blip r:embed="rId2"/>
          <a:stretch>
            <a:fillRect/>
          </a:stretch>
        </p:blipFill>
        <p:spPr>
          <a:xfrm>
            <a:off x="9461500" y="4330700"/>
            <a:ext cx="279400" cy="279400"/>
          </a:xfrm>
          <a:prstGeom prst="rect">
            <a:avLst/>
          </a:prstGeom>
        </p:spPr>
      </p:pic>
      <p:sp>
        <p:nvSpPr>
          <p:cNvPr id="80" name="TextBox 79"/>
          <p:cNvSpPr txBox="1"/>
          <p:nvPr/>
        </p:nvSpPr>
        <p:spPr>
          <a:xfrm>
            <a:off x="9753600" y="4394200"/>
            <a:ext cx="266700" cy="190500"/>
          </a:xfrm>
          <a:prstGeom prst="rect">
            <a:avLst/>
          </a:prstGeom>
          <a:noFill/>
        </p:spPr>
        <p:txBody>
          <a:bodyPr wrap="none" lIns="0" rIns="0" tIns="0" bIns="0" anchor="t">
            <a:noAutofit/>
          </a:bodyPr>
          <a:lstStyle/>
          <a:p>
            <a:pPr algn="ctr">
              <a:lnSpc>
                <a:spcPts val="1200"/>
              </a:lnSpc>
              <a:spcBef>
                <a:spcPts val="0"/>
              </a:spcBef>
              <a:spcAft>
                <a:spcPts val="0"/>
              </a:spcAft>
            </a:pPr>
            <a:r>
              <a:rPr sz="1200" b="1">
                <a:solidFill>
                  <a:srgbClr val="142338"/>
                </a:solidFill>
                <a:latin typeface="Arial"/>
              </a:rPr>
              <a:t>A</a:t>
            </a:r>
          </a:p>
        </p:txBody>
      </p:sp>
      <p:sp>
        <p:nvSpPr>
          <p:cNvPr id="81" name="Rounded Rectangle 80"/>
          <p:cNvSpPr/>
          <p:nvPr/>
        </p:nvSpPr>
        <p:spPr>
          <a:xfrm>
            <a:off x="9296400" y="4927600"/>
            <a:ext cx="863600" cy="292100"/>
          </a:xfrm>
          <a:prstGeom prst="roundRect">
            <a:avLst>
              <a:gd name="adj" fmla="val 21739"/>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347200" y="4991100"/>
            <a:ext cx="7620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2762C8"/>
                </a:solidFill>
                <a:latin typeface="Arial"/>
              </a:rPr>
              <a:t>Subnet A</a:t>
            </a:r>
          </a:p>
        </p:txBody>
      </p:sp>
      <p:cxnSp>
        <p:nvCxnSpPr>
          <p:cNvPr id="83" name="Connector 82"/>
          <p:cNvCxnSpPr/>
          <p:nvPr/>
        </p:nvCxnSpPr>
        <p:spPr>
          <a:xfrm flipV="1">
            <a:off x="10947400" y="4699000"/>
            <a:ext cx="0" cy="228600"/>
          </a:xfrm>
          <a:prstGeom prst="line">
            <a:avLst/>
          </a:prstGeom>
          <a:ln w="2540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4" name="Rounded Rectangle 83"/>
          <p:cNvSpPr/>
          <p:nvPr/>
        </p:nvSpPr>
        <p:spPr>
          <a:xfrm>
            <a:off x="10629900" y="4241800"/>
            <a:ext cx="635000" cy="457200"/>
          </a:xfrm>
          <a:prstGeom prst="roundRect">
            <a:avLst>
              <a:gd name="adj" fmla="val 13888"/>
            </a:avLst>
          </a:prstGeom>
          <a:solidFill>
            <a:srgbClr val="E8F4F3"/>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5" name="Picture 84" descr="image.png"/>
          <p:cNvPicPr>
            <a:picLocks noChangeAspect="1"/>
          </p:cNvPicPr>
          <p:nvPr/>
        </p:nvPicPr>
        <p:blipFill>
          <a:blip r:embed="rId2"/>
          <a:stretch>
            <a:fillRect/>
          </a:stretch>
        </p:blipFill>
        <p:spPr>
          <a:xfrm>
            <a:off x="10680700" y="4330700"/>
            <a:ext cx="279400" cy="279400"/>
          </a:xfrm>
          <a:prstGeom prst="rect">
            <a:avLst/>
          </a:prstGeom>
        </p:spPr>
      </p:pic>
      <p:sp>
        <p:nvSpPr>
          <p:cNvPr id="86" name="TextBox 85"/>
          <p:cNvSpPr txBox="1"/>
          <p:nvPr/>
        </p:nvSpPr>
        <p:spPr>
          <a:xfrm>
            <a:off x="10972800" y="4394200"/>
            <a:ext cx="266700" cy="190500"/>
          </a:xfrm>
          <a:prstGeom prst="rect">
            <a:avLst/>
          </a:prstGeom>
          <a:noFill/>
        </p:spPr>
        <p:txBody>
          <a:bodyPr wrap="none" lIns="0" rIns="0" tIns="0" bIns="0" anchor="t">
            <a:noAutofit/>
          </a:bodyPr>
          <a:lstStyle/>
          <a:p>
            <a:pPr algn="ctr">
              <a:lnSpc>
                <a:spcPts val="1200"/>
              </a:lnSpc>
              <a:spcBef>
                <a:spcPts val="0"/>
              </a:spcBef>
              <a:spcAft>
                <a:spcPts val="0"/>
              </a:spcAft>
            </a:pPr>
            <a:r>
              <a:rPr sz="1200" b="1">
                <a:solidFill>
                  <a:srgbClr val="142338"/>
                </a:solidFill>
                <a:latin typeface="Arial"/>
              </a:rPr>
              <a:t>B</a:t>
            </a:r>
          </a:p>
        </p:txBody>
      </p:sp>
      <p:sp>
        <p:nvSpPr>
          <p:cNvPr id="87" name="Rounded Rectangle 86"/>
          <p:cNvSpPr/>
          <p:nvPr/>
        </p:nvSpPr>
        <p:spPr>
          <a:xfrm>
            <a:off x="10515600" y="4927600"/>
            <a:ext cx="863600" cy="292100"/>
          </a:xfrm>
          <a:prstGeom prst="roundRect">
            <a:avLst>
              <a:gd name="adj" fmla="val 21739"/>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566400" y="4991100"/>
            <a:ext cx="7620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087F85"/>
                </a:solidFill>
                <a:latin typeface="Arial"/>
              </a:rPr>
              <a:t>Subnet B</a:t>
            </a:r>
          </a:p>
        </p:txBody>
      </p:sp>
      <p:sp>
        <p:nvSpPr>
          <p:cNvPr id="89" name="Rounded Rectangle 88"/>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87400" y="5892800"/>
            <a:ext cx="10617200" cy="317500"/>
          </a:xfrm>
          <a:prstGeom prst="rect">
            <a:avLst/>
          </a:prstGeom>
          <a:noFill/>
        </p:spPr>
        <p:txBody>
          <a:bodyPr wrap="none" lIns="0" rIns="0" tIns="0" bIns="0" anchor="t">
            <a:noAutofit/>
          </a:bodyPr>
          <a:lstStyle/>
          <a:p>
            <a:pPr algn="ctr">
              <a:lnSpc>
                <a:spcPts val="2000"/>
              </a:lnSpc>
              <a:spcBef>
                <a:spcPts val="0"/>
              </a:spcBef>
              <a:spcAft>
                <a:spcPts val="0"/>
              </a:spcAft>
            </a:pPr>
            <a:r>
              <a:rPr sz="2000" b="1">
                <a:solidFill>
                  <a:srgbClr val="142338"/>
                </a:solidFill>
                <a:latin typeface="Arial"/>
              </a:rPr>
              <a:t>All modes change DNS answers, not existing connections.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DECLARATIVE CONFIGURATION</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09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Traffic steering with a declarative manifest</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Gslb is a Kubernetes custom resource.</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1905000"/>
            <a:ext cx="7112000" cy="3860800"/>
          </a:xfrm>
          <a:prstGeom prst="roundRect">
            <a:avLst>
              <a:gd name="adj" fmla="val 3289"/>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1854200"/>
            <a:ext cx="7112000" cy="3860800"/>
          </a:xfrm>
          <a:prstGeom prst="roundRect">
            <a:avLst>
              <a:gd name="adj" fmla="val 3289"/>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9600" y="1854200"/>
            <a:ext cx="7112000" cy="381000"/>
          </a:xfrm>
          <a:prstGeom prst="roundRect">
            <a:avLst>
              <a:gd name="adj" fmla="val 33333"/>
            </a:avLst>
          </a:prstGeom>
          <a:solidFill>
            <a:srgbClr val="1A3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600" y="2057400"/>
            <a:ext cx="7112000" cy="177800"/>
          </a:xfrm>
          <a:prstGeom prst="rect">
            <a:avLst/>
          </a:prstGeom>
          <a:solidFill>
            <a:srgbClr val="1A3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3600" y="1943100"/>
            <a:ext cx="152400" cy="203200"/>
          </a:xfrm>
          <a:prstGeom prst="roundRect">
            <a:avLst>
              <a:gd name="adj" fmla="val 16666"/>
            </a:avLst>
          </a:prstGeom>
          <a:solidFill>
            <a:srgbClr val="1A3047"/>
          </a:solidFill>
          <a:ln w="13970">
            <a:solidFill>
              <a:srgbClr val="B8C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901700" y="2006600"/>
            <a:ext cx="76200" cy="0"/>
          </a:xfrm>
          <a:prstGeom prst="line">
            <a:avLst/>
          </a:prstGeom>
          <a:ln w="12700">
            <a:solidFill>
              <a:srgbClr val="B8C8D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1700" y="2070100"/>
            <a:ext cx="76200" cy="0"/>
          </a:xfrm>
          <a:prstGeom prst="line">
            <a:avLst/>
          </a:prstGeom>
          <a:ln w="12700">
            <a:solidFill>
              <a:srgbClr val="B8C8D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93800" y="1943100"/>
            <a:ext cx="27940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FFFFFF"/>
                </a:solidFill>
                <a:latin typeface="Courier New"/>
              </a:rPr>
              <a:t>gslb.yaml</a:t>
            </a:r>
          </a:p>
        </p:txBody>
      </p:sp>
      <p:sp>
        <p:nvSpPr>
          <p:cNvPr id="18" name="TextBox 17"/>
          <p:cNvSpPr txBox="1"/>
          <p:nvPr/>
        </p:nvSpPr>
        <p:spPr>
          <a:xfrm>
            <a:off x="4292600" y="1981200"/>
            <a:ext cx="3175000" cy="184150"/>
          </a:xfrm>
          <a:prstGeom prst="rect">
            <a:avLst/>
          </a:prstGeom>
          <a:noFill/>
        </p:spPr>
        <p:txBody>
          <a:bodyPr wrap="none" lIns="0" rIns="0" tIns="0" bIns="0" anchor="t">
            <a:noAutofit/>
          </a:bodyPr>
          <a:lstStyle/>
          <a:p>
            <a:pPr algn="r">
              <a:lnSpc>
                <a:spcPts val="1150"/>
              </a:lnSpc>
              <a:spcBef>
                <a:spcPts val="0"/>
              </a:spcBef>
              <a:spcAft>
                <a:spcPts val="0"/>
              </a:spcAft>
            </a:pPr>
            <a:r>
              <a:rPr sz="1000" b="1">
                <a:solidFill>
                  <a:srgbClr val="B8C8D9"/>
                </a:solidFill>
                <a:latin typeface="Arial"/>
              </a:rPr>
              <a:t>KUBERNETES CUSTOM RESOURCE</a:t>
            </a:r>
          </a:p>
        </p:txBody>
      </p:sp>
      <p:cxnSp>
        <p:nvCxnSpPr>
          <p:cNvPr id="19" name="Connector 18"/>
          <p:cNvCxnSpPr/>
          <p:nvPr/>
        </p:nvCxnSpPr>
        <p:spPr>
          <a:xfrm>
            <a:off x="609600" y="2235200"/>
            <a:ext cx="7112000" cy="0"/>
          </a:xfrm>
          <a:prstGeom prst="line">
            <a:avLst/>
          </a:prstGeom>
          <a:ln w="10160">
            <a:solidFill>
              <a:srgbClr val="38506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87400" y="4826000"/>
            <a:ext cx="6756400" cy="825500"/>
          </a:xfrm>
          <a:prstGeom prst="roundRect">
            <a:avLst>
              <a:gd name="adj" fmla="val 9230"/>
            </a:avLst>
          </a:prstGeom>
          <a:solidFill>
            <a:srgbClr val="153B43"/>
          </a:solidFill>
          <a:ln w="12700">
            <a:solidFill>
              <a:srgbClr val="2F66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7400" y="4902200"/>
            <a:ext cx="38100" cy="673100"/>
          </a:xfrm>
          <a:prstGeom prst="rect">
            <a:avLst/>
          </a:prstGeom>
          <a:solidFill>
            <a:srgbClr val="6DD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1700" y="2387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01</a:t>
            </a:r>
          </a:p>
        </p:txBody>
      </p:sp>
      <p:sp>
        <p:nvSpPr>
          <p:cNvPr id="23" name="TextBox 22"/>
          <p:cNvSpPr txBox="1"/>
          <p:nvPr/>
        </p:nvSpPr>
        <p:spPr>
          <a:xfrm>
            <a:off x="1282700" y="2336800"/>
            <a:ext cx="1557273"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78A5FA"/>
                </a:solidFill>
                <a:latin typeface="Courier New"/>
              </a:rPr>
              <a:t>apiVersion: </a:t>
            </a:r>
          </a:p>
        </p:txBody>
      </p:sp>
      <p:sp>
        <p:nvSpPr>
          <p:cNvPr id="24" name="TextBox 23"/>
          <p:cNvSpPr txBox="1"/>
          <p:nvPr/>
        </p:nvSpPr>
        <p:spPr>
          <a:xfrm>
            <a:off x="2837433" y="2336800"/>
            <a:ext cx="4604766"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FFFFFF"/>
                </a:solidFill>
                <a:latin typeface="Courier New"/>
              </a:rPr>
              <a:t>k8gb.io/v1beta1</a:t>
            </a:r>
          </a:p>
        </p:txBody>
      </p:sp>
      <p:sp>
        <p:nvSpPr>
          <p:cNvPr id="25" name="TextBox 24"/>
          <p:cNvSpPr txBox="1"/>
          <p:nvPr/>
        </p:nvSpPr>
        <p:spPr>
          <a:xfrm>
            <a:off x="901700" y="2641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02</a:t>
            </a:r>
          </a:p>
        </p:txBody>
      </p:sp>
      <p:sp>
        <p:nvSpPr>
          <p:cNvPr id="26" name="TextBox 25"/>
          <p:cNvSpPr txBox="1"/>
          <p:nvPr/>
        </p:nvSpPr>
        <p:spPr>
          <a:xfrm>
            <a:off x="1282700" y="2590800"/>
            <a:ext cx="779906"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78A5FA"/>
                </a:solidFill>
                <a:latin typeface="Courier New"/>
              </a:rPr>
              <a:t>kind: </a:t>
            </a:r>
          </a:p>
        </p:txBody>
      </p:sp>
      <p:sp>
        <p:nvSpPr>
          <p:cNvPr id="27" name="TextBox 26"/>
          <p:cNvSpPr txBox="1"/>
          <p:nvPr/>
        </p:nvSpPr>
        <p:spPr>
          <a:xfrm>
            <a:off x="2060066" y="2590800"/>
            <a:ext cx="5382133"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FFFFFF"/>
                </a:solidFill>
                <a:latin typeface="Courier New"/>
              </a:rPr>
              <a:t>Gslb</a:t>
            </a:r>
          </a:p>
        </p:txBody>
      </p:sp>
      <p:sp>
        <p:nvSpPr>
          <p:cNvPr id="28" name="TextBox 27"/>
          <p:cNvSpPr txBox="1"/>
          <p:nvPr/>
        </p:nvSpPr>
        <p:spPr>
          <a:xfrm>
            <a:off x="901700" y="2895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03</a:t>
            </a:r>
          </a:p>
        </p:txBody>
      </p:sp>
      <p:sp>
        <p:nvSpPr>
          <p:cNvPr id="29" name="TextBox 28"/>
          <p:cNvSpPr txBox="1"/>
          <p:nvPr/>
        </p:nvSpPr>
        <p:spPr>
          <a:xfrm>
            <a:off x="1282700" y="2844800"/>
            <a:ext cx="1168589"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78A5FA"/>
                </a:solidFill>
                <a:latin typeface="Courier New"/>
              </a:rPr>
              <a:t>metadata:</a:t>
            </a:r>
          </a:p>
        </p:txBody>
      </p:sp>
      <p:sp>
        <p:nvSpPr>
          <p:cNvPr id="30" name="TextBox 29"/>
          <p:cNvSpPr txBox="1"/>
          <p:nvPr/>
        </p:nvSpPr>
        <p:spPr>
          <a:xfrm>
            <a:off x="901700" y="3149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04</a:t>
            </a:r>
          </a:p>
        </p:txBody>
      </p:sp>
      <p:sp>
        <p:nvSpPr>
          <p:cNvPr id="31" name="TextBox 30"/>
          <p:cNvSpPr txBox="1"/>
          <p:nvPr/>
        </p:nvSpPr>
        <p:spPr>
          <a:xfrm>
            <a:off x="1282700" y="3098800"/>
            <a:ext cx="1039028"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78A5FA"/>
                </a:solidFill>
                <a:latin typeface="Courier New"/>
              </a:rPr>
              <a:t>  name: </a:t>
            </a:r>
          </a:p>
        </p:txBody>
      </p:sp>
      <p:sp>
        <p:nvSpPr>
          <p:cNvPr id="32" name="TextBox 31"/>
          <p:cNvSpPr txBox="1"/>
          <p:nvPr/>
        </p:nvSpPr>
        <p:spPr>
          <a:xfrm>
            <a:off x="2319188" y="3098800"/>
            <a:ext cx="5123011"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FFFFFF"/>
                </a:solidFill>
                <a:latin typeface="Courier New"/>
              </a:rPr>
              <a:t>test-gslb-failover</a:t>
            </a:r>
          </a:p>
        </p:txBody>
      </p:sp>
      <p:sp>
        <p:nvSpPr>
          <p:cNvPr id="33" name="TextBox 32"/>
          <p:cNvSpPr txBox="1"/>
          <p:nvPr/>
        </p:nvSpPr>
        <p:spPr>
          <a:xfrm>
            <a:off x="901700" y="3403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05</a:t>
            </a:r>
          </a:p>
        </p:txBody>
      </p:sp>
      <p:sp>
        <p:nvSpPr>
          <p:cNvPr id="34" name="TextBox 33"/>
          <p:cNvSpPr txBox="1"/>
          <p:nvPr/>
        </p:nvSpPr>
        <p:spPr>
          <a:xfrm>
            <a:off x="1282700" y="3352800"/>
            <a:ext cx="1686834"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78A5FA"/>
                </a:solidFill>
                <a:latin typeface="Courier New"/>
              </a:rPr>
              <a:t>  namespace: </a:t>
            </a:r>
          </a:p>
        </p:txBody>
      </p:sp>
      <p:sp>
        <p:nvSpPr>
          <p:cNvPr id="35" name="TextBox 34"/>
          <p:cNvSpPr txBox="1"/>
          <p:nvPr/>
        </p:nvSpPr>
        <p:spPr>
          <a:xfrm>
            <a:off x="2966994" y="3352800"/>
            <a:ext cx="4475205"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FFFFFF"/>
                </a:solidFill>
                <a:latin typeface="Courier New"/>
              </a:rPr>
              <a:t>test-gslb</a:t>
            </a:r>
          </a:p>
        </p:txBody>
      </p:sp>
      <p:sp>
        <p:nvSpPr>
          <p:cNvPr id="36" name="TextBox 35"/>
          <p:cNvSpPr txBox="1"/>
          <p:nvPr/>
        </p:nvSpPr>
        <p:spPr>
          <a:xfrm>
            <a:off x="901700" y="3657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06</a:t>
            </a:r>
          </a:p>
        </p:txBody>
      </p:sp>
      <p:sp>
        <p:nvSpPr>
          <p:cNvPr id="37" name="TextBox 36"/>
          <p:cNvSpPr txBox="1"/>
          <p:nvPr/>
        </p:nvSpPr>
        <p:spPr>
          <a:xfrm>
            <a:off x="1282700" y="3606800"/>
            <a:ext cx="650345"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78A5FA"/>
                </a:solidFill>
                <a:latin typeface="Courier New"/>
              </a:rPr>
              <a:t>spec:</a:t>
            </a:r>
          </a:p>
        </p:txBody>
      </p:sp>
      <p:sp>
        <p:nvSpPr>
          <p:cNvPr id="38" name="TextBox 37"/>
          <p:cNvSpPr txBox="1"/>
          <p:nvPr/>
        </p:nvSpPr>
        <p:spPr>
          <a:xfrm>
            <a:off x="901700" y="3911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07</a:t>
            </a:r>
          </a:p>
        </p:txBody>
      </p:sp>
      <p:sp>
        <p:nvSpPr>
          <p:cNvPr id="39" name="TextBox 38"/>
          <p:cNvSpPr txBox="1"/>
          <p:nvPr/>
        </p:nvSpPr>
        <p:spPr>
          <a:xfrm>
            <a:off x="1282700" y="3860800"/>
            <a:ext cx="1816395"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78A5FA"/>
                </a:solidFill>
                <a:latin typeface="Courier New"/>
              </a:rPr>
              <a:t>  resourceRef:</a:t>
            </a:r>
          </a:p>
        </p:txBody>
      </p:sp>
      <p:sp>
        <p:nvSpPr>
          <p:cNvPr id="40" name="TextBox 39"/>
          <p:cNvSpPr txBox="1"/>
          <p:nvPr/>
        </p:nvSpPr>
        <p:spPr>
          <a:xfrm>
            <a:off x="901700" y="4165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08</a:t>
            </a:r>
          </a:p>
        </p:txBody>
      </p:sp>
      <p:sp>
        <p:nvSpPr>
          <p:cNvPr id="41" name="TextBox 40"/>
          <p:cNvSpPr txBox="1"/>
          <p:nvPr/>
        </p:nvSpPr>
        <p:spPr>
          <a:xfrm>
            <a:off x="1282700" y="4114800"/>
            <a:ext cx="2075517"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78A5FA"/>
                </a:solidFill>
                <a:latin typeface="Courier New"/>
              </a:rPr>
              <a:t>    apiVersion: </a:t>
            </a:r>
          </a:p>
        </p:txBody>
      </p:sp>
      <p:sp>
        <p:nvSpPr>
          <p:cNvPr id="42" name="TextBox 41"/>
          <p:cNvSpPr txBox="1"/>
          <p:nvPr/>
        </p:nvSpPr>
        <p:spPr>
          <a:xfrm>
            <a:off x="3355677" y="4114800"/>
            <a:ext cx="4086522"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FFFFFF"/>
                </a:solidFill>
                <a:latin typeface="Courier New"/>
              </a:rPr>
              <a:t>gateway.networking.k8s.io/v1</a:t>
            </a:r>
          </a:p>
        </p:txBody>
      </p:sp>
      <p:sp>
        <p:nvSpPr>
          <p:cNvPr id="43" name="TextBox 42"/>
          <p:cNvSpPr txBox="1"/>
          <p:nvPr/>
        </p:nvSpPr>
        <p:spPr>
          <a:xfrm>
            <a:off x="901700" y="4419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09</a:t>
            </a:r>
          </a:p>
        </p:txBody>
      </p:sp>
      <p:sp>
        <p:nvSpPr>
          <p:cNvPr id="44" name="TextBox 43"/>
          <p:cNvSpPr txBox="1"/>
          <p:nvPr/>
        </p:nvSpPr>
        <p:spPr>
          <a:xfrm>
            <a:off x="1282700" y="4368800"/>
            <a:ext cx="1298150"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78A5FA"/>
                </a:solidFill>
                <a:latin typeface="Courier New"/>
              </a:rPr>
              <a:t>    kind: </a:t>
            </a:r>
          </a:p>
        </p:txBody>
      </p:sp>
      <p:sp>
        <p:nvSpPr>
          <p:cNvPr id="45" name="TextBox 44"/>
          <p:cNvSpPr txBox="1"/>
          <p:nvPr/>
        </p:nvSpPr>
        <p:spPr>
          <a:xfrm>
            <a:off x="2578310" y="4368800"/>
            <a:ext cx="4863889"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FFFFFF"/>
                </a:solidFill>
                <a:latin typeface="Courier New"/>
              </a:rPr>
              <a:t>HTTPRoute</a:t>
            </a:r>
          </a:p>
        </p:txBody>
      </p:sp>
      <p:sp>
        <p:nvSpPr>
          <p:cNvPr id="46" name="TextBox 45"/>
          <p:cNvSpPr txBox="1"/>
          <p:nvPr/>
        </p:nvSpPr>
        <p:spPr>
          <a:xfrm>
            <a:off x="901700" y="4673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10</a:t>
            </a:r>
          </a:p>
        </p:txBody>
      </p:sp>
      <p:sp>
        <p:nvSpPr>
          <p:cNvPr id="47" name="TextBox 46"/>
          <p:cNvSpPr txBox="1"/>
          <p:nvPr/>
        </p:nvSpPr>
        <p:spPr>
          <a:xfrm>
            <a:off x="1282700" y="4622800"/>
            <a:ext cx="1298150"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78A5FA"/>
                </a:solidFill>
                <a:latin typeface="Courier New"/>
              </a:rPr>
              <a:t>    name: </a:t>
            </a:r>
          </a:p>
        </p:txBody>
      </p:sp>
      <p:sp>
        <p:nvSpPr>
          <p:cNvPr id="48" name="TextBox 47"/>
          <p:cNvSpPr txBox="1"/>
          <p:nvPr/>
        </p:nvSpPr>
        <p:spPr>
          <a:xfrm>
            <a:off x="2578310" y="4622800"/>
            <a:ext cx="4863889"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FFFFFF"/>
                </a:solidFill>
                <a:latin typeface="Courier New"/>
              </a:rPr>
              <a:t>payments</a:t>
            </a:r>
          </a:p>
        </p:txBody>
      </p:sp>
      <p:sp>
        <p:nvSpPr>
          <p:cNvPr id="49" name="TextBox 48"/>
          <p:cNvSpPr txBox="1"/>
          <p:nvPr/>
        </p:nvSpPr>
        <p:spPr>
          <a:xfrm>
            <a:off x="901700" y="4927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11</a:t>
            </a:r>
          </a:p>
        </p:txBody>
      </p:sp>
      <p:sp>
        <p:nvSpPr>
          <p:cNvPr id="50" name="TextBox 49"/>
          <p:cNvSpPr txBox="1"/>
          <p:nvPr/>
        </p:nvSpPr>
        <p:spPr>
          <a:xfrm>
            <a:off x="1282700" y="4876800"/>
            <a:ext cx="1427711"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6DD3CE"/>
                </a:solidFill>
                <a:latin typeface="Courier New"/>
              </a:rPr>
              <a:t>  strategy:</a:t>
            </a:r>
          </a:p>
        </p:txBody>
      </p:sp>
      <p:sp>
        <p:nvSpPr>
          <p:cNvPr id="51" name="TextBox 50"/>
          <p:cNvSpPr txBox="1"/>
          <p:nvPr/>
        </p:nvSpPr>
        <p:spPr>
          <a:xfrm>
            <a:off x="901700" y="5181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12</a:t>
            </a:r>
          </a:p>
        </p:txBody>
      </p:sp>
      <p:sp>
        <p:nvSpPr>
          <p:cNvPr id="52" name="TextBox 51"/>
          <p:cNvSpPr txBox="1"/>
          <p:nvPr/>
        </p:nvSpPr>
        <p:spPr>
          <a:xfrm>
            <a:off x="1282700" y="5130800"/>
            <a:ext cx="1298150"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6DD3CE"/>
                </a:solidFill>
                <a:latin typeface="Courier New"/>
              </a:rPr>
              <a:t>    type: </a:t>
            </a:r>
          </a:p>
        </p:txBody>
      </p:sp>
      <p:sp>
        <p:nvSpPr>
          <p:cNvPr id="53" name="TextBox 52"/>
          <p:cNvSpPr txBox="1"/>
          <p:nvPr/>
        </p:nvSpPr>
        <p:spPr>
          <a:xfrm>
            <a:off x="2578310" y="5130800"/>
            <a:ext cx="4863889"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F5C584"/>
                </a:solidFill>
                <a:latin typeface="Courier New"/>
              </a:rPr>
              <a:t>failover</a:t>
            </a:r>
          </a:p>
        </p:txBody>
      </p:sp>
      <p:sp>
        <p:nvSpPr>
          <p:cNvPr id="54" name="TextBox 53"/>
          <p:cNvSpPr txBox="1"/>
          <p:nvPr/>
        </p:nvSpPr>
        <p:spPr>
          <a:xfrm>
            <a:off x="901700" y="5435600"/>
            <a:ext cx="254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Courier New"/>
              </a:rPr>
              <a:t>13</a:t>
            </a:r>
          </a:p>
        </p:txBody>
      </p:sp>
      <p:sp>
        <p:nvSpPr>
          <p:cNvPr id="55" name="TextBox 54"/>
          <p:cNvSpPr txBox="1"/>
          <p:nvPr/>
        </p:nvSpPr>
        <p:spPr>
          <a:xfrm>
            <a:off x="1282700" y="5384800"/>
            <a:ext cx="2464200"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6DD3CE"/>
                </a:solidFill>
                <a:latin typeface="Courier New"/>
              </a:rPr>
              <a:t>    primaryGeoTag: </a:t>
            </a:r>
          </a:p>
        </p:txBody>
      </p:sp>
      <p:sp>
        <p:nvSpPr>
          <p:cNvPr id="56" name="TextBox 55"/>
          <p:cNvSpPr txBox="1"/>
          <p:nvPr/>
        </p:nvSpPr>
        <p:spPr>
          <a:xfrm>
            <a:off x="3744360" y="5384800"/>
            <a:ext cx="3697839"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F5C584"/>
                </a:solidFill>
                <a:latin typeface="Courier New"/>
              </a:rPr>
              <a:t>eu</a:t>
            </a:r>
          </a:p>
        </p:txBody>
      </p:sp>
      <p:sp>
        <p:nvSpPr>
          <p:cNvPr id="57" name="Rounded Rectangle 56"/>
          <p:cNvSpPr/>
          <p:nvPr/>
        </p:nvSpPr>
        <p:spPr>
          <a:xfrm>
            <a:off x="8102600" y="1905000"/>
            <a:ext cx="3479800" cy="1752600"/>
          </a:xfrm>
          <a:prstGeom prst="roundRect">
            <a:avLst>
              <a:gd name="adj" fmla="val 6521"/>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102600" y="1854200"/>
            <a:ext cx="3479800" cy="1752600"/>
          </a:xfrm>
          <a:prstGeom prst="roundRect">
            <a:avLst>
              <a:gd name="adj" fmla="val 6521"/>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8356600" y="1866900"/>
            <a:ext cx="939800" cy="0"/>
          </a:xfrm>
          <a:prstGeom prst="line">
            <a:avLst/>
          </a:prstGeom>
          <a:ln w="38100">
            <a:solidFill>
              <a:srgbClr val="2762C8"/>
            </a:solidFill>
          </a:ln>
        </p:spPr>
        <p:style>
          <a:lnRef idx="2">
            <a:schemeClr val="accent1"/>
          </a:lnRef>
          <a:fillRef idx="0">
            <a:schemeClr val="accent1"/>
          </a:fillRef>
          <a:effectRef idx="1">
            <a:schemeClr val="accent1"/>
          </a:effectRef>
          <a:fontRef idx="minor">
            <a:schemeClr val="tx1"/>
          </a:fontRef>
        </p:style>
      </p:cxnSp>
      <p:pic>
        <p:nvPicPr>
          <p:cNvPr id="60" name="Picture 59" descr="image.png"/>
          <p:cNvPicPr>
            <a:picLocks noChangeAspect="1"/>
          </p:cNvPicPr>
          <p:nvPr/>
        </p:nvPicPr>
        <p:blipFill>
          <a:blip r:embed="rId2"/>
          <a:stretch>
            <a:fillRect/>
          </a:stretch>
        </p:blipFill>
        <p:spPr>
          <a:xfrm>
            <a:off x="8356600" y="2095500"/>
            <a:ext cx="406400" cy="406400"/>
          </a:xfrm>
          <a:prstGeom prst="rect">
            <a:avLst/>
          </a:prstGeom>
        </p:spPr>
      </p:pic>
      <p:sp>
        <p:nvSpPr>
          <p:cNvPr id="61" name="TextBox 60"/>
          <p:cNvSpPr txBox="1"/>
          <p:nvPr/>
        </p:nvSpPr>
        <p:spPr>
          <a:xfrm>
            <a:off x="8940800" y="2146300"/>
            <a:ext cx="23876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42338"/>
                </a:solidFill>
                <a:latin typeface="Arial"/>
              </a:rPr>
              <a:t>Prefer A · eu</a:t>
            </a:r>
          </a:p>
        </p:txBody>
      </p:sp>
      <p:sp>
        <p:nvSpPr>
          <p:cNvPr id="62" name="TextBox 61"/>
          <p:cNvSpPr txBox="1"/>
          <p:nvPr/>
        </p:nvSpPr>
        <p:spPr>
          <a:xfrm>
            <a:off x="8356600" y="2794000"/>
            <a:ext cx="2971800" cy="609600"/>
          </a:xfrm>
          <a:prstGeom prst="rect">
            <a:avLst/>
          </a:prstGeom>
          <a:noFill/>
        </p:spPr>
        <p:txBody>
          <a:bodyPr wrap="none" lIns="0" rIns="0" tIns="0" bIns="0" anchor="t">
            <a:noAutofit/>
          </a:bodyPr>
          <a:lstStyle/>
          <a:p>
            <a:pPr algn="l">
              <a:lnSpc>
                <a:spcPts val="2250"/>
              </a:lnSpc>
              <a:spcBef>
                <a:spcPts val="0"/>
              </a:spcBef>
              <a:spcAft>
                <a:spcPts val="0"/>
              </a:spcAft>
            </a:pPr>
            <a:r>
              <a:rPr sz="1800" b="0">
                <a:solidFill>
                  <a:srgbClr val="5D6F82"/>
                </a:solidFill>
                <a:latin typeface="Arial"/>
              </a:rPr>
              <a:t>While it has</a:t>
            </a:r>
          </a:p>
          <a:p>
            <a:pPr algn="l">
              <a:lnSpc>
                <a:spcPts val="2250"/>
              </a:lnSpc>
              <a:spcBef>
                <a:spcPts val="0"/>
              </a:spcBef>
              <a:spcAft>
                <a:spcPts val="0"/>
              </a:spcAft>
            </a:pPr>
            <a:r>
              <a:rPr sz="1800" b="0">
                <a:solidFill>
                  <a:srgbClr val="5D6F82"/>
                </a:solidFill>
                <a:latin typeface="Arial"/>
              </a:rPr>
              <a:t>eligible targets.</a:t>
            </a:r>
          </a:p>
        </p:txBody>
      </p:sp>
      <p:sp>
        <p:nvSpPr>
          <p:cNvPr id="63" name="Rounded Rectangle 62"/>
          <p:cNvSpPr/>
          <p:nvPr/>
        </p:nvSpPr>
        <p:spPr>
          <a:xfrm>
            <a:off x="8102600" y="3835400"/>
            <a:ext cx="3479800" cy="1930400"/>
          </a:xfrm>
          <a:prstGeom prst="roundRect">
            <a:avLst>
              <a:gd name="adj" fmla="val 5921"/>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102600" y="3784600"/>
            <a:ext cx="3479800" cy="1930400"/>
          </a:xfrm>
          <a:prstGeom prst="roundRect">
            <a:avLst>
              <a:gd name="adj" fmla="val 5921"/>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8356600" y="3797300"/>
            <a:ext cx="939800" cy="0"/>
          </a:xfrm>
          <a:prstGeom prst="line">
            <a:avLst/>
          </a:prstGeom>
          <a:ln w="38100">
            <a:solidFill>
              <a:srgbClr val="087F85"/>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56600" y="4000500"/>
            <a:ext cx="29718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42338"/>
                </a:solidFill>
                <a:latin typeface="Arial"/>
              </a:rPr>
              <a:t>Deploy per cluster</a:t>
            </a:r>
          </a:p>
        </p:txBody>
      </p:sp>
      <p:sp>
        <p:nvSpPr>
          <p:cNvPr id="67" name="TextBox 66"/>
          <p:cNvSpPr txBox="1"/>
          <p:nvPr/>
        </p:nvSpPr>
        <p:spPr>
          <a:xfrm>
            <a:off x="8356600" y="4406900"/>
            <a:ext cx="29718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087F85"/>
                </a:solidFill>
                <a:latin typeface="Arial"/>
              </a:rPr>
              <a:t>Same configuration</a:t>
            </a:r>
          </a:p>
        </p:txBody>
      </p:sp>
      <p:cxnSp>
        <p:nvCxnSpPr>
          <p:cNvPr id="68" name="Connector 67"/>
          <p:cNvCxnSpPr/>
          <p:nvPr/>
        </p:nvCxnSpPr>
        <p:spPr>
          <a:xfrm>
            <a:off x="9842500" y="4660900"/>
            <a:ext cx="0" cy="76200"/>
          </a:xfrm>
          <a:prstGeom prst="line">
            <a:avLst/>
          </a:prstGeom>
          <a:ln w="2032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9017000" y="4737100"/>
            <a:ext cx="825500" cy="0"/>
          </a:xfrm>
          <a:prstGeom prst="line">
            <a:avLst/>
          </a:prstGeom>
          <a:ln w="2032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017000" y="4737100"/>
            <a:ext cx="0" cy="88900"/>
          </a:xfrm>
          <a:prstGeom prst="line">
            <a:avLst/>
          </a:prstGeom>
          <a:ln w="2032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42500" y="4737100"/>
            <a:ext cx="825500" cy="0"/>
          </a:xfrm>
          <a:prstGeom prst="line">
            <a:avLst/>
          </a:prstGeom>
          <a:ln w="2032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668000" y="4737100"/>
            <a:ext cx="0" cy="88900"/>
          </a:xfrm>
          <a:prstGeom prst="line">
            <a:avLst/>
          </a:prstGeom>
          <a:ln w="2032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8356600" y="4826000"/>
            <a:ext cx="1320800" cy="355600"/>
          </a:xfrm>
          <a:prstGeom prst="roundRect">
            <a:avLst>
              <a:gd name="adj" fmla="val 17857"/>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image.png"/>
          <p:cNvPicPr>
            <a:picLocks noChangeAspect="1"/>
          </p:cNvPicPr>
          <p:nvPr/>
        </p:nvPicPr>
        <p:blipFill>
          <a:blip r:embed="rId2"/>
          <a:stretch>
            <a:fillRect/>
          </a:stretch>
        </p:blipFill>
        <p:spPr>
          <a:xfrm>
            <a:off x="8470900" y="4864100"/>
            <a:ext cx="279400" cy="279400"/>
          </a:xfrm>
          <a:prstGeom prst="rect">
            <a:avLst/>
          </a:prstGeom>
        </p:spPr>
      </p:pic>
      <p:sp>
        <p:nvSpPr>
          <p:cNvPr id="75" name="TextBox 74"/>
          <p:cNvSpPr txBox="1"/>
          <p:nvPr/>
        </p:nvSpPr>
        <p:spPr>
          <a:xfrm>
            <a:off x="8890000" y="4889500"/>
            <a:ext cx="609600" cy="238125"/>
          </a:xfrm>
          <a:prstGeom prst="rect">
            <a:avLst/>
          </a:prstGeom>
          <a:noFill/>
        </p:spPr>
        <p:txBody>
          <a:bodyPr wrap="none" lIns="0" rIns="0" tIns="0" bIns="0" anchor="t">
            <a:noAutofit/>
          </a:bodyPr>
          <a:lstStyle/>
          <a:p>
            <a:pPr algn="ctr">
              <a:lnSpc>
                <a:spcPts val="1500"/>
              </a:lnSpc>
              <a:spcBef>
                <a:spcPts val="0"/>
              </a:spcBef>
              <a:spcAft>
                <a:spcPts val="0"/>
              </a:spcAft>
            </a:pPr>
            <a:r>
              <a:rPr sz="1500" b="1">
                <a:solidFill>
                  <a:srgbClr val="142338"/>
                </a:solidFill>
                <a:latin typeface="Arial"/>
              </a:rPr>
              <a:t>eu</a:t>
            </a:r>
          </a:p>
        </p:txBody>
      </p:sp>
      <p:sp>
        <p:nvSpPr>
          <p:cNvPr id="76" name="Rounded Rectangle 75"/>
          <p:cNvSpPr/>
          <p:nvPr/>
        </p:nvSpPr>
        <p:spPr>
          <a:xfrm>
            <a:off x="10007600" y="4826000"/>
            <a:ext cx="1320800" cy="355600"/>
          </a:xfrm>
          <a:prstGeom prst="roundRect">
            <a:avLst>
              <a:gd name="adj" fmla="val 17857"/>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Picture 76" descr="image.png"/>
          <p:cNvPicPr>
            <a:picLocks noChangeAspect="1"/>
          </p:cNvPicPr>
          <p:nvPr/>
        </p:nvPicPr>
        <p:blipFill>
          <a:blip r:embed="rId2"/>
          <a:stretch>
            <a:fillRect/>
          </a:stretch>
        </p:blipFill>
        <p:spPr>
          <a:xfrm>
            <a:off x="10121900" y="4864100"/>
            <a:ext cx="279400" cy="279400"/>
          </a:xfrm>
          <a:prstGeom prst="rect">
            <a:avLst/>
          </a:prstGeom>
        </p:spPr>
      </p:pic>
      <p:sp>
        <p:nvSpPr>
          <p:cNvPr id="78" name="TextBox 77"/>
          <p:cNvSpPr txBox="1"/>
          <p:nvPr/>
        </p:nvSpPr>
        <p:spPr>
          <a:xfrm>
            <a:off x="10541000" y="4889500"/>
            <a:ext cx="609600" cy="238125"/>
          </a:xfrm>
          <a:prstGeom prst="rect">
            <a:avLst/>
          </a:prstGeom>
          <a:noFill/>
        </p:spPr>
        <p:txBody>
          <a:bodyPr wrap="none" lIns="0" rIns="0" tIns="0" bIns="0" anchor="t">
            <a:noAutofit/>
          </a:bodyPr>
          <a:lstStyle/>
          <a:p>
            <a:pPr algn="ctr">
              <a:lnSpc>
                <a:spcPts val="1500"/>
              </a:lnSpc>
              <a:spcBef>
                <a:spcPts val="0"/>
              </a:spcBef>
              <a:spcAft>
                <a:spcPts val="0"/>
              </a:spcAft>
            </a:pPr>
            <a:r>
              <a:rPr sz="1500" b="1">
                <a:solidFill>
                  <a:srgbClr val="142338"/>
                </a:solidFill>
                <a:latin typeface="Arial"/>
              </a:rPr>
              <a:t>us</a:t>
            </a:r>
          </a:p>
        </p:txBody>
      </p:sp>
      <p:sp>
        <p:nvSpPr>
          <p:cNvPr id="79" name="TextBox 78"/>
          <p:cNvSpPr txBox="1"/>
          <p:nvPr/>
        </p:nvSpPr>
        <p:spPr>
          <a:xfrm>
            <a:off x="8280400" y="5384800"/>
            <a:ext cx="3124200" cy="242569"/>
          </a:xfrm>
          <a:prstGeom prst="rect">
            <a:avLst/>
          </a:prstGeom>
          <a:noFill/>
        </p:spPr>
        <p:txBody>
          <a:bodyPr wrap="none" lIns="0" rIns="0" tIns="0" bIns="0" anchor="t">
            <a:noAutofit/>
          </a:bodyPr>
          <a:lstStyle/>
          <a:p>
            <a:pPr algn="ctr">
              <a:lnSpc>
                <a:spcPts val="1609"/>
              </a:lnSpc>
              <a:spcBef>
                <a:spcPts val="0"/>
              </a:spcBef>
              <a:spcAft>
                <a:spcPts val="0"/>
              </a:spcAft>
            </a:pPr>
            <a:r>
              <a:rPr sz="1400" b="0">
                <a:solidFill>
                  <a:srgbClr val="5D6F82"/>
                </a:solidFill>
                <a:latin typeface="Arial"/>
              </a:rPr>
              <a:t>Each cluster observes health locally.</a:t>
            </a:r>
          </a:p>
        </p:txBody>
      </p:sp>
      <p:sp>
        <p:nvSpPr>
          <p:cNvPr id="80" name="Rounded Rectangle 79"/>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87400" y="5892800"/>
            <a:ext cx="10617200" cy="301625"/>
          </a:xfrm>
          <a:prstGeom prst="rect">
            <a:avLst/>
          </a:prstGeom>
          <a:noFill/>
        </p:spPr>
        <p:txBody>
          <a:bodyPr wrap="none" lIns="0" rIns="0" tIns="0" bIns="0" anchor="t">
            <a:noAutofit/>
          </a:bodyPr>
          <a:lstStyle/>
          <a:p>
            <a:pPr algn="ctr">
              <a:lnSpc>
                <a:spcPts val="1900"/>
              </a:lnSpc>
              <a:spcBef>
                <a:spcPts val="0"/>
              </a:spcBef>
              <a:spcAft>
                <a:spcPts val="0"/>
              </a:spcAft>
            </a:pPr>
            <a:r>
              <a:rPr sz="1900" b="1">
                <a:solidFill>
                  <a:srgbClr val="142338"/>
                </a:solidFill>
                <a:latin typeface="Arial"/>
              </a:rPr>
              <a:t>The route, zone, and matching geotags are prerequisites.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DNS PORTABILITY</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10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Choose parent DNS. Keep traffic steering.</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Managed or self-hosted: the application zone stays with CoreDNS.</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2146300"/>
            <a:ext cx="5181600" cy="1917700"/>
          </a:xfrm>
          <a:prstGeom prst="roundRect">
            <a:avLst>
              <a:gd name="adj" fmla="val 6622"/>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2095500"/>
            <a:ext cx="5181600" cy="1917700"/>
          </a:xfrm>
          <a:prstGeom prst="roundRect">
            <a:avLst>
              <a:gd name="adj" fmla="val 6622"/>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914400" y="2108200"/>
            <a:ext cx="4572000" cy="0"/>
          </a:xfrm>
          <a:prstGeom prst="line">
            <a:avLst/>
          </a:prstGeom>
          <a:ln w="38100">
            <a:solidFill>
              <a:srgbClr val="2762C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2349500"/>
            <a:ext cx="812800" cy="812800"/>
          </a:xfrm>
          <a:prstGeom prst="roundRect">
            <a:avLst>
              <a:gd name="adj" fmla="val 18750"/>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30400" y="2374900"/>
            <a:ext cx="3556000"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142338"/>
                </a:solidFill>
                <a:latin typeface="Arial"/>
              </a:rPr>
              <a:t>Managed DNS</a:t>
            </a:r>
          </a:p>
        </p:txBody>
      </p:sp>
      <p:sp>
        <p:nvSpPr>
          <p:cNvPr id="15" name="TextBox 14"/>
          <p:cNvSpPr txBox="1"/>
          <p:nvPr/>
        </p:nvSpPr>
        <p:spPr>
          <a:xfrm>
            <a:off x="1930400" y="2819400"/>
            <a:ext cx="3556000" cy="257175"/>
          </a:xfrm>
          <a:prstGeom prst="rect">
            <a:avLst/>
          </a:prstGeom>
          <a:noFill/>
        </p:spPr>
        <p:txBody>
          <a:bodyPr wrap="none" lIns="0" rIns="0" tIns="0" bIns="0" anchor="t">
            <a:noAutofit/>
          </a:bodyPr>
          <a:lstStyle/>
          <a:p>
            <a:pPr algn="l">
              <a:lnSpc>
                <a:spcPts val="1725"/>
              </a:lnSpc>
              <a:spcBef>
                <a:spcPts val="0"/>
              </a:spcBef>
              <a:spcAft>
                <a:spcPts val="0"/>
              </a:spcAft>
            </a:pPr>
            <a:r>
              <a:rPr sz="1500" b="0">
                <a:solidFill>
                  <a:srgbClr val="5D6F82"/>
                </a:solidFill>
                <a:latin typeface="Arial"/>
              </a:rPr>
              <a:t>Operated by your provider</a:t>
            </a:r>
          </a:p>
        </p:txBody>
      </p:sp>
      <p:sp>
        <p:nvSpPr>
          <p:cNvPr id="16" name="Rounded Rectangle 15"/>
          <p:cNvSpPr/>
          <p:nvPr/>
        </p:nvSpPr>
        <p:spPr>
          <a:xfrm>
            <a:off x="914400" y="3403600"/>
            <a:ext cx="4572000" cy="393700"/>
          </a:xfrm>
          <a:prstGeom prst="roundRect">
            <a:avLst>
              <a:gd name="adj" fmla="val 19354"/>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6800" y="3467100"/>
            <a:ext cx="4267200" cy="301625"/>
          </a:xfrm>
          <a:prstGeom prst="rect">
            <a:avLst/>
          </a:prstGeom>
          <a:noFill/>
        </p:spPr>
        <p:txBody>
          <a:bodyPr wrap="none" lIns="0" rIns="0" tIns="0" bIns="0" anchor="t">
            <a:noAutofit/>
          </a:bodyPr>
          <a:lstStyle/>
          <a:p>
            <a:pPr algn="ctr">
              <a:lnSpc>
                <a:spcPts val="1900"/>
              </a:lnSpc>
              <a:spcBef>
                <a:spcPts val="0"/>
              </a:spcBef>
              <a:spcAft>
                <a:spcPts val="0"/>
              </a:spcAft>
            </a:pPr>
            <a:r>
              <a:rPr sz="1900" b="1">
                <a:solidFill>
                  <a:srgbClr val="2762C8"/>
                </a:solidFill>
                <a:latin typeface="Arial"/>
              </a:rPr>
              <a:t>Provider API</a:t>
            </a:r>
          </a:p>
        </p:txBody>
      </p:sp>
      <p:sp>
        <p:nvSpPr>
          <p:cNvPr id="18" name="Rounded Rectangle 17"/>
          <p:cNvSpPr/>
          <p:nvPr/>
        </p:nvSpPr>
        <p:spPr>
          <a:xfrm>
            <a:off x="6400800" y="2146300"/>
            <a:ext cx="5181600" cy="1917700"/>
          </a:xfrm>
          <a:prstGeom prst="roundRect">
            <a:avLst>
              <a:gd name="adj" fmla="val 6622"/>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2095500"/>
            <a:ext cx="5181600" cy="1917700"/>
          </a:xfrm>
          <a:prstGeom prst="roundRect">
            <a:avLst>
              <a:gd name="adj" fmla="val 6622"/>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6705600" y="2108200"/>
            <a:ext cx="4572000" cy="0"/>
          </a:xfrm>
          <a:prstGeom prst="line">
            <a:avLst/>
          </a:prstGeom>
          <a:ln w="38100">
            <a:solidFill>
              <a:srgbClr val="087F85"/>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705600" y="2349500"/>
            <a:ext cx="812800" cy="812800"/>
          </a:xfrm>
          <a:prstGeom prst="roundRect">
            <a:avLst>
              <a:gd name="adj" fmla="val 18750"/>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1600" y="2374900"/>
            <a:ext cx="3556000"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142338"/>
                </a:solidFill>
                <a:latin typeface="Arial"/>
              </a:rPr>
              <a:t>Self-hosted DNS</a:t>
            </a:r>
          </a:p>
        </p:txBody>
      </p:sp>
      <p:sp>
        <p:nvSpPr>
          <p:cNvPr id="23" name="TextBox 22"/>
          <p:cNvSpPr txBox="1"/>
          <p:nvPr/>
        </p:nvSpPr>
        <p:spPr>
          <a:xfrm>
            <a:off x="7721600" y="2819400"/>
            <a:ext cx="3556000" cy="257175"/>
          </a:xfrm>
          <a:prstGeom prst="rect">
            <a:avLst/>
          </a:prstGeom>
          <a:noFill/>
        </p:spPr>
        <p:txBody>
          <a:bodyPr wrap="none" lIns="0" rIns="0" tIns="0" bIns="0" anchor="t">
            <a:noAutofit/>
          </a:bodyPr>
          <a:lstStyle/>
          <a:p>
            <a:pPr algn="l">
              <a:lnSpc>
                <a:spcPts val="1725"/>
              </a:lnSpc>
              <a:spcBef>
                <a:spcPts val="0"/>
              </a:spcBef>
              <a:spcAft>
                <a:spcPts val="0"/>
              </a:spcAft>
            </a:pPr>
            <a:r>
              <a:rPr sz="1500" b="0">
                <a:solidFill>
                  <a:srgbClr val="5D6F82"/>
                </a:solidFill>
                <a:latin typeface="Arial"/>
              </a:rPr>
              <a:t>Operated by your team · BIND9</a:t>
            </a:r>
          </a:p>
        </p:txBody>
      </p:sp>
      <p:sp>
        <p:nvSpPr>
          <p:cNvPr id="24" name="Rounded Rectangle 23"/>
          <p:cNvSpPr/>
          <p:nvPr/>
        </p:nvSpPr>
        <p:spPr>
          <a:xfrm>
            <a:off x="6705600" y="3403600"/>
            <a:ext cx="4572000" cy="393700"/>
          </a:xfrm>
          <a:prstGeom prst="roundRect">
            <a:avLst>
              <a:gd name="adj" fmla="val 19354"/>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3467100"/>
            <a:ext cx="4267200" cy="301625"/>
          </a:xfrm>
          <a:prstGeom prst="rect">
            <a:avLst/>
          </a:prstGeom>
          <a:noFill/>
        </p:spPr>
        <p:txBody>
          <a:bodyPr wrap="none" lIns="0" rIns="0" tIns="0" bIns="0" anchor="t">
            <a:noAutofit/>
          </a:bodyPr>
          <a:lstStyle/>
          <a:p>
            <a:pPr algn="ctr">
              <a:lnSpc>
                <a:spcPts val="1900"/>
              </a:lnSpc>
              <a:spcBef>
                <a:spcPts val="0"/>
              </a:spcBef>
              <a:spcAft>
                <a:spcPts val="0"/>
              </a:spcAft>
            </a:pPr>
            <a:r>
              <a:rPr sz="1900" b="1">
                <a:solidFill>
                  <a:srgbClr val="087F85"/>
                </a:solidFill>
                <a:latin typeface="Arial"/>
              </a:rPr>
              <a:t>RFC 2136 + TSIG</a:t>
            </a:r>
          </a:p>
        </p:txBody>
      </p:sp>
      <p:sp>
        <p:nvSpPr>
          <p:cNvPr id="26" name="Oval 25"/>
          <p:cNvSpPr/>
          <p:nvPr/>
        </p:nvSpPr>
        <p:spPr>
          <a:xfrm>
            <a:off x="1003300" y="2654300"/>
            <a:ext cx="254000" cy="2540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7600" y="2489200"/>
            <a:ext cx="330200" cy="3302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333500" y="2628900"/>
            <a:ext cx="279400" cy="2794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30300" y="2768600"/>
            <a:ext cx="342900" cy="139700"/>
          </a:xfrm>
          <a:prstGeom prst="rect">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858000" y="2489200"/>
            <a:ext cx="508000" cy="127000"/>
          </a:xfrm>
          <a:prstGeom prst="roundRect">
            <a:avLst>
              <a:gd name="adj" fmla="val 20000"/>
            </a:avLst>
          </a:prstGeom>
          <a:solidFill>
            <a:srgbClr val="FFFFFF"/>
          </a:solidFill>
          <a:ln w="1651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934200" y="2552700"/>
            <a:ext cx="177800" cy="0"/>
          </a:xfrm>
          <a:prstGeom prst="line">
            <a:avLst/>
          </a:prstGeom>
          <a:ln w="15240">
            <a:solidFill>
              <a:srgbClr val="087F85"/>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258050" y="2533650"/>
            <a:ext cx="38100" cy="38100"/>
          </a:xfrm>
          <a:prstGeom prst="ellipse">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858000" y="2679700"/>
            <a:ext cx="508000" cy="127000"/>
          </a:xfrm>
          <a:prstGeom prst="roundRect">
            <a:avLst>
              <a:gd name="adj" fmla="val 20000"/>
            </a:avLst>
          </a:prstGeom>
          <a:solidFill>
            <a:srgbClr val="FFFFFF"/>
          </a:solidFill>
          <a:ln w="1651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6934200" y="2743200"/>
            <a:ext cx="177800" cy="0"/>
          </a:xfrm>
          <a:prstGeom prst="line">
            <a:avLst/>
          </a:prstGeom>
          <a:ln w="15240">
            <a:solidFill>
              <a:srgbClr val="087F85"/>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258050" y="2724150"/>
            <a:ext cx="38100" cy="38100"/>
          </a:xfrm>
          <a:prstGeom prst="ellipse">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858000" y="2870200"/>
            <a:ext cx="508000" cy="127000"/>
          </a:xfrm>
          <a:prstGeom prst="roundRect">
            <a:avLst>
              <a:gd name="adj" fmla="val 20000"/>
            </a:avLst>
          </a:prstGeom>
          <a:solidFill>
            <a:srgbClr val="FFFFFF"/>
          </a:solidFill>
          <a:ln w="1651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6934200" y="2933700"/>
            <a:ext cx="177800" cy="0"/>
          </a:xfrm>
          <a:prstGeom prst="line">
            <a:avLst/>
          </a:prstGeom>
          <a:ln w="15240">
            <a:solidFill>
              <a:srgbClr val="087F85"/>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7258050" y="2914650"/>
            <a:ext cx="38100" cy="38100"/>
          </a:xfrm>
          <a:prstGeom prst="ellipse">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918200" y="2857500"/>
            <a:ext cx="355600" cy="355600"/>
          </a:xfrm>
          <a:prstGeom prst="ellipse">
            <a:avLst/>
          </a:prstGeom>
          <a:solidFill>
            <a:srgbClr val="F8FAFC"/>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18200" y="2959100"/>
            <a:ext cx="355600" cy="177800"/>
          </a:xfrm>
          <a:prstGeom prst="rect">
            <a:avLst/>
          </a:prstGeom>
          <a:noFill/>
        </p:spPr>
        <p:txBody>
          <a:bodyPr wrap="none" lIns="0" rIns="0" tIns="0" bIns="0" anchor="t">
            <a:noAutofit/>
          </a:bodyPr>
          <a:lstStyle/>
          <a:p>
            <a:pPr algn="ctr">
              <a:lnSpc>
                <a:spcPts val="1100"/>
              </a:lnSpc>
              <a:spcBef>
                <a:spcPts val="0"/>
              </a:spcBef>
              <a:spcAft>
                <a:spcPts val="0"/>
              </a:spcAft>
            </a:pPr>
            <a:r>
              <a:rPr sz="1100" b="1">
                <a:solidFill>
                  <a:srgbClr val="5D6F82"/>
                </a:solidFill>
                <a:latin typeface="Arial"/>
              </a:rPr>
              <a:t>OR</a:t>
            </a:r>
          </a:p>
        </p:txBody>
      </p:sp>
      <p:cxnSp>
        <p:nvCxnSpPr>
          <p:cNvPr id="41" name="Connector 40"/>
          <p:cNvCxnSpPr/>
          <p:nvPr/>
        </p:nvCxnSpPr>
        <p:spPr>
          <a:xfrm flipV="1">
            <a:off x="5181600" y="4229100"/>
            <a:ext cx="0" cy="215900"/>
          </a:xfrm>
          <a:prstGeom prst="line">
            <a:avLst/>
          </a:prstGeom>
          <a:ln w="2286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200400" y="4229100"/>
            <a:ext cx="1981200" cy="0"/>
          </a:xfrm>
          <a:prstGeom prst="line">
            <a:avLst/>
          </a:prstGeom>
          <a:ln w="2286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200400" y="4013200"/>
            <a:ext cx="0" cy="215900"/>
          </a:xfrm>
          <a:prstGeom prst="line">
            <a:avLst/>
          </a:prstGeom>
          <a:ln w="2286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010400" y="4229100"/>
            <a:ext cx="0" cy="215900"/>
          </a:xfrm>
          <a:prstGeom prst="line">
            <a:avLst/>
          </a:prstGeom>
          <a:ln w="2286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010400" y="4229100"/>
            <a:ext cx="1981200" cy="0"/>
          </a:xfrm>
          <a:prstGeom prst="line">
            <a:avLst/>
          </a:prstGeom>
          <a:ln w="2286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991600" y="4013200"/>
            <a:ext cx="0" cy="215900"/>
          </a:xfrm>
          <a:prstGeom prst="line">
            <a:avLst/>
          </a:prstGeom>
          <a:ln w="2286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4216400" y="4445000"/>
            <a:ext cx="3759200" cy="660400"/>
          </a:xfrm>
          <a:prstGeom prst="roundRect">
            <a:avLst>
              <a:gd name="adj" fmla="val 15384"/>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mage.png"/>
          <p:cNvPicPr>
            <a:picLocks noChangeAspect="1"/>
          </p:cNvPicPr>
          <p:nvPr/>
        </p:nvPicPr>
        <p:blipFill>
          <a:blip r:embed="rId2"/>
          <a:stretch>
            <a:fillRect/>
          </a:stretch>
        </p:blipFill>
        <p:spPr>
          <a:xfrm>
            <a:off x="4394348" y="4546600"/>
            <a:ext cx="469603" cy="469900"/>
          </a:xfrm>
          <a:prstGeom prst="rect">
            <a:avLst/>
          </a:prstGeom>
        </p:spPr>
      </p:pic>
      <p:sp>
        <p:nvSpPr>
          <p:cNvPr id="49" name="TextBox 48"/>
          <p:cNvSpPr txBox="1"/>
          <p:nvPr/>
        </p:nvSpPr>
        <p:spPr>
          <a:xfrm>
            <a:off x="5041900" y="4521200"/>
            <a:ext cx="27432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42338"/>
                </a:solidFill>
                <a:latin typeface="Arial"/>
              </a:rPr>
              <a:t>ExternalDNS</a:t>
            </a:r>
          </a:p>
        </p:txBody>
      </p:sp>
      <p:sp>
        <p:nvSpPr>
          <p:cNvPr id="50" name="TextBox 49"/>
          <p:cNvSpPr txBox="1"/>
          <p:nvPr/>
        </p:nvSpPr>
        <p:spPr>
          <a:xfrm>
            <a:off x="5041900" y="4851400"/>
            <a:ext cx="2743200" cy="227965"/>
          </a:xfrm>
          <a:prstGeom prst="rect">
            <a:avLst/>
          </a:prstGeom>
          <a:noFill/>
        </p:spPr>
        <p:txBody>
          <a:bodyPr wrap="none" lIns="0" rIns="0" tIns="0" bIns="0" anchor="t">
            <a:noAutofit/>
          </a:bodyPr>
          <a:lstStyle/>
          <a:p>
            <a:pPr algn="l">
              <a:lnSpc>
                <a:spcPts val="1495"/>
              </a:lnSpc>
              <a:spcBef>
                <a:spcPts val="0"/>
              </a:spcBef>
              <a:spcAft>
                <a:spcPts val="0"/>
              </a:spcAft>
            </a:pPr>
            <a:r>
              <a:rPr sz="1300" b="0">
                <a:solidFill>
                  <a:srgbClr val="5D6F82"/>
                </a:solidFill>
                <a:latin typeface="Arial"/>
              </a:rPr>
              <a:t>Updates parent-zone delegation</a:t>
            </a:r>
          </a:p>
        </p:txBody>
      </p:sp>
      <p:sp>
        <p:nvSpPr>
          <p:cNvPr id="51" name="Rounded Rectangle 50"/>
          <p:cNvSpPr/>
          <p:nvPr/>
        </p:nvSpPr>
        <p:spPr>
          <a:xfrm>
            <a:off x="609600" y="5321300"/>
            <a:ext cx="10972800" cy="952500"/>
          </a:xfrm>
          <a:prstGeom prst="roundRect">
            <a:avLst>
              <a:gd name="adj" fmla="val 10666"/>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3600" y="5461000"/>
            <a:ext cx="63500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B8C8D9"/>
                </a:solidFill>
                <a:latin typeface="Arial"/>
              </a:rPr>
              <a:t>SAME TRAFFIC STEERING IN EVERY CLUSTER</a:t>
            </a:r>
          </a:p>
        </p:txBody>
      </p:sp>
      <p:pic>
        <p:nvPicPr>
          <p:cNvPr id="53" name="Picture 52" descr="image.png"/>
          <p:cNvPicPr>
            <a:picLocks noChangeAspect="1"/>
          </p:cNvPicPr>
          <p:nvPr/>
        </p:nvPicPr>
        <p:blipFill>
          <a:blip r:embed="rId3"/>
          <a:stretch>
            <a:fillRect/>
          </a:stretch>
        </p:blipFill>
        <p:spPr>
          <a:xfrm>
            <a:off x="863600" y="5732415"/>
            <a:ext cx="393700" cy="384268"/>
          </a:xfrm>
          <a:prstGeom prst="rect">
            <a:avLst/>
          </a:prstGeom>
        </p:spPr>
      </p:pic>
      <p:sp>
        <p:nvSpPr>
          <p:cNvPr id="54" name="TextBox 53"/>
          <p:cNvSpPr txBox="1"/>
          <p:nvPr/>
        </p:nvSpPr>
        <p:spPr>
          <a:xfrm>
            <a:off x="1422400" y="5715000"/>
            <a:ext cx="24892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FFFFFF"/>
                </a:solidFill>
                <a:latin typeface="Arial"/>
              </a:rPr>
              <a:t>Gslb + k8gb</a:t>
            </a:r>
          </a:p>
        </p:txBody>
      </p:sp>
      <p:cxnSp>
        <p:nvCxnSpPr>
          <p:cNvPr id="55" name="Connector 54"/>
          <p:cNvCxnSpPr/>
          <p:nvPr/>
        </p:nvCxnSpPr>
        <p:spPr>
          <a:xfrm>
            <a:off x="4013200" y="5930900"/>
            <a:ext cx="711200" cy="0"/>
          </a:xfrm>
          <a:prstGeom prst="line">
            <a:avLst/>
          </a:prstGeom>
          <a:ln w="22860">
            <a:solidFill>
              <a:srgbClr val="B8C8D9"/>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56" name="Picture 55" descr="image.png"/>
          <p:cNvPicPr>
            <a:picLocks noChangeAspect="1"/>
          </p:cNvPicPr>
          <p:nvPr/>
        </p:nvPicPr>
        <p:blipFill>
          <a:blip r:embed="rId4"/>
          <a:stretch>
            <a:fillRect/>
          </a:stretch>
        </p:blipFill>
        <p:spPr>
          <a:xfrm>
            <a:off x="4953000" y="5727700"/>
            <a:ext cx="393700" cy="393700"/>
          </a:xfrm>
          <a:prstGeom prst="rect">
            <a:avLst/>
          </a:prstGeom>
        </p:spPr>
      </p:pic>
      <p:sp>
        <p:nvSpPr>
          <p:cNvPr id="57" name="TextBox 56"/>
          <p:cNvSpPr txBox="1"/>
          <p:nvPr/>
        </p:nvSpPr>
        <p:spPr>
          <a:xfrm>
            <a:off x="5499100" y="5715000"/>
            <a:ext cx="18923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FFFFFF"/>
                </a:solidFill>
                <a:latin typeface="Arial"/>
              </a:rPr>
              <a:t>CoreDNS</a:t>
            </a:r>
          </a:p>
        </p:txBody>
      </p:sp>
      <p:cxnSp>
        <p:nvCxnSpPr>
          <p:cNvPr id="58" name="Connector 57"/>
          <p:cNvCxnSpPr/>
          <p:nvPr/>
        </p:nvCxnSpPr>
        <p:spPr>
          <a:xfrm>
            <a:off x="7569200" y="5562600"/>
            <a:ext cx="0" cy="520700"/>
          </a:xfrm>
          <a:prstGeom prst="line">
            <a:avLst/>
          </a:prstGeom>
          <a:ln w="12700">
            <a:solidFill>
              <a:srgbClr val="385068"/>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848600" y="5499100"/>
            <a:ext cx="3454400" cy="286384"/>
          </a:xfrm>
          <a:prstGeom prst="rect">
            <a:avLst/>
          </a:prstGeom>
          <a:noFill/>
        </p:spPr>
        <p:txBody>
          <a:bodyPr wrap="none" lIns="0" rIns="0" tIns="0" bIns="0" anchor="t">
            <a:noAutofit/>
          </a:bodyPr>
          <a:lstStyle/>
          <a:p>
            <a:pPr algn="l">
              <a:lnSpc>
                <a:spcPts val="1954"/>
              </a:lnSpc>
              <a:spcBef>
                <a:spcPts val="0"/>
              </a:spcBef>
              <a:spcAft>
                <a:spcPts val="0"/>
              </a:spcAft>
            </a:pPr>
            <a:r>
              <a:rPr sz="1700" b="1">
                <a:solidFill>
                  <a:srgbClr val="FFFFFF"/>
                </a:solidFill>
                <a:latin typeface="Arial"/>
              </a:rPr>
              <a:t>Your choice of parent DNS.</a:t>
            </a:r>
          </a:p>
        </p:txBody>
      </p:sp>
      <p:sp>
        <p:nvSpPr>
          <p:cNvPr id="60" name="TextBox 59"/>
          <p:cNvSpPr txBox="1"/>
          <p:nvPr/>
        </p:nvSpPr>
        <p:spPr>
          <a:xfrm>
            <a:off x="7848600" y="5854700"/>
            <a:ext cx="3454400" cy="257175"/>
          </a:xfrm>
          <a:prstGeom prst="rect">
            <a:avLst/>
          </a:prstGeom>
          <a:noFill/>
        </p:spPr>
        <p:txBody>
          <a:bodyPr wrap="none" lIns="0" rIns="0" tIns="0" bIns="0" anchor="t">
            <a:noAutofit/>
          </a:bodyPr>
          <a:lstStyle/>
          <a:p>
            <a:pPr algn="l">
              <a:lnSpc>
                <a:spcPts val="1725"/>
              </a:lnSpc>
              <a:spcBef>
                <a:spcPts val="0"/>
              </a:spcBef>
              <a:spcAft>
                <a:spcPts val="0"/>
              </a:spcAft>
            </a:pPr>
            <a:r>
              <a:rPr sz="1500" b="0">
                <a:solidFill>
                  <a:srgbClr val="B8C8D9"/>
                </a:solidFill>
                <a:latin typeface="Arial"/>
              </a:rPr>
              <a:t>Your Gslb strategy stays the same.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YOUR SOVEREIGN BOUNDARIES</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11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You define what a “region” means</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Global traffic management can follow your own topology.</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TextBox 9"/>
          <p:cNvSpPr txBox="1"/>
          <p:nvPr/>
        </p:nvSpPr>
        <p:spPr>
          <a:xfrm>
            <a:off x="609600" y="1905000"/>
            <a:ext cx="109728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5D6F82"/>
                </a:solidFill>
                <a:latin typeface="Arial"/>
              </a:rPr>
              <a:t>ILLUSTRATIVE clusterGeoTag VALUES</a:t>
            </a:r>
          </a:p>
        </p:txBody>
      </p:sp>
      <p:sp>
        <p:nvSpPr>
          <p:cNvPr id="11" name="Rounded Rectangle 10"/>
          <p:cNvSpPr/>
          <p:nvPr/>
        </p:nvSpPr>
        <p:spPr>
          <a:xfrm>
            <a:off x="609600" y="2222500"/>
            <a:ext cx="2032000" cy="2273300"/>
          </a:xfrm>
          <a:prstGeom prst="roundRect">
            <a:avLst>
              <a:gd name="adj" fmla="val 5625"/>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9600" y="2171700"/>
            <a:ext cx="2032000" cy="2273300"/>
          </a:xfrm>
          <a:prstGeom prst="roundRect">
            <a:avLst>
              <a:gd name="adj" fmla="val 562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812800" y="2184400"/>
            <a:ext cx="1625600" cy="0"/>
          </a:xfrm>
          <a:prstGeom prst="line">
            <a:avLst/>
          </a:prstGeom>
          <a:ln w="31750">
            <a:solidFill>
              <a:srgbClr val="2762C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231900" y="2425700"/>
            <a:ext cx="787400" cy="787400"/>
          </a:xfrm>
          <a:prstGeom prst="roundRect">
            <a:avLst>
              <a:gd name="adj" fmla="val 19354"/>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371600" y="2565400"/>
            <a:ext cx="508000" cy="508000"/>
          </a:xfrm>
          <a:prstGeom prst="ellipse">
            <a:avLst/>
          </a:prstGeom>
          <a:solidFill>
            <a:srgbClr val="EAF0FB"/>
          </a:solidFill>
          <a:ln w="2159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11300" y="2565400"/>
            <a:ext cx="228600" cy="508000"/>
          </a:xfrm>
          <a:prstGeom prst="ellipse">
            <a:avLst/>
          </a:prstGeom>
          <a:solidFill>
            <a:srgbClr val="EAF0FB"/>
          </a:solidFill>
          <a:ln w="1778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371600" y="2819400"/>
            <a:ext cx="508000" cy="0"/>
          </a:xfrm>
          <a:prstGeom prst="line">
            <a:avLst/>
          </a:prstGeom>
          <a:ln w="1778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09700" y="2692400"/>
            <a:ext cx="431800" cy="0"/>
          </a:xfrm>
          <a:prstGeom prst="line">
            <a:avLst/>
          </a:prstGeom>
          <a:ln w="1397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409700" y="2946400"/>
            <a:ext cx="431800" cy="0"/>
          </a:xfrm>
          <a:prstGeom prst="line">
            <a:avLst/>
          </a:prstGeom>
          <a:ln w="13970">
            <a:solidFill>
              <a:srgbClr val="2762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62000" y="3416300"/>
            <a:ext cx="17272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142338"/>
                </a:solidFill>
                <a:latin typeface="Arial"/>
              </a:rPr>
              <a:t>REGION</a:t>
            </a:r>
          </a:p>
        </p:txBody>
      </p:sp>
      <p:sp>
        <p:nvSpPr>
          <p:cNvPr id="21" name="Rounded Rectangle 20"/>
          <p:cNvSpPr/>
          <p:nvPr/>
        </p:nvSpPr>
        <p:spPr>
          <a:xfrm>
            <a:off x="787400" y="3873500"/>
            <a:ext cx="1676400" cy="368300"/>
          </a:xfrm>
          <a:prstGeom prst="roundRect">
            <a:avLst>
              <a:gd name="adj" fmla="val 17241"/>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3600" y="3949700"/>
            <a:ext cx="1524000" cy="254000"/>
          </a:xfrm>
          <a:prstGeom prst="rect">
            <a:avLst/>
          </a:prstGeom>
          <a:noFill/>
        </p:spPr>
        <p:txBody>
          <a:bodyPr wrap="none" lIns="0" rIns="0" tIns="0" bIns="0" anchor="t">
            <a:noAutofit/>
          </a:bodyPr>
          <a:lstStyle/>
          <a:p>
            <a:pPr algn="ctr">
              <a:lnSpc>
                <a:spcPts val="1600"/>
              </a:lnSpc>
              <a:spcBef>
                <a:spcPts val="0"/>
              </a:spcBef>
              <a:spcAft>
                <a:spcPts val="0"/>
              </a:spcAft>
            </a:pPr>
            <a:r>
              <a:rPr sz="1600" b="0">
                <a:solidFill>
                  <a:srgbClr val="2762C8"/>
                </a:solidFill>
                <a:latin typeface="Courier New"/>
              </a:rPr>
              <a:t>eu-west</a:t>
            </a:r>
          </a:p>
        </p:txBody>
      </p:sp>
      <p:sp>
        <p:nvSpPr>
          <p:cNvPr id="23" name="Rounded Rectangle 22"/>
          <p:cNvSpPr/>
          <p:nvPr/>
        </p:nvSpPr>
        <p:spPr>
          <a:xfrm>
            <a:off x="2844800" y="2222500"/>
            <a:ext cx="2032000" cy="2273300"/>
          </a:xfrm>
          <a:prstGeom prst="roundRect">
            <a:avLst>
              <a:gd name="adj" fmla="val 5625"/>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844800" y="2171700"/>
            <a:ext cx="2032000" cy="2273300"/>
          </a:xfrm>
          <a:prstGeom prst="roundRect">
            <a:avLst>
              <a:gd name="adj" fmla="val 562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3048000" y="2184400"/>
            <a:ext cx="1625600" cy="0"/>
          </a:xfrm>
          <a:prstGeom prst="line">
            <a:avLst/>
          </a:prstGeom>
          <a:ln w="31750">
            <a:solidFill>
              <a:srgbClr val="087F85"/>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467100" y="2425700"/>
            <a:ext cx="787400" cy="787400"/>
          </a:xfrm>
          <a:prstGeom prst="roundRect">
            <a:avLst>
              <a:gd name="adj" fmla="val 19354"/>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606800" y="2552700"/>
            <a:ext cx="508000" cy="508000"/>
          </a:xfrm>
          <a:prstGeom prst="roundRect">
            <a:avLst>
              <a:gd name="adj" fmla="val 7500"/>
            </a:avLst>
          </a:prstGeom>
          <a:solidFill>
            <a:srgbClr val="E8F4F3"/>
          </a:solidFill>
          <a:ln w="2159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83000" y="2641600"/>
            <a:ext cx="50800" cy="635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83000" y="2781300"/>
            <a:ext cx="50800" cy="635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835400" y="2641600"/>
            <a:ext cx="50800" cy="635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835400" y="2781300"/>
            <a:ext cx="50800" cy="635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87800" y="2641600"/>
            <a:ext cx="50800" cy="635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87800" y="2781300"/>
            <a:ext cx="50800" cy="635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797300" y="2933700"/>
            <a:ext cx="127000" cy="127000"/>
          </a:xfrm>
          <a:prstGeom prst="rect">
            <a:avLst/>
          </a:prstGeom>
          <a:solidFill>
            <a:srgbClr val="E8F4F3"/>
          </a:solidFill>
          <a:ln w="1651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3543300" y="3073400"/>
            <a:ext cx="635000" cy="0"/>
          </a:xfrm>
          <a:prstGeom prst="line">
            <a:avLst/>
          </a:prstGeom>
          <a:ln w="21590">
            <a:solidFill>
              <a:srgbClr val="087F85"/>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997200" y="3416300"/>
            <a:ext cx="17272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142338"/>
                </a:solidFill>
                <a:latin typeface="Arial"/>
              </a:rPr>
              <a:t>DATACENTER</a:t>
            </a:r>
          </a:p>
        </p:txBody>
      </p:sp>
      <p:sp>
        <p:nvSpPr>
          <p:cNvPr id="37" name="Rounded Rectangle 36"/>
          <p:cNvSpPr/>
          <p:nvPr/>
        </p:nvSpPr>
        <p:spPr>
          <a:xfrm>
            <a:off x="3022600" y="3873500"/>
            <a:ext cx="1676400" cy="368300"/>
          </a:xfrm>
          <a:prstGeom prst="roundRect">
            <a:avLst>
              <a:gd name="adj" fmla="val 17241"/>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8800" y="3949700"/>
            <a:ext cx="1524000" cy="254000"/>
          </a:xfrm>
          <a:prstGeom prst="rect">
            <a:avLst/>
          </a:prstGeom>
          <a:noFill/>
        </p:spPr>
        <p:txBody>
          <a:bodyPr wrap="none" lIns="0" rIns="0" tIns="0" bIns="0" anchor="t">
            <a:noAutofit/>
          </a:bodyPr>
          <a:lstStyle/>
          <a:p>
            <a:pPr algn="ctr">
              <a:lnSpc>
                <a:spcPts val="1600"/>
              </a:lnSpc>
              <a:spcBef>
                <a:spcPts val="0"/>
              </a:spcBef>
              <a:spcAft>
                <a:spcPts val="0"/>
              </a:spcAft>
            </a:pPr>
            <a:r>
              <a:rPr sz="1600" b="0">
                <a:solidFill>
                  <a:srgbClr val="087F85"/>
                </a:solidFill>
                <a:latin typeface="Courier New"/>
              </a:rPr>
              <a:t>dc-1</a:t>
            </a:r>
          </a:p>
        </p:txBody>
      </p:sp>
      <p:sp>
        <p:nvSpPr>
          <p:cNvPr id="39" name="Rounded Rectangle 38"/>
          <p:cNvSpPr/>
          <p:nvPr/>
        </p:nvSpPr>
        <p:spPr>
          <a:xfrm>
            <a:off x="5080000" y="2222500"/>
            <a:ext cx="2032000" cy="2273300"/>
          </a:xfrm>
          <a:prstGeom prst="roundRect">
            <a:avLst>
              <a:gd name="adj" fmla="val 5625"/>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080000" y="2171700"/>
            <a:ext cx="2032000" cy="2273300"/>
          </a:xfrm>
          <a:prstGeom prst="roundRect">
            <a:avLst>
              <a:gd name="adj" fmla="val 562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5283200" y="2184400"/>
            <a:ext cx="1625600" cy="0"/>
          </a:xfrm>
          <a:prstGeom prst="line">
            <a:avLst/>
          </a:prstGeom>
          <a:ln w="31750">
            <a:solidFill>
              <a:srgbClr val="2762C8"/>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702300" y="2425700"/>
            <a:ext cx="787400" cy="787400"/>
          </a:xfrm>
          <a:prstGeom prst="roundRect">
            <a:avLst>
              <a:gd name="adj" fmla="val 19354"/>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854700" y="2540000"/>
            <a:ext cx="482600" cy="558800"/>
          </a:xfrm>
          <a:prstGeom prst="roundRect">
            <a:avLst>
              <a:gd name="adj" fmla="val 7894"/>
            </a:avLst>
          </a:prstGeom>
          <a:solidFill>
            <a:srgbClr val="EAF0FB"/>
          </a:solidFill>
          <a:ln w="2159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918200" y="2603500"/>
            <a:ext cx="355600" cy="114300"/>
          </a:xfrm>
          <a:prstGeom prst="roundRect">
            <a:avLst>
              <a:gd name="adj" fmla="val 11111"/>
            </a:avLst>
          </a:prstGeom>
          <a:solidFill>
            <a:srgbClr val="EAF0FB"/>
          </a:solidFill>
          <a:ln w="1397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5969000" y="2660650"/>
            <a:ext cx="152400" cy="0"/>
          </a:xfrm>
          <a:prstGeom prst="line">
            <a:avLst/>
          </a:prstGeom>
          <a:ln w="13970">
            <a:solidFill>
              <a:srgbClr val="2762C8"/>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6191250" y="2641600"/>
            <a:ext cx="38100" cy="381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918200" y="2755900"/>
            <a:ext cx="355600" cy="114300"/>
          </a:xfrm>
          <a:prstGeom prst="roundRect">
            <a:avLst>
              <a:gd name="adj" fmla="val 11111"/>
            </a:avLst>
          </a:prstGeom>
          <a:solidFill>
            <a:srgbClr val="EAF0FB"/>
          </a:solidFill>
          <a:ln w="1397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5969000" y="2813050"/>
            <a:ext cx="152400" cy="0"/>
          </a:xfrm>
          <a:prstGeom prst="line">
            <a:avLst/>
          </a:prstGeom>
          <a:ln w="13970">
            <a:solidFill>
              <a:srgbClr val="2762C8"/>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6191250" y="2794000"/>
            <a:ext cx="38100" cy="381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5918200" y="2908300"/>
            <a:ext cx="355600" cy="114300"/>
          </a:xfrm>
          <a:prstGeom prst="roundRect">
            <a:avLst>
              <a:gd name="adj" fmla="val 11111"/>
            </a:avLst>
          </a:prstGeom>
          <a:solidFill>
            <a:srgbClr val="EAF0FB"/>
          </a:solidFill>
          <a:ln w="1397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5969000" y="2965450"/>
            <a:ext cx="152400" cy="0"/>
          </a:xfrm>
          <a:prstGeom prst="line">
            <a:avLst/>
          </a:prstGeom>
          <a:ln w="13970">
            <a:solidFill>
              <a:srgbClr val="2762C8"/>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6191250" y="2946400"/>
            <a:ext cx="38100" cy="381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232400" y="3416300"/>
            <a:ext cx="17272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142338"/>
                </a:solidFill>
                <a:latin typeface="Arial"/>
              </a:rPr>
              <a:t>RACK</a:t>
            </a:r>
          </a:p>
        </p:txBody>
      </p:sp>
      <p:sp>
        <p:nvSpPr>
          <p:cNvPr id="54" name="Rounded Rectangle 53"/>
          <p:cNvSpPr/>
          <p:nvPr/>
        </p:nvSpPr>
        <p:spPr>
          <a:xfrm>
            <a:off x="5257800" y="3873500"/>
            <a:ext cx="1676400" cy="368300"/>
          </a:xfrm>
          <a:prstGeom prst="roundRect">
            <a:avLst>
              <a:gd name="adj" fmla="val 17241"/>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34000" y="3949700"/>
            <a:ext cx="1524000" cy="254000"/>
          </a:xfrm>
          <a:prstGeom prst="rect">
            <a:avLst/>
          </a:prstGeom>
          <a:noFill/>
        </p:spPr>
        <p:txBody>
          <a:bodyPr wrap="none" lIns="0" rIns="0" tIns="0" bIns="0" anchor="t">
            <a:noAutofit/>
          </a:bodyPr>
          <a:lstStyle/>
          <a:p>
            <a:pPr algn="ctr">
              <a:lnSpc>
                <a:spcPts val="1600"/>
              </a:lnSpc>
              <a:spcBef>
                <a:spcPts val="0"/>
              </a:spcBef>
              <a:spcAft>
                <a:spcPts val="0"/>
              </a:spcAft>
            </a:pPr>
            <a:r>
              <a:rPr sz="1600" b="0">
                <a:solidFill>
                  <a:srgbClr val="2762C8"/>
                </a:solidFill>
                <a:latin typeface="Courier New"/>
              </a:rPr>
              <a:t>rack-a</a:t>
            </a:r>
          </a:p>
        </p:txBody>
      </p:sp>
      <p:sp>
        <p:nvSpPr>
          <p:cNvPr id="56" name="Rounded Rectangle 55"/>
          <p:cNvSpPr/>
          <p:nvPr/>
        </p:nvSpPr>
        <p:spPr>
          <a:xfrm>
            <a:off x="7315200" y="2222500"/>
            <a:ext cx="2032000" cy="2273300"/>
          </a:xfrm>
          <a:prstGeom prst="roundRect">
            <a:avLst>
              <a:gd name="adj" fmla="val 5625"/>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7315200" y="2171700"/>
            <a:ext cx="2032000" cy="2273300"/>
          </a:xfrm>
          <a:prstGeom prst="roundRect">
            <a:avLst>
              <a:gd name="adj" fmla="val 562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7518400" y="2184400"/>
            <a:ext cx="1625600" cy="0"/>
          </a:xfrm>
          <a:prstGeom prst="line">
            <a:avLst/>
          </a:prstGeom>
          <a:ln w="31750">
            <a:solidFill>
              <a:srgbClr val="087F85"/>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7937500" y="2425700"/>
            <a:ext cx="787400" cy="787400"/>
          </a:xfrm>
          <a:prstGeom prst="roundRect">
            <a:avLst>
              <a:gd name="adj" fmla="val 19354"/>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8039100" y="2667000"/>
            <a:ext cx="584200" cy="317500"/>
          </a:xfrm>
          <a:prstGeom prst="roundRect">
            <a:avLst>
              <a:gd name="adj" fmla="val 16000"/>
            </a:avLst>
          </a:prstGeom>
          <a:solidFill>
            <a:srgbClr val="E8F4F3"/>
          </a:solidFill>
          <a:ln w="2159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8115300" y="2755900"/>
            <a:ext cx="241300" cy="0"/>
          </a:xfrm>
          <a:prstGeom prst="line">
            <a:avLst/>
          </a:prstGeom>
          <a:ln w="1524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115300" y="2844800"/>
            <a:ext cx="241300" cy="0"/>
          </a:xfrm>
          <a:prstGeom prst="line">
            <a:avLst/>
          </a:prstGeom>
          <a:ln w="1524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115300" y="2933700"/>
            <a:ext cx="241300" cy="0"/>
          </a:xfrm>
          <a:prstGeom prst="line">
            <a:avLst/>
          </a:prstGeom>
          <a:ln w="15240">
            <a:solidFill>
              <a:srgbClr val="087F85"/>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8470900" y="2781300"/>
            <a:ext cx="76200" cy="76200"/>
          </a:xfrm>
          <a:prstGeom prst="ellipse">
            <a:avLst/>
          </a:prstGeom>
          <a:solidFill>
            <a:srgbClr val="E8F4F3"/>
          </a:solidFill>
          <a:ln w="1778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8140700" y="3009900"/>
            <a:ext cx="0" cy="50800"/>
          </a:xfrm>
          <a:prstGeom prst="line">
            <a:avLst/>
          </a:prstGeom>
          <a:ln w="2159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521700" y="3009900"/>
            <a:ext cx="0" cy="50800"/>
          </a:xfrm>
          <a:prstGeom prst="line">
            <a:avLst/>
          </a:prstGeom>
          <a:ln w="21590">
            <a:solidFill>
              <a:srgbClr val="087F85"/>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467600" y="3416300"/>
            <a:ext cx="17272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142338"/>
                </a:solidFill>
                <a:latin typeface="Arial"/>
              </a:rPr>
              <a:t>SERVER</a:t>
            </a:r>
          </a:p>
        </p:txBody>
      </p:sp>
      <p:sp>
        <p:nvSpPr>
          <p:cNvPr id="68" name="Rounded Rectangle 67"/>
          <p:cNvSpPr/>
          <p:nvPr/>
        </p:nvSpPr>
        <p:spPr>
          <a:xfrm>
            <a:off x="7493000" y="3873500"/>
            <a:ext cx="1676400" cy="368300"/>
          </a:xfrm>
          <a:prstGeom prst="roundRect">
            <a:avLst>
              <a:gd name="adj" fmla="val 17241"/>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569200" y="3949700"/>
            <a:ext cx="1524000" cy="254000"/>
          </a:xfrm>
          <a:prstGeom prst="rect">
            <a:avLst/>
          </a:prstGeom>
          <a:noFill/>
        </p:spPr>
        <p:txBody>
          <a:bodyPr wrap="none" lIns="0" rIns="0" tIns="0" bIns="0" anchor="t">
            <a:noAutofit/>
          </a:bodyPr>
          <a:lstStyle/>
          <a:p>
            <a:pPr algn="ctr">
              <a:lnSpc>
                <a:spcPts val="1600"/>
              </a:lnSpc>
              <a:spcBef>
                <a:spcPts val="0"/>
              </a:spcBef>
              <a:spcAft>
                <a:spcPts val="0"/>
              </a:spcAft>
            </a:pPr>
            <a:r>
              <a:rPr sz="1600" b="0">
                <a:solidFill>
                  <a:srgbClr val="087F85"/>
                </a:solidFill>
                <a:latin typeface="Courier New"/>
              </a:rPr>
              <a:t>server-01</a:t>
            </a:r>
          </a:p>
        </p:txBody>
      </p:sp>
      <p:sp>
        <p:nvSpPr>
          <p:cNvPr id="70" name="Rounded Rectangle 69"/>
          <p:cNvSpPr/>
          <p:nvPr/>
        </p:nvSpPr>
        <p:spPr>
          <a:xfrm>
            <a:off x="9550400" y="2222500"/>
            <a:ext cx="2032000" cy="2273300"/>
          </a:xfrm>
          <a:prstGeom prst="roundRect">
            <a:avLst>
              <a:gd name="adj" fmla="val 5625"/>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9550400" y="2171700"/>
            <a:ext cx="2032000" cy="2273300"/>
          </a:xfrm>
          <a:prstGeom prst="roundRect">
            <a:avLst>
              <a:gd name="adj" fmla="val 562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9753600" y="2184400"/>
            <a:ext cx="1625600" cy="0"/>
          </a:xfrm>
          <a:prstGeom prst="line">
            <a:avLst/>
          </a:prstGeom>
          <a:ln w="31750">
            <a:solidFill>
              <a:srgbClr val="CF0035"/>
            </a:solidFill>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10172700" y="2425700"/>
            <a:ext cx="787400" cy="787400"/>
          </a:xfrm>
          <a:prstGeom prst="roundRect">
            <a:avLst>
              <a:gd name="adj" fmla="val 19354"/>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flipH="1">
            <a:off x="10274300" y="2552700"/>
            <a:ext cx="114300" cy="0"/>
          </a:xfrm>
          <a:prstGeom prst="line">
            <a:avLst/>
          </a:prstGeom>
          <a:ln w="2159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0274300" y="2552700"/>
            <a:ext cx="0" cy="127000"/>
          </a:xfrm>
          <a:prstGeom prst="line">
            <a:avLst/>
          </a:prstGeom>
          <a:ln w="2159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0744200" y="2552700"/>
            <a:ext cx="114300" cy="0"/>
          </a:xfrm>
          <a:prstGeom prst="line">
            <a:avLst/>
          </a:prstGeom>
          <a:ln w="2159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858500" y="2552700"/>
            <a:ext cx="0" cy="127000"/>
          </a:xfrm>
          <a:prstGeom prst="line">
            <a:avLst/>
          </a:prstGeom>
          <a:ln w="2159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0274300" y="2959100"/>
            <a:ext cx="0" cy="127000"/>
          </a:xfrm>
          <a:prstGeom prst="line">
            <a:avLst/>
          </a:prstGeom>
          <a:ln w="2159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274300" y="3086100"/>
            <a:ext cx="114300" cy="0"/>
          </a:xfrm>
          <a:prstGeom prst="line">
            <a:avLst/>
          </a:prstGeom>
          <a:ln w="2159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858500" y="2959100"/>
            <a:ext cx="0" cy="127000"/>
          </a:xfrm>
          <a:prstGeom prst="line">
            <a:avLst/>
          </a:prstGeom>
          <a:ln w="2159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0744200" y="3086100"/>
            <a:ext cx="114300" cy="0"/>
          </a:xfrm>
          <a:prstGeom prst="line">
            <a:avLst/>
          </a:prstGeom>
          <a:ln w="2159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0426700" y="2705100"/>
            <a:ext cx="139700" cy="203200"/>
          </a:xfrm>
          <a:prstGeom prst="line">
            <a:avLst/>
          </a:prstGeom>
          <a:ln w="1778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566400" y="2705100"/>
            <a:ext cx="139700" cy="203200"/>
          </a:xfrm>
          <a:prstGeom prst="line">
            <a:avLst/>
          </a:prstGeom>
          <a:ln w="1778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10426700" y="2908300"/>
            <a:ext cx="279400" cy="0"/>
          </a:xfrm>
          <a:prstGeom prst="line">
            <a:avLst/>
          </a:prstGeom>
          <a:ln w="17780">
            <a:solidFill>
              <a:srgbClr val="CF0035"/>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0375900" y="2857500"/>
            <a:ext cx="101600" cy="101600"/>
          </a:xfrm>
          <a:prstGeom prst="ellipse">
            <a:avLst/>
          </a:prstGeom>
          <a:solidFill>
            <a:srgbClr val="FBE9EE"/>
          </a:solidFill>
          <a:ln w="2159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0515600" y="2654300"/>
            <a:ext cx="101600" cy="101600"/>
          </a:xfrm>
          <a:prstGeom prst="ellipse">
            <a:avLst/>
          </a:prstGeom>
          <a:solidFill>
            <a:srgbClr val="FBE9EE"/>
          </a:solidFill>
          <a:ln w="2159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0655300" y="2857500"/>
            <a:ext cx="101600" cy="101600"/>
          </a:xfrm>
          <a:prstGeom prst="ellipse">
            <a:avLst/>
          </a:prstGeom>
          <a:solidFill>
            <a:srgbClr val="FBE9EE"/>
          </a:solidFill>
          <a:ln w="2159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702800" y="3416300"/>
            <a:ext cx="17272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142338"/>
                </a:solidFill>
                <a:latin typeface="Arial"/>
              </a:rPr>
              <a:t>CUSTOM</a:t>
            </a:r>
          </a:p>
        </p:txBody>
      </p:sp>
      <p:sp>
        <p:nvSpPr>
          <p:cNvPr id="89" name="Rounded Rectangle 88"/>
          <p:cNvSpPr/>
          <p:nvPr/>
        </p:nvSpPr>
        <p:spPr>
          <a:xfrm>
            <a:off x="9728200" y="3873500"/>
            <a:ext cx="1676400" cy="368300"/>
          </a:xfrm>
          <a:prstGeom prst="roundRect">
            <a:avLst>
              <a:gd name="adj" fmla="val 17241"/>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804400" y="3949700"/>
            <a:ext cx="1524000" cy="254000"/>
          </a:xfrm>
          <a:prstGeom prst="rect">
            <a:avLst/>
          </a:prstGeom>
          <a:noFill/>
        </p:spPr>
        <p:txBody>
          <a:bodyPr wrap="none" lIns="0" rIns="0" tIns="0" bIns="0" anchor="t">
            <a:noAutofit/>
          </a:bodyPr>
          <a:lstStyle/>
          <a:p>
            <a:pPr algn="ctr">
              <a:lnSpc>
                <a:spcPts val="1600"/>
              </a:lnSpc>
              <a:spcBef>
                <a:spcPts val="0"/>
              </a:spcBef>
              <a:spcAft>
                <a:spcPts val="0"/>
              </a:spcAft>
            </a:pPr>
            <a:r>
              <a:rPr sz="1600" b="0">
                <a:solidFill>
                  <a:srgbClr val="CF0035"/>
                </a:solidFill>
                <a:latin typeface="Courier New"/>
              </a:rPr>
              <a:t>sovereign-a</a:t>
            </a:r>
          </a:p>
        </p:txBody>
      </p:sp>
      <p:sp>
        <p:nvSpPr>
          <p:cNvPr id="91" name="Rounded Rectangle 90"/>
          <p:cNvSpPr/>
          <p:nvPr/>
        </p:nvSpPr>
        <p:spPr>
          <a:xfrm>
            <a:off x="609600" y="4851400"/>
            <a:ext cx="10972800" cy="838200"/>
          </a:xfrm>
          <a:prstGeom prst="roundRect">
            <a:avLst>
              <a:gd name="adj" fmla="val 13636"/>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Picture 91" descr="image.png"/>
          <p:cNvPicPr>
            <a:picLocks noChangeAspect="1"/>
          </p:cNvPicPr>
          <p:nvPr/>
        </p:nvPicPr>
        <p:blipFill>
          <a:blip r:embed="rId2"/>
          <a:stretch>
            <a:fillRect/>
          </a:stretch>
        </p:blipFill>
        <p:spPr>
          <a:xfrm>
            <a:off x="876300" y="5041900"/>
            <a:ext cx="469900" cy="469900"/>
          </a:xfrm>
          <a:prstGeom prst="rect">
            <a:avLst/>
          </a:prstGeom>
        </p:spPr>
      </p:pic>
      <p:sp>
        <p:nvSpPr>
          <p:cNvPr id="93" name="TextBox 92"/>
          <p:cNvSpPr txBox="1"/>
          <p:nvPr/>
        </p:nvSpPr>
        <p:spPr>
          <a:xfrm>
            <a:off x="1562100" y="4991100"/>
            <a:ext cx="97155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FFFFFF"/>
                </a:solidFill>
                <a:latin typeface="Arial"/>
              </a:rPr>
              <a:t>Each tag identifies a k8gb cluster.</a:t>
            </a:r>
          </a:p>
        </p:txBody>
      </p:sp>
      <p:sp>
        <p:nvSpPr>
          <p:cNvPr id="94" name="TextBox 93"/>
          <p:cNvSpPr txBox="1"/>
          <p:nvPr/>
        </p:nvSpPr>
        <p:spPr>
          <a:xfrm>
            <a:off x="1562100" y="5372100"/>
            <a:ext cx="97155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B8C8D9"/>
                </a:solidFill>
                <a:latin typeface="Arial"/>
              </a:rPr>
              <a:t>Rack or server boundaries use independent clusters, including single-node clusters.</a:t>
            </a:r>
          </a:p>
        </p:txBody>
      </p:sp>
      <p:sp>
        <p:nvSpPr>
          <p:cNvPr id="95" name="Rounded Rectangle 94"/>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87400" y="5892800"/>
            <a:ext cx="10617200" cy="349250"/>
          </a:xfrm>
          <a:prstGeom prst="rect">
            <a:avLst/>
          </a:prstGeom>
          <a:noFill/>
        </p:spPr>
        <p:txBody>
          <a:bodyPr wrap="none" lIns="0" rIns="0" tIns="0" bIns="0" anchor="t">
            <a:noAutofit/>
          </a:bodyPr>
          <a:lstStyle/>
          <a:p>
            <a:pPr algn="ctr">
              <a:lnSpc>
                <a:spcPts val="2200"/>
              </a:lnSpc>
              <a:spcBef>
                <a:spcPts val="0"/>
              </a:spcBef>
              <a:spcAft>
                <a:spcPts val="0"/>
              </a:spcAft>
            </a:pPr>
            <a:r>
              <a:rPr sz="2200" b="1">
                <a:solidFill>
                  <a:srgbClr val="142338"/>
                </a:solidFill>
                <a:latin typeface="Arial"/>
              </a:rPr>
              <a:t>Choose boundaries that match your sovereignty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F46A87"/>
                </a:solidFill>
                <a:latin typeface="Arial"/>
              </a:rPr>
              <a:t>LIVE DEMO · A / EU → B / US → A / EU</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Arial"/>
              </a:rPr>
              <a:t>12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FFFFFF"/>
                </a:solidFill>
                <a:latin typeface="Arial"/>
              </a:rPr>
              <a:t>One hostname. Two clusters.</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B8C8D9"/>
                </a:solidFill>
                <a:latin typeface="Arial"/>
              </a:rPr>
              <a:t>All local. Two application clusters represent different locations.</a:t>
            </a:r>
          </a:p>
        </p:txBody>
      </p:sp>
      <p:cxnSp>
        <p:nvCxnSpPr>
          <p:cNvPr id="7" name="Connector 6"/>
          <p:cNvCxnSpPr/>
          <p:nvPr/>
        </p:nvCxnSpPr>
        <p:spPr>
          <a:xfrm>
            <a:off x="609600" y="6426200"/>
            <a:ext cx="10972800" cy="0"/>
          </a:xfrm>
          <a:prstGeom prst="line">
            <a:avLst/>
          </a:prstGeom>
          <a:ln w="8890">
            <a:solidFill>
              <a:srgbClr val="3850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B8C8D9"/>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B8C8D9"/>
                </a:solidFill>
                <a:latin typeface="Arial"/>
              </a:rPr>
              <a:t>YURY TSAREV  /  K8GB</a:t>
            </a:r>
          </a:p>
        </p:txBody>
      </p:sp>
      <p:cxnSp>
        <p:nvCxnSpPr>
          <p:cNvPr id="10" name="Connector 9"/>
          <p:cNvCxnSpPr/>
          <p:nvPr/>
        </p:nvCxnSpPr>
        <p:spPr>
          <a:xfrm flipH="1">
            <a:off x="2844800" y="2590800"/>
            <a:ext cx="1346200" cy="0"/>
          </a:xfrm>
          <a:prstGeom prst="line">
            <a:avLst/>
          </a:prstGeom>
          <a:ln w="21590">
            <a:solidFill>
              <a:srgbClr val="83AD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844800" y="2590800"/>
            <a:ext cx="0" cy="914400"/>
          </a:xfrm>
          <a:prstGeom prst="line">
            <a:avLst/>
          </a:prstGeom>
          <a:ln w="21590">
            <a:solidFill>
              <a:srgbClr val="83AD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001000" y="2590800"/>
            <a:ext cx="1346200" cy="0"/>
          </a:xfrm>
          <a:prstGeom prst="line">
            <a:avLst/>
          </a:prstGeom>
          <a:ln w="21590">
            <a:solidFill>
              <a:srgbClr val="66CBC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347200" y="2590800"/>
            <a:ext cx="0" cy="914400"/>
          </a:xfrm>
          <a:prstGeom prst="line">
            <a:avLst/>
          </a:prstGeom>
          <a:ln w="21590">
            <a:solidFill>
              <a:srgbClr val="66CB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89000" y="2984500"/>
            <a:ext cx="1701800" cy="213359"/>
          </a:xfrm>
          <a:prstGeom prst="rect">
            <a:avLst/>
          </a:prstGeom>
          <a:noFill/>
        </p:spPr>
        <p:txBody>
          <a:bodyPr wrap="none" lIns="0" rIns="0" tIns="0" bIns="0" anchor="t">
            <a:noAutofit/>
          </a:bodyPr>
          <a:lstStyle/>
          <a:p>
            <a:pPr algn="r">
              <a:lnSpc>
                <a:spcPts val="1380"/>
              </a:lnSpc>
              <a:spcBef>
                <a:spcPts val="0"/>
              </a:spcBef>
              <a:spcAft>
                <a:spcPts val="0"/>
              </a:spcAft>
            </a:pPr>
            <a:r>
              <a:rPr sz="1200" b="0">
                <a:solidFill>
                  <a:srgbClr val="83ADFF"/>
                </a:solidFill>
                <a:latin typeface="Arial"/>
              </a:rPr>
              <a:t>NS delegation</a:t>
            </a:r>
          </a:p>
        </p:txBody>
      </p:sp>
      <p:sp>
        <p:nvSpPr>
          <p:cNvPr id="15" name="TextBox 14"/>
          <p:cNvSpPr txBox="1"/>
          <p:nvPr/>
        </p:nvSpPr>
        <p:spPr>
          <a:xfrm>
            <a:off x="9601200" y="2984500"/>
            <a:ext cx="1701800" cy="213359"/>
          </a:xfrm>
          <a:prstGeom prst="rect">
            <a:avLst/>
          </a:prstGeom>
          <a:noFill/>
        </p:spPr>
        <p:txBody>
          <a:bodyPr wrap="none" lIns="0" rIns="0" tIns="0" bIns="0" anchor="t">
            <a:noAutofit/>
          </a:bodyPr>
          <a:lstStyle/>
          <a:p>
            <a:pPr algn="l">
              <a:lnSpc>
                <a:spcPts val="1380"/>
              </a:lnSpc>
              <a:spcBef>
                <a:spcPts val="0"/>
              </a:spcBef>
              <a:spcAft>
                <a:spcPts val="0"/>
              </a:spcAft>
            </a:pPr>
            <a:r>
              <a:rPr sz="1200" b="0">
                <a:solidFill>
                  <a:srgbClr val="66CBC9"/>
                </a:solidFill>
                <a:latin typeface="Arial"/>
              </a:rPr>
              <a:t>NS delegation</a:t>
            </a:r>
          </a:p>
        </p:txBody>
      </p:sp>
      <p:sp>
        <p:nvSpPr>
          <p:cNvPr id="16" name="Rounded Rectangle 15"/>
          <p:cNvSpPr/>
          <p:nvPr/>
        </p:nvSpPr>
        <p:spPr>
          <a:xfrm>
            <a:off x="4191000" y="2108200"/>
            <a:ext cx="3810000" cy="965200"/>
          </a:xfrm>
          <a:prstGeom prst="roundRect">
            <a:avLst>
              <a:gd name="adj" fmla="val 13157"/>
            </a:avLst>
          </a:prstGeom>
          <a:solidFill>
            <a:srgbClr val="1A3047"/>
          </a:solidFill>
          <a:ln w="12700">
            <a:solidFill>
              <a:srgbClr val="3850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19600" y="2311400"/>
            <a:ext cx="469900" cy="114300"/>
          </a:xfrm>
          <a:prstGeom prst="roundRect">
            <a:avLst>
              <a:gd name="adj" fmla="val 22222"/>
            </a:avLst>
          </a:prstGeom>
          <a:solidFill>
            <a:srgbClr val="1A3047"/>
          </a:solidFill>
          <a:ln w="13970">
            <a:solidFill>
              <a:srgbClr val="B8C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4483100" y="2368550"/>
            <a:ext cx="177800" cy="0"/>
          </a:xfrm>
          <a:prstGeom prst="line">
            <a:avLst/>
          </a:prstGeom>
          <a:ln w="12700">
            <a:solidFill>
              <a:srgbClr val="B8C8D9"/>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798060" y="2353310"/>
            <a:ext cx="30480" cy="30480"/>
          </a:xfrm>
          <a:prstGeom prst="ellipse">
            <a:avLst/>
          </a:prstGeom>
          <a:solidFill>
            <a:srgbClr val="B8C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9600" y="2476500"/>
            <a:ext cx="469900" cy="114300"/>
          </a:xfrm>
          <a:prstGeom prst="roundRect">
            <a:avLst>
              <a:gd name="adj" fmla="val 22222"/>
            </a:avLst>
          </a:prstGeom>
          <a:solidFill>
            <a:srgbClr val="1A3047"/>
          </a:solidFill>
          <a:ln w="13970">
            <a:solidFill>
              <a:srgbClr val="B8C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4483100" y="2533650"/>
            <a:ext cx="177800" cy="0"/>
          </a:xfrm>
          <a:prstGeom prst="line">
            <a:avLst/>
          </a:prstGeom>
          <a:ln w="12700">
            <a:solidFill>
              <a:srgbClr val="B8C8D9"/>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798060" y="2518410"/>
            <a:ext cx="30480" cy="30480"/>
          </a:xfrm>
          <a:prstGeom prst="ellipse">
            <a:avLst/>
          </a:prstGeom>
          <a:solidFill>
            <a:srgbClr val="B8C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419600" y="2641600"/>
            <a:ext cx="469900" cy="114300"/>
          </a:xfrm>
          <a:prstGeom prst="roundRect">
            <a:avLst>
              <a:gd name="adj" fmla="val 22222"/>
            </a:avLst>
          </a:prstGeom>
          <a:solidFill>
            <a:srgbClr val="1A3047"/>
          </a:solidFill>
          <a:ln w="13970">
            <a:solidFill>
              <a:srgbClr val="B8C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4483100" y="2698750"/>
            <a:ext cx="177800" cy="0"/>
          </a:xfrm>
          <a:prstGeom prst="line">
            <a:avLst/>
          </a:prstGeom>
          <a:ln w="12700">
            <a:solidFill>
              <a:srgbClr val="B8C8D9"/>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4798060" y="2683510"/>
            <a:ext cx="30480" cy="30480"/>
          </a:xfrm>
          <a:prstGeom prst="ellipse">
            <a:avLst/>
          </a:prstGeom>
          <a:solidFill>
            <a:srgbClr val="B8C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92700" y="2260600"/>
            <a:ext cx="26797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FFFFFF"/>
                </a:solidFill>
                <a:latin typeface="Arial"/>
              </a:rPr>
              <a:t>Local BIND9</a:t>
            </a:r>
          </a:p>
        </p:txBody>
      </p:sp>
      <p:sp>
        <p:nvSpPr>
          <p:cNvPr id="27" name="TextBox 26"/>
          <p:cNvSpPr txBox="1"/>
          <p:nvPr/>
        </p:nvSpPr>
        <p:spPr>
          <a:xfrm>
            <a:off x="5092700" y="2679700"/>
            <a:ext cx="2679700" cy="227965"/>
          </a:xfrm>
          <a:prstGeom prst="rect">
            <a:avLst/>
          </a:prstGeom>
          <a:noFill/>
        </p:spPr>
        <p:txBody>
          <a:bodyPr wrap="none" lIns="0" rIns="0" tIns="0" bIns="0" anchor="t">
            <a:noAutofit/>
          </a:bodyPr>
          <a:lstStyle/>
          <a:p>
            <a:pPr algn="l">
              <a:lnSpc>
                <a:spcPts val="1495"/>
              </a:lnSpc>
              <a:spcBef>
                <a:spcPts val="0"/>
              </a:spcBef>
              <a:spcAft>
                <a:spcPts val="0"/>
              </a:spcAft>
            </a:pPr>
            <a:r>
              <a:rPr sz="1300" b="0">
                <a:solidFill>
                  <a:srgbClr val="B8C8D9"/>
                </a:solidFill>
                <a:latin typeface="Arial"/>
              </a:rPr>
              <a:t>Parent DNS · example.com</a:t>
            </a:r>
          </a:p>
        </p:txBody>
      </p:sp>
      <p:sp>
        <p:nvSpPr>
          <p:cNvPr id="28" name="TextBox 27"/>
          <p:cNvSpPr txBox="1"/>
          <p:nvPr/>
        </p:nvSpPr>
        <p:spPr>
          <a:xfrm>
            <a:off x="4064000" y="3175000"/>
            <a:ext cx="4064000" cy="213359"/>
          </a:xfrm>
          <a:prstGeom prst="rect">
            <a:avLst/>
          </a:prstGeom>
          <a:noFill/>
        </p:spPr>
        <p:txBody>
          <a:bodyPr wrap="none" lIns="0" rIns="0" tIns="0" bIns="0" anchor="t">
            <a:noAutofit/>
          </a:bodyPr>
          <a:lstStyle/>
          <a:p>
            <a:pPr algn="ctr">
              <a:lnSpc>
                <a:spcPts val="1380"/>
              </a:lnSpc>
              <a:spcBef>
                <a:spcPts val="0"/>
              </a:spcBef>
              <a:spcAft>
                <a:spcPts val="0"/>
              </a:spcAft>
            </a:pPr>
            <a:r>
              <a:rPr sz="1200" b="0">
                <a:solidFill>
                  <a:srgbClr val="B8C8D9"/>
                </a:solidFill>
                <a:latin typeface="Arial"/>
              </a:rPr>
              <a:t>Delegates cloud.example.com</a:t>
            </a:r>
          </a:p>
        </p:txBody>
      </p:sp>
      <p:sp>
        <p:nvSpPr>
          <p:cNvPr id="29" name="Rounded Rectangle 28"/>
          <p:cNvSpPr/>
          <p:nvPr/>
        </p:nvSpPr>
        <p:spPr>
          <a:xfrm>
            <a:off x="609600" y="3505200"/>
            <a:ext cx="4470400" cy="1727200"/>
          </a:xfrm>
          <a:prstGeom prst="roundRect">
            <a:avLst>
              <a:gd name="adj" fmla="val 7352"/>
            </a:avLst>
          </a:prstGeom>
          <a:solidFill>
            <a:srgbClr val="1A3047"/>
          </a:solidFill>
          <a:ln w="12700">
            <a:solidFill>
              <a:srgbClr val="3850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838200" y="3517900"/>
            <a:ext cx="4013200" cy="0"/>
          </a:xfrm>
          <a:prstGeom prst="line">
            <a:avLst/>
          </a:prstGeom>
          <a:ln w="30480">
            <a:solidFill>
              <a:srgbClr val="83ADFF"/>
            </a:solidFill>
          </a:ln>
        </p:spPr>
        <p:style>
          <a:lnRef idx="2">
            <a:schemeClr val="accent1"/>
          </a:lnRef>
          <a:fillRef idx="0">
            <a:schemeClr val="accent1"/>
          </a:fillRef>
          <a:effectRef idx="1">
            <a:schemeClr val="accent1"/>
          </a:effectRef>
          <a:fontRef idx="minor">
            <a:schemeClr val="tx1"/>
          </a:fontRef>
        </p:style>
      </p:cxnSp>
      <p:pic>
        <p:nvPicPr>
          <p:cNvPr id="31" name="Picture 30" descr="image.png"/>
          <p:cNvPicPr>
            <a:picLocks noChangeAspect="1"/>
          </p:cNvPicPr>
          <p:nvPr/>
        </p:nvPicPr>
        <p:blipFill>
          <a:blip r:embed="rId2"/>
          <a:stretch>
            <a:fillRect/>
          </a:stretch>
        </p:blipFill>
        <p:spPr>
          <a:xfrm>
            <a:off x="838200" y="3657600"/>
            <a:ext cx="469900" cy="469900"/>
          </a:xfrm>
          <a:prstGeom prst="rect">
            <a:avLst/>
          </a:prstGeom>
        </p:spPr>
      </p:pic>
      <p:sp>
        <p:nvSpPr>
          <p:cNvPr id="32" name="TextBox 31"/>
          <p:cNvSpPr txBox="1"/>
          <p:nvPr/>
        </p:nvSpPr>
        <p:spPr>
          <a:xfrm>
            <a:off x="1473200" y="3644900"/>
            <a:ext cx="21590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FFFFFF"/>
                </a:solidFill>
                <a:latin typeface="Arial"/>
              </a:rPr>
              <a:t>CLUSTER A</a:t>
            </a:r>
          </a:p>
        </p:txBody>
      </p:sp>
      <p:sp>
        <p:nvSpPr>
          <p:cNvPr id="33" name="Rounded Rectangle 32"/>
          <p:cNvSpPr/>
          <p:nvPr/>
        </p:nvSpPr>
        <p:spPr>
          <a:xfrm>
            <a:off x="3683000" y="3632200"/>
            <a:ext cx="1168400" cy="317500"/>
          </a:xfrm>
          <a:prstGeom prst="roundRect">
            <a:avLst>
              <a:gd name="adj" fmla="val 48000"/>
            </a:avLst>
          </a:prstGeom>
          <a:solidFill>
            <a:srgbClr val="24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46500" y="3683000"/>
            <a:ext cx="10414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83ADFF"/>
                </a:solidFill>
                <a:latin typeface="Arial"/>
              </a:rPr>
              <a:t>PRIMARY</a:t>
            </a:r>
          </a:p>
        </p:txBody>
      </p:sp>
      <p:sp>
        <p:nvSpPr>
          <p:cNvPr id="35" name="TextBox 34"/>
          <p:cNvSpPr txBox="1"/>
          <p:nvPr/>
        </p:nvSpPr>
        <p:spPr>
          <a:xfrm>
            <a:off x="1473200" y="4025900"/>
            <a:ext cx="32512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B8C8D9"/>
                </a:solidFill>
                <a:latin typeface="Arial"/>
              </a:rPr>
              <a:t>Geotag eu · primary application</a:t>
            </a:r>
          </a:p>
        </p:txBody>
      </p:sp>
      <p:cxnSp>
        <p:nvCxnSpPr>
          <p:cNvPr id="36" name="Connector 35"/>
          <p:cNvCxnSpPr/>
          <p:nvPr/>
        </p:nvCxnSpPr>
        <p:spPr>
          <a:xfrm>
            <a:off x="863600" y="4356100"/>
            <a:ext cx="3962400" cy="0"/>
          </a:xfrm>
          <a:prstGeom prst="line">
            <a:avLst/>
          </a:prstGeom>
          <a:ln w="12700">
            <a:solidFill>
              <a:srgbClr val="385068"/>
            </a:solidFill>
          </a:ln>
        </p:spPr>
        <p:style>
          <a:lnRef idx="2">
            <a:schemeClr val="accent1"/>
          </a:lnRef>
          <a:fillRef idx="0">
            <a:schemeClr val="accent1"/>
          </a:fillRef>
          <a:effectRef idx="1">
            <a:schemeClr val="accent1"/>
          </a:effectRef>
          <a:fontRef idx="minor">
            <a:schemeClr val="tx1"/>
          </a:fontRef>
        </p:style>
      </p:cxnSp>
      <p:pic>
        <p:nvPicPr>
          <p:cNvPr id="37" name="Picture 36" descr="image.png"/>
          <p:cNvPicPr>
            <a:picLocks noChangeAspect="1"/>
          </p:cNvPicPr>
          <p:nvPr/>
        </p:nvPicPr>
        <p:blipFill>
          <a:blip r:embed="rId3"/>
          <a:stretch>
            <a:fillRect/>
          </a:stretch>
        </p:blipFill>
        <p:spPr>
          <a:xfrm>
            <a:off x="863600" y="4487207"/>
            <a:ext cx="342899" cy="334685"/>
          </a:xfrm>
          <a:prstGeom prst="rect">
            <a:avLst/>
          </a:prstGeom>
        </p:spPr>
      </p:pic>
      <p:sp>
        <p:nvSpPr>
          <p:cNvPr id="38" name="TextBox 37"/>
          <p:cNvSpPr txBox="1"/>
          <p:nvPr/>
        </p:nvSpPr>
        <p:spPr>
          <a:xfrm>
            <a:off x="1320800" y="4521200"/>
            <a:ext cx="914400" cy="286384"/>
          </a:xfrm>
          <a:prstGeom prst="rect">
            <a:avLst/>
          </a:prstGeom>
          <a:noFill/>
        </p:spPr>
        <p:txBody>
          <a:bodyPr wrap="none" lIns="0" rIns="0" tIns="0" bIns="0" anchor="t">
            <a:noAutofit/>
          </a:bodyPr>
          <a:lstStyle/>
          <a:p>
            <a:pPr algn="l">
              <a:lnSpc>
                <a:spcPts val="1954"/>
              </a:lnSpc>
              <a:spcBef>
                <a:spcPts val="0"/>
              </a:spcBef>
              <a:spcAft>
                <a:spcPts val="0"/>
              </a:spcAft>
            </a:pPr>
            <a:r>
              <a:rPr sz="1700" b="1">
                <a:solidFill>
                  <a:srgbClr val="FFFFFF"/>
                </a:solidFill>
                <a:latin typeface="Arial"/>
              </a:rPr>
              <a:t>k8gb</a:t>
            </a:r>
          </a:p>
        </p:txBody>
      </p:sp>
      <p:pic>
        <p:nvPicPr>
          <p:cNvPr id="39" name="Picture 38" descr="image.png"/>
          <p:cNvPicPr>
            <a:picLocks noChangeAspect="1"/>
          </p:cNvPicPr>
          <p:nvPr/>
        </p:nvPicPr>
        <p:blipFill>
          <a:blip r:embed="rId4"/>
          <a:stretch>
            <a:fillRect/>
          </a:stretch>
        </p:blipFill>
        <p:spPr>
          <a:xfrm>
            <a:off x="2755900" y="4483100"/>
            <a:ext cx="342900" cy="342900"/>
          </a:xfrm>
          <a:prstGeom prst="rect">
            <a:avLst/>
          </a:prstGeom>
        </p:spPr>
      </p:pic>
      <p:sp>
        <p:nvSpPr>
          <p:cNvPr id="40" name="TextBox 39"/>
          <p:cNvSpPr txBox="1"/>
          <p:nvPr/>
        </p:nvSpPr>
        <p:spPr>
          <a:xfrm>
            <a:off x="3213100" y="4521200"/>
            <a:ext cx="1612900" cy="286384"/>
          </a:xfrm>
          <a:prstGeom prst="rect">
            <a:avLst/>
          </a:prstGeom>
          <a:noFill/>
        </p:spPr>
        <p:txBody>
          <a:bodyPr wrap="none" lIns="0" rIns="0" tIns="0" bIns="0" anchor="t">
            <a:noAutofit/>
          </a:bodyPr>
          <a:lstStyle/>
          <a:p>
            <a:pPr algn="l">
              <a:lnSpc>
                <a:spcPts val="1954"/>
              </a:lnSpc>
              <a:spcBef>
                <a:spcPts val="0"/>
              </a:spcBef>
              <a:spcAft>
                <a:spcPts val="0"/>
              </a:spcAft>
            </a:pPr>
            <a:r>
              <a:rPr sz="1700" b="1">
                <a:solidFill>
                  <a:srgbClr val="FFFFFF"/>
                </a:solidFill>
                <a:latin typeface="Arial"/>
              </a:rPr>
              <a:t>CoreDNS</a:t>
            </a:r>
          </a:p>
        </p:txBody>
      </p:sp>
      <p:sp>
        <p:nvSpPr>
          <p:cNvPr id="41" name="Rounded Rectangle 40"/>
          <p:cNvSpPr/>
          <p:nvPr/>
        </p:nvSpPr>
        <p:spPr>
          <a:xfrm>
            <a:off x="863600" y="4927600"/>
            <a:ext cx="215900" cy="152400"/>
          </a:xfrm>
          <a:prstGeom prst="roundRect">
            <a:avLst>
              <a:gd name="adj" fmla="val 16666"/>
            </a:avLst>
          </a:prstGeom>
          <a:solidFill>
            <a:srgbClr val="1A3047"/>
          </a:solidFill>
          <a:ln w="11430">
            <a:solidFill>
              <a:srgbClr val="B8C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863600" y="4978400"/>
            <a:ext cx="215900" cy="0"/>
          </a:xfrm>
          <a:prstGeom prst="line">
            <a:avLst/>
          </a:prstGeom>
          <a:ln w="10160">
            <a:solidFill>
              <a:srgbClr val="B8C8D9"/>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193800" y="4889500"/>
            <a:ext cx="3632200" cy="227965"/>
          </a:xfrm>
          <a:prstGeom prst="rect">
            <a:avLst/>
          </a:prstGeom>
          <a:noFill/>
        </p:spPr>
        <p:txBody>
          <a:bodyPr wrap="none" lIns="0" rIns="0" tIns="0" bIns="0" anchor="t">
            <a:noAutofit/>
          </a:bodyPr>
          <a:lstStyle/>
          <a:p>
            <a:pPr algn="l">
              <a:lnSpc>
                <a:spcPts val="1495"/>
              </a:lnSpc>
              <a:spcBef>
                <a:spcPts val="0"/>
              </a:spcBef>
              <a:spcAft>
                <a:spcPts val="0"/>
              </a:spcAft>
            </a:pPr>
            <a:r>
              <a:rPr sz="1300" b="0">
                <a:solidFill>
                  <a:srgbClr val="B8C8D9"/>
                </a:solidFill>
                <a:latin typeface="Arial"/>
              </a:rPr>
              <a:t>podinfo application · Ingress</a:t>
            </a:r>
          </a:p>
        </p:txBody>
      </p:sp>
      <p:sp>
        <p:nvSpPr>
          <p:cNvPr id="44" name="Rounded Rectangle 43"/>
          <p:cNvSpPr/>
          <p:nvPr/>
        </p:nvSpPr>
        <p:spPr>
          <a:xfrm>
            <a:off x="7112000" y="3505200"/>
            <a:ext cx="4470400" cy="1727200"/>
          </a:xfrm>
          <a:prstGeom prst="roundRect">
            <a:avLst>
              <a:gd name="adj" fmla="val 7352"/>
            </a:avLst>
          </a:prstGeom>
          <a:solidFill>
            <a:srgbClr val="1A3047"/>
          </a:solidFill>
          <a:ln w="12700">
            <a:solidFill>
              <a:srgbClr val="3850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7340600" y="3517900"/>
            <a:ext cx="4013200" cy="0"/>
          </a:xfrm>
          <a:prstGeom prst="line">
            <a:avLst/>
          </a:prstGeom>
          <a:ln w="30480">
            <a:solidFill>
              <a:srgbClr val="66CBC9"/>
            </a:solidFill>
          </a:ln>
        </p:spPr>
        <p:style>
          <a:lnRef idx="2">
            <a:schemeClr val="accent1"/>
          </a:lnRef>
          <a:fillRef idx="0">
            <a:schemeClr val="accent1"/>
          </a:fillRef>
          <a:effectRef idx="1">
            <a:schemeClr val="accent1"/>
          </a:effectRef>
          <a:fontRef idx="minor">
            <a:schemeClr val="tx1"/>
          </a:fontRef>
        </p:style>
      </p:cxnSp>
      <p:pic>
        <p:nvPicPr>
          <p:cNvPr id="46" name="Picture 45" descr="image.png"/>
          <p:cNvPicPr>
            <a:picLocks noChangeAspect="1"/>
          </p:cNvPicPr>
          <p:nvPr/>
        </p:nvPicPr>
        <p:blipFill>
          <a:blip r:embed="rId2"/>
          <a:stretch>
            <a:fillRect/>
          </a:stretch>
        </p:blipFill>
        <p:spPr>
          <a:xfrm>
            <a:off x="7340600" y="3657600"/>
            <a:ext cx="469900" cy="469900"/>
          </a:xfrm>
          <a:prstGeom prst="rect">
            <a:avLst/>
          </a:prstGeom>
        </p:spPr>
      </p:pic>
      <p:sp>
        <p:nvSpPr>
          <p:cNvPr id="47" name="TextBox 46"/>
          <p:cNvSpPr txBox="1"/>
          <p:nvPr/>
        </p:nvSpPr>
        <p:spPr>
          <a:xfrm>
            <a:off x="7975600" y="3644900"/>
            <a:ext cx="21590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FFFFFF"/>
                </a:solidFill>
                <a:latin typeface="Arial"/>
              </a:rPr>
              <a:t>CLUSTER B</a:t>
            </a:r>
          </a:p>
        </p:txBody>
      </p:sp>
      <p:sp>
        <p:nvSpPr>
          <p:cNvPr id="48" name="Rounded Rectangle 47"/>
          <p:cNvSpPr/>
          <p:nvPr/>
        </p:nvSpPr>
        <p:spPr>
          <a:xfrm>
            <a:off x="10185400" y="3632200"/>
            <a:ext cx="1168400" cy="317500"/>
          </a:xfrm>
          <a:prstGeom prst="roundRect">
            <a:avLst>
              <a:gd name="adj" fmla="val 48000"/>
            </a:avLst>
          </a:prstGeom>
          <a:solidFill>
            <a:srgbClr val="173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48900" y="3683000"/>
            <a:ext cx="10414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66CBC9"/>
                </a:solidFill>
                <a:latin typeface="Arial"/>
              </a:rPr>
              <a:t>SECONDARY</a:t>
            </a:r>
          </a:p>
        </p:txBody>
      </p:sp>
      <p:sp>
        <p:nvSpPr>
          <p:cNvPr id="50" name="TextBox 49"/>
          <p:cNvSpPr txBox="1"/>
          <p:nvPr/>
        </p:nvSpPr>
        <p:spPr>
          <a:xfrm>
            <a:off x="7975600" y="4025900"/>
            <a:ext cx="32512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B8C8D9"/>
                </a:solidFill>
                <a:latin typeface="Arial"/>
              </a:rPr>
              <a:t>Geotag us · secondary application</a:t>
            </a:r>
          </a:p>
        </p:txBody>
      </p:sp>
      <p:cxnSp>
        <p:nvCxnSpPr>
          <p:cNvPr id="51" name="Connector 50"/>
          <p:cNvCxnSpPr/>
          <p:nvPr/>
        </p:nvCxnSpPr>
        <p:spPr>
          <a:xfrm>
            <a:off x="7366000" y="4356100"/>
            <a:ext cx="3962400" cy="0"/>
          </a:xfrm>
          <a:prstGeom prst="line">
            <a:avLst/>
          </a:prstGeom>
          <a:ln w="12700">
            <a:solidFill>
              <a:srgbClr val="385068"/>
            </a:solidFill>
          </a:ln>
        </p:spPr>
        <p:style>
          <a:lnRef idx="2">
            <a:schemeClr val="accent1"/>
          </a:lnRef>
          <a:fillRef idx="0">
            <a:schemeClr val="accent1"/>
          </a:fillRef>
          <a:effectRef idx="1">
            <a:schemeClr val="accent1"/>
          </a:effectRef>
          <a:fontRef idx="minor">
            <a:schemeClr val="tx1"/>
          </a:fontRef>
        </p:style>
      </p:cxnSp>
      <p:pic>
        <p:nvPicPr>
          <p:cNvPr id="52" name="Picture 51" descr="image.png"/>
          <p:cNvPicPr>
            <a:picLocks noChangeAspect="1"/>
          </p:cNvPicPr>
          <p:nvPr/>
        </p:nvPicPr>
        <p:blipFill>
          <a:blip r:embed="rId3"/>
          <a:stretch>
            <a:fillRect/>
          </a:stretch>
        </p:blipFill>
        <p:spPr>
          <a:xfrm>
            <a:off x="7366000" y="4487207"/>
            <a:ext cx="342899" cy="334685"/>
          </a:xfrm>
          <a:prstGeom prst="rect">
            <a:avLst/>
          </a:prstGeom>
        </p:spPr>
      </p:pic>
      <p:sp>
        <p:nvSpPr>
          <p:cNvPr id="53" name="TextBox 52"/>
          <p:cNvSpPr txBox="1"/>
          <p:nvPr/>
        </p:nvSpPr>
        <p:spPr>
          <a:xfrm>
            <a:off x="7823200" y="4521200"/>
            <a:ext cx="914400" cy="286384"/>
          </a:xfrm>
          <a:prstGeom prst="rect">
            <a:avLst/>
          </a:prstGeom>
          <a:noFill/>
        </p:spPr>
        <p:txBody>
          <a:bodyPr wrap="none" lIns="0" rIns="0" tIns="0" bIns="0" anchor="t">
            <a:noAutofit/>
          </a:bodyPr>
          <a:lstStyle/>
          <a:p>
            <a:pPr algn="l">
              <a:lnSpc>
                <a:spcPts val="1954"/>
              </a:lnSpc>
              <a:spcBef>
                <a:spcPts val="0"/>
              </a:spcBef>
              <a:spcAft>
                <a:spcPts val="0"/>
              </a:spcAft>
            </a:pPr>
            <a:r>
              <a:rPr sz="1700" b="1">
                <a:solidFill>
                  <a:srgbClr val="FFFFFF"/>
                </a:solidFill>
                <a:latin typeface="Arial"/>
              </a:rPr>
              <a:t>k8gb</a:t>
            </a:r>
          </a:p>
        </p:txBody>
      </p:sp>
      <p:pic>
        <p:nvPicPr>
          <p:cNvPr id="54" name="Picture 53" descr="image.png"/>
          <p:cNvPicPr>
            <a:picLocks noChangeAspect="1"/>
          </p:cNvPicPr>
          <p:nvPr/>
        </p:nvPicPr>
        <p:blipFill>
          <a:blip r:embed="rId4"/>
          <a:stretch>
            <a:fillRect/>
          </a:stretch>
        </p:blipFill>
        <p:spPr>
          <a:xfrm>
            <a:off x="9258300" y="4483100"/>
            <a:ext cx="342900" cy="342900"/>
          </a:xfrm>
          <a:prstGeom prst="rect">
            <a:avLst/>
          </a:prstGeom>
        </p:spPr>
      </p:pic>
      <p:sp>
        <p:nvSpPr>
          <p:cNvPr id="55" name="TextBox 54"/>
          <p:cNvSpPr txBox="1"/>
          <p:nvPr/>
        </p:nvSpPr>
        <p:spPr>
          <a:xfrm>
            <a:off x="9715500" y="4521200"/>
            <a:ext cx="1612900" cy="286384"/>
          </a:xfrm>
          <a:prstGeom prst="rect">
            <a:avLst/>
          </a:prstGeom>
          <a:noFill/>
        </p:spPr>
        <p:txBody>
          <a:bodyPr wrap="none" lIns="0" rIns="0" tIns="0" bIns="0" anchor="t">
            <a:noAutofit/>
          </a:bodyPr>
          <a:lstStyle/>
          <a:p>
            <a:pPr algn="l">
              <a:lnSpc>
                <a:spcPts val="1954"/>
              </a:lnSpc>
              <a:spcBef>
                <a:spcPts val="0"/>
              </a:spcBef>
              <a:spcAft>
                <a:spcPts val="0"/>
              </a:spcAft>
            </a:pPr>
            <a:r>
              <a:rPr sz="1700" b="1">
                <a:solidFill>
                  <a:srgbClr val="FFFFFF"/>
                </a:solidFill>
                <a:latin typeface="Arial"/>
              </a:rPr>
              <a:t>CoreDNS</a:t>
            </a:r>
          </a:p>
        </p:txBody>
      </p:sp>
      <p:sp>
        <p:nvSpPr>
          <p:cNvPr id="56" name="Rounded Rectangle 55"/>
          <p:cNvSpPr/>
          <p:nvPr/>
        </p:nvSpPr>
        <p:spPr>
          <a:xfrm>
            <a:off x="7366000" y="4927600"/>
            <a:ext cx="215900" cy="152400"/>
          </a:xfrm>
          <a:prstGeom prst="roundRect">
            <a:avLst>
              <a:gd name="adj" fmla="val 16666"/>
            </a:avLst>
          </a:prstGeom>
          <a:solidFill>
            <a:srgbClr val="1A3047"/>
          </a:solidFill>
          <a:ln w="11430">
            <a:solidFill>
              <a:srgbClr val="B8C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7366000" y="4978400"/>
            <a:ext cx="215900" cy="0"/>
          </a:xfrm>
          <a:prstGeom prst="line">
            <a:avLst/>
          </a:prstGeom>
          <a:ln w="10160">
            <a:solidFill>
              <a:srgbClr val="B8C8D9"/>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696200" y="4889500"/>
            <a:ext cx="3632200" cy="227965"/>
          </a:xfrm>
          <a:prstGeom prst="rect">
            <a:avLst/>
          </a:prstGeom>
          <a:noFill/>
        </p:spPr>
        <p:txBody>
          <a:bodyPr wrap="none" lIns="0" rIns="0" tIns="0" bIns="0" anchor="t">
            <a:noAutofit/>
          </a:bodyPr>
          <a:lstStyle/>
          <a:p>
            <a:pPr algn="l">
              <a:lnSpc>
                <a:spcPts val="1495"/>
              </a:lnSpc>
              <a:spcBef>
                <a:spcPts val="0"/>
              </a:spcBef>
              <a:spcAft>
                <a:spcPts val="0"/>
              </a:spcAft>
            </a:pPr>
            <a:r>
              <a:rPr sz="1300" b="0">
                <a:solidFill>
                  <a:srgbClr val="B8C8D9"/>
                </a:solidFill>
                <a:latin typeface="Arial"/>
              </a:rPr>
              <a:t>podinfo application · Ingress</a:t>
            </a:r>
          </a:p>
        </p:txBody>
      </p:sp>
      <p:cxnSp>
        <p:nvCxnSpPr>
          <p:cNvPr id="59" name="Connector 58"/>
          <p:cNvCxnSpPr/>
          <p:nvPr/>
        </p:nvCxnSpPr>
        <p:spPr>
          <a:xfrm flipH="1">
            <a:off x="2844800" y="5689600"/>
            <a:ext cx="1346200" cy="0"/>
          </a:xfrm>
          <a:prstGeom prst="line">
            <a:avLst/>
          </a:prstGeom>
          <a:ln w="19050">
            <a:solidFill>
              <a:srgbClr val="83ADFF"/>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844800" y="5232400"/>
            <a:ext cx="0" cy="457200"/>
          </a:xfrm>
          <a:prstGeom prst="line">
            <a:avLst/>
          </a:prstGeom>
          <a:ln w="19050">
            <a:solidFill>
              <a:srgbClr val="83ADF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001000" y="5689600"/>
            <a:ext cx="1346200" cy="0"/>
          </a:xfrm>
          <a:prstGeom prst="line">
            <a:avLst/>
          </a:prstGeom>
          <a:ln w="19050">
            <a:solidFill>
              <a:srgbClr val="66CBC9"/>
            </a:solidFill>
            <a:prstDash val="dash"/>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9347200" y="5232400"/>
            <a:ext cx="0" cy="457200"/>
          </a:xfrm>
          <a:prstGeom prst="line">
            <a:avLst/>
          </a:prstGeom>
          <a:ln w="19050">
            <a:solidFill>
              <a:srgbClr val="66CB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863600" y="5511800"/>
            <a:ext cx="1701800" cy="213359"/>
          </a:xfrm>
          <a:prstGeom prst="rect">
            <a:avLst/>
          </a:prstGeom>
          <a:noFill/>
        </p:spPr>
        <p:txBody>
          <a:bodyPr wrap="none" lIns="0" rIns="0" tIns="0" bIns="0" anchor="t">
            <a:noAutofit/>
          </a:bodyPr>
          <a:lstStyle/>
          <a:p>
            <a:pPr algn="r">
              <a:lnSpc>
                <a:spcPts val="1380"/>
              </a:lnSpc>
              <a:spcBef>
                <a:spcPts val="0"/>
              </a:spcBef>
              <a:spcAft>
                <a:spcPts val="0"/>
              </a:spcAft>
            </a:pPr>
            <a:r>
              <a:rPr sz="1200" b="0">
                <a:solidFill>
                  <a:srgbClr val="83ADFF"/>
                </a:solidFill>
                <a:latin typeface="Arial"/>
              </a:rPr>
              <a:t>DNS + HTTP</a:t>
            </a:r>
          </a:p>
        </p:txBody>
      </p:sp>
      <p:sp>
        <p:nvSpPr>
          <p:cNvPr id="64" name="TextBox 63"/>
          <p:cNvSpPr txBox="1"/>
          <p:nvPr/>
        </p:nvSpPr>
        <p:spPr>
          <a:xfrm>
            <a:off x="9626600" y="5511800"/>
            <a:ext cx="1701800" cy="213359"/>
          </a:xfrm>
          <a:prstGeom prst="rect">
            <a:avLst/>
          </a:prstGeom>
          <a:noFill/>
        </p:spPr>
        <p:txBody>
          <a:bodyPr wrap="none" lIns="0" rIns="0" tIns="0" bIns="0" anchor="t">
            <a:noAutofit/>
          </a:bodyPr>
          <a:lstStyle/>
          <a:p>
            <a:pPr algn="l">
              <a:lnSpc>
                <a:spcPts val="1380"/>
              </a:lnSpc>
              <a:spcBef>
                <a:spcPts val="0"/>
              </a:spcBef>
              <a:spcAft>
                <a:spcPts val="0"/>
              </a:spcAft>
            </a:pPr>
            <a:r>
              <a:rPr sz="1200" b="0">
                <a:solidFill>
                  <a:srgbClr val="66CBC9"/>
                </a:solidFill>
                <a:latin typeface="Arial"/>
              </a:rPr>
              <a:t>DNS + HTTP</a:t>
            </a:r>
          </a:p>
        </p:txBody>
      </p:sp>
      <p:sp>
        <p:nvSpPr>
          <p:cNvPr id="65" name="Rounded Rectangle 64"/>
          <p:cNvSpPr/>
          <p:nvPr/>
        </p:nvSpPr>
        <p:spPr>
          <a:xfrm>
            <a:off x="4191000" y="5397500"/>
            <a:ext cx="3810000" cy="622300"/>
          </a:xfrm>
          <a:prstGeom prst="roundRect">
            <a:avLst>
              <a:gd name="adj" fmla="val 16326"/>
            </a:avLst>
          </a:prstGeom>
          <a:solidFill>
            <a:srgbClr val="1A3047"/>
          </a:solidFill>
          <a:ln w="12700">
            <a:solidFill>
              <a:srgbClr val="3850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4406900" y="5524500"/>
            <a:ext cx="444500" cy="342900"/>
          </a:xfrm>
          <a:prstGeom prst="roundRect">
            <a:avLst>
              <a:gd name="adj" fmla="val 14814"/>
            </a:avLst>
          </a:prstGeom>
          <a:solidFill>
            <a:srgbClr val="1A3047"/>
          </a:solidFill>
          <a:ln w="15240">
            <a:solidFill>
              <a:srgbClr val="B8C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4495800" y="5613400"/>
            <a:ext cx="63500" cy="63500"/>
          </a:xfrm>
          <a:prstGeom prst="line">
            <a:avLst/>
          </a:prstGeom>
          <a:ln w="21590">
            <a:solidFill>
              <a:srgbClr val="66CBC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4495800" y="5676900"/>
            <a:ext cx="63500" cy="63500"/>
          </a:xfrm>
          <a:prstGeom prst="line">
            <a:avLst/>
          </a:prstGeom>
          <a:ln w="21590">
            <a:solidFill>
              <a:srgbClr val="66CBC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4610100" y="5740400"/>
            <a:ext cx="127000" cy="0"/>
          </a:xfrm>
          <a:prstGeom prst="line">
            <a:avLst/>
          </a:prstGeom>
          <a:ln w="21590">
            <a:solidFill>
              <a:srgbClr val="66CBC9"/>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41900" y="5461000"/>
            <a:ext cx="2730500" cy="315595"/>
          </a:xfrm>
          <a:prstGeom prst="rect">
            <a:avLst/>
          </a:prstGeom>
          <a:noFill/>
        </p:spPr>
        <p:txBody>
          <a:bodyPr wrap="none" lIns="0" rIns="0" tIns="0" bIns="0" anchor="t">
            <a:noAutofit/>
          </a:bodyPr>
          <a:lstStyle/>
          <a:p>
            <a:pPr algn="l">
              <a:lnSpc>
                <a:spcPts val="2185"/>
              </a:lnSpc>
              <a:spcBef>
                <a:spcPts val="0"/>
              </a:spcBef>
              <a:spcAft>
                <a:spcPts val="0"/>
              </a:spcAft>
            </a:pPr>
            <a:r>
              <a:rPr sz="1900" b="1">
                <a:solidFill>
                  <a:srgbClr val="FFFFFF"/>
                </a:solidFill>
                <a:latin typeface="Arial"/>
              </a:rPr>
              <a:t>CLI dashboard</a:t>
            </a:r>
          </a:p>
        </p:txBody>
      </p:sp>
      <p:sp>
        <p:nvSpPr>
          <p:cNvPr id="71" name="TextBox 70"/>
          <p:cNvSpPr txBox="1"/>
          <p:nvPr/>
        </p:nvSpPr>
        <p:spPr>
          <a:xfrm>
            <a:off x="5041900" y="5765800"/>
            <a:ext cx="2730500" cy="198754"/>
          </a:xfrm>
          <a:prstGeom prst="rect">
            <a:avLst/>
          </a:prstGeom>
          <a:noFill/>
        </p:spPr>
        <p:txBody>
          <a:bodyPr wrap="none" lIns="0" rIns="0" tIns="0" bIns="0" anchor="t">
            <a:noAutofit/>
          </a:bodyPr>
          <a:lstStyle/>
          <a:p>
            <a:pPr algn="l">
              <a:lnSpc>
                <a:spcPts val="1264"/>
              </a:lnSpc>
              <a:spcBef>
                <a:spcPts val="0"/>
              </a:spcBef>
              <a:spcAft>
                <a:spcPts val="0"/>
              </a:spcAft>
            </a:pPr>
            <a:r>
              <a:rPr sz="1100" b="0">
                <a:solidFill>
                  <a:srgbClr val="B8C8D9"/>
                </a:solidFill>
                <a:latin typeface="Arial"/>
              </a:rPr>
              <a:t>DNS · cache · HTTP responses</a:t>
            </a:r>
          </a:p>
        </p:txBody>
      </p:sp>
      <p:sp>
        <p:nvSpPr>
          <p:cNvPr id="72" name="TextBox 71"/>
          <p:cNvSpPr txBox="1"/>
          <p:nvPr/>
        </p:nvSpPr>
        <p:spPr>
          <a:xfrm>
            <a:off x="609600" y="6134100"/>
            <a:ext cx="10972800" cy="254000"/>
          </a:xfrm>
          <a:prstGeom prst="rect">
            <a:avLst/>
          </a:prstGeom>
          <a:noFill/>
        </p:spPr>
        <p:txBody>
          <a:bodyPr wrap="none" lIns="0" rIns="0" tIns="0" bIns="0" anchor="t">
            <a:noAutofit/>
          </a:bodyPr>
          <a:lstStyle/>
          <a:p>
            <a:pPr algn="ctr">
              <a:lnSpc>
                <a:spcPts val="1600"/>
              </a:lnSpc>
              <a:spcBef>
                <a:spcPts val="0"/>
              </a:spcBef>
              <a:spcAft>
                <a:spcPts val="0"/>
              </a:spcAft>
            </a:pPr>
            <a:r>
              <a:rPr sz="1600" b="1">
                <a:solidFill>
                  <a:srgbClr val="FFFFFF"/>
                </a:solidFill>
                <a:latin typeface="Arial"/>
              </a:rPr>
              <a:t>Observe A → remove A’s ready targets → watch B → restore 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PART 2 · OPERATING K8GB</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13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A new DNS answer is not an instant switch</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Detection, DNS publication and client recovery happen at different times.</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cxnSp>
        <p:nvCxnSpPr>
          <p:cNvPr id="10" name="Connector 9"/>
          <p:cNvCxnSpPr/>
          <p:nvPr/>
        </p:nvCxnSpPr>
        <p:spPr>
          <a:xfrm>
            <a:off x="1828800" y="3556000"/>
            <a:ext cx="5689600" cy="0"/>
          </a:xfrm>
          <a:prstGeom prst="line">
            <a:avLst/>
          </a:prstGeom>
          <a:ln w="38100">
            <a:solidFill>
              <a:srgbClr val="DAE2E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8400" y="3556000"/>
            <a:ext cx="2844800" cy="0"/>
          </a:xfrm>
          <a:prstGeom prst="line">
            <a:avLst/>
          </a:prstGeom>
          <a:ln w="25400">
            <a:solidFill>
              <a:srgbClr val="087F8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 y="2120900"/>
            <a:ext cx="24384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CF0035"/>
                </a:solidFill>
                <a:latin typeface="Arial"/>
              </a:rPr>
              <a:t>FAILURE</a:t>
            </a:r>
          </a:p>
        </p:txBody>
      </p:sp>
      <p:sp>
        <p:nvSpPr>
          <p:cNvPr id="13" name="Rounded Rectangle 12"/>
          <p:cNvSpPr/>
          <p:nvPr/>
        </p:nvSpPr>
        <p:spPr>
          <a:xfrm>
            <a:off x="1447800" y="2489200"/>
            <a:ext cx="762000" cy="736600"/>
          </a:xfrm>
          <a:prstGeom prst="roundRect">
            <a:avLst>
              <a:gd name="adj" fmla="val 20689"/>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689100" y="3416300"/>
            <a:ext cx="279400" cy="279400"/>
          </a:xfrm>
          <a:prstGeom prst="ellipse">
            <a:avLst/>
          </a:prstGeom>
          <a:solidFill>
            <a:srgbClr val="CF0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63700" y="3467100"/>
            <a:ext cx="3302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FFFFFF"/>
                </a:solidFill>
                <a:latin typeface="Arial"/>
              </a:rPr>
              <a:t>01</a:t>
            </a:r>
          </a:p>
        </p:txBody>
      </p:sp>
      <p:sp>
        <p:nvSpPr>
          <p:cNvPr id="16" name="TextBox 15"/>
          <p:cNvSpPr txBox="1"/>
          <p:nvPr/>
        </p:nvSpPr>
        <p:spPr>
          <a:xfrm>
            <a:off x="609600" y="3924300"/>
            <a:ext cx="2438400" cy="673100"/>
          </a:xfrm>
          <a:prstGeom prst="rect">
            <a:avLst/>
          </a:prstGeom>
          <a:noFill/>
        </p:spPr>
        <p:txBody>
          <a:bodyPr wrap="none" lIns="0" rIns="0" tIns="0" bIns="0" anchor="t">
            <a:noAutofit/>
          </a:bodyPr>
          <a:lstStyle/>
          <a:p>
            <a:pPr algn="ctr">
              <a:lnSpc>
                <a:spcPts val="2500"/>
              </a:lnSpc>
              <a:spcBef>
                <a:spcPts val="0"/>
              </a:spcBef>
              <a:spcAft>
                <a:spcPts val="0"/>
              </a:spcAft>
            </a:pPr>
            <a:r>
              <a:rPr sz="2000" b="0">
                <a:solidFill>
                  <a:srgbClr val="142338"/>
                </a:solidFill>
                <a:latin typeface="Arial"/>
              </a:rPr>
              <a:t>Workload or</a:t>
            </a:r>
          </a:p>
          <a:p>
            <a:pPr algn="ctr">
              <a:lnSpc>
                <a:spcPts val="2500"/>
              </a:lnSpc>
              <a:spcBef>
                <a:spcPts val="0"/>
              </a:spcBef>
              <a:spcAft>
                <a:spcPts val="0"/>
              </a:spcAft>
            </a:pPr>
            <a:r>
              <a:rPr sz="2000" b="0">
                <a:solidFill>
                  <a:srgbClr val="142338"/>
                </a:solidFill>
                <a:latin typeface="Arial"/>
              </a:rPr>
              <a:t>cluster fails</a:t>
            </a:r>
          </a:p>
        </p:txBody>
      </p:sp>
      <p:sp>
        <p:nvSpPr>
          <p:cNvPr id="17" name="TextBox 16"/>
          <p:cNvSpPr txBox="1"/>
          <p:nvPr/>
        </p:nvSpPr>
        <p:spPr>
          <a:xfrm>
            <a:off x="3454400" y="2120900"/>
            <a:ext cx="24384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2762C8"/>
                </a:solidFill>
                <a:latin typeface="Arial"/>
              </a:rPr>
              <a:t>DETECTION</a:t>
            </a:r>
          </a:p>
        </p:txBody>
      </p:sp>
      <p:sp>
        <p:nvSpPr>
          <p:cNvPr id="18" name="Rounded Rectangle 17"/>
          <p:cNvSpPr/>
          <p:nvPr/>
        </p:nvSpPr>
        <p:spPr>
          <a:xfrm>
            <a:off x="4292600" y="2489200"/>
            <a:ext cx="762000" cy="736600"/>
          </a:xfrm>
          <a:prstGeom prst="roundRect">
            <a:avLst>
              <a:gd name="adj" fmla="val 20689"/>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33900" y="3416300"/>
            <a:ext cx="279400" cy="2794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08500" y="3467100"/>
            <a:ext cx="3302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FFFFFF"/>
                </a:solidFill>
                <a:latin typeface="Arial"/>
              </a:rPr>
              <a:t>02</a:t>
            </a:r>
          </a:p>
        </p:txBody>
      </p:sp>
      <p:sp>
        <p:nvSpPr>
          <p:cNvPr id="21" name="TextBox 20"/>
          <p:cNvSpPr txBox="1"/>
          <p:nvPr/>
        </p:nvSpPr>
        <p:spPr>
          <a:xfrm>
            <a:off x="3454400" y="3924300"/>
            <a:ext cx="2438400" cy="673100"/>
          </a:xfrm>
          <a:prstGeom prst="rect">
            <a:avLst/>
          </a:prstGeom>
          <a:noFill/>
        </p:spPr>
        <p:txBody>
          <a:bodyPr wrap="none" lIns="0" rIns="0" tIns="0" bIns="0" anchor="t">
            <a:noAutofit/>
          </a:bodyPr>
          <a:lstStyle/>
          <a:p>
            <a:pPr algn="ctr">
              <a:lnSpc>
                <a:spcPts val="2500"/>
              </a:lnSpc>
              <a:spcBef>
                <a:spcPts val="0"/>
              </a:spcBef>
              <a:spcAft>
                <a:spcPts val="0"/>
              </a:spcAft>
            </a:pPr>
            <a:r>
              <a:rPr sz="2000" b="0">
                <a:solidFill>
                  <a:srgbClr val="142338"/>
                </a:solidFill>
                <a:latin typeface="Arial"/>
              </a:rPr>
              <a:t>Readiness +</a:t>
            </a:r>
          </a:p>
          <a:p>
            <a:pPr algn="ctr">
              <a:lnSpc>
                <a:spcPts val="2500"/>
              </a:lnSpc>
              <a:spcBef>
                <a:spcPts val="0"/>
              </a:spcBef>
              <a:spcAft>
                <a:spcPts val="0"/>
              </a:spcAft>
            </a:pPr>
            <a:r>
              <a:rPr sz="2000" b="0">
                <a:solidFill>
                  <a:srgbClr val="142338"/>
                </a:solidFill>
                <a:latin typeface="Arial"/>
              </a:rPr>
              <a:t>reconciliation</a:t>
            </a:r>
          </a:p>
        </p:txBody>
      </p:sp>
      <p:sp>
        <p:nvSpPr>
          <p:cNvPr id="22" name="TextBox 21"/>
          <p:cNvSpPr txBox="1"/>
          <p:nvPr/>
        </p:nvSpPr>
        <p:spPr>
          <a:xfrm>
            <a:off x="6299200" y="2120900"/>
            <a:ext cx="24384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087F85"/>
                </a:solidFill>
                <a:latin typeface="Arial"/>
              </a:rPr>
              <a:t>PUBLICATION</a:t>
            </a:r>
          </a:p>
        </p:txBody>
      </p:sp>
      <p:sp>
        <p:nvSpPr>
          <p:cNvPr id="23" name="Rounded Rectangle 22"/>
          <p:cNvSpPr/>
          <p:nvPr/>
        </p:nvSpPr>
        <p:spPr>
          <a:xfrm>
            <a:off x="7137400" y="2489200"/>
            <a:ext cx="762000" cy="736600"/>
          </a:xfrm>
          <a:prstGeom prst="roundRect">
            <a:avLst>
              <a:gd name="adj" fmla="val 20689"/>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78700" y="3416300"/>
            <a:ext cx="279400" cy="279400"/>
          </a:xfrm>
          <a:prstGeom prst="ellipse">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53300" y="3467100"/>
            <a:ext cx="3302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FFFFFF"/>
                </a:solidFill>
                <a:latin typeface="Arial"/>
              </a:rPr>
              <a:t>03</a:t>
            </a:r>
          </a:p>
        </p:txBody>
      </p:sp>
      <p:sp>
        <p:nvSpPr>
          <p:cNvPr id="26" name="TextBox 25"/>
          <p:cNvSpPr txBox="1"/>
          <p:nvPr/>
        </p:nvSpPr>
        <p:spPr>
          <a:xfrm>
            <a:off x="6299200" y="3924300"/>
            <a:ext cx="2438400" cy="673100"/>
          </a:xfrm>
          <a:prstGeom prst="rect">
            <a:avLst/>
          </a:prstGeom>
          <a:noFill/>
        </p:spPr>
        <p:txBody>
          <a:bodyPr wrap="none" lIns="0" rIns="0" tIns="0" bIns="0" anchor="t">
            <a:noAutofit/>
          </a:bodyPr>
          <a:lstStyle/>
          <a:p>
            <a:pPr algn="ctr">
              <a:lnSpc>
                <a:spcPts val="2500"/>
              </a:lnSpc>
              <a:spcBef>
                <a:spcPts val="0"/>
              </a:spcBef>
              <a:spcAft>
                <a:spcPts val="0"/>
              </a:spcAft>
            </a:pPr>
            <a:r>
              <a:rPr sz="2000" b="0">
                <a:solidFill>
                  <a:srgbClr val="142338"/>
                </a:solidFill>
                <a:latin typeface="Arial"/>
              </a:rPr>
              <a:t>Authority serves</a:t>
            </a:r>
          </a:p>
          <a:p>
            <a:pPr algn="ctr">
              <a:lnSpc>
                <a:spcPts val="2500"/>
              </a:lnSpc>
              <a:spcBef>
                <a:spcPts val="0"/>
              </a:spcBef>
              <a:spcAft>
                <a:spcPts val="0"/>
              </a:spcAft>
            </a:pPr>
            <a:r>
              <a:rPr sz="2000" b="0">
                <a:solidFill>
                  <a:srgbClr val="142338"/>
                </a:solidFill>
                <a:latin typeface="Arial"/>
              </a:rPr>
              <a:t>new answer</a:t>
            </a:r>
          </a:p>
        </p:txBody>
      </p:sp>
      <p:sp>
        <p:nvSpPr>
          <p:cNvPr id="27" name="TextBox 26"/>
          <p:cNvSpPr txBox="1"/>
          <p:nvPr/>
        </p:nvSpPr>
        <p:spPr>
          <a:xfrm>
            <a:off x="9144000" y="2120900"/>
            <a:ext cx="24384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142338"/>
                </a:solidFill>
                <a:latin typeface="Arial"/>
              </a:rPr>
              <a:t>CLIENT</a:t>
            </a:r>
          </a:p>
        </p:txBody>
      </p:sp>
      <p:sp>
        <p:nvSpPr>
          <p:cNvPr id="28" name="Rounded Rectangle 27"/>
          <p:cNvSpPr/>
          <p:nvPr/>
        </p:nvSpPr>
        <p:spPr>
          <a:xfrm>
            <a:off x="9982200" y="2489200"/>
            <a:ext cx="762000" cy="736600"/>
          </a:xfrm>
          <a:prstGeom prst="roundRect">
            <a:avLst>
              <a:gd name="adj" fmla="val 20689"/>
            </a:avLst>
          </a:prstGeom>
          <a:solidFill>
            <a:srgbClr val="E9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23500" y="3416300"/>
            <a:ext cx="279400" cy="279400"/>
          </a:xfrm>
          <a:prstGeom prst="ellipse">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98100" y="3467100"/>
            <a:ext cx="330200" cy="165100"/>
          </a:xfrm>
          <a:prstGeom prst="rect">
            <a:avLst/>
          </a:prstGeom>
          <a:noFill/>
        </p:spPr>
        <p:txBody>
          <a:bodyPr wrap="none" lIns="0" rIns="0" tIns="0" bIns="0" anchor="t">
            <a:noAutofit/>
          </a:bodyPr>
          <a:lstStyle/>
          <a:p>
            <a:pPr algn="ctr">
              <a:lnSpc>
                <a:spcPts val="1000"/>
              </a:lnSpc>
              <a:spcBef>
                <a:spcPts val="0"/>
              </a:spcBef>
              <a:spcAft>
                <a:spcPts val="0"/>
              </a:spcAft>
            </a:pPr>
            <a:r>
              <a:rPr sz="1000" b="1">
                <a:solidFill>
                  <a:srgbClr val="FFFFFF"/>
                </a:solidFill>
                <a:latin typeface="Arial"/>
              </a:rPr>
              <a:t>04</a:t>
            </a:r>
          </a:p>
        </p:txBody>
      </p:sp>
      <p:sp>
        <p:nvSpPr>
          <p:cNvPr id="31" name="TextBox 30"/>
          <p:cNvSpPr txBox="1"/>
          <p:nvPr/>
        </p:nvSpPr>
        <p:spPr>
          <a:xfrm>
            <a:off x="9144000" y="3924300"/>
            <a:ext cx="2438400" cy="673100"/>
          </a:xfrm>
          <a:prstGeom prst="rect">
            <a:avLst/>
          </a:prstGeom>
          <a:noFill/>
        </p:spPr>
        <p:txBody>
          <a:bodyPr wrap="none" lIns="0" rIns="0" tIns="0" bIns="0" anchor="t">
            <a:noAutofit/>
          </a:bodyPr>
          <a:lstStyle/>
          <a:p>
            <a:pPr algn="ctr">
              <a:lnSpc>
                <a:spcPts val="2500"/>
              </a:lnSpc>
              <a:spcBef>
                <a:spcPts val="0"/>
              </a:spcBef>
              <a:spcAft>
                <a:spcPts val="0"/>
              </a:spcAft>
            </a:pPr>
            <a:r>
              <a:rPr sz="2000" b="0">
                <a:solidFill>
                  <a:srgbClr val="142338"/>
                </a:solidFill>
                <a:latin typeface="Arial"/>
              </a:rPr>
              <a:t>Cache refresh +</a:t>
            </a:r>
          </a:p>
          <a:p>
            <a:pPr algn="ctr">
              <a:lnSpc>
                <a:spcPts val="2500"/>
              </a:lnSpc>
              <a:spcBef>
                <a:spcPts val="0"/>
              </a:spcBef>
              <a:spcAft>
                <a:spcPts val="0"/>
              </a:spcAft>
            </a:pPr>
            <a:r>
              <a:rPr sz="2000" b="0">
                <a:solidFill>
                  <a:srgbClr val="142338"/>
                </a:solidFill>
                <a:latin typeface="Arial"/>
              </a:rPr>
              <a:t>connection retries</a:t>
            </a:r>
          </a:p>
        </p:txBody>
      </p:sp>
      <p:cxnSp>
        <p:nvCxnSpPr>
          <p:cNvPr id="32" name="Connector 31"/>
          <p:cNvCxnSpPr/>
          <p:nvPr/>
        </p:nvCxnSpPr>
        <p:spPr>
          <a:xfrm>
            <a:off x="1828800" y="2641600"/>
            <a:ext cx="228600" cy="393700"/>
          </a:xfrm>
          <a:prstGeom prst="line">
            <a:avLst/>
          </a:prstGeom>
          <a:ln w="2286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600200" y="3035300"/>
            <a:ext cx="457200" cy="0"/>
          </a:xfrm>
          <a:prstGeom prst="line">
            <a:avLst/>
          </a:prstGeom>
          <a:ln w="2286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600200" y="2641600"/>
            <a:ext cx="228600" cy="393700"/>
          </a:xfrm>
          <a:prstGeom prst="line">
            <a:avLst/>
          </a:prstGeom>
          <a:ln w="2286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828800" y="2768600"/>
            <a:ext cx="0" cy="139700"/>
          </a:xfrm>
          <a:prstGeom prst="line">
            <a:avLst/>
          </a:prstGeom>
          <a:ln w="25400">
            <a:solidFill>
              <a:srgbClr val="CF0035"/>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811020" y="2954020"/>
            <a:ext cx="35560" cy="35560"/>
          </a:xfrm>
          <a:prstGeom prst="ellipse">
            <a:avLst/>
          </a:prstGeom>
          <a:solidFill>
            <a:srgbClr val="CF0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419600" y="2667000"/>
            <a:ext cx="508000" cy="368300"/>
          </a:xfrm>
          <a:prstGeom prst="roundRect">
            <a:avLst>
              <a:gd name="adj" fmla="val 13793"/>
            </a:avLst>
          </a:prstGeom>
          <a:solidFill>
            <a:srgbClr val="FFFFFF"/>
          </a:solidFill>
          <a:ln w="1905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4470400" y="2870200"/>
            <a:ext cx="88900" cy="0"/>
          </a:xfrm>
          <a:prstGeom prst="line">
            <a:avLst/>
          </a:prstGeom>
          <a:ln w="2159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559300" y="2768600"/>
            <a:ext cx="50800" cy="101600"/>
          </a:xfrm>
          <a:prstGeom prst="line">
            <a:avLst/>
          </a:prstGeom>
          <a:ln w="2159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610100" y="2768600"/>
            <a:ext cx="76200" cy="177800"/>
          </a:xfrm>
          <a:prstGeom prst="line">
            <a:avLst/>
          </a:prstGeom>
          <a:ln w="2159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686300" y="2832100"/>
            <a:ext cx="63500" cy="114300"/>
          </a:xfrm>
          <a:prstGeom prst="line">
            <a:avLst/>
          </a:prstGeom>
          <a:ln w="2159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749800" y="2832100"/>
            <a:ext cx="127000" cy="0"/>
          </a:xfrm>
          <a:prstGeom prst="line">
            <a:avLst/>
          </a:prstGeom>
          <a:ln w="21590">
            <a:solidFill>
              <a:srgbClr val="2762C8"/>
            </a:solidFill>
          </a:ln>
        </p:spPr>
        <p:style>
          <a:lnRef idx="2">
            <a:schemeClr val="accent1"/>
          </a:lnRef>
          <a:fillRef idx="0">
            <a:schemeClr val="accent1"/>
          </a:fillRef>
          <a:effectRef idx="1">
            <a:schemeClr val="accent1"/>
          </a:effectRef>
          <a:fontRef idx="minor">
            <a:schemeClr val="tx1"/>
          </a:fontRef>
        </p:style>
      </p:cxnSp>
      <p:pic>
        <p:nvPicPr>
          <p:cNvPr id="43" name="Picture 42" descr="image.png"/>
          <p:cNvPicPr>
            <a:picLocks noChangeAspect="1"/>
          </p:cNvPicPr>
          <p:nvPr/>
        </p:nvPicPr>
        <p:blipFill>
          <a:blip r:embed="rId2"/>
          <a:stretch>
            <a:fillRect/>
          </a:stretch>
        </p:blipFill>
        <p:spPr>
          <a:xfrm>
            <a:off x="7277100" y="2616200"/>
            <a:ext cx="482600" cy="482600"/>
          </a:xfrm>
          <a:prstGeom prst="rect">
            <a:avLst/>
          </a:prstGeom>
        </p:spPr>
      </p:pic>
      <p:sp>
        <p:nvSpPr>
          <p:cNvPr id="44" name="Rounded Rectangle 43"/>
          <p:cNvSpPr/>
          <p:nvPr/>
        </p:nvSpPr>
        <p:spPr>
          <a:xfrm>
            <a:off x="10109200" y="2654300"/>
            <a:ext cx="508000" cy="393700"/>
          </a:xfrm>
          <a:prstGeom prst="roundRect">
            <a:avLst>
              <a:gd name="adj" fmla="val 12903"/>
            </a:avLst>
          </a:prstGeom>
          <a:solidFill>
            <a:srgbClr val="FFFFFF"/>
          </a:solidFill>
          <a:ln w="19050">
            <a:solidFill>
              <a:srgbClr val="142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0109200" y="2768600"/>
            <a:ext cx="508000" cy="0"/>
          </a:xfrm>
          <a:prstGeom prst="line">
            <a:avLst/>
          </a:prstGeom>
          <a:ln w="13970">
            <a:solidFill>
              <a:srgbClr val="142338"/>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172700" y="2705100"/>
            <a:ext cx="25400" cy="25400"/>
          </a:xfrm>
          <a:prstGeom prst="ellipse">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236200" y="2705100"/>
            <a:ext cx="25400" cy="25400"/>
          </a:xfrm>
          <a:prstGeom prst="ellipse">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299700" y="2705100"/>
            <a:ext cx="25400" cy="25400"/>
          </a:xfrm>
          <a:prstGeom prst="ellipse">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10223500" y="2908300"/>
            <a:ext cx="76200" cy="50800"/>
          </a:xfrm>
          <a:prstGeom prst="line">
            <a:avLst/>
          </a:prstGeom>
          <a:ln w="2286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0299700" y="2844800"/>
            <a:ext cx="165100" cy="114300"/>
          </a:xfrm>
          <a:prstGeom prst="line">
            <a:avLst/>
          </a:prstGeom>
          <a:ln w="22860">
            <a:solidFill>
              <a:srgbClr val="087F85"/>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128000" y="3124200"/>
            <a:ext cx="1625600" cy="184150"/>
          </a:xfrm>
          <a:prstGeom prst="rect">
            <a:avLst/>
          </a:prstGeom>
          <a:noFill/>
        </p:spPr>
        <p:txBody>
          <a:bodyPr wrap="none" lIns="0" rIns="0" tIns="0" bIns="0" anchor="t">
            <a:noAutofit/>
          </a:bodyPr>
          <a:lstStyle/>
          <a:p>
            <a:pPr algn="ctr">
              <a:lnSpc>
                <a:spcPts val="1150"/>
              </a:lnSpc>
              <a:spcBef>
                <a:spcPts val="0"/>
              </a:spcBef>
              <a:spcAft>
                <a:spcPts val="0"/>
              </a:spcAft>
            </a:pPr>
            <a:r>
              <a:rPr sz="1000" b="1">
                <a:solidFill>
                  <a:srgbClr val="087F85"/>
                </a:solidFill>
                <a:latin typeface="Arial"/>
              </a:rPr>
              <a:t>CLIENT DELAY</a:t>
            </a:r>
          </a:p>
        </p:txBody>
      </p:sp>
      <p:sp>
        <p:nvSpPr>
          <p:cNvPr id="52" name="Oval 51"/>
          <p:cNvSpPr/>
          <p:nvPr/>
        </p:nvSpPr>
        <p:spPr>
          <a:xfrm>
            <a:off x="8788400" y="3403600"/>
            <a:ext cx="304800" cy="304800"/>
          </a:xfrm>
          <a:prstGeom prst="ellipse">
            <a:avLst/>
          </a:prstGeom>
          <a:solidFill>
            <a:srgbClr val="F8FAFC"/>
          </a:solidFill>
          <a:ln w="1905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a:off x="8940800" y="3454400"/>
            <a:ext cx="0" cy="101600"/>
          </a:xfrm>
          <a:prstGeom prst="line">
            <a:avLst/>
          </a:prstGeom>
          <a:ln w="1905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940800" y="3556000"/>
            <a:ext cx="76200" cy="38100"/>
          </a:xfrm>
          <a:prstGeom prst="line">
            <a:avLst/>
          </a:prstGeom>
          <a:ln w="19050">
            <a:solidFill>
              <a:srgbClr val="087F85"/>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09600" y="4953000"/>
            <a:ext cx="52832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5D6F82"/>
                </a:solidFill>
                <a:latin typeface="Arial"/>
              </a:rPr>
              <a:t>TIMING VARIES</a:t>
            </a:r>
          </a:p>
        </p:txBody>
      </p:sp>
      <p:sp>
        <p:nvSpPr>
          <p:cNvPr id="56" name="TextBox 55"/>
          <p:cNvSpPr txBox="1"/>
          <p:nvPr/>
        </p:nvSpPr>
        <p:spPr>
          <a:xfrm>
            <a:off x="609600" y="5168900"/>
            <a:ext cx="52832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Readiness · reconciliation · caches · retries</a:t>
            </a:r>
          </a:p>
        </p:txBody>
      </p:sp>
      <p:sp>
        <p:nvSpPr>
          <p:cNvPr id="57" name="Rounded Rectangle 56"/>
          <p:cNvSpPr/>
          <p:nvPr/>
        </p:nvSpPr>
        <p:spPr>
          <a:xfrm>
            <a:off x="6299200" y="4953000"/>
            <a:ext cx="5283200" cy="533400"/>
          </a:xfrm>
          <a:prstGeom prst="roundRect">
            <a:avLst>
              <a:gd name="adj" fmla="val 16666"/>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77000" y="5105400"/>
            <a:ext cx="4927600" cy="285750"/>
          </a:xfrm>
          <a:prstGeom prst="rect">
            <a:avLst/>
          </a:prstGeom>
          <a:noFill/>
        </p:spPr>
        <p:txBody>
          <a:bodyPr wrap="none" lIns="0" rIns="0" tIns="0" bIns="0" anchor="t">
            <a:noAutofit/>
          </a:bodyPr>
          <a:lstStyle/>
          <a:p>
            <a:pPr algn="ctr">
              <a:lnSpc>
                <a:spcPts val="1800"/>
              </a:lnSpc>
              <a:spcBef>
                <a:spcPts val="0"/>
              </a:spcBef>
              <a:spcAft>
                <a:spcPts val="0"/>
              </a:spcAft>
            </a:pPr>
            <a:r>
              <a:rPr sz="1800" b="1">
                <a:solidFill>
                  <a:srgbClr val="087F85"/>
                </a:solidFill>
                <a:latin typeface="Arial"/>
              </a:rPr>
              <a:t>New DNS answer ≠ recovered clients</a:t>
            </a:r>
          </a:p>
        </p:txBody>
      </p:sp>
      <p:sp>
        <p:nvSpPr>
          <p:cNvPr id="59" name="Rounded Rectangle 58"/>
          <p:cNvSpPr/>
          <p:nvPr/>
        </p:nvSpPr>
        <p:spPr>
          <a:xfrm>
            <a:off x="609600" y="5816600"/>
            <a:ext cx="10972800" cy="457200"/>
          </a:xfrm>
          <a:prstGeom prst="roundRect">
            <a:avLst>
              <a:gd name="adj" fmla="val 16666"/>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87400" y="5905500"/>
            <a:ext cx="10617200" cy="333375"/>
          </a:xfrm>
          <a:prstGeom prst="rect">
            <a:avLst/>
          </a:prstGeom>
          <a:noFill/>
        </p:spPr>
        <p:txBody>
          <a:bodyPr wrap="none" lIns="0" rIns="0" tIns="0" bIns="0" anchor="t">
            <a:noAutofit/>
          </a:bodyPr>
          <a:lstStyle/>
          <a:p>
            <a:pPr algn="ctr">
              <a:lnSpc>
                <a:spcPts val="2100"/>
              </a:lnSpc>
              <a:spcBef>
                <a:spcPts val="0"/>
              </a:spcBef>
              <a:spcAft>
                <a:spcPts val="0"/>
              </a:spcAft>
            </a:pPr>
            <a:r>
              <a:rPr sz="2100" b="1">
                <a:solidFill>
                  <a:srgbClr val="FFFFFF"/>
                </a:solidFill>
                <a:latin typeface="Arial"/>
              </a:rPr>
              <a:t>Measure recovery at the resolver and application.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OPERATING K8GB · APPLICATION READINESS</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14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Readiness must reflect the real operation</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Kubernetes runs Pod probes. k8gb consumes EndpointSlice readiness.</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2032000"/>
            <a:ext cx="2514600" cy="914400"/>
          </a:xfrm>
          <a:prstGeom prst="roundRect">
            <a:avLst>
              <a:gd name="adj" fmla="val 11111"/>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2032000"/>
            <a:ext cx="50800" cy="914400"/>
          </a:xfrm>
          <a:prstGeom prst="rect">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2171700"/>
            <a:ext cx="21590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2762C8"/>
                </a:solidFill>
                <a:latin typeface="Courier New"/>
              </a:rPr>
              <a:t>readinessProbe</a:t>
            </a:r>
          </a:p>
        </p:txBody>
      </p:sp>
      <p:sp>
        <p:nvSpPr>
          <p:cNvPr id="13" name="TextBox 12"/>
          <p:cNvSpPr txBox="1"/>
          <p:nvPr/>
        </p:nvSpPr>
        <p:spPr>
          <a:xfrm>
            <a:off x="787400" y="2590800"/>
            <a:ext cx="2159000" cy="213359"/>
          </a:xfrm>
          <a:prstGeom prst="rect">
            <a:avLst/>
          </a:prstGeom>
          <a:noFill/>
        </p:spPr>
        <p:txBody>
          <a:bodyPr wrap="none" lIns="0" rIns="0" tIns="0" bIns="0" anchor="t">
            <a:noAutofit/>
          </a:bodyPr>
          <a:lstStyle/>
          <a:p>
            <a:pPr algn="l">
              <a:lnSpc>
                <a:spcPts val="1380"/>
              </a:lnSpc>
              <a:spcBef>
                <a:spcPts val="0"/>
              </a:spcBef>
              <a:spcAft>
                <a:spcPts val="0"/>
              </a:spcAft>
            </a:pPr>
            <a:r>
              <a:rPr sz="1200" b="0">
                <a:solidFill>
                  <a:srgbClr val="5D6F82"/>
                </a:solidFill>
                <a:latin typeface="Arial"/>
              </a:rPr>
              <a:t>Application-defined check</a:t>
            </a:r>
          </a:p>
        </p:txBody>
      </p:sp>
      <p:cxnSp>
        <p:nvCxnSpPr>
          <p:cNvPr id="14" name="Connector 13"/>
          <p:cNvCxnSpPr/>
          <p:nvPr/>
        </p:nvCxnSpPr>
        <p:spPr>
          <a:xfrm>
            <a:off x="3124200" y="2489200"/>
            <a:ext cx="304800" cy="0"/>
          </a:xfrm>
          <a:prstGeom prst="line">
            <a:avLst/>
          </a:prstGeom>
          <a:ln w="2032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29000" y="2032000"/>
            <a:ext cx="2514600" cy="914400"/>
          </a:xfrm>
          <a:prstGeom prst="roundRect">
            <a:avLst>
              <a:gd name="adj" fmla="val 11111"/>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29000" y="2032000"/>
            <a:ext cx="50800" cy="914400"/>
          </a:xfrm>
          <a:prstGeom prst="rect">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6800" y="2171700"/>
            <a:ext cx="2159000" cy="300990"/>
          </a:xfrm>
          <a:prstGeom prst="rect">
            <a:avLst/>
          </a:prstGeom>
          <a:noFill/>
        </p:spPr>
        <p:txBody>
          <a:bodyPr wrap="none" lIns="0" rIns="0" tIns="0" bIns="0" anchor="t">
            <a:noAutofit/>
          </a:bodyPr>
          <a:lstStyle/>
          <a:p>
            <a:pPr algn="l">
              <a:lnSpc>
                <a:spcPts val="2070"/>
              </a:lnSpc>
              <a:spcBef>
                <a:spcPts val="0"/>
              </a:spcBef>
              <a:spcAft>
                <a:spcPts val="0"/>
              </a:spcAft>
            </a:pPr>
            <a:r>
              <a:rPr sz="1800" b="1">
                <a:solidFill>
                  <a:srgbClr val="2762C8"/>
                </a:solidFill>
                <a:latin typeface="Arial"/>
              </a:rPr>
              <a:t>Pod Ready</a:t>
            </a:r>
          </a:p>
        </p:txBody>
      </p:sp>
      <p:sp>
        <p:nvSpPr>
          <p:cNvPr id="18" name="TextBox 17"/>
          <p:cNvSpPr txBox="1"/>
          <p:nvPr/>
        </p:nvSpPr>
        <p:spPr>
          <a:xfrm>
            <a:off x="3606800" y="2590800"/>
            <a:ext cx="2159000" cy="213359"/>
          </a:xfrm>
          <a:prstGeom prst="rect">
            <a:avLst/>
          </a:prstGeom>
          <a:noFill/>
        </p:spPr>
        <p:txBody>
          <a:bodyPr wrap="none" lIns="0" rIns="0" tIns="0" bIns="0" anchor="t">
            <a:noAutofit/>
          </a:bodyPr>
          <a:lstStyle/>
          <a:p>
            <a:pPr algn="l">
              <a:lnSpc>
                <a:spcPts val="1380"/>
              </a:lnSpc>
              <a:spcBef>
                <a:spcPts val="0"/>
              </a:spcBef>
              <a:spcAft>
                <a:spcPts val="0"/>
              </a:spcAft>
            </a:pPr>
            <a:r>
              <a:rPr sz="1200" b="0">
                <a:solidFill>
                  <a:srgbClr val="5D6F82"/>
                </a:solidFill>
                <a:latin typeface="Arial"/>
              </a:rPr>
              <a:t>Kubernetes condition</a:t>
            </a:r>
          </a:p>
        </p:txBody>
      </p:sp>
      <p:cxnSp>
        <p:nvCxnSpPr>
          <p:cNvPr id="19" name="Connector 18"/>
          <p:cNvCxnSpPr/>
          <p:nvPr/>
        </p:nvCxnSpPr>
        <p:spPr>
          <a:xfrm>
            <a:off x="5943600" y="2489200"/>
            <a:ext cx="304800" cy="0"/>
          </a:xfrm>
          <a:prstGeom prst="line">
            <a:avLst/>
          </a:prstGeom>
          <a:ln w="2032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48400" y="2032000"/>
            <a:ext cx="2514600" cy="914400"/>
          </a:xfrm>
          <a:prstGeom prst="roundRect">
            <a:avLst>
              <a:gd name="adj" fmla="val 11111"/>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8400" y="2032000"/>
            <a:ext cx="50800" cy="9144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6200" y="2171700"/>
            <a:ext cx="2159000" cy="300990"/>
          </a:xfrm>
          <a:prstGeom prst="rect">
            <a:avLst/>
          </a:prstGeom>
          <a:noFill/>
        </p:spPr>
        <p:txBody>
          <a:bodyPr wrap="none" lIns="0" rIns="0" tIns="0" bIns="0" anchor="t">
            <a:noAutofit/>
          </a:bodyPr>
          <a:lstStyle/>
          <a:p>
            <a:pPr algn="l">
              <a:lnSpc>
                <a:spcPts val="2070"/>
              </a:lnSpc>
              <a:spcBef>
                <a:spcPts val="0"/>
              </a:spcBef>
              <a:spcAft>
                <a:spcPts val="0"/>
              </a:spcAft>
            </a:pPr>
            <a:r>
              <a:rPr sz="1800" b="1">
                <a:solidFill>
                  <a:srgbClr val="087F85"/>
                </a:solidFill>
                <a:latin typeface="Arial"/>
              </a:rPr>
              <a:t>EndpointSlice</a:t>
            </a:r>
          </a:p>
        </p:txBody>
      </p:sp>
      <p:sp>
        <p:nvSpPr>
          <p:cNvPr id="23" name="TextBox 22"/>
          <p:cNvSpPr txBox="1"/>
          <p:nvPr/>
        </p:nvSpPr>
        <p:spPr>
          <a:xfrm>
            <a:off x="6426200" y="2590800"/>
            <a:ext cx="2159000" cy="213359"/>
          </a:xfrm>
          <a:prstGeom prst="rect">
            <a:avLst/>
          </a:prstGeom>
          <a:noFill/>
        </p:spPr>
        <p:txBody>
          <a:bodyPr wrap="none" lIns="0" rIns="0" tIns="0" bIns="0" anchor="t">
            <a:noAutofit/>
          </a:bodyPr>
          <a:lstStyle/>
          <a:p>
            <a:pPr algn="l">
              <a:lnSpc>
                <a:spcPts val="1380"/>
              </a:lnSpc>
              <a:spcBef>
                <a:spcPts val="0"/>
              </a:spcBef>
              <a:spcAft>
                <a:spcPts val="0"/>
              </a:spcAft>
            </a:pPr>
            <a:r>
              <a:rPr sz="1200" b="0">
                <a:solidFill>
                  <a:srgbClr val="5D6F82"/>
                </a:solidFill>
                <a:latin typeface="Arial"/>
              </a:rPr>
              <a:t>Service endpoint readiness</a:t>
            </a:r>
          </a:p>
        </p:txBody>
      </p:sp>
      <p:cxnSp>
        <p:nvCxnSpPr>
          <p:cNvPr id="24" name="Connector 23"/>
          <p:cNvCxnSpPr/>
          <p:nvPr/>
        </p:nvCxnSpPr>
        <p:spPr>
          <a:xfrm>
            <a:off x="8763000" y="2489200"/>
            <a:ext cx="304800" cy="0"/>
          </a:xfrm>
          <a:prstGeom prst="line">
            <a:avLst/>
          </a:prstGeom>
          <a:ln w="2032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67800" y="2032000"/>
            <a:ext cx="2514600" cy="914400"/>
          </a:xfrm>
          <a:prstGeom prst="roundRect">
            <a:avLst>
              <a:gd name="adj" fmla="val 11111"/>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67800" y="2032000"/>
            <a:ext cx="50800" cy="914400"/>
          </a:xfrm>
          <a:prstGeom prst="rect">
            <a:avLst/>
          </a:prstGeom>
          <a:solidFill>
            <a:srgbClr val="CF0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45600" y="2171700"/>
            <a:ext cx="2159000" cy="300990"/>
          </a:xfrm>
          <a:prstGeom prst="rect">
            <a:avLst/>
          </a:prstGeom>
          <a:noFill/>
        </p:spPr>
        <p:txBody>
          <a:bodyPr wrap="none" lIns="0" rIns="0" tIns="0" bIns="0" anchor="t">
            <a:noAutofit/>
          </a:bodyPr>
          <a:lstStyle/>
          <a:p>
            <a:pPr algn="l">
              <a:lnSpc>
                <a:spcPts val="2070"/>
              </a:lnSpc>
              <a:spcBef>
                <a:spcPts val="0"/>
              </a:spcBef>
              <a:spcAft>
                <a:spcPts val="0"/>
              </a:spcAft>
            </a:pPr>
            <a:r>
              <a:rPr sz="1800" b="1">
                <a:solidFill>
                  <a:srgbClr val="CF0035"/>
                </a:solidFill>
                <a:latin typeface="Arial"/>
              </a:rPr>
              <a:t>Gslb targets</a:t>
            </a:r>
          </a:p>
        </p:txBody>
      </p:sp>
      <p:sp>
        <p:nvSpPr>
          <p:cNvPr id="28" name="TextBox 27"/>
          <p:cNvSpPr txBox="1"/>
          <p:nvPr/>
        </p:nvSpPr>
        <p:spPr>
          <a:xfrm>
            <a:off x="9245600" y="2590800"/>
            <a:ext cx="2159000" cy="213359"/>
          </a:xfrm>
          <a:prstGeom prst="rect">
            <a:avLst/>
          </a:prstGeom>
          <a:noFill/>
        </p:spPr>
        <p:txBody>
          <a:bodyPr wrap="none" lIns="0" rIns="0" tIns="0" bIns="0" anchor="t">
            <a:noAutofit/>
          </a:bodyPr>
          <a:lstStyle/>
          <a:p>
            <a:pPr algn="l">
              <a:lnSpc>
                <a:spcPts val="1380"/>
              </a:lnSpc>
              <a:spcBef>
                <a:spcPts val="0"/>
              </a:spcBef>
              <a:spcAft>
                <a:spcPts val="0"/>
              </a:spcAft>
            </a:pPr>
            <a:r>
              <a:rPr sz="1200" b="0">
                <a:solidFill>
                  <a:srgbClr val="5D6F82"/>
                </a:solidFill>
                <a:latin typeface="Arial"/>
              </a:rPr>
              <a:t>Readiness + traffic strategy</a:t>
            </a:r>
          </a:p>
        </p:txBody>
      </p:sp>
      <p:sp>
        <p:nvSpPr>
          <p:cNvPr id="29" name="Rounded Rectangle 28"/>
          <p:cNvSpPr/>
          <p:nvPr/>
        </p:nvSpPr>
        <p:spPr>
          <a:xfrm>
            <a:off x="609600" y="3340100"/>
            <a:ext cx="3632200" cy="2286000"/>
          </a:xfrm>
          <a:prstGeom prst="roundRect">
            <a:avLst>
              <a:gd name="adj" fmla="val 5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3600" y="3568700"/>
            <a:ext cx="31242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177C58"/>
                </a:solidFill>
                <a:latin typeface="Arial"/>
              </a:rPr>
              <a:t>HEALTH ENDPOINT</a:t>
            </a:r>
          </a:p>
        </p:txBody>
      </p:sp>
      <p:sp>
        <p:nvSpPr>
          <p:cNvPr id="31" name="TextBox 30"/>
          <p:cNvSpPr txBox="1"/>
          <p:nvPr/>
        </p:nvSpPr>
        <p:spPr>
          <a:xfrm>
            <a:off x="863600" y="3949700"/>
            <a:ext cx="3124200" cy="359409"/>
          </a:xfrm>
          <a:prstGeom prst="rect">
            <a:avLst/>
          </a:prstGeom>
          <a:noFill/>
        </p:spPr>
        <p:txBody>
          <a:bodyPr wrap="none" lIns="0" rIns="0" tIns="0" bIns="0" anchor="t">
            <a:noAutofit/>
          </a:bodyPr>
          <a:lstStyle/>
          <a:p>
            <a:pPr algn="l">
              <a:lnSpc>
                <a:spcPts val="2529"/>
              </a:lnSpc>
              <a:spcBef>
                <a:spcPts val="0"/>
              </a:spcBef>
              <a:spcAft>
                <a:spcPts val="0"/>
              </a:spcAft>
            </a:pPr>
            <a:r>
              <a:rPr sz="2200" b="0">
                <a:solidFill>
                  <a:srgbClr val="142338"/>
                </a:solidFill>
                <a:latin typeface="Courier New"/>
              </a:rPr>
              <a:t>GET /healthz</a:t>
            </a:r>
          </a:p>
        </p:txBody>
      </p:sp>
      <p:sp>
        <p:nvSpPr>
          <p:cNvPr id="32" name="Rounded Rectangle 31"/>
          <p:cNvSpPr/>
          <p:nvPr/>
        </p:nvSpPr>
        <p:spPr>
          <a:xfrm>
            <a:off x="863600" y="4457700"/>
            <a:ext cx="1651000" cy="317500"/>
          </a:xfrm>
          <a:prstGeom prst="roundRect">
            <a:avLst>
              <a:gd name="adj" fmla="val 48000"/>
            </a:avLst>
          </a:prstGeom>
          <a:solidFill>
            <a:srgbClr val="E8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7100" y="4508500"/>
            <a:ext cx="1524000" cy="238125"/>
          </a:xfrm>
          <a:prstGeom prst="rect">
            <a:avLst/>
          </a:prstGeom>
          <a:noFill/>
        </p:spPr>
        <p:txBody>
          <a:bodyPr wrap="none" lIns="0" rIns="0" tIns="0" bIns="0" anchor="t">
            <a:noAutofit/>
          </a:bodyPr>
          <a:lstStyle/>
          <a:p>
            <a:pPr algn="ctr">
              <a:lnSpc>
                <a:spcPts val="1500"/>
              </a:lnSpc>
              <a:spcBef>
                <a:spcPts val="0"/>
              </a:spcBef>
              <a:spcAft>
                <a:spcPts val="0"/>
              </a:spcAft>
            </a:pPr>
            <a:r>
              <a:rPr sz="1500" b="1">
                <a:solidFill>
                  <a:srgbClr val="177C58"/>
                </a:solidFill>
                <a:latin typeface="Arial"/>
              </a:rPr>
              <a:t>HTTP 200</a:t>
            </a:r>
          </a:p>
        </p:txBody>
      </p:sp>
      <p:sp>
        <p:nvSpPr>
          <p:cNvPr id="34" name="TextBox 33"/>
          <p:cNvSpPr txBox="1"/>
          <p:nvPr/>
        </p:nvSpPr>
        <p:spPr>
          <a:xfrm>
            <a:off x="863600" y="5130800"/>
            <a:ext cx="31242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The shallow check passes.</a:t>
            </a:r>
          </a:p>
        </p:txBody>
      </p:sp>
      <p:sp>
        <p:nvSpPr>
          <p:cNvPr id="35" name="Rounded Rectangle 34"/>
          <p:cNvSpPr/>
          <p:nvPr/>
        </p:nvSpPr>
        <p:spPr>
          <a:xfrm>
            <a:off x="4572000" y="3340100"/>
            <a:ext cx="7010400" cy="2286000"/>
          </a:xfrm>
          <a:prstGeom prst="roundRect">
            <a:avLst>
              <a:gd name="adj" fmla="val 5000"/>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26000" y="3568700"/>
            <a:ext cx="64770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F79BB0"/>
                </a:solidFill>
                <a:latin typeface="Arial"/>
              </a:rPr>
              <a:t>REAL REQUEST</a:t>
            </a:r>
          </a:p>
        </p:txBody>
      </p:sp>
      <p:sp>
        <p:nvSpPr>
          <p:cNvPr id="37" name="TextBox 36"/>
          <p:cNvSpPr txBox="1"/>
          <p:nvPr/>
        </p:nvSpPr>
        <p:spPr>
          <a:xfrm>
            <a:off x="4826000" y="3873500"/>
            <a:ext cx="6477000" cy="388620"/>
          </a:xfrm>
          <a:prstGeom prst="rect">
            <a:avLst/>
          </a:prstGeom>
          <a:noFill/>
        </p:spPr>
        <p:txBody>
          <a:bodyPr wrap="none" lIns="0" rIns="0" tIns="0" bIns="0" anchor="t">
            <a:noAutofit/>
          </a:bodyPr>
          <a:lstStyle/>
          <a:p>
            <a:pPr algn="l">
              <a:lnSpc>
                <a:spcPts val="2760"/>
              </a:lnSpc>
              <a:spcBef>
                <a:spcPts val="0"/>
              </a:spcBef>
              <a:spcAft>
                <a:spcPts val="0"/>
              </a:spcAft>
            </a:pPr>
            <a:r>
              <a:rPr sz="2400" b="1">
                <a:solidFill>
                  <a:srgbClr val="FFFFFF"/>
                </a:solidFill>
                <a:latin typeface="Arial"/>
              </a:rPr>
              <a:t>Payment cannot be saved</a:t>
            </a:r>
          </a:p>
        </p:txBody>
      </p:sp>
      <p:sp>
        <p:nvSpPr>
          <p:cNvPr id="38" name="Rounded Rectangle 37"/>
          <p:cNvSpPr/>
          <p:nvPr/>
        </p:nvSpPr>
        <p:spPr>
          <a:xfrm>
            <a:off x="4826000" y="4394200"/>
            <a:ext cx="2438400" cy="749300"/>
          </a:xfrm>
          <a:prstGeom prst="roundRect">
            <a:avLst>
              <a:gd name="adj" fmla="val 1016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03800" y="4470400"/>
            <a:ext cx="2082800" cy="315595"/>
          </a:xfrm>
          <a:prstGeom prst="rect">
            <a:avLst/>
          </a:prstGeom>
          <a:noFill/>
        </p:spPr>
        <p:txBody>
          <a:bodyPr wrap="none" lIns="0" rIns="0" tIns="0" bIns="0" anchor="t">
            <a:noAutofit/>
          </a:bodyPr>
          <a:lstStyle/>
          <a:p>
            <a:pPr algn="l">
              <a:lnSpc>
                <a:spcPts val="2185"/>
              </a:lnSpc>
              <a:spcBef>
                <a:spcPts val="0"/>
              </a:spcBef>
              <a:spcAft>
                <a:spcPts val="0"/>
              </a:spcAft>
            </a:pPr>
            <a:r>
              <a:rPr sz="1900" b="1">
                <a:solidFill>
                  <a:srgbClr val="142338"/>
                </a:solidFill>
                <a:latin typeface="Arial"/>
              </a:rPr>
              <a:t>Payment API</a:t>
            </a:r>
          </a:p>
        </p:txBody>
      </p:sp>
      <p:sp>
        <p:nvSpPr>
          <p:cNvPr id="40" name="TextBox 39"/>
          <p:cNvSpPr txBox="1"/>
          <p:nvPr/>
        </p:nvSpPr>
        <p:spPr>
          <a:xfrm>
            <a:off x="5003800" y="4826000"/>
            <a:ext cx="2082800" cy="227965"/>
          </a:xfrm>
          <a:prstGeom prst="rect">
            <a:avLst/>
          </a:prstGeom>
          <a:noFill/>
        </p:spPr>
        <p:txBody>
          <a:bodyPr wrap="none" lIns="0" rIns="0" tIns="0" bIns="0" anchor="t">
            <a:noAutofit/>
          </a:bodyPr>
          <a:lstStyle/>
          <a:p>
            <a:pPr algn="l">
              <a:lnSpc>
                <a:spcPts val="1495"/>
              </a:lnSpc>
              <a:spcBef>
                <a:spcPts val="0"/>
              </a:spcBef>
              <a:spcAft>
                <a:spcPts val="0"/>
              </a:spcAft>
            </a:pPr>
            <a:r>
              <a:rPr sz="1300" b="0">
                <a:solidFill>
                  <a:srgbClr val="2762C8"/>
                </a:solidFill>
                <a:latin typeface="Courier New"/>
              </a:rPr>
              <a:t>POST /payments</a:t>
            </a:r>
          </a:p>
        </p:txBody>
      </p:sp>
      <p:sp>
        <p:nvSpPr>
          <p:cNvPr id="41" name="Rounded Rectangle 40"/>
          <p:cNvSpPr/>
          <p:nvPr/>
        </p:nvSpPr>
        <p:spPr>
          <a:xfrm>
            <a:off x="8864600" y="4394200"/>
            <a:ext cx="2438400" cy="749300"/>
          </a:xfrm>
          <a:prstGeom prst="roundRect">
            <a:avLst>
              <a:gd name="adj" fmla="val 1016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42400" y="4470400"/>
            <a:ext cx="2082800" cy="315595"/>
          </a:xfrm>
          <a:prstGeom prst="rect">
            <a:avLst/>
          </a:prstGeom>
          <a:noFill/>
        </p:spPr>
        <p:txBody>
          <a:bodyPr wrap="none" lIns="0" rIns="0" tIns="0" bIns="0" anchor="t">
            <a:noAutofit/>
          </a:bodyPr>
          <a:lstStyle/>
          <a:p>
            <a:pPr algn="l">
              <a:lnSpc>
                <a:spcPts val="2185"/>
              </a:lnSpc>
              <a:spcBef>
                <a:spcPts val="0"/>
              </a:spcBef>
              <a:spcAft>
                <a:spcPts val="0"/>
              </a:spcAft>
            </a:pPr>
            <a:r>
              <a:rPr sz="1900" b="1">
                <a:solidFill>
                  <a:srgbClr val="142338"/>
                </a:solidFill>
                <a:latin typeface="Arial"/>
              </a:rPr>
              <a:t>Database</a:t>
            </a:r>
          </a:p>
        </p:txBody>
      </p:sp>
      <p:sp>
        <p:nvSpPr>
          <p:cNvPr id="43" name="TextBox 42"/>
          <p:cNvSpPr txBox="1"/>
          <p:nvPr/>
        </p:nvSpPr>
        <p:spPr>
          <a:xfrm>
            <a:off x="9042400" y="4826000"/>
            <a:ext cx="2082800" cy="227965"/>
          </a:xfrm>
          <a:prstGeom prst="rect">
            <a:avLst/>
          </a:prstGeom>
          <a:noFill/>
        </p:spPr>
        <p:txBody>
          <a:bodyPr wrap="none" lIns="0" rIns="0" tIns="0" bIns="0" anchor="t">
            <a:noAutofit/>
          </a:bodyPr>
          <a:lstStyle/>
          <a:p>
            <a:pPr algn="l">
              <a:lnSpc>
                <a:spcPts val="1495"/>
              </a:lnSpc>
              <a:spcBef>
                <a:spcPts val="0"/>
              </a:spcBef>
              <a:spcAft>
                <a:spcPts val="0"/>
              </a:spcAft>
            </a:pPr>
            <a:r>
              <a:rPr sz="1300" b="0">
                <a:solidFill>
                  <a:srgbClr val="CF0035"/>
                </a:solidFill>
                <a:latin typeface="Arial"/>
              </a:rPr>
              <a:t>READ-ONLY</a:t>
            </a:r>
          </a:p>
        </p:txBody>
      </p:sp>
      <p:sp>
        <p:nvSpPr>
          <p:cNvPr id="44" name="TextBox 43"/>
          <p:cNvSpPr txBox="1"/>
          <p:nvPr/>
        </p:nvSpPr>
        <p:spPr>
          <a:xfrm>
            <a:off x="7480300" y="4432300"/>
            <a:ext cx="1168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1">
                <a:solidFill>
                  <a:srgbClr val="F79BB0"/>
                </a:solidFill>
                <a:latin typeface="Arial"/>
              </a:rPr>
              <a:t>WRITE</a:t>
            </a:r>
          </a:p>
        </p:txBody>
      </p:sp>
      <p:cxnSp>
        <p:nvCxnSpPr>
          <p:cNvPr id="45" name="Connector 44"/>
          <p:cNvCxnSpPr/>
          <p:nvPr/>
        </p:nvCxnSpPr>
        <p:spPr>
          <a:xfrm>
            <a:off x="7264400" y="4826000"/>
            <a:ext cx="622300" cy="0"/>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242300" y="4826000"/>
            <a:ext cx="622300" cy="0"/>
          </a:xfrm>
          <a:prstGeom prst="line">
            <a:avLst/>
          </a:prstGeom>
          <a:ln w="22860">
            <a:solidFill>
              <a:srgbClr val="F79B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975600" y="4737100"/>
            <a:ext cx="177800" cy="177800"/>
          </a:xfrm>
          <a:prstGeom prst="line">
            <a:avLst/>
          </a:prstGeom>
          <a:ln w="2540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7975600" y="4737100"/>
            <a:ext cx="177800" cy="177800"/>
          </a:xfrm>
          <a:prstGeom prst="line">
            <a:avLst/>
          </a:prstGeom>
          <a:ln w="25400">
            <a:solidFill>
              <a:srgbClr val="F79BB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826000" y="5321300"/>
            <a:ext cx="64770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B8C8D9"/>
                </a:solidFill>
                <a:latin typeface="Arial"/>
              </a:rPr>
              <a:t>Replication and safe writer ownership belong to the application.</a:t>
            </a:r>
          </a:p>
        </p:txBody>
      </p:sp>
      <p:sp>
        <p:nvSpPr>
          <p:cNvPr id="50" name="Rounded Rectangle 49"/>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7400" y="5892800"/>
            <a:ext cx="10617200" cy="333375"/>
          </a:xfrm>
          <a:prstGeom prst="rect">
            <a:avLst/>
          </a:prstGeom>
          <a:noFill/>
        </p:spPr>
        <p:txBody>
          <a:bodyPr wrap="none" lIns="0" rIns="0" tIns="0" bIns="0" anchor="t">
            <a:noAutofit/>
          </a:bodyPr>
          <a:lstStyle/>
          <a:p>
            <a:pPr algn="ctr">
              <a:lnSpc>
                <a:spcPts val="2100"/>
              </a:lnSpc>
              <a:spcBef>
                <a:spcPts val="0"/>
              </a:spcBef>
              <a:spcAft>
                <a:spcPts val="0"/>
              </a:spcAft>
            </a:pPr>
            <a:r>
              <a:rPr sz="2100" b="1">
                <a:solidFill>
                  <a:srgbClr val="142338"/>
                </a:solidFill>
                <a:latin typeface="Arial"/>
              </a:rPr>
              <a:t>k8gb steers traffic. The application must be ready to serve.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F46A87"/>
                </a:solidFill>
                <a:latin typeface="Arial"/>
              </a:rPr>
              <a:t>THE DANGEROUS EDGE CASE</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Arial"/>
              </a:rPr>
              <a:t>15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FFFFFF"/>
                </a:solidFill>
                <a:latin typeface="Arial"/>
              </a:rPr>
              <a:t>A partition can create two correct-looking answers</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B8C8D9"/>
                </a:solidFill>
                <a:latin typeface="Arial"/>
              </a:rPr>
              <a:t>Both applications are ready. Clients can still reach both DNS authorities.</a:t>
            </a:r>
          </a:p>
        </p:txBody>
      </p:sp>
      <p:cxnSp>
        <p:nvCxnSpPr>
          <p:cNvPr id="7" name="Connector 6"/>
          <p:cNvCxnSpPr/>
          <p:nvPr/>
        </p:nvCxnSpPr>
        <p:spPr>
          <a:xfrm>
            <a:off x="609600" y="6426200"/>
            <a:ext cx="10972800" cy="0"/>
          </a:xfrm>
          <a:prstGeom prst="line">
            <a:avLst/>
          </a:prstGeom>
          <a:ln w="8890">
            <a:solidFill>
              <a:srgbClr val="3850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B8C8D9"/>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B8C8D9"/>
                </a:solidFill>
                <a:latin typeface="Arial"/>
              </a:rPr>
              <a:t>YURY TSAREV  /  K8GB</a:t>
            </a:r>
          </a:p>
        </p:txBody>
      </p:sp>
      <p:sp>
        <p:nvSpPr>
          <p:cNvPr id="10" name="Rounded Rectangle 9"/>
          <p:cNvSpPr/>
          <p:nvPr/>
        </p:nvSpPr>
        <p:spPr>
          <a:xfrm>
            <a:off x="609600" y="2133600"/>
            <a:ext cx="4902200" cy="3251200"/>
          </a:xfrm>
          <a:prstGeom prst="roundRect">
            <a:avLst>
              <a:gd name="adj" fmla="val 3906"/>
            </a:avLst>
          </a:prstGeom>
          <a:solidFill>
            <a:srgbClr val="1A3047"/>
          </a:solidFill>
          <a:ln w="12700">
            <a:solidFill>
              <a:srgbClr val="3850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889000" y="2146300"/>
            <a:ext cx="4343400" cy="0"/>
          </a:xfrm>
          <a:prstGeom prst="line">
            <a:avLst/>
          </a:prstGeom>
          <a:ln w="38100">
            <a:solidFill>
              <a:srgbClr val="78A5FA"/>
            </a:solidFill>
          </a:ln>
        </p:spPr>
        <p:style>
          <a:lnRef idx="2">
            <a:schemeClr val="accent1"/>
          </a:lnRef>
          <a:fillRef idx="0">
            <a:schemeClr val="accent1"/>
          </a:fillRef>
          <a:effectRef idx="1">
            <a:schemeClr val="accent1"/>
          </a:effectRef>
          <a:fontRef idx="minor">
            <a:schemeClr val="tx1"/>
          </a:fontRef>
        </p:style>
      </p:cxnSp>
      <p:pic>
        <p:nvPicPr>
          <p:cNvPr id="12" name="Picture 11" descr="image.png"/>
          <p:cNvPicPr>
            <a:picLocks noChangeAspect="1"/>
          </p:cNvPicPr>
          <p:nvPr/>
        </p:nvPicPr>
        <p:blipFill>
          <a:blip r:embed="rId2"/>
          <a:stretch>
            <a:fillRect/>
          </a:stretch>
        </p:blipFill>
        <p:spPr>
          <a:xfrm>
            <a:off x="889000" y="2374900"/>
            <a:ext cx="546100" cy="546100"/>
          </a:xfrm>
          <a:prstGeom prst="rect">
            <a:avLst/>
          </a:prstGeom>
        </p:spPr>
      </p:pic>
      <p:sp>
        <p:nvSpPr>
          <p:cNvPr id="13" name="TextBox 12"/>
          <p:cNvSpPr txBox="1"/>
          <p:nvPr/>
        </p:nvSpPr>
        <p:spPr>
          <a:xfrm>
            <a:off x="1612900" y="2413000"/>
            <a:ext cx="3619500" cy="417830"/>
          </a:xfrm>
          <a:prstGeom prst="rect">
            <a:avLst/>
          </a:prstGeom>
          <a:noFill/>
        </p:spPr>
        <p:txBody>
          <a:bodyPr wrap="none" lIns="0" rIns="0" tIns="0" bIns="0" anchor="t">
            <a:noAutofit/>
          </a:bodyPr>
          <a:lstStyle/>
          <a:p>
            <a:pPr algn="l">
              <a:lnSpc>
                <a:spcPts val="2990"/>
              </a:lnSpc>
              <a:spcBef>
                <a:spcPts val="0"/>
              </a:spcBef>
              <a:spcAft>
                <a:spcPts val="0"/>
              </a:spcAft>
            </a:pPr>
            <a:r>
              <a:rPr sz="2600" b="1">
                <a:solidFill>
                  <a:srgbClr val="FFFFFF"/>
                </a:solidFill>
                <a:latin typeface="Arial"/>
              </a:rPr>
              <a:t>CLUSTER A</a:t>
            </a:r>
          </a:p>
        </p:txBody>
      </p:sp>
      <p:sp>
        <p:nvSpPr>
          <p:cNvPr id="14" name="TextBox 13"/>
          <p:cNvSpPr txBox="1"/>
          <p:nvPr/>
        </p:nvSpPr>
        <p:spPr>
          <a:xfrm>
            <a:off x="889000" y="3048000"/>
            <a:ext cx="27178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B8C8D9"/>
                </a:solidFill>
                <a:latin typeface="Arial"/>
              </a:rPr>
              <a:t>PRIMARY APPLICATION</a:t>
            </a:r>
          </a:p>
        </p:txBody>
      </p:sp>
      <p:sp>
        <p:nvSpPr>
          <p:cNvPr id="15" name="Rounded Rectangle 14"/>
          <p:cNvSpPr/>
          <p:nvPr/>
        </p:nvSpPr>
        <p:spPr>
          <a:xfrm>
            <a:off x="3810000" y="2946400"/>
            <a:ext cx="1422400" cy="317500"/>
          </a:xfrm>
          <a:prstGeom prst="roundRect">
            <a:avLst>
              <a:gd name="adj" fmla="val 48000"/>
            </a:avLst>
          </a:prstGeom>
          <a:solidFill>
            <a:srgbClr val="E8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73500" y="2997200"/>
            <a:ext cx="1295400" cy="206375"/>
          </a:xfrm>
          <a:prstGeom prst="rect">
            <a:avLst/>
          </a:prstGeom>
          <a:noFill/>
        </p:spPr>
        <p:txBody>
          <a:bodyPr wrap="none" lIns="0" rIns="0" tIns="0" bIns="0" anchor="t">
            <a:noAutofit/>
          </a:bodyPr>
          <a:lstStyle/>
          <a:p>
            <a:pPr algn="ctr">
              <a:lnSpc>
                <a:spcPts val="1300"/>
              </a:lnSpc>
              <a:spcBef>
                <a:spcPts val="0"/>
              </a:spcBef>
              <a:spcAft>
                <a:spcPts val="0"/>
              </a:spcAft>
            </a:pPr>
            <a:r>
              <a:rPr sz="1300" b="1">
                <a:solidFill>
                  <a:srgbClr val="177C58"/>
                </a:solidFill>
                <a:latin typeface="Arial"/>
              </a:rPr>
              <a:t>APP READY</a:t>
            </a:r>
          </a:p>
        </p:txBody>
      </p:sp>
      <p:sp>
        <p:nvSpPr>
          <p:cNvPr id="17" name="Rounded Rectangle 16"/>
          <p:cNvSpPr/>
          <p:nvPr/>
        </p:nvSpPr>
        <p:spPr>
          <a:xfrm>
            <a:off x="889000" y="3606800"/>
            <a:ext cx="1600200" cy="63500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1016000" y="3725663"/>
            <a:ext cx="381000" cy="371872"/>
          </a:xfrm>
          <a:prstGeom prst="rect">
            <a:avLst/>
          </a:prstGeom>
        </p:spPr>
      </p:pic>
      <p:sp>
        <p:nvSpPr>
          <p:cNvPr id="19" name="TextBox 18"/>
          <p:cNvSpPr txBox="1"/>
          <p:nvPr/>
        </p:nvSpPr>
        <p:spPr>
          <a:xfrm>
            <a:off x="1524000" y="3771900"/>
            <a:ext cx="8255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k8gb</a:t>
            </a:r>
          </a:p>
        </p:txBody>
      </p:sp>
      <p:cxnSp>
        <p:nvCxnSpPr>
          <p:cNvPr id="20" name="Connector 19"/>
          <p:cNvCxnSpPr/>
          <p:nvPr/>
        </p:nvCxnSpPr>
        <p:spPr>
          <a:xfrm>
            <a:off x="2489200" y="3924300"/>
            <a:ext cx="762000" cy="0"/>
          </a:xfrm>
          <a:prstGeom prst="line">
            <a:avLst/>
          </a:prstGeom>
          <a:ln w="22860">
            <a:solidFill>
              <a:srgbClr val="78A5F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251200" y="3606800"/>
            <a:ext cx="1981200" cy="63500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4"/>
          <a:stretch>
            <a:fillRect/>
          </a:stretch>
        </p:blipFill>
        <p:spPr>
          <a:xfrm>
            <a:off x="3378200" y="3721100"/>
            <a:ext cx="381000" cy="381000"/>
          </a:xfrm>
          <a:prstGeom prst="rect">
            <a:avLst/>
          </a:prstGeom>
        </p:spPr>
      </p:pic>
      <p:sp>
        <p:nvSpPr>
          <p:cNvPr id="23" name="TextBox 22"/>
          <p:cNvSpPr txBox="1"/>
          <p:nvPr/>
        </p:nvSpPr>
        <p:spPr>
          <a:xfrm>
            <a:off x="3886200" y="3771900"/>
            <a:ext cx="12065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CoreDNS</a:t>
            </a:r>
          </a:p>
        </p:txBody>
      </p:sp>
      <p:cxnSp>
        <p:nvCxnSpPr>
          <p:cNvPr id="24" name="Connector 23"/>
          <p:cNvCxnSpPr/>
          <p:nvPr/>
        </p:nvCxnSpPr>
        <p:spPr>
          <a:xfrm>
            <a:off x="4241800" y="4241800"/>
            <a:ext cx="0" cy="241300"/>
          </a:xfrm>
          <a:prstGeom prst="line">
            <a:avLst/>
          </a:prstGeom>
          <a:ln w="19050">
            <a:solidFill>
              <a:srgbClr val="78A5F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89000" y="4483100"/>
            <a:ext cx="4343400" cy="723900"/>
          </a:xfrm>
          <a:prstGeom prst="roundRect">
            <a:avLst>
              <a:gd name="adj" fmla="val 12280"/>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2200" y="4584700"/>
            <a:ext cx="3048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2762C8"/>
                </a:solidFill>
                <a:latin typeface="Arial"/>
              </a:rPr>
              <a:t>AUTHORITATIVE ANSWER</a:t>
            </a:r>
          </a:p>
        </p:txBody>
      </p:sp>
      <p:sp>
        <p:nvSpPr>
          <p:cNvPr id="27" name="TextBox 26"/>
          <p:cNvSpPr txBox="1"/>
          <p:nvPr/>
        </p:nvSpPr>
        <p:spPr>
          <a:xfrm>
            <a:off x="1092200" y="4800600"/>
            <a:ext cx="30480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42338"/>
                </a:solidFill>
                <a:latin typeface="Arial"/>
              </a:rPr>
              <a:t>Application IPs: A</a:t>
            </a:r>
          </a:p>
        </p:txBody>
      </p:sp>
      <p:sp>
        <p:nvSpPr>
          <p:cNvPr id="28" name="Oval 27"/>
          <p:cNvSpPr/>
          <p:nvPr/>
        </p:nvSpPr>
        <p:spPr>
          <a:xfrm>
            <a:off x="4584700" y="4635500"/>
            <a:ext cx="431800" cy="4318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84700" y="4686300"/>
            <a:ext cx="431800" cy="359409"/>
          </a:xfrm>
          <a:prstGeom prst="rect">
            <a:avLst/>
          </a:prstGeom>
          <a:noFill/>
        </p:spPr>
        <p:txBody>
          <a:bodyPr wrap="none" lIns="0" rIns="0" tIns="0" bIns="0" anchor="t">
            <a:noAutofit/>
          </a:bodyPr>
          <a:lstStyle/>
          <a:p>
            <a:pPr algn="ctr">
              <a:lnSpc>
                <a:spcPts val="2529"/>
              </a:lnSpc>
              <a:spcBef>
                <a:spcPts val="0"/>
              </a:spcBef>
              <a:spcAft>
                <a:spcPts val="0"/>
              </a:spcAft>
            </a:pPr>
            <a:r>
              <a:rPr sz="2200" b="1">
                <a:solidFill>
                  <a:srgbClr val="FFFFFF"/>
                </a:solidFill>
                <a:latin typeface="Arial"/>
              </a:rPr>
              <a:t>A</a:t>
            </a:r>
          </a:p>
        </p:txBody>
      </p:sp>
      <p:sp>
        <p:nvSpPr>
          <p:cNvPr id="30" name="Rounded Rectangle 29"/>
          <p:cNvSpPr/>
          <p:nvPr/>
        </p:nvSpPr>
        <p:spPr>
          <a:xfrm>
            <a:off x="6680200" y="2133600"/>
            <a:ext cx="4902200" cy="3251200"/>
          </a:xfrm>
          <a:prstGeom prst="roundRect">
            <a:avLst>
              <a:gd name="adj" fmla="val 3906"/>
            </a:avLst>
          </a:prstGeom>
          <a:solidFill>
            <a:srgbClr val="1A3047"/>
          </a:solidFill>
          <a:ln w="12700">
            <a:solidFill>
              <a:srgbClr val="3850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959600" y="2146300"/>
            <a:ext cx="4343400" cy="0"/>
          </a:xfrm>
          <a:prstGeom prst="line">
            <a:avLst/>
          </a:prstGeom>
          <a:ln w="38100">
            <a:solidFill>
              <a:srgbClr val="6DD3CE"/>
            </a:solidFill>
          </a:ln>
        </p:spPr>
        <p:style>
          <a:lnRef idx="2">
            <a:schemeClr val="accent1"/>
          </a:lnRef>
          <a:fillRef idx="0">
            <a:schemeClr val="accent1"/>
          </a:fillRef>
          <a:effectRef idx="1">
            <a:schemeClr val="accent1"/>
          </a:effectRef>
          <a:fontRef idx="minor">
            <a:schemeClr val="tx1"/>
          </a:fontRef>
        </p:style>
      </p:cxnSp>
      <p:pic>
        <p:nvPicPr>
          <p:cNvPr id="32" name="Picture 31" descr="image.png"/>
          <p:cNvPicPr>
            <a:picLocks noChangeAspect="1"/>
          </p:cNvPicPr>
          <p:nvPr/>
        </p:nvPicPr>
        <p:blipFill>
          <a:blip r:embed="rId2"/>
          <a:stretch>
            <a:fillRect/>
          </a:stretch>
        </p:blipFill>
        <p:spPr>
          <a:xfrm>
            <a:off x="6959600" y="2374900"/>
            <a:ext cx="546100" cy="546100"/>
          </a:xfrm>
          <a:prstGeom prst="rect">
            <a:avLst/>
          </a:prstGeom>
        </p:spPr>
      </p:pic>
      <p:sp>
        <p:nvSpPr>
          <p:cNvPr id="33" name="TextBox 32"/>
          <p:cNvSpPr txBox="1"/>
          <p:nvPr/>
        </p:nvSpPr>
        <p:spPr>
          <a:xfrm>
            <a:off x="7683500" y="2413000"/>
            <a:ext cx="3619500" cy="417830"/>
          </a:xfrm>
          <a:prstGeom prst="rect">
            <a:avLst/>
          </a:prstGeom>
          <a:noFill/>
        </p:spPr>
        <p:txBody>
          <a:bodyPr wrap="none" lIns="0" rIns="0" tIns="0" bIns="0" anchor="t">
            <a:noAutofit/>
          </a:bodyPr>
          <a:lstStyle/>
          <a:p>
            <a:pPr algn="l">
              <a:lnSpc>
                <a:spcPts val="2990"/>
              </a:lnSpc>
              <a:spcBef>
                <a:spcPts val="0"/>
              </a:spcBef>
              <a:spcAft>
                <a:spcPts val="0"/>
              </a:spcAft>
            </a:pPr>
            <a:r>
              <a:rPr sz="2600" b="1">
                <a:solidFill>
                  <a:srgbClr val="FFFFFF"/>
                </a:solidFill>
                <a:latin typeface="Arial"/>
              </a:rPr>
              <a:t>CLUSTER B</a:t>
            </a:r>
          </a:p>
        </p:txBody>
      </p:sp>
      <p:sp>
        <p:nvSpPr>
          <p:cNvPr id="34" name="TextBox 33"/>
          <p:cNvSpPr txBox="1"/>
          <p:nvPr/>
        </p:nvSpPr>
        <p:spPr>
          <a:xfrm>
            <a:off x="6959600" y="3048000"/>
            <a:ext cx="27178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B8C8D9"/>
                </a:solidFill>
                <a:latin typeface="Arial"/>
              </a:rPr>
              <a:t>SECONDARY APPLICATION</a:t>
            </a:r>
          </a:p>
        </p:txBody>
      </p:sp>
      <p:sp>
        <p:nvSpPr>
          <p:cNvPr id="35" name="Rounded Rectangle 34"/>
          <p:cNvSpPr/>
          <p:nvPr/>
        </p:nvSpPr>
        <p:spPr>
          <a:xfrm>
            <a:off x="9880600" y="2946400"/>
            <a:ext cx="1422400" cy="317500"/>
          </a:xfrm>
          <a:prstGeom prst="roundRect">
            <a:avLst>
              <a:gd name="adj" fmla="val 48000"/>
            </a:avLst>
          </a:prstGeom>
          <a:solidFill>
            <a:srgbClr val="E8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44100" y="2997200"/>
            <a:ext cx="1295400" cy="206375"/>
          </a:xfrm>
          <a:prstGeom prst="rect">
            <a:avLst/>
          </a:prstGeom>
          <a:noFill/>
        </p:spPr>
        <p:txBody>
          <a:bodyPr wrap="none" lIns="0" rIns="0" tIns="0" bIns="0" anchor="t">
            <a:noAutofit/>
          </a:bodyPr>
          <a:lstStyle/>
          <a:p>
            <a:pPr algn="ctr">
              <a:lnSpc>
                <a:spcPts val="1300"/>
              </a:lnSpc>
              <a:spcBef>
                <a:spcPts val="0"/>
              </a:spcBef>
              <a:spcAft>
                <a:spcPts val="0"/>
              </a:spcAft>
            </a:pPr>
            <a:r>
              <a:rPr sz="1300" b="1">
                <a:solidFill>
                  <a:srgbClr val="177C58"/>
                </a:solidFill>
                <a:latin typeface="Arial"/>
              </a:rPr>
              <a:t>APP READY</a:t>
            </a:r>
          </a:p>
        </p:txBody>
      </p:sp>
      <p:sp>
        <p:nvSpPr>
          <p:cNvPr id="37" name="Rounded Rectangle 36"/>
          <p:cNvSpPr/>
          <p:nvPr/>
        </p:nvSpPr>
        <p:spPr>
          <a:xfrm>
            <a:off x="6959600" y="3606800"/>
            <a:ext cx="1600200" cy="63500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3"/>
          <a:stretch>
            <a:fillRect/>
          </a:stretch>
        </p:blipFill>
        <p:spPr>
          <a:xfrm>
            <a:off x="7086600" y="3725663"/>
            <a:ext cx="381000" cy="371872"/>
          </a:xfrm>
          <a:prstGeom prst="rect">
            <a:avLst/>
          </a:prstGeom>
        </p:spPr>
      </p:pic>
      <p:sp>
        <p:nvSpPr>
          <p:cNvPr id="39" name="TextBox 38"/>
          <p:cNvSpPr txBox="1"/>
          <p:nvPr/>
        </p:nvSpPr>
        <p:spPr>
          <a:xfrm>
            <a:off x="7594600" y="3771900"/>
            <a:ext cx="8255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k8gb</a:t>
            </a:r>
          </a:p>
        </p:txBody>
      </p:sp>
      <p:cxnSp>
        <p:nvCxnSpPr>
          <p:cNvPr id="40" name="Connector 39"/>
          <p:cNvCxnSpPr/>
          <p:nvPr/>
        </p:nvCxnSpPr>
        <p:spPr>
          <a:xfrm>
            <a:off x="8559800" y="3924300"/>
            <a:ext cx="762000" cy="0"/>
          </a:xfrm>
          <a:prstGeom prst="line">
            <a:avLst/>
          </a:prstGeom>
          <a:ln w="22860">
            <a:solidFill>
              <a:srgbClr val="6DD3C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321800" y="3606800"/>
            <a:ext cx="1981200" cy="63500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4"/>
          <a:stretch>
            <a:fillRect/>
          </a:stretch>
        </p:blipFill>
        <p:spPr>
          <a:xfrm>
            <a:off x="9448800" y="3721100"/>
            <a:ext cx="381000" cy="381000"/>
          </a:xfrm>
          <a:prstGeom prst="rect">
            <a:avLst/>
          </a:prstGeom>
        </p:spPr>
      </p:pic>
      <p:sp>
        <p:nvSpPr>
          <p:cNvPr id="43" name="TextBox 42"/>
          <p:cNvSpPr txBox="1"/>
          <p:nvPr/>
        </p:nvSpPr>
        <p:spPr>
          <a:xfrm>
            <a:off x="9956800" y="3771900"/>
            <a:ext cx="12065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CoreDNS</a:t>
            </a:r>
          </a:p>
        </p:txBody>
      </p:sp>
      <p:cxnSp>
        <p:nvCxnSpPr>
          <p:cNvPr id="44" name="Connector 43"/>
          <p:cNvCxnSpPr/>
          <p:nvPr/>
        </p:nvCxnSpPr>
        <p:spPr>
          <a:xfrm>
            <a:off x="10312400" y="4241800"/>
            <a:ext cx="0" cy="241300"/>
          </a:xfrm>
          <a:prstGeom prst="line">
            <a:avLst/>
          </a:prstGeom>
          <a:ln w="19050">
            <a:solidFill>
              <a:srgbClr val="6DD3C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959600" y="4483100"/>
            <a:ext cx="4343400" cy="723900"/>
          </a:xfrm>
          <a:prstGeom prst="roundRect">
            <a:avLst>
              <a:gd name="adj" fmla="val 12280"/>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62800" y="4584700"/>
            <a:ext cx="3048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087F85"/>
                </a:solidFill>
                <a:latin typeface="Arial"/>
              </a:rPr>
              <a:t>AUTHORITATIVE ANSWER</a:t>
            </a:r>
          </a:p>
        </p:txBody>
      </p:sp>
      <p:sp>
        <p:nvSpPr>
          <p:cNvPr id="47" name="TextBox 46"/>
          <p:cNvSpPr txBox="1"/>
          <p:nvPr/>
        </p:nvSpPr>
        <p:spPr>
          <a:xfrm>
            <a:off x="7162800" y="4800600"/>
            <a:ext cx="30480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42338"/>
                </a:solidFill>
                <a:latin typeface="Arial"/>
              </a:rPr>
              <a:t>Application IPs: B</a:t>
            </a:r>
          </a:p>
        </p:txBody>
      </p:sp>
      <p:sp>
        <p:nvSpPr>
          <p:cNvPr id="48" name="Oval 47"/>
          <p:cNvSpPr/>
          <p:nvPr/>
        </p:nvSpPr>
        <p:spPr>
          <a:xfrm>
            <a:off x="10655300" y="4635500"/>
            <a:ext cx="431800" cy="431800"/>
          </a:xfrm>
          <a:prstGeom prst="ellipse">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55300" y="4686300"/>
            <a:ext cx="431800" cy="359409"/>
          </a:xfrm>
          <a:prstGeom prst="rect">
            <a:avLst/>
          </a:prstGeom>
          <a:noFill/>
        </p:spPr>
        <p:txBody>
          <a:bodyPr wrap="none" lIns="0" rIns="0" tIns="0" bIns="0" anchor="t">
            <a:noAutofit/>
          </a:bodyPr>
          <a:lstStyle/>
          <a:p>
            <a:pPr algn="ctr">
              <a:lnSpc>
                <a:spcPts val="2529"/>
              </a:lnSpc>
              <a:spcBef>
                <a:spcPts val="0"/>
              </a:spcBef>
              <a:spcAft>
                <a:spcPts val="0"/>
              </a:spcAft>
            </a:pPr>
            <a:r>
              <a:rPr sz="2200" b="1">
                <a:solidFill>
                  <a:srgbClr val="FFFFFF"/>
                </a:solidFill>
                <a:latin typeface="Arial"/>
              </a:rPr>
              <a:t>B</a:t>
            </a:r>
          </a:p>
        </p:txBody>
      </p:sp>
      <p:cxnSp>
        <p:nvCxnSpPr>
          <p:cNvPr id="50" name="Connector 49"/>
          <p:cNvCxnSpPr/>
          <p:nvPr/>
        </p:nvCxnSpPr>
        <p:spPr>
          <a:xfrm flipH="1">
            <a:off x="5232400" y="3924300"/>
            <a:ext cx="1727200" cy="0"/>
          </a:xfrm>
          <a:prstGeom prst="line">
            <a:avLst/>
          </a:prstGeom>
          <a:ln w="25400">
            <a:solidFill>
              <a:srgbClr val="F79BB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511800" y="3492500"/>
            <a:ext cx="1168400" cy="184150"/>
          </a:xfrm>
          <a:prstGeom prst="rect">
            <a:avLst/>
          </a:prstGeom>
          <a:noFill/>
        </p:spPr>
        <p:txBody>
          <a:bodyPr wrap="none" lIns="0" rIns="0" tIns="0" bIns="0" anchor="t">
            <a:noAutofit/>
          </a:bodyPr>
          <a:lstStyle/>
          <a:p>
            <a:pPr algn="ctr">
              <a:lnSpc>
                <a:spcPts val="1150"/>
              </a:lnSpc>
              <a:spcBef>
                <a:spcPts val="0"/>
              </a:spcBef>
              <a:spcAft>
                <a:spcPts val="0"/>
              </a:spcAft>
            </a:pPr>
            <a:r>
              <a:rPr sz="1000" b="1">
                <a:solidFill>
                  <a:srgbClr val="F79BB0"/>
                </a:solidFill>
                <a:latin typeface="Arial"/>
              </a:rPr>
              <a:t>PEER QUERY</a:t>
            </a:r>
          </a:p>
        </p:txBody>
      </p:sp>
      <p:sp>
        <p:nvSpPr>
          <p:cNvPr id="52" name="Oval 51"/>
          <p:cNvSpPr/>
          <p:nvPr/>
        </p:nvSpPr>
        <p:spPr>
          <a:xfrm>
            <a:off x="5930900" y="3759200"/>
            <a:ext cx="330200" cy="330200"/>
          </a:xfrm>
          <a:prstGeom prst="ellipse">
            <a:avLst/>
          </a:prstGeom>
          <a:solidFill>
            <a:srgbClr val="10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a:off x="6007100" y="3835400"/>
            <a:ext cx="177800" cy="177800"/>
          </a:xfrm>
          <a:prstGeom prst="line">
            <a:avLst/>
          </a:prstGeom>
          <a:ln w="3175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007100" y="3835400"/>
            <a:ext cx="177800" cy="177800"/>
          </a:xfrm>
          <a:prstGeom prst="line">
            <a:avLst/>
          </a:prstGeom>
          <a:ln w="31750">
            <a:solidFill>
              <a:srgbClr val="F79BB0"/>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842000" y="4635500"/>
            <a:ext cx="508000" cy="476250"/>
          </a:xfrm>
          <a:prstGeom prst="rect">
            <a:avLst/>
          </a:prstGeom>
          <a:noFill/>
        </p:spPr>
        <p:txBody>
          <a:bodyPr wrap="none" lIns="0" rIns="0" tIns="0" bIns="0" anchor="t">
            <a:noAutofit/>
          </a:bodyPr>
          <a:lstStyle/>
          <a:p>
            <a:pPr algn="ctr">
              <a:lnSpc>
                <a:spcPts val="3450"/>
              </a:lnSpc>
              <a:spcBef>
                <a:spcPts val="0"/>
              </a:spcBef>
              <a:spcAft>
                <a:spcPts val="0"/>
              </a:spcAft>
            </a:pPr>
            <a:r>
              <a:rPr sz="3000" b="1">
                <a:solidFill>
                  <a:srgbClr val="F79BB0"/>
                </a:solidFill>
                <a:latin typeface="Arial"/>
              </a:rPr>
              <a:t>≠</a:t>
            </a:r>
          </a:p>
        </p:txBody>
      </p:sp>
      <p:sp>
        <p:nvSpPr>
          <p:cNvPr id="56" name="TextBox 55"/>
          <p:cNvSpPr txBox="1"/>
          <p:nvPr/>
        </p:nvSpPr>
        <p:spPr>
          <a:xfrm>
            <a:off x="1625600" y="5524500"/>
            <a:ext cx="8940800" cy="300990"/>
          </a:xfrm>
          <a:prstGeom prst="rect">
            <a:avLst/>
          </a:prstGeom>
          <a:noFill/>
        </p:spPr>
        <p:txBody>
          <a:bodyPr wrap="none" lIns="0" rIns="0" tIns="0" bIns="0" anchor="t">
            <a:noAutofit/>
          </a:bodyPr>
          <a:lstStyle/>
          <a:p>
            <a:pPr algn="ctr">
              <a:lnSpc>
                <a:spcPts val="2070"/>
              </a:lnSpc>
              <a:spcBef>
                <a:spcPts val="0"/>
              </a:spcBef>
              <a:spcAft>
                <a:spcPts val="0"/>
              </a:spcAft>
            </a:pPr>
            <a:r>
              <a:rPr sz="1800" b="1">
                <a:solidFill>
                  <a:srgbClr val="F79BB0"/>
                </a:solidFill>
                <a:latin typeface="Arial"/>
              </a:rPr>
              <a:t>B cannot obtain A’s peer-health answer.</a:t>
            </a:r>
          </a:p>
        </p:txBody>
      </p:sp>
      <p:sp>
        <p:nvSpPr>
          <p:cNvPr id="57" name="Rounded Rectangle 56"/>
          <p:cNvSpPr/>
          <p:nvPr/>
        </p:nvSpPr>
        <p:spPr>
          <a:xfrm>
            <a:off x="609600" y="5930900"/>
            <a:ext cx="10972800" cy="457200"/>
          </a:xfrm>
          <a:prstGeom prst="roundRect">
            <a:avLst>
              <a:gd name="adj" fmla="val 13888"/>
            </a:avLst>
          </a:prstGeom>
          <a:solidFill>
            <a:srgbClr val="1A3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7400" y="6007100"/>
            <a:ext cx="10617200" cy="317500"/>
          </a:xfrm>
          <a:prstGeom prst="rect">
            <a:avLst/>
          </a:prstGeom>
          <a:noFill/>
        </p:spPr>
        <p:txBody>
          <a:bodyPr wrap="none" lIns="0" rIns="0" tIns="0" bIns="0" anchor="t">
            <a:noAutofit/>
          </a:bodyPr>
          <a:lstStyle/>
          <a:p>
            <a:pPr algn="ctr">
              <a:lnSpc>
                <a:spcPts val="2000"/>
              </a:lnSpc>
              <a:spcBef>
                <a:spcPts val="0"/>
              </a:spcBef>
              <a:spcAft>
                <a:spcPts val="0"/>
              </a:spcAft>
            </a:pPr>
            <a:r>
              <a:rPr sz="2000" b="1">
                <a:solidFill>
                  <a:srgbClr val="FFFFFF"/>
                </a:solidFill>
                <a:latin typeface="Arial"/>
              </a:rPr>
              <a:t>A failed health query does not prove the application is down.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OBSERVABILITY</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16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Compare the answers your users can receive</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During a partition, compare the same hostname from each viewpoint.</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2019300"/>
            <a:ext cx="6756400" cy="3581400"/>
          </a:xfrm>
          <a:prstGeom prst="roundRect">
            <a:avLst>
              <a:gd name="adj" fmla="val 3191"/>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9000" y="2247900"/>
            <a:ext cx="61976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CF0035"/>
                </a:solidFill>
                <a:latin typeface="Arial"/>
              </a:rPr>
              <a:t>ILLUSTRATIVE PARTITION</a:t>
            </a:r>
          </a:p>
        </p:txBody>
      </p:sp>
      <p:sp>
        <p:nvSpPr>
          <p:cNvPr id="12" name="Rounded Rectangle 11"/>
          <p:cNvSpPr/>
          <p:nvPr/>
        </p:nvSpPr>
        <p:spPr>
          <a:xfrm>
            <a:off x="889000" y="2667000"/>
            <a:ext cx="482600" cy="482600"/>
          </a:xfrm>
          <a:prstGeom prst="roundRect">
            <a:avLst>
              <a:gd name="adj" fmla="val 18421"/>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952500" y="2730500"/>
            <a:ext cx="355600" cy="355600"/>
          </a:xfrm>
          <a:prstGeom prst="rect">
            <a:avLst/>
          </a:prstGeom>
        </p:spPr>
      </p:pic>
      <p:sp>
        <p:nvSpPr>
          <p:cNvPr id="14" name="TextBox 13"/>
          <p:cNvSpPr txBox="1"/>
          <p:nvPr/>
        </p:nvSpPr>
        <p:spPr>
          <a:xfrm>
            <a:off x="1524000" y="2768600"/>
            <a:ext cx="28575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CoreDNS A</a:t>
            </a:r>
          </a:p>
        </p:txBody>
      </p:sp>
      <p:sp>
        <p:nvSpPr>
          <p:cNvPr id="15" name="Rounded Rectangle 14"/>
          <p:cNvSpPr/>
          <p:nvPr/>
        </p:nvSpPr>
        <p:spPr>
          <a:xfrm>
            <a:off x="4508500" y="2667000"/>
            <a:ext cx="2578100" cy="482600"/>
          </a:xfrm>
          <a:prstGeom prst="roundRect">
            <a:avLst>
              <a:gd name="adj" fmla="val 18421"/>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5500" y="2781300"/>
            <a:ext cx="2324100" cy="286384"/>
          </a:xfrm>
          <a:prstGeom prst="rect">
            <a:avLst/>
          </a:prstGeom>
          <a:noFill/>
        </p:spPr>
        <p:txBody>
          <a:bodyPr wrap="none" lIns="0" rIns="0" tIns="0" bIns="0" anchor="t">
            <a:noAutofit/>
          </a:bodyPr>
          <a:lstStyle/>
          <a:p>
            <a:pPr algn="ctr">
              <a:lnSpc>
                <a:spcPts val="1954"/>
              </a:lnSpc>
              <a:spcBef>
                <a:spcPts val="0"/>
              </a:spcBef>
              <a:spcAft>
                <a:spcPts val="0"/>
              </a:spcAft>
            </a:pPr>
            <a:r>
              <a:rPr sz="1700" b="1">
                <a:solidFill>
                  <a:srgbClr val="2762C8"/>
                </a:solidFill>
                <a:latin typeface="Arial"/>
              </a:rPr>
              <a:t>Cluster A IPs</a:t>
            </a:r>
          </a:p>
        </p:txBody>
      </p:sp>
      <p:cxnSp>
        <p:nvCxnSpPr>
          <p:cNvPr id="17" name="Connector 16"/>
          <p:cNvCxnSpPr/>
          <p:nvPr/>
        </p:nvCxnSpPr>
        <p:spPr>
          <a:xfrm>
            <a:off x="889000" y="3251200"/>
            <a:ext cx="61976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89000" y="3365500"/>
            <a:ext cx="482600" cy="482600"/>
          </a:xfrm>
          <a:prstGeom prst="roundRect">
            <a:avLst>
              <a:gd name="adj" fmla="val 18421"/>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2"/>
          <a:stretch>
            <a:fillRect/>
          </a:stretch>
        </p:blipFill>
        <p:spPr>
          <a:xfrm>
            <a:off x="952500" y="3429000"/>
            <a:ext cx="355600" cy="355600"/>
          </a:xfrm>
          <a:prstGeom prst="rect">
            <a:avLst/>
          </a:prstGeom>
        </p:spPr>
      </p:pic>
      <p:sp>
        <p:nvSpPr>
          <p:cNvPr id="20" name="TextBox 19"/>
          <p:cNvSpPr txBox="1"/>
          <p:nvPr/>
        </p:nvSpPr>
        <p:spPr>
          <a:xfrm>
            <a:off x="1524000" y="3467100"/>
            <a:ext cx="28575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CoreDNS B</a:t>
            </a:r>
          </a:p>
        </p:txBody>
      </p:sp>
      <p:sp>
        <p:nvSpPr>
          <p:cNvPr id="21" name="Rounded Rectangle 20"/>
          <p:cNvSpPr/>
          <p:nvPr/>
        </p:nvSpPr>
        <p:spPr>
          <a:xfrm>
            <a:off x="4508500" y="3365500"/>
            <a:ext cx="2578100" cy="482600"/>
          </a:xfrm>
          <a:prstGeom prst="roundRect">
            <a:avLst>
              <a:gd name="adj" fmla="val 18421"/>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5500" y="3479800"/>
            <a:ext cx="2324100" cy="286384"/>
          </a:xfrm>
          <a:prstGeom prst="rect">
            <a:avLst/>
          </a:prstGeom>
          <a:noFill/>
        </p:spPr>
        <p:txBody>
          <a:bodyPr wrap="none" lIns="0" rIns="0" tIns="0" bIns="0" anchor="t">
            <a:noAutofit/>
          </a:bodyPr>
          <a:lstStyle/>
          <a:p>
            <a:pPr algn="ctr">
              <a:lnSpc>
                <a:spcPts val="1954"/>
              </a:lnSpc>
              <a:spcBef>
                <a:spcPts val="0"/>
              </a:spcBef>
              <a:spcAft>
                <a:spcPts val="0"/>
              </a:spcAft>
            </a:pPr>
            <a:r>
              <a:rPr sz="1700" b="1">
                <a:solidFill>
                  <a:srgbClr val="087F85"/>
                </a:solidFill>
                <a:latin typeface="Arial"/>
              </a:rPr>
              <a:t>Cluster B IPs</a:t>
            </a:r>
          </a:p>
        </p:txBody>
      </p:sp>
      <p:cxnSp>
        <p:nvCxnSpPr>
          <p:cNvPr id="23" name="Connector 22"/>
          <p:cNvCxnSpPr/>
          <p:nvPr/>
        </p:nvCxnSpPr>
        <p:spPr>
          <a:xfrm>
            <a:off x="889000" y="3949700"/>
            <a:ext cx="61976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89000" y="4064000"/>
            <a:ext cx="482600" cy="482600"/>
          </a:xfrm>
          <a:prstGeom prst="roundRect">
            <a:avLst>
              <a:gd name="adj" fmla="val 18421"/>
            </a:avLst>
          </a:prstGeom>
          <a:solidFill>
            <a:srgbClr val="EF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90600" y="4165600"/>
            <a:ext cx="279400" cy="279400"/>
          </a:xfrm>
          <a:prstGeom prst="ellipse">
            <a:avLst/>
          </a:prstGeom>
          <a:solidFill>
            <a:srgbClr val="EFF3F7"/>
          </a:solidFill>
          <a:ln w="19050">
            <a:solidFill>
              <a:srgbClr val="5D6F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130300" y="4216400"/>
            <a:ext cx="0" cy="88900"/>
          </a:xfrm>
          <a:prstGeom prst="line">
            <a:avLst/>
          </a:prstGeom>
          <a:ln w="19050">
            <a:solidFill>
              <a:srgbClr val="5D6F82"/>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30300" y="4305300"/>
            <a:ext cx="76200" cy="38100"/>
          </a:xfrm>
          <a:prstGeom prst="line">
            <a:avLst/>
          </a:prstGeom>
          <a:ln w="19050">
            <a:solidFill>
              <a:srgbClr val="5D6F8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524000" y="4165600"/>
            <a:ext cx="28575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Resolver cache</a:t>
            </a:r>
          </a:p>
        </p:txBody>
      </p:sp>
      <p:sp>
        <p:nvSpPr>
          <p:cNvPr id="29" name="Rounded Rectangle 28"/>
          <p:cNvSpPr/>
          <p:nvPr/>
        </p:nvSpPr>
        <p:spPr>
          <a:xfrm>
            <a:off x="4508500" y="4064000"/>
            <a:ext cx="2578100" cy="482600"/>
          </a:xfrm>
          <a:prstGeom prst="roundRect">
            <a:avLst>
              <a:gd name="adj" fmla="val 18421"/>
            </a:avLst>
          </a:prstGeom>
          <a:solidFill>
            <a:srgbClr val="EF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35500" y="4178300"/>
            <a:ext cx="2324100" cy="286384"/>
          </a:xfrm>
          <a:prstGeom prst="rect">
            <a:avLst/>
          </a:prstGeom>
          <a:noFill/>
        </p:spPr>
        <p:txBody>
          <a:bodyPr wrap="none" lIns="0" rIns="0" tIns="0" bIns="0" anchor="t">
            <a:noAutofit/>
          </a:bodyPr>
          <a:lstStyle/>
          <a:p>
            <a:pPr algn="ctr">
              <a:lnSpc>
                <a:spcPts val="1954"/>
              </a:lnSpc>
              <a:spcBef>
                <a:spcPts val="0"/>
              </a:spcBef>
              <a:spcAft>
                <a:spcPts val="0"/>
              </a:spcAft>
            </a:pPr>
            <a:r>
              <a:rPr sz="1700" b="1">
                <a:solidFill>
                  <a:srgbClr val="5D6F82"/>
                </a:solidFill>
                <a:latin typeface="Arial"/>
              </a:rPr>
              <a:t>May still return A</a:t>
            </a:r>
          </a:p>
        </p:txBody>
      </p:sp>
      <p:cxnSp>
        <p:nvCxnSpPr>
          <p:cNvPr id="31" name="Connector 30"/>
          <p:cNvCxnSpPr/>
          <p:nvPr/>
        </p:nvCxnSpPr>
        <p:spPr>
          <a:xfrm>
            <a:off x="889000" y="4648200"/>
            <a:ext cx="61976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89000" y="4762500"/>
            <a:ext cx="482600" cy="482600"/>
          </a:xfrm>
          <a:prstGeom prst="roundRect">
            <a:avLst>
              <a:gd name="adj" fmla="val 18421"/>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90600" y="4876800"/>
            <a:ext cx="279400" cy="254000"/>
          </a:xfrm>
          <a:prstGeom prst="roundRect">
            <a:avLst>
              <a:gd name="adj" fmla="val 15000"/>
            </a:avLst>
          </a:prstGeom>
          <a:solidFill>
            <a:srgbClr val="FFFFFF"/>
          </a:solidFill>
          <a:ln w="1651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990600" y="4953000"/>
            <a:ext cx="279400" cy="0"/>
          </a:xfrm>
          <a:prstGeom prst="line">
            <a:avLst/>
          </a:prstGeom>
          <a:ln w="12700">
            <a:solidFill>
              <a:srgbClr val="CF0035"/>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028700" y="4902200"/>
            <a:ext cx="25400" cy="25400"/>
          </a:xfrm>
          <a:prstGeom prst="ellipse">
            <a:avLst/>
          </a:prstGeom>
          <a:solidFill>
            <a:srgbClr val="CF0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054100" y="5029200"/>
            <a:ext cx="50800" cy="50800"/>
          </a:xfrm>
          <a:prstGeom prst="line">
            <a:avLst/>
          </a:prstGeom>
          <a:ln w="1905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104900" y="4991100"/>
            <a:ext cx="101600" cy="88900"/>
          </a:xfrm>
          <a:prstGeom prst="line">
            <a:avLst/>
          </a:prstGeom>
          <a:ln w="19050">
            <a:solidFill>
              <a:srgbClr val="CF003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524000" y="4864100"/>
            <a:ext cx="28575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Real request</a:t>
            </a:r>
          </a:p>
        </p:txBody>
      </p:sp>
      <p:sp>
        <p:nvSpPr>
          <p:cNvPr id="39" name="Rounded Rectangle 38"/>
          <p:cNvSpPr/>
          <p:nvPr/>
        </p:nvSpPr>
        <p:spPr>
          <a:xfrm>
            <a:off x="4508500" y="4762500"/>
            <a:ext cx="2578100" cy="482600"/>
          </a:xfrm>
          <a:prstGeom prst="roundRect">
            <a:avLst>
              <a:gd name="adj" fmla="val 18421"/>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35500" y="4876800"/>
            <a:ext cx="2324100" cy="286384"/>
          </a:xfrm>
          <a:prstGeom prst="rect">
            <a:avLst/>
          </a:prstGeom>
          <a:noFill/>
        </p:spPr>
        <p:txBody>
          <a:bodyPr wrap="none" lIns="0" rIns="0" tIns="0" bIns="0" anchor="t">
            <a:noAutofit/>
          </a:bodyPr>
          <a:lstStyle/>
          <a:p>
            <a:pPr algn="ctr">
              <a:lnSpc>
                <a:spcPts val="1954"/>
              </a:lnSpc>
              <a:spcBef>
                <a:spcPts val="0"/>
              </a:spcBef>
              <a:spcAft>
                <a:spcPts val="0"/>
              </a:spcAft>
            </a:pPr>
            <a:r>
              <a:rPr sz="1700" b="1">
                <a:solidFill>
                  <a:srgbClr val="CF0035"/>
                </a:solidFill>
                <a:latin typeface="Arial"/>
              </a:rPr>
              <a:t>Verify the result</a:t>
            </a:r>
          </a:p>
        </p:txBody>
      </p:sp>
      <p:sp>
        <p:nvSpPr>
          <p:cNvPr id="41" name="Rounded Rectangle 40"/>
          <p:cNvSpPr/>
          <p:nvPr/>
        </p:nvSpPr>
        <p:spPr>
          <a:xfrm>
            <a:off x="7670800" y="2019300"/>
            <a:ext cx="3911600" cy="2133600"/>
          </a:xfrm>
          <a:prstGeom prst="roundRect">
            <a:avLst>
              <a:gd name="adj" fmla="val 5357"/>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24800" y="2247900"/>
            <a:ext cx="34036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FFFFFF"/>
                </a:solidFill>
                <a:latin typeface="Arial"/>
              </a:rPr>
              <a:t>Correlate the signals</a:t>
            </a:r>
          </a:p>
        </p:txBody>
      </p:sp>
      <p:sp>
        <p:nvSpPr>
          <p:cNvPr id="43" name="Oval 42"/>
          <p:cNvSpPr/>
          <p:nvPr/>
        </p:nvSpPr>
        <p:spPr>
          <a:xfrm>
            <a:off x="7937500" y="2857500"/>
            <a:ext cx="101600" cy="101600"/>
          </a:xfrm>
          <a:prstGeom prst="ellipse">
            <a:avLst/>
          </a:prstGeom>
          <a:solidFill>
            <a:srgbClr val="78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78800" y="2781300"/>
            <a:ext cx="3149600" cy="315595"/>
          </a:xfrm>
          <a:prstGeom prst="rect">
            <a:avLst/>
          </a:prstGeom>
          <a:noFill/>
        </p:spPr>
        <p:txBody>
          <a:bodyPr wrap="none" lIns="0" rIns="0" tIns="0" bIns="0" anchor="t">
            <a:noAutofit/>
          </a:bodyPr>
          <a:lstStyle/>
          <a:p>
            <a:pPr algn="l">
              <a:lnSpc>
                <a:spcPts val="2185"/>
              </a:lnSpc>
              <a:spcBef>
                <a:spcPts val="0"/>
              </a:spcBef>
              <a:spcAft>
                <a:spcPts val="0"/>
              </a:spcAft>
            </a:pPr>
            <a:r>
              <a:rPr sz="1900" b="0">
                <a:solidFill>
                  <a:srgbClr val="FFFFFF"/>
                </a:solidFill>
                <a:latin typeface="Arial"/>
              </a:rPr>
              <a:t>Pod readiness</a:t>
            </a:r>
          </a:p>
        </p:txBody>
      </p:sp>
      <p:sp>
        <p:nvSpPr>
          <p:cNvPr id="45" name="Oval 44"/>
          <p:cNvSpPr/>
          <p:nvPr/>
        </p:nvSpPr>
        <p:spPr>
          <a:xfrm>
            <a:off x="7937500" y="3263900"/>
            <a:ext cx="101600" cy="101600"/>
          </a:xfrm>
          <a:prstGeom prst="ellipse">
            <a:avLst/>
          </a:prstGeom>
          <a:solidFill>
            <a:srgbClr val="6DD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78800" y="3187700"/>
            <a:ext cx="3149600" cy="315595"/>
          </a:xfrm>
          <a:prstGeom prst="rect">
            <a:avLst/>
          </a:prstGeom>
          <a:noFill/>
        </p:spPr>
        <p:txBody>
          <a:bodyPr wrap="none" lIns="0" rIns="0" tIns="0" bIns="0" anchor="t">
            <a:noAutofit/>
          </a:bodyPr>
          <a:lstStyle/>
          <a:p>
            <a:pPr algn="l">
              <a:lnSpc>
                <a:spcPts val="2185"/>
              </a:lnSpc>
              <a:spcBef>
                <a:spcPts val="0"/>
              </a:spcBef>
              <a:spcAft>
                <a:spcPts val="0"/>
              </a:spcAft>
            </a:pPr>
            <a:r>
              <a:rPr sz="1900" b="0">
                <a:solidFill>
                  <a:srgbClr val="FFFFFF"/>
                </a:solidFill>
                <a:latin typeface="Arial"/>
              </a:rPr>
              <a:t>k8gb errors and logs</a:t>
            </a:r>
          </a:p>
        </p:txBody>
      </p:sp>
      <p:sp>
        <p:nvSpPr>
          <p:cNvPr id="47" name="Oval 46"/>
          <p:cNvSpPr/>
          <p:nvPr/>
        </p:nvSpPr>
        <p:spPr>
          <a:xfrm>
            <a:off x="7937500" y="3670300"/>
            <a:ext cx="101600" cy="101600"/>
          </a:xfrm>
          <a:prstGeom prst="ellipse">
            <a:avLst/>
          </a:prstGeom>
          <a:solidFill>
            <a:srgbClr val="F7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78800" y="3594100"/>
            <a:ext cx="3149600" cy="315595"/>
          </a:xfrm>
          <a:prstGeom prst="rect">
            <a:avLst/>
          </a:prstGeom>
          <a:noFill/>
        </p:spPr>
        <p:txBody>
          <a:bodyPr wrap="none" lIns="0" rIns="0" tIns="0" bIns="0" anchor="t">
            <a:noAutofit/>
          </a:bodyPr>
          <a:lstStyle/>
          <a:p>
            <a:pPr algn="l">
              <a:lnSpc>
                <a:spcPts val="2185"/>
              </a:lnSpc>
              <a:spcBef>
                <a:spcPts val="0"/>
              </a:spcBef>
              <a:spcAft>
                <a:spcPts val="0"/>
              </a:spcAft>
            </a:pPr>
            <a:r>
              <a:rPr sz="1900" b="0">
                <a:solidFill>
                  <a:srgbClr val="FFFFFF"/>
                </a:solidFill>
                <a:latin typeface="Arial"/>
              </a:rPr>
              <a:t>Application results</a:t>
            </a:r>
          </a:p>
        </p:txBody>
      </p:sp>
      <p:sp>
        <p:nvSpPr>
          <p:cNvPr id="49" name="Rounded Rectangle 48"/>
          <p:cNvSpPr/>
          <p:nvPr/>
        </p:nvSpPr>
        <p:spPr>
          <a:xfrm>
            <a:off x="7670800" y="4330700"/>
            <a:ext cx="3911600" cy="1270000"/>
          </a:xfrm>
          <a:prstGeom prst="roundRect">
            <a:avLst>
              <a:gd name="adj" fmla="val 9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24800" y="4495800"/>
            <a:ext cx="34036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2762C8"/>
                </a:solidFill>
                <a:latin typeface="Arial"/>
              </a:rPr>
              <a:t>METRIC EXAMPLE · ONE HOSTNAME</a:t>
            </a:r>
          </a:p>
        </p:txBody>
      </p:sp>
      <p:pic>
        <p:nvPicPr>
          <p:cNvPr id="51" name="Picture 50" descr="image.png"/>
          <p:cNvPicPr>
            <a:picLocks noChangeAspect="1"/>
          </p:cNvPicPr>
          <p:nvPr/>
        </p:nvPicPr>
        <p:blipFill>
          <a:blip r:embed="rId3"/>
          <a:stretch>
            <a:fillRect/>
          </a:stretch>
        </p:blipFill>
        <p:spPr>
          <a:xfrm>
            <a:off x="7924800" y="4787900"/>
            <a:ext cx="368300" cy="368300"/>
          </a:xfrm>
          <a:prstGeom prst="rect">
            <a:avLst/>
          </a:prstGeom>
        </p:spPr>
      </p:pic>
      <p:sp>
        <p:nvSpPr>
          <p:cNvPr id="52" name="TextBox 51"/>
          <p:cNvSpPr txBox="1"/>
          <p:nvPr/>
        </p:nvSpPr>
        <p:spPr>
          <a:xfrm>
            <a:off x="8445500" y="4813300"/>
            <a:ext cx="2882900" cy="300990"/>
          </a:xfrm>
          <a:prstGeom prst="rect">
            <a:avLst/>
          </a:prstGeom>
          <a:noFill/>
        </p:spPr>
        <p:txBody>
          <a:bodyPr wrap="none" lIns="0" rIns="0" tIns="0" bIns="0" anchor="t">
            <a:noAutofit/>
          </a:bodyPr>
          <a:lstStyle/>
          <a:p>
            <a:pPr algn="l">
              <a:lnSpc>
                <a:spcPts val="2070"/>
              </a:lnSpc>
              <a:spcBef>
                <a:spcPts val="0"/>
              </a:spcBef>
              <a:spcAft>
                <a:spcPts val="0"/>
              </a:spcAft>
            </a:pPr>
            <a:r>
              <a:rPr sz="1800" b="1">
                <a:solidFill>
                  <a:srgbClr val="142338"/>
                </a:solidFill>
                <a:latin typeface="Arial"/>
              </a:rPr>
              <a:t>1 cluster → 3 healthy IPs</a:t>
            </a:r>
          </a:p>
        </p:txBody>
      </p:sp>
      <p:sp>
        <p:nvSpPr>
          <p:cNvPr id="53" name="TextBox 52"/>
          <p:cNvSpPr txBox="1"/>
          <p:nvPr/>
        </p:nvSpPr>
        <p:spPr>
          <a:xfrm>
            <a:off x="7924800" y="5245100"/>
            <a:ext cx="3403600"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5D6F82"/>
                </a:solidFill>
                <a:latin typeface="Arial"/>
              </a:rPr>
              <a:t>Healthy-record count: 3</a:t>
            </a:r>
          </a:p>
        </p:txBody>
      </p:sp>
      <p:sp>
        <p:nvSpPr>
          <p:cNvPr id="54" name="Rounded Rectangle 53"/>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7400" y="5892800"/>
            <a:ext cx="10617200" cy="317500"/>
          </a:xfrm>
          <a:prstGeom prst="rect">
            <a:avLst/>
          </a:prstGeom>
          <a:noFill/>
        </p:spPr>
        <p:txBody>
          <a:bodyPr wrap="none" lIns="0" rIns="0" tIns="0" bIns="0" anchor="t">
            <a:noAutofit/>
          </a:bodyPr>
          <a:lstStyle/>
          <a:p>
            <a:pPr algn="ctr">
              <a:lnSpc>
                <a:spcPts val="2000"/>
              </a:lnSpc>
              <a:spcBef>
                <a:spcPts val="0"/>
              </a:spcBef>
              <a:spcAft>
                <a:spcPts val="0"/>
              </a:spcAft>
            </a:pPr>
            <a:r>
              <a:rPr sz="2000" b="1">
                <a:solidFill>
                  <a:srgbClr val="142338"/>
                </a:solidFill>
                <a:latin typeface="Arial"/>
              </a:rPr>
              <a:t>Query both authorities. Check the cache. Test a real request.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RESILIENCE TESTING</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17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Perform end-to-end resilience tests</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A is primary, B is healthy. Change one condition at a time.</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TextBox 9"/>
          <p:cNvSpPr txBox="1"/>
          <p:nvPr/>
        </p:nvSpPr>
        <p:spPr>
          <a:xfrm>
            <a:off x="1549400" y="1968500"/>
            <a:ext cx="44450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5D6F82"/>
                </a:solidFill>
                <a:latin typeface="Arial"/>
              </a:rPr>
              <a:t>CHANGE ONE CONDITION</a:t>
            </a:r>
          </a:p>
        </p:txBody>
      </p:sp>
      <p:sp>
        <p:nvSpPr>
          <p:cNvPr id="11" name="TextBox 10"/>
          <p:cNvSpPr txBox="1"/>
          <p:nvPr/>
        </p:nvSpPr>
        <p:spPr>
          <a:xfrm>
            <a:off x="6807200" y="1968500"/>
            <a:ext cx="44958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087F85"/>
                </a:solidFill>
                <a:latin typeface="Arial"/>
              </a:rPr>
              <a:t>VERIFY DNS + APPLICATION</a:t>
            </a:r>
          </a:p>
        </p:txBody>
      </p:sp>
      <p:sp>
        <p:nvSpPr>
          <p:cNvPr id="12" name="Rounded Rectangle 11"/>
          <p:cNvSpPr/>
          <p:nvPr/>
        </p:nvSpPr>
        <p:spPr>
          <a:xfrm>
            <a:off x="609600" y="2311400"/>
            <a:ext cx="10972800" cy="762000"/>
          </a:xfrm>
          <a:prstGeom prst="roundRect">
            <a:avLst>
              <a:gd name="adj" fmla="val 13333"/>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09600" y="2273300"/>
            <a:ext cx="10972800" cy="762000"/>
          </a:xfrm>
          <a:prstGeom prst="roundRect">
            <a:avLst>
              <a:gd name="adj" fmla="val 13333"/>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622300" y="2438400"/>
            <a:ext cx="0" cy="431800"/>
          </a:xfrm>
          <a:prstGeom prst="line">
            <a:avLst/>
          </a:prstGeom>
          <a:ln w="38100">
            <a:solidFill>
              <a:srgbClr val="2762C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12800" y="2400300"/>
            <a:ext cx="508000" cy="508000"/>
          </a:xfrm>
          <a:prstGeom prst="roundRect">
            <a:avLst>
              <a:gd name="adj" fmla="val 20000"/>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9800" y="2514600"/>
            <a:ext cx="254000" cy="279400"/>
          </a:xfrm>
          <a:prstGeom prst="roundRect">
            <a:avLst>
              <a:gd name="adj" fmla="val 15000"/>
            </a:avLst>
          </a:prstGeom>
          <a:solidFill>
            <a:srgbClr val="FFFFFF"/>
          </a:solidFill>
          <a:ln w="1778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39800" y="2590800"/>
            <a:ext cx="254000" cy="0"/>
          </a:xfrm>
          <a:prstGeom prst="line">
            <a:avLst/>
          </a:prstGeom>
          <a:ln w="12700">
            <a:solidFill>
              <a:srgbClr val="2762C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77900" y="2540000"/>
            <a:ext cx="25400" cy="254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8700" y="2540000"/>
            <a:ext cx="25400" cy="254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016000" y="2641600"/>
            <a:ext cx="101600" cy="101600"/>
          </a:xfrm>
          <a:prstGeom prst="line">
            <a:avLst/>
          </a:prstGeom>
          <a:ln w="2159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16000" y="2641600"/>
            <a:ext cx="101600" cy="101600"/>
          </a:xfrm>
          <a:prstGeom prst="line">
            <a:avLst/>
          </a:prstGeom>
          <a:ln w="21590">
            <a:solidFill>
              <a:srgbClr val="2762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549400" y="2374900"/>
            <a:ext cx="44958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Remove A’s ready endpoints</a:t>
            </a:r>
          </a:p>
        </p:txBody>
      </p:sp>
      <p:sp>
        <p:nvSpPr>
          <p:cNvPr id="23" name="TextBox 22"/>
          <p:cNvSpPr txBox="1"/>
          <p:nvPr/>
        </p:nvSpPr>
        <p:spPr>
          <a:xfrm>
            <a:off x="1562100" y="2730500"/>
            <a:ext cx="44450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2762C8"/>
                </a:solidFill>
                <a:latin typeface="Arial"/>
              </a:rPr>
              <a:t>01 · WORKLOAD FAILURE</a:t>
            </a:r>
          </a:p>
        </p:txBody>
      </p:sp>
      <p:cxnSp>
        <p:nvCxnSpPr>
          <p:cNvPr id="24" name="Connector 23"/>
          <p:cNvCxnSpPr/>
          <p:nvPr/>
        </p:nvCxnSpPr>
        <p:spPr>
          <a:xfrm>
            <a:off x="6172200" y="2654300"/>
            <a:ext cx="279400" cy="0"/>
          </a:xfrm>
          <a:prstGeom prst="line">
            <a:avLst/>
          </a:prstGeom>
          <a:ln w="2032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604000" y="2349500"/>
            <a:ext cx="4826000" cy="609600"/>
          </a:xfrm>
          <a:prstGeom prst="roundRect">
            <a:avLst>
              <a:gd name="adj" fmla="val 12500"/>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07200" y="2400300"/>
            <a:ext cx="4419600" cy="315595"/>
          </a:xfrm>
          <a:prstGeom prst="rect">
            <a:avLst/>
          </a:prstGeom>
          <a:noFill/>
        </p:spPr>
        <p:txBody>
          <a:bodyPr wrap="none" lIns="0" rIns="0" tIns="0" bIns="0" anchor="t">
            <a:noAutofit/>
          </a:bodyPr>
          <a:lstStyle/>
          <a:p>
            <a:pPr algn="l">
              <a:lnSpc>
                <a:spcPts val="2185"/>
              </a:lnSpc>
              <a:spcBef>
                <a:spcPts val="0"/>
              </a:spcBef>
              <a:spcAft>
                <a:spcPts val="0"/>
              </a:spcAft>
            </a:pPr>
            <a:r>
              <a:rPr sz="1900" b="1">
                <a:solidFill>
                  <a:srgbClr val="2762C8"/>
                </a:solidFill>
                <a:latin typeface="Arial"/>
              </a:rPr>
              <a:t>Both DNS answers → B</a:t>
            </a:r>
          </a:p>
        </p:txBody>
      </p:sp>
      <p:sp>
        <p:nvSpPr>
          <p:cNvPr id="27" name="TextBox 26"/>
          <p:cNvSpPr txBox="1"/>
          <p:nvPr/>
        </p:nvSpPr>
        <p:spPr>
          <a:xfrm>
            <a:off x="6807200" y="2705100"/>
            <a:ext cx="44196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Verify successful requests to B.</a:t>
            </a:r>
          </a:p>
        </p:txBody>
      </p:sp>
      <p:sp>
        <p:nvSpPr>
          <p:cNvPr id="28" name="Rounded Rectangle 27"/>
          <p:cNvSpPr/>
          <p:nvPr/>
        </p:nvSpPr>
        <p:spPr>
          <a:xfrm>
            <a:off x="609600" y="3175000"/>
            <a:ext cx="10972800" cy="762000"/>
          </a:xfrm>
          <a:prstGeom prst="roundRect">
            <a:avLst>
              <a:gd name="adj" fmla="val 13333"/>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09600" y="3136900"/>
            <a:ext cx="10972800" cy="762000"/>
          </a:xfrm>
          <a:prstGeom prst="roundRect">
            <a:avLst>
              <a:gd name="adj" fmla="val 13333"/>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22300" y="3302000"/>
            <a:ext cx="0" cy="431800"/>
          </a:xfrm>
          <a:prstGeom prst="line">
            <a:avLst/>
          </a:prstGeom>
          <a:ln w="38100">
            <a:solidFill>
              <a:srgbClr val="087F85"/>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12800" y="3263900"/>
            <a:ext cx="508000" cy="508000"/>
          </a:xfrm>
          <a:prstGeom prst="roundRect">
            <a:avLst>
              <a:gd name="adj" fmla="val 20000"/>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2"/>
          <a:stretch>
            <a:fillRect/>
          </a:stretch>
        </p:blipFill>
        <p:spPr>
          <a:xfrm>
            <a:off x="876300" y="3327400"/>
            <a:ext cx="381000" cy="381000"/>
          </a:xfrm>
          <a:prstGeom prst="rect">
            <a:avLst/>
          </a:prstGeom>
        </p:spPr>
      </p:pic>
      <p:sp>
        <p:nvSpPr>
          <p:cNvPr id="33" name="TextBox 32"/>
          <p:cNvSpPr txBox="1"/>
          <p:nvPr/>
        </p:nvSpPr>
        <p:spPr>
          <a:xfrm>
            <a:off x="1549400" y="3238500"/>
            <a:ext cx="44958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Make cluster A unavailable</a:t>
            </a:r>
          </a:p>
        </p:txBody>
      </p:sp>
      <p:sp>
        <p:nvSpPr>
          <p:cNvPr id="34" name="TextBox 33"/>
          <p:cNvSpPr txBox="1"/>
          <p:nvPr/>
        </p:nvSpPr>
        <p:spPr>
          <a:xfrm>
            <a:off x="1562100" y="3594100"/>
            <a:ext cx="44450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087F85"/>
                </a:solidFill>
                <a:latin typeface="Arial"/>
              </a:rPr>
              <a:t>02 · CLUSTER FAILURE</a:t>
            </a:r>
          </a:p>
        </p:txBody>
      </p:sp>
      <p:cxnSp>
        <p:nvCxnSpPr>
          <p:cNvPr id="35" name="Connector 34"/>
          <p:cNvCxnSpPr/>
          <p:nvPr/>
        </p:nvCxnSpPr>
        <p:spPr>
          <a:xfrm>
            <a:off x="6172200" y="3517900"/>
            <a:ext cx="279400" cy="0"/>
          </a:xfrm>
          <a:prstGeom prst="line">
            <a:avLst/>
          </a:prstGeom>
          <a:ln w="2032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604000" y="3213100"/>
            <a:ext cx="4826000" cy="609600"/>
          </a:xfrm>
          <a:prstGeom prst="roundRect">
            <a:avLst>
              <a:gd name="adj" fmla="val 12500"/>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07200" y="3263900"/>
            <a:ext cx="4419600" cy="315595"/>
          </a:xfrm>
          <a:prstGeom prst="rect">
            <a:avLst/>
          </a:prstGeom>
          <a:noFill/>
        </p:spPr>
        <p:txBody>
          <a:bodyPr wrap="none" lIns="0" rIns="0" tIns="0" bIns="0" anchor="t">
            <a:noAutofit/>
          </a:bodyPr>
          <a:lstStyle/>
          <a:p>
            <a:pPr algn="l">
              <a:lnSpc>
                <a:spcPts val="2185"/>
              </a:lnSpc>
              <a:spcBef>
                <a:spcPts val="0"/>
              </a:spcBef>
              <a:spcAft>
                <a:spcPts val="0"/>
              </a:spcAft>
            </a:pPr>
            <a:r>
              <a:rPr sz="1900" b="1">
                <a:solidFill>
                  <a:srgbClr val="087F85"/>
                </a:solidFill>
                <a:latin typeface="Arial"/>
              </a:rPr>
              <a:t>B serves DNS and application</a:t>
            </a:r>
          </a:p>
        </p:txBody>
      </p:sp>
      <p:sp>
        <p:nvSpPr>
          <p:cNvPr id="38" name="TextBox 37"/>
          <p:cNvSpPr txBox="1"/>
          <p:nvPr/>
        </p:nvSpPr>
        <p:spPr>
          <a:xfrm>
            <a:off x="6807200" y="3568700"/>
            <a:ext cx="44196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Test through a client resolver.</a:t>
            </a:r>
          </a:p>
        </p:txBody>
      </p:sp>
      <p:sp>
        <p:nvSpPr>
          <p:cNvPr id="39" name="Rounded Rectangle 38"/>
          <p:cNvSpPr/>
          <p:nvPr/>
        </p:nvSpPr>
        <p:spPr>
          <a:xfrm>
            <a:off x="609600" y="4038600"/>
            <a:ext cx="10972800" cy="762000"/>
          </a:xfrm>
          <a:prstGeom prst="roundRect">
            <a:avLst>
              <a:gd name="adj" fmla="val 13333"/>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09600" y="4000500"/>
            <a:ext cx="10972800" cy="762000"/>
          </a:xfrm>
          <a:prstGeom prst="roundRect">
            <a:avLst>
              <a:gd name="adj" fmla="val 13333"/>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622300" y="4165600"/>
            <a:ext cx="0" cy="431800"/>
          </a:xfrm>
          <a:prstGeom prst="line">
            <a:avLst/>
          </a:prstGeom>
          <a:ln w="38100">
            <a:solidFill>
              <a:srgbClr val="CF0035"/>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2800" y="4127500"/>
            <a:ext cx="508000" cy="508000"/>
          </a:xfrm>
          <a:prstGeom prst="roundRect">
            <a:avLst>
              <a:gd name="adj" fmla="val 20000"/>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914400" y="4381500"/>
            <a:ext cx="304800" cy="0"/>
          </a:xfrm>
          <a:prstGeom prst="line">
            <a:avLst/>
          </a:prstGeom>
          <a:ln w="19050">
            <a:solidFill>
              <a:srgbClr val="CF0035"/>
            </a:solidFill>
            <a:prstDash val="dash"/>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876300" y="4343400"/>
            <a:ext cx="76200" cy="76200"/>
          </a:xfrm>
          <a:prstGeom prst="ellipse">
            <a:avLst/>
          </a:prstGeom>
          <a:solidFill>
            <a:srgbClr val="FBE9EE"/>
          </a:solidFill>
          <a:ln w="1905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81100" y="4343400"/>
            <a:ext cx="76200" cy="76200"/>
          </a:xfrm>
          <a:prstGeom prst="ellipse">
            <a:avLst/>
          </a:prstGeom>
          <a:solidFill>
            <a:srgbClr val="FBE9EE"/>
          </a:solidFill>
          <a:ln w="19050">
            <a:solidFill>
              <a:srgbClr val="CF0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77900" y="4292600"/>
            <a:ext cx="177800" cy="177800"/>
          </a:xfrm>
          <a:prstGeom prst="ellipse">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1016000" y="4330700"/>
            <a:ext cx="101600" cy="101600"/>
          </a:xfrm>
          <a:prstGeom prst="line">
            <a:avLst/>
          </a:prstGeom>
          <a:ln w="2159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016000" y="4330700"/>
            <a:ext cx="101600" cy="101600"/>
          </a:xfrm>
          <a:prstGeom prst="line">
            <a:avLst/>
          </a:prstGeom>
          <a:ln w="21590">
            <a:solidFill>
              <a:srgbClr val="CF003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549400" y="4102100"/>
            <a:ext cx="44958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Block B’s peer-health lookup</a:t>
            </a:r>
          </a:p>
        </p:txBody>
      </p:sp>
      <p:sp>
        <p:nvSpPr>
          <p:cNvPr id="50" name="TextBox 49"/>
          <p:cNvSpPr txBox="1"/>
          <p:nvPr/>
        </p:nvSpPr>
        <p:spPr>
          <a:xfrm>
            <a:off x="1562100" y="4457700"/>
            <a:ext cx="44450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CF0035"/>
                </a:solidFill>
                <a:latin typeface="Arial"/>
              </a:rPr>
              <a:t>03 · PEER DNS PARTITION</a:t>
            </a:r>
          </a:p>
        </p:txBody>
      </p:sp>
      <p:cxnSp>
        <p:nvCxnSpPr>
          <p:cNvPr id="51" name="Connector 50"/>
          <p:cNvCxnSpPr/>
          <p:nvPr/>
        </p:nvCxnSpPr>
        <p:spPr>
          <a:xfrm>
            <a:off x="6172200" y="4381500"/>
            <a:ext cx="279400" cy="0"/>
          </a:xfrm>
          <a:prstGeom prst="line">
            <a:avLst/>
          </a:prstGeom>
          <a:ln w="20320">
            <a:solidFill>
              <a:srgbClr val="CF00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6604000" y="4076700"/>
            <a:ext cx="4826000" cy="609600"/>
          </a:xfrm>
          <a:prstGeom prst="roundRect">
            <a:avLst>
              <a:gd name="adj" fmla="val 12500"/>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07200" y="4127500"/>
            <a:ext cx="4419600" cy="315595"/>
          </a:xfrm>
          <a:prstGeom prst="rect">
            <a:avLst/>
          </a:prstGeom>
          <a:noFill/>
        </p:spPr>
        <p:txBody>
          <a:bodyPr wrap="none" lIns="0" rIns="0" tIns="0" bIns="0" anchor="t">
            <a:noAutofit/>
          </a:bodyPr>
          <a:lstStyle/>
          <a:p>
            <a:pPr algn="l">
              <a:lnSpc>
                <a:spcPts val="2185"/>
              </a:lnSpc>
              <a:spcBef>
                <a:spcPts val="0"/>
              </a:spcBef>
              <a:spcAft>
                <a:spcPts val="0"/>
              </a:spcAft>
            </a:pPr>
            <a:r>
              <a:rPr sz="1900" b="1">
                <a:solidFill>
                  <a:srgbClr val="CF0035"/>
                </a:solidFill>
                <a:latin typeface="Arial"/>
              </a:rPr>
              <a:t>A answers A · B answers B</a:t>
            </a:r>
          </a:p>
        </p:txBody>
      </p:sp>
      <p:sp>
        <p:nvSpPr>
          <p:cNvPr id="54" name="TextBox 53"/>
          <p:cNvSpPr txBox="1"/>
          <p:nvPr/>
        </p:nvSpPr>
        <p:spPr>
          <a:xfrm>
            <a:off x="6807200" y="4432300"/>
            <a:ext cx="44196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Check the impact on real requests.</a:t>
            </a:r>
          </a:p>
        </p:txBody>
      </p:sp>
      <p:sp>
        <p:nvSpPr>
          <p:cNvPr id="55" name="Rounded Rectangle 54"/>
          <p:cNvSpPr/>
          <p:nvPr/>
        </p:nvSpPr>
        <p:spPr>
          <a:xfrm>
            <a:off x="609600" y="4902200"/>
            <a:ext cx="10972800" cy="762000"/>
          </a:xfrm>
          <a:prstGeom prst="roundRect">
            <a:avLst>
              <a:gd name="adj" fmla="val 13333"/>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609600" y="4864100"/>
            <a:ext cx="10972800" cy="762000"/>
          </a:xfrm>
          <a:prstGeom prst="roundRect">
            <a:avLst>
              <a:gd name="adj" fmla="val 13333"/>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22300" y="5029200"/>
            <a:ext cx="0" cy="431800"/>
          </a:xfrm>
          <a:prstGeom prst="line">
            <a:avLst/>
          </a:prstGeom>
          <a:ln w="38100">
            <a:solidFill>
              <a:srgbClr val="177C58"/>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812800" y="4991100"/>
            <a:ext cx="508000" cy="508000"/>
          </a:xfrm>
          <a:prstGeom prst="roundRect">
            <a:avLst>
              <a:gd name="adj" fmla="val 20000"/>
            </a:avLst>
          </a:prstGeom>
          <a:solidFill>
            <a:srgbClr val="E8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1193273" y="5138975"/>
            <a:ext cx="16025" cy="22744"/>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209298" y="5161719"/>
            <a:ext cx="11977" cy="25112"/>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221275" y="5186831"/>
            <a:ext cx="7591" cy="26766"/>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28866" y="5213597"/>
            <a:ext cx="2989" cy="27661"/>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230156" y="5241258"/>
            <a:ext cx="1699" cy="27770"/>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223819" y="5269028"/>
            <a:ext cx="6337" cy="27090"/>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213023" y="5296118"/>
            <a:ext cx="10796" cy="25642"/>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198074" y="5321760"/>
            <a:ext cx="14949" cy="23465"/>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179397" y="5345225"/>
            <a:ext cx="18677" cy="20621"/>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157523" y="5365846"/>
            <a:ext cx="21874" cy="17193"/>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133073" y="5383039"/>
            <a:ext cx="24450" cy="13275"/>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1106741" y="5396314"/>
            <a:ext cx="26332" cy="8981"/>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079274" y="5405295"/>
            <a:ext cx="27467" cy="4433"/>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1051453" y="5409485"/>
            <a:ext cx="27821" cy="243"/>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1024068" y="5404574"/>
            <a:ext cx="27385" cy="4911"/>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997897" y="5395134"/>
            <a:ext cx="26171" cy="9440"/>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flipV="1">
            <a:off x="973682" y="5381434"/>
            <a:ext cx="24215" cy="13700"/>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952111" y="5363863"/>
            <a:ext cx="21571" cy="17571"/>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933798" y="5342918"/>
            <a:ext cx="18313" cy="20945"/>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919261" y="5319196"/>
            <a:ext cx="14537" cy="23722"/>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908914" y="5293370"/>
            <a:ext cx="10347" cy="25826"/>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903050" y="5266173"/>
            <a:ext cx="5864" cy="27197"/>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901836" y="5238378"/>
            <a:ext cx="1214" cy="27795"/>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901836" y="5210773"/>
            <a:ext cx="3471" cy="27605"/>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905307" y="5184144"/>
            <a:ext cx="8057" cy="26629"/>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913364" y="5159245"/>
            <a:ext cx="12414" cy="24899"/>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925778" y="5136784"/>
            <a:ext cx="16419" cy="22461"/>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942197" y="5117399"/>
            <a:ext cx="19957" cy="19385"/>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62154" y="5101641"/>
            <a:ext cx="22929" cy="15758"/>
          </a:xfrm>
          <a:prstGeom prst="line">
            <a:avLst/>
          </a:prstGeom>
          <a:ln w="2032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85083" y="5089956"/>
            <a:ext cx="25249" cy="11685"/>
          </a:xfrm>
          <a:prstGeom prst="line">
            <a:avLst/>
          </a:prstGeom>
          <a:ln w="20320">
            <a:solidFill>
              <a:srgbClr val="177C5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90600" y="5245100"/>
            <a:ext cx="50800" cy="50800"/>
          </a:xfrm>
          <a:prstGeom prst="line">
            <a:avLst/>
          </a:prstGeom>
          <a:ln w="22860">
            <a:solidFill>
              <a:srgbClr val="177C5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41400" y="5181600"/>
            <a:ext cx="101600" cy="114300"/>
          </a:xfrm>
          <a:prstGeom prst="line">
            <a:avLst/>
          </a:prstGeom>
          <a:ln w="22860">
            <a:solidFill>
              <a:srgbClr val="177C58"/>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1549400" y="4965700"/>
            <a:ext cx="4495800" cy="330200"/>
          </a:xfrm>
          <a:prstGeom prst="rect">
            <a:avLst/>
          </a:prstGeom>
          <a:noFill/>
        </p:spPr>
        <p:txBody>
          <a:bodyPr wrap="none" lIns="0" rIns="0" tIns="0" bIns="0" anchor="t">
            <a:noAutofit/>
          </a:bodyPr>
          <a:lstStyle/>
          <a:p>
            <a:pPr algn="l">
              <a:lnSpc>
                <a:spcPts val="2300"/>
              </a:lnSpc>
              <a:spcBef>
                <a:spcPts val="0"/>
              </a:spcBef>
              <a:spcAft>
                <a:spcPts val="0"/>
              </a:spcAft>
            </a:pPr>
            <a:r>
              <a:rPr sz="2000" b="1">
                <a:solidFill>
                  <a:srgbClr val="142338"/>
                </a:solidFill>
                <a:latin typeface="Arial"/>
              </a:rPr>
              <a:t>Restore A’s readiness</a:t>
            </a:r>
          </a:p>
        </p:txBody>
      </p:sp>
      <p:sp>
        <p:nvSpPr>
          <p:cNvPr id="92" name="TextBox 91"/>
          <p:cNvSpPr txBox="1"/>
          <p:nvPr/>
        </p:nvSpPr>
        <p:spPr>
          <a:xfrm>
            <a:off x="1562100" y="5321300"/>
            <a:ext cx="44450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177C58"/>
                </a:solidFill>
                <a:latin typeface="Arial"/>
              </a:rPr>
              <a:t>04 · RECOVERY</a:t>
            </a:r>
          </a:p>
        </p:txBody>
      </p:sp>
      <p:cxnSp>
        <p:nvCxnSpPr>
          <p:cNvPr id="93" name="Connector 92"/>
          <p:cNvCxnSpPr/>
          <p:nvPr/>
        </p:nvCxnSpPr>
        <p:spPr>
          <a:xfrm>
            <a:off x="6172200" y="5245100"/>
            <a:ext cx="279400" cy="0"/>
          </a:xfrm>
          <a:prstGeom prst="line">
            <a:avLst/>
          </a:prstGeom>
          <a:ln w="20320">
            <a:solidFill>
              <a:srgbClr val="177C5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4" name="Rounded Rectangle 93"/>
          <p:cNvSpPr/>
          <p:nvPr/>
        </p:nvSpPr>
        <p:spPr>
          <a:xfrm>
            <a:off x="6604000" y="4940300"/>
            <a:ext cx="4826000" cy="609600"/>
          </a:xfrm>
          <a:prstGeom prst="roundRect">
            <a:avLst>
              <a:gd name="adj" fmla="val 12500"/>
            </a:avLst>
          </a:prstGeom>
          <a:solidFill>
            <a:srgbClr val="E8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807200" y="4991100"/>
            <a:ext cx="4419600" cy="315595"/>
          </a:xfrm>
          <a:prstGeom prst="rect">
            <a:avLst/>
          </a:prstGeom>
          <a:noFill/>
        </p:spPr>
        <p:txBody>
          <a:bodyPr wrap="none" lIns="0" rIns="0" tIns="0" bIns="0" anchor="t">
            <a:noAutofit/>
          </a:bodyPr>
          <a:lstStyle/>
          <a:p>
            <a:pPr algn="l">
              <a:lnSpc>
                <a:spcPts val="2185"/>
              </a:lnSpc>
              <a:spcBef>
                <a:spcPts val="0"/>
              </a:spcBef>
              <a:spcAft>
                <a:spcPts val="0"/>
              </a:spcAft>
            </a:pPr>
            <a:r>
              <a:rPr sz="1900" b="1">
                <a:solidFill>
                  <a:srgbClr val="177C58"/>
                </a:solidFill>
                <a:latin typeface="Arial"/>
              </a:rPr>
              <a:t>Both DNS answers → A</a:t>
            </a:r>
          </a:p>
        </p:txBody>
      </p:sp>
      <p:sp>
        <p:nvSpPr>
          <p:cNvPr id="96" name="TextBox 95"/>
          <p:cNvSpPr txBox="1"/>
          <p:nvPr/>
        </p:nvSpPr>
        <p:spPr>
          <a:xfrm>
            <a:off x="6807200" y="5295900"/>
            <a:ext cx="44196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5D6F82"/>
                </a:solidFill>
                <a:latin typeface="Arial"/>
              </a:rPr>
              <a:t>Check requests and data correctness.</a:t>
            </a:r>
          </a:p>
        </p:txBody>
      </p:sp>
      <p:sp>
        <p:nvSpPr>
          <p:cNvPr id="97" name="Rounded Rectangle 96"/>
          <p:cNvSpPr/>
          <p:nvPr/>
        </p:nvSpPr>
        <p:spPr>
          <a:xfrm>
            <a:off x="609600" y="5867400"/>
            <a:ext cx="10972800" cy="457200"/>
          </a:xfrm>
          <a:prstGeom prst="roundRect">
            <a:avLst>
              <a:gd name="adj" fmla="val 16666"/>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87400" y="5969000"/>
            <a:ext cx="10617200" cy="317500"/>
          </a:xfrm>
          <a:prstGeom prst="rect">
            <a:avLst/>
          </a:prstGeom>
          <a:noFill/>
        </p:spPr>
        <p:txBody>
          <a:bodyPr wrap="none" lIns="0" rIns="0" tIns="0" bIns="0" anchor="t">
            <a:noAutofit/>
          </a:bodyPr>
          <a:lstStyle/>
          <a:p>
            <a:pPr algn="ctr">
              <a:lnSpc>
                <a:spcPts val="2000"/>
              </a:lnSpc>
              <a:spcBef>
                <a:spcPts val="0"/>
              </a:spcBef>
              <a:spcAft>
                <a:spcPts val="0"/>
              </a:spcAft>
            </a:pPr>
            <a:r>
              <a:rPr sz="2000" b="1">
                <a:solidFill>
                  <a:srgbClr val="FFFFFF"/>
                </a:solidFill>
                <a:latin typeface="Arial"/>
              </a:rPr>
              <a:t>Time DNS convergence and the return of successful requests.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F46A87"/>
                </a:solidFill>
                <a:latin typeface="Arial"/>
              </a:rPr>
              <a:t>CONTROL YOUR FAILOVER</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B8C8D9"/>
                </a:solidFill>
                <a:latin typeface="Arial"/>
              </a:rPr>
              <a:t>18 / 19</a:t>
            </a:r>
          </a:p>
        </p:txBody>
      </p:sp>
      <p:cxnSp>
        <p:nvCxnSpPr>
          <p:cNvPr id="5" name="Connector 4"/>
          <p:cNvCxnSpPr/>
          <p:nvPr/>
        </p:nvCxnSpPr>
        <p:spPr>
          <a:xfrm>
            <a:off x="609600" y="6426200"/>
            <a:ext cx="10972800" cy="0"/>
          </a:xfrm>
          <a:prstGeom prst="line">
            <a:avLst/>
          </a:prstGeom>
          <a:ln w="8890">
            <a:solidFill>
              <a:srgbClr val="38506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B8C8D9"/>
                </a:solidFill>
                <a:latin typeface="Arial"/>
              </a:rPr>
              <a:t>SOVEREIGN CLOUD DAYS 2026</a:t>
            </a:r>
          </a:p>
        </p:txBody>
      </p:sp>
      <p:sp>
        <p:nvSpPr>
          <p:cNvPr id="7" name="TextBox 6"/>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B8C8D9"/>
                </a:solidFill>
                <a:latin typeface="Arial"/>
              </a:rPr>
              <a:t>YURY TSAREV  /  K8GB</a:t>
            </a:r>
          </a:p>
        </p:txBody>
      </p:sp>
      <p:sp>
        <p:nvSpPr>
          <p:cNvPr id="8" name="TextBox 7"/>
          <p:cNvSpPr txBox="1"/>
          <p:nvPr/>
        </p:nvSpPr>
        <p:spPr>
          <a:xfrm>
            <a:off x="609600" y="1028700"/>
            <a:ext cx="9220200" cy="1245108"/>
          </a:xfrm>
          <a:prstGeom prst="rect">
            <a:avLst/>
          </a:prstGeom>
          <a:noFill/>
        </p:spPr>
        <p:txBody>
          <a:bodyPr wrap="none" lIns="0" rIns="0" tIns="0" bIns="0" anchor="t">
            <a:noAutofit/>
          </a:bodyPr>
          <a:lstStyle/>
          <a:p>
            <a:pPr algn="l">
              <a:lnSpc>
                <a:spcPts val="4752"/>
              </a:lnSpc>
              <a:spcBef>
                <a:spcPts val="0"/>
              </a:spcBef>
              <a:spcAft>
                <a:spcPts val="0"/>
              </a:spcAft>
            </a:pPr>
            <a:r>
              <a:rPr sz="4400" b="1">
                <a:solidFill>
                  <a:srgbClr val="FFFFFF"/>
                </a:solidFill>
                <a:latin typeface="Arial"/>
              </a:rPr>
              <a:t>Control traffic steering.</a:t>
            </a:r>
          </a:p>
          <a:p>
            <a:pPr algn="l">
              <a:lnSpc>
                <a:spcPts val="4752"/>
              </a:lnSpc>
              <a:spcBef>
                <a:spcPts val="0"/>
              </a:spcBef>
              <a:spcAft>
                <a:spcPts val="0"/>
              </a:spcAft>
            </a:pPr>
            <a:r>
              <a:rPr sz="4400" b="1">
                <a:solidFill>
                  <a:srgbClr val="FFFFFF"/>
                </a:solidFill>
                <a:latin typeface="Arial"/>
              </a:rPr>
              <a:t>Test recovery end to end.</a:t>
            </a:r>
          </a:p>
        </p:txBody>
      </p:sp>
      <p:pic>
        <p:nvPicPr>
          <p:cNvPr id="9" name="Picture 8" descr="image.png"/>
          <p:cNvPicPr>
            <a:picLocks noChangeAspect="1"/>
          </p:cNvPicPr>
          <p:nvPr/>
        </p:nvPicPr>
        <p:blipFill>
          <a:blip r:embed="rId2"/>
          <a:stretch>
            <a:fillRect/>
          </a:stretch>
        </p:blipFill>
        <p:spPr>
          <a:xfrm>
            <a:off x="10160000" y="1121328"/>
            <a:ext cx="1371599" cy="1338742"/>
          </a:xfrm>
          <a:prstGeom prst="rect">
            <a:avLst/>
          </a:prstGeom>
        </p:spPr>
      </p:pic>
      <p:cxnSp>
        <p:nvCxnSpPr>
          <p:cNvPr id="10" name="Connector 9"/>
          <p:cNvCxnSpPr/>
          <p:nvPr/>
        </p:nvCxnSpPr>
        <p:spPr>
          <a:xfrm>
            <a:off x="609600" y="3200400"/>
            <a:ext cx="3352800" cy="0"/>
          </a:xfrm>
          <a:prstGeom prst="line">
            <a:avLst/>
          </a:prstGeom>
          <a:ln w="31750">
            <a:solidFill>
              <a:srgbClr val="83ADF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09600" y="3492500"/>
            <a:ext cx="609600" cy="609600"/>
          </a:xfrm>
          <a:prstGeom prst="roundRect">
            <a:avLst>
              <a:gd name="adj" fmla="val 20833"/>
            </a:avLst>
          </a:prstGeom>
          <a:solidFill>
            <a:srgbClr val="24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2400" y="3632200"/>
            <a:ext cx="25400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83ADFF"/>
                </a:solidFill>
                <a:latin typeface="Arial"/>
              </a:rPr>
              <a:t>CONFIGURE</a:t>
            </a:r>
          </a:p>
        </p:txBody>
      </p:sp>
      <p:sp>
        <p:nvSpPr>
          <p:cNvPr id="13" name="TextBox 12"/>
          <p:cNvSpPr txBox="1"/>
          <p:nvPr/>
        </p:nvSpPr>
        <p:spPr>
          <a:xfrm>
            <a:off x="609600" y="4381500"/>
            <a:ext cx="3352800" cy="768350"/>
          </a:xfrm>
          <a:prstGeom prst="rect">
            <a:avLst/>
          </a:prstGeom>
          <a:noFill/>
        </p:spPr>
        <p:txBody>
          <a:bodyPr wrap="none" lIns="0" rIns="0" tIns="0" bIns="0" anchor="t">
            <a:noAutofit/>
          </a:bodyPr>
          <a:lstStyle/>
          <a:p>
            <a:pPr algn="l">
              <a:lnSpc>
                <a:spcPts val="2875"/>
              </a:lnSpc>
              <a:spcBef>
                <a:spcPts val="0"/>
              </a:spcBef>
              <a:spcAft>
                <a:spcPts val="0"/>
              </a:spcAft>
            </a:pPr>
            <a:r>
              <a:rPr sz="2300" b="0">
                <a:solidFill>
                  <a:srgbClr val="FFFFFF"/>
                </a:solidFill>
                <a:latin typeface="Arial"/>
              </a:rPr>
              <a:t>Version the Gslb</a:t>
            </a:r>
          </a:p>
          <a:p>
            <a:pPr algn="l">
              <a:lnSpc>
                <a:spcPts val="2875"/>
              </a:lnSpc>
              <a:spcBef>
                <a:spcPts val="0"/>
              </a:spcBef>
              <a:spcAft>
                <a:spcPts val="0"/>
              </a:spcAft>
            </a:pPr>
            <a:r>
              <a:rPr sz="2300" b="0">
                <a:solidFill>
                  <a:srgbClr val="FFFFFF"/>
                </a:solidFill>
                <a:latin typeface="Arial"/>
              </a:rPr>
              <a:t>manifest.</a:t>
            </a:r>
          </a:p>
        </p:txBody>
      </p:sp>
      <p:sp>
        <p:nvSpPr>
          <p:cNvPr id="14" name="Rounded Rectangle 13"/>
          <p:cNvSpPr/>
          <p:nvPr/>
        </p:nvSpPr>
        <p:spPr>
          <a:xfrm>
            <a:off x="749300" y="3581400"/>
            <a:ext cx="330200" cy="431800"/>
          </a:xfrm>
          <a:prstGeom prst="roundRect">
            <a:avLst>
              <a:gd name="adj" fmla="val 11538"/>
            </a:avLst>
          </a:prstGeom>
          <a:solidFill>
            <a:srgbClr val="243D63"/>
          </a:solidFill>
          <a:ln w="17780">
            <a:solidFill>
              <a:srgbClr val="83A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825500" y="3670300"/>
            <a:ext cx="177800" cy="0"/>
          </a:xfrm>
          <a:prstGeom prst="line">
            <a:avLst/>
          </a:prstGeom>
          <a:ln w="15240">
            <a:solidFill>
              <a:srgbClr val="83AD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800100" y="3759200"/>
            <a:ext cx="63500" cy="63500"/>
          </a:xfrm>
          <a:prstGeom prst="line">
            <a:avLst/>
          </a:prstGeom>
          <a:ln w="20320">
            <a:solidFill>
              <a:srgbClr val="83AD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00100" y="3822700"/>
            <a:ext cx="63500" cy="63500"/>
          </a:xfrm>
          <a:prstGeom prst="line">
            <a:avLst/>
          </a:prstGeom>
          <a:ln w="20320">
            <a:solidFill>
              <a:srgbClr val="83AD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65200" y="3759200"/>
            <a:ext cx="63500" cy="63500"/>
          </a:xfrm>
          <a:prstGeom prst="line">
            <a:avLst/>
          </a:prstGeom>
          <a:ln w="20320">
            <a:solidFill>
              <a:srgbClr val="83AD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965200" y="3822700"/>
            <a:ext cx="63500" cy="63500"/>
          </a:xfrm>
          <a:prstGeom prst="line">
            <a:avLst/>
          </a:prstGeom>
          <a:ln w="20320">
            <a:solidFill>
              <a:srgbClr val="83AD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419600" y="3200400"/>
            <a:ext cx="3352800" cy="0"/>
          </a:xfrm>
          <a:prstGeom prst="line">
            <a:avLst/>
          </a:prstGeom>
          <a:ln w="31750">
            <a:solidFill>
              <a:srgbClr val="66CBC9"/>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19600" y="3492500"/>
            <a:ext cx="609600" cy="609600"/>
          </a:xfrm>
          <a:prstGeom prst="roundRect">
            <a:avLst>
              <a:gd name="adj" fmla="val 20833"/>
            </a:avLst>
          </a:prstGeom>
          <a:solidFill>
            <a:srgbClr val="173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32400" y="3632200"/>
            <a:ext cx="25400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66CBC9"/>
                </a:solidFill>
                <a:latin typeface="Arial"/>
              </a:rPr>
              <a:t>VERIFY</a:t>
            </a:r>
          </a:p>
        </p:txBody>
      </p:sp>
      <p:sp>
        <p:nvSpPr>
          <p:cNvPr id="23" name="TextBox 22"/>
          <p:cNvSpPr txBox="1"/>
          <p:nvPr/>
        </p:nvSpPr>
        <p:spPr>
          <a:xfrm>
            <a:off x="4419600" y="4381500"/>
            <a:ext cx="3352800" cy="768350"/>
          </a:xfrm>
          <a:prstGeom prst="rect">
            <a:avLst/>
          </a:prstGeom>
          <a:noFill/>
        </p:spPr>
        <p:txBody>
          <a:bodyPr wrap="none" lIns="0" rIns="0" tIns="0" bIns="0" anchor="t">
            <a:noAutofit/>
          </a:bodyPr>
          <a:lstStyle/>
          <a:p>
            <a:pPr algn="l">
              <a:lnSpc>
                <a:spcPts val="2875"/>
              </a:lnSpc>
              <a:spcBef>
                <a:spcPts val="0"/>
              </a:spcBef>
              <a:spcAft>
                <a:spcPts val="0"/>
              </a:spcAft>
            </a:pPr>
            <a:r>
              <a:rPr sz="2300" b="0">
                <a:solidFill>
                  <a:srgbClr val="FFFFFF"/>
                </a:solidFill>
                <a:latin typeface="Arial"/>
              </a:rPr>
              <a:t>Check DNS answers</a:t>
            </a:r>
          </a:p>
          <a:p>
            <a:pPr algn="l">
              <a:lnSpc>
                <a:spcPts val="2875"/>
              </a:lnSpc>
              <a:spcBef>
                <a:spcPts val="0"/>
              </a:spcBef>
              <a:spcAft>
                <a:spcPts val="0"/>
              </a:spcAft>
            </a:pPr>
            <a:r>
              <a:rPr sz="2300" b="0">
                <a:solidFill>
                  <a:srgbClr val="FFFFFF"/>
                </a:solidFill>
                <a:latin typeface="Arial"/>
              </a:rPr>
              <a:t>and real requests.</a:t>
            </a:r>
          </a:p>
        </p:txBody>
      </p:sp>
      <p:sp>
        <p:nvSpPr>
          <p:cNvPr id="24" name="Rounded Rectangle 23"/>
          <p:cNvSpPr/>
          <p:nvPr/>
        </p:nvSpPr>
        <p:spPr>
          <a:xfrm>
            <a:off x="4508500" y="3632200"/>
            <a:ext cx="431800" cy="330200"/>
          </a:xfrm>
          <a:prstGeom prst="roundRect">
            <a:avLst>
              <a:gd name="adj" fmla="val 11538"/>
            </a:avLst>
          </a:prstGeom>
          <a:solidFill>
            <a:srgbClr val="173E49"/>
          </a:solidFill>
          <a:ln w="17780">
            <a:solidFill>
              <a:srgbClr val="66CB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4508500" y="3721100"/>
            <a:ext cx="431800" cy="0"/>
          </a:xfrm>
          <a:prstGeom prst="line">
            <a:avLst/>
          </a:prstGeom>
          <a:ln w="13970">
            <a:solidFill>
              <a:srgbClr val="66CBC9"/>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574540" y="3666490"/>
            <a:ext cx="20320" cy="20320"/>
          </a:xfrm>
          <a:prstGeom prst="ellipse">
            <a:avLst/>
          </a:prstGeom>
          <a:solidFill>
            <a:srgbClr val="66C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8040" y="3666490"/>
            <a:ext cx="20320" cy="20320"/>
          </a:xfrm>
          <a:prstGeom prst="ellipse">
            <a:avLst/>
          </a:prstGeom>
          <a:solidFill>
            <a:srgbClr val="66C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01540" y="3666490"/>
            <a:ext cx="20320" cy="20320"/>
          </a:xfrm>
          <a:prstGeom prst="ellipse">
            <a:avLst/>
          </a:prstGeom>
          <a:solidFill>
            <a:srgbClr val="66C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4622800" y="3835400"/>
            <a:ext cx="76200" cy="76200"/>
          </a:xfrm>
          <a:prstGeom prst="line">
            <a:avLst/>
          </a:prstGeom>
          <a:ln w="24130">
            <a:solidFill>
              <a:srgbClr val="66CBC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699000" y="3771900"/>
            <a:ext cx="139700" cy="139700"/>
          </a:xfrm>
          <a:prstGeom prst="line">
            <a:avLst/>
          </a:prstGeom>
          <a:ln w="24130">
            <a:solidFill>
              <a:srgbClr val="66CBC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229600" y="3200400"/>
            <a:ext cx="3352800" cy="0"/>
          </a:xfrm>
          <a:prstGeom prst="line">
            <a:avLst/>
          </a:prstGeom>
          <a:ln w="31750">
            <a:solidFill>
              <a:srgbClr val="F79BB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29600" y="3492500"/>
            <a:ext cx="609600" cy="609600"/>
          </a:xfrm>
          <a:prstGeom prst="roundRect">
            <a:avLst>
              <a:gd name="adj" fmla="val 20833"/>
            </a:avLst>
          </a:prstGeom>
          <a:solidFill>
            <a:srgbClr val="452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42400" y="3632200"/>
            <a:ext cx="25400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F79BB0"/>
                </a:solidFill>
                <a:latin typeface="Arial"/>
              </a:rPr>
              <a:t>TEST</a:t>
            </a:r>
          </a:p>
        </p:txBody>
      </p:sp>
      <p:sp>
        <p:nvSpPr>
          <p:cNvPr id="34" name="TextBox 33"/>
          <p:cNvSpPr txBox="1"/>
          <p:nvPr/>
        </p:nvSpPr>
        <p:spPr>
          <a:xfrm>
            <a:off x="8229600" y="4381500"/>
            <a:ext cx="3352800" cy="768350"/>
          </a:xfrm>
          <a:prstGeom prst="rect">
            <a:avLst/>
          </a:prstGeom>
          <a:noFill/>
        </p:spPr>
        <p:txBody>
          <a:bodyPr wrap="none" lIns="0" rIns="0" tIns="0" bIns="0" anchor="t">
            <a:noAutofit/>
          </a:bodyPr>
          <a:lstStyle/>
          <a:p>
            <a:pPr algn="l">
              <a:lnSpc>
                <a:spcPts val="2875"/>
              </a:lnSpc>
              <a:spcBef>
                <a:spcPts val="0"/>
              </a:spcBef>
              <a:spcAft>
                <a:spcPts val="0"/>
              </a:spcAft>
            </a:pPr>
            <a:r>
              <a:rPr sz="2300" b="0">
                <a:solidFill>
                  <a:srgbClr val="FFFFFF"/>
                </a:solidFill>
                <a:latin typeface="Arial"/>
              </a:rPr>
              <a:t>Automate failover</a:t>
            </a:r>
          </a:p>
          <a:p>
            <a:pPr algn="l">
              <a:lnSpc>
                <a:spcPts val="2875"/>
              </a:lnSpc>
              <a:spcBef>
                <a:spcPts val="0"/>
              </a:spcBef>
              <a:spcAft>
                <a:spcPts val="0"/>
              </a:spcAft>
            </a:pPr>
            <a:r>
              <a:rPr sz="2300" b="0">
                <a:solidFill>
                  <a:srgbClr val="FFFFFF"/>
                </a:solidFill>
                <a:latin typeface="Arial"/>
              </a:rPr>
              <a:t>and failback tests.</a:t>
            </a:r>
          </a:p>
        </p:txBody>
      </p:sp>
      <p:cxnSp>
        <p:nvCxnSpPr>
          <p:cNvPr id="35" name="Connector 34"/>
          <p:cNvCxnSpPr/>
          <p:nvPr/>
        </p:nvCxnSpPr>
        <p:spPr>
          <a:xfrm>
            <a:off x="8711254" y="3673464"/>
            <a:ext cx="18283" cy="31455"/>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729537" y="3704919"/>
            <a:ext cx="12742" cy="34079"/>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742279" y="3738998"/>
            <a:ext cx="6838" cy="35734"/>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749117" y="3774732"/>
            <a:ext cx="741" cy="36375"/>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8744480" y="3811107"/>
            <a:ext cx="5378" cy="35982"/>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8733136" y="3847089"/>
            <a:ext cx="11344" cy="34569"/>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8716150" y="3881658"/>
            <a:ext cx="16986" cy="32174"/>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8694001" y="3913832"/>
            <a:ext cx="22149" cy="28864"/>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8667321" y="3942696"/>
            <a:ext cx="26680" cy="24735"/>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8636866" y="3967431"/>
            <a:ext cx="30455" cy="19904"/>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603501" y="3987335"/>
            <a:ext cx="33365" cy="14507"/>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8568174" y="4001842"/>
            <a:ext cx="35327" cy="8699"/>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8531887" y="4010541"/>
            <a:ext cx="36287" cy="2644"/>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8495673" y="4009698"/>
            <a:ext cx="36214" cy="3487"/>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8460557" y="4000179"/>
            <a:ext cx="35116" cy="9519"/>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8427539" y="3984899"/>
            <a:ext cx="33018" cy="15280"/>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8397555" y="3964292"/>
            <a:ext cx="29984" cy="20607"/>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8371458" y="3938943"/>
            <a:ext cx="26097" cy="25349"/>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8349987" y="3909571"/>
            <a:ext cx="21471" cy="29372"/>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8333753" y="3877011"/>
            <a:ext cx="16234" cy="32560"/>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3217" y="3842188"/>
            <a:ext cx="10536" cy="34823"/>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8318679" y="3806089"/>
            <a:ext cx="4538" cy="36099"/>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8318679" y="3769742"/>
            <a:ext cx="1586" cy="36347"/>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8320265" y="3734176"/>
            <a:ext cx="7668" cy="35566"/>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327933" y="3700404"/>
            <a:ext cx="13531" cy="33772"/>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341464" y="3669383"/>
            <a:ext cx="19010" cy="31021"/>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360474" y="3641994"/>
            <a:ext cx="23949" cy="27389"/>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384423" y="3619016"/>
            <a:ext cx="28207" cy="22978"/>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412630" y="3601100"/>
            <a:ext cx="31666" cy="17916"/>
          </a:xfrm>
          <a:prstGeom prst="line">
            <a:avLst/>
          </a:prstGeom>
          <a:ln w="2286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444296" y="3588756"/>
            <a:ext cx="34224" cy="12344"/>
          </a:xfrm>
          <a:prstGeom prst="line">
            <a:avLst/>
          </a:prstGeom>
          <a:ln w="22860">
            <a:solidFill>
              <a:srgbClr val="F79B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445500" y="3797300"/>
            <a:ext cx="76200" cy="76200"/>
          </a:xfrm>
          <a:prstGeom prst="line">
            <a:avLst/>
          </a:prstGeom>
          <a:ln w="2413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521700" y="3733800"/>
            <a:ext cx="127000" cy="139700"/>
          </a:xfrm>
          <a:prstGeom prst="line">
            <a:avLst/>
          </a:prstGeom>
          <a:ln w="24130">
            <a:solidFill>
              <a:srgbClr val="F79BB0"/>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609600" y="5638800"/>
            <a:ext cx="10972800" cy="584200"/>
          </a:xfrm>
          <a:prstGeom prst="roundRect">
            <a:avLst>
              <a:gd name="adj" fmla="val 17391"/>
            </a:avLst>
          </a:prstGeom>
          <a:solidFill>
            <a:srgbClr val="1A3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63600" y="5778500"/>
            <a:ext cx="10464800" cy="349250"/>
          </a:xfrm>
          <a:prstGeom prst="rect">
            <a:avLst/>
          </a:prstGeom>
          <a:noFill/>
        </p:spPr>
        <p:txBody>
          <a:bodyPr wrap="none" lIns="0" rIns="0" tIns="0" bIns="0" anchor="t">
            <a:noAutofit/>
          </a:bodyPr>
          <a:lstStyle/>
          <a:p>
            <a:pPr algn="ctr">
              <a:lnSpc>
                <a:spcPts val="2200"/>
              </a:lnSpc>
              <a:spcBef>
                <a:spcPts val="0"/>
              </a:spcBef>
              <a:spcAft>
                <a:spcPts val="0"/>
              </a:spcAft>
            </a:pPr>
            <a:r>
              <a:rPr sz="2200" b="1">
                <a:solidFill>
                  <a:srgbClr val="FFFFFF"/>
                </a:solidFill>
                <a:latin typeface="Arial"/>
              </a:rPr>
              <a:t>Test the full path: readiness → DNS → successful requests.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DISCUSSION</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19 / 19</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Questions?</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How would failover work in your environment?</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2133600"/>
            <a:ext cx="3556000" cy="4165600"/>
          </a:xfrm>
          <a:prstGeom prst="roundRect">
            <a:avLst>
              <a:gd name="adj" fmla="val 3571"/>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2082800"/>
            <a:ext cx="3556000" cy="4165600"/>
          </a:xfrm>
          <a:prstGeom prst="roundRect">
            <a:avLst>
              <a:gd name="adj" fmla="val 3571"/>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863600" y="2316572"/>
            <a:ext cx="431800" cy="421455"/>
          </a:xfrm>
          <a:prstGeom prst="rect">
            <a:avLst/>
          </a:prstGeom>
        </p:spPr>
      </p:pic>
      <p:sp>
        <p:nvSpPr>
          <p:cNvPr id="13" name="TextBox 12"/>
          <p:cNvSpPr txBox="1"/>
          <p:nvPr/>
        </p:nvSpPr>
        <p:spPr>
          <a:xfrm>
            <a:off x="1460500" y="2362200"/>
            <a:ext cx="24511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Explore k8gb</a:t>
            </a:r>
          </a:p>
        </p:txBody>
      </p:sp>
      <p:pic>
        <p:nvPicPr>
          <p:cNvPr id="14" name="Picture 13" descr="image.png"/>
          <p:cNvPicPr>
            <a:picLocks noChangeAspect="1"/>
          </p:cNvPicPr>
          <p:nvPr/>
        </p:nvPicPr>
        <p:blipFill>
          <a:blip r:embed="rId3"/>
          <a:stretch>
            <a:fillRect/>
          </a:stretch>
        </p:blipFill>
        <p:spPr>
          <a:xfrm>
            <a:off x="889000" y="2857500"/>
            <a:ext cx="2997200" cy="2997200"/>
          </a:xfrm>
          <a:prstGeom prst="rect">
            <a:avLst/>
          </a:prstGeom>
        </p:spPr>
      </p:pic>
      <p:sp>
        <p:nvSpPr>
          <p:cNvPr id="15" name="TextBox 14"/>
          <p:cNvSpPr txBox="1"/>
          <p:nvPr/>
        </p:nvSpPr>
        <p:spPr>
          <a:xfrm>
            <a:off x="863600" y="5918200"/>
            <a:ext cx="3048000" cy="300990"/>
          </a:xfrm>
          <a:prstGeom prst="rect">
            <a:avLst/>
          </a:prstGeom>
          <a:noFill/>
        </p:spPr>
        <p:txBody>
          <a:bodyPr wrap="none" lIns="0" rIns="0" tIns="0" bIns="0" anchor="t">
            <a:noAutofit/>
          </a:bodyPr>
          <a:lstStyle/>
          <a:p>
            <a:pPr algn="ctr">
              <a:lnSpc>
                <a:spcPts val="2070"/>
              </a:lnSpc>
              <a:spcBef>
                <a:spcPts val="0"/>
              </a:spcBef>
              <a:spcAft>
                <a:spcPts val="0"/>
              </a:spcAft>
            </a:pPr>
            <a:r>
              <a:rPr sz="1800" b="1">
                <a:solidFill>
                  <a:srgbClr val="2762C8"/>
                </a:solidFill>
                <a:latin typeface="Arial"/>
                <a:hlinkClick r:id="rId4"/>
              </a:rPr>
              <a:t>k8gb.io</a:t>
            </a:r>
          </a:p>
        </p:txBody>
      </p:sp>
      <p:sp>
        <p:nvSpPr>
          <p:cNvPr id="16" name="Rounded Rectangle 15"/>
          <p:cNvSpPr/>
          <p:nvPr/>
        </p:nvSpPr>
        <p:spPr>
          <a:xfrm>
            <a:off x="4572000" y="2133600"/>
            <a:ext cx="7010400" cy="1397000"/>
          </a:xfrm>
          <a:prstGeom prst="roundRect">
            <a:avLst>
              <a:gd name="adj" fmla="val 9090"/>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2082800"/>
            <a:ext cx="7010400" cy="1397000"/>
          </a:xfrm>
          <a:prstGeom prst="roundRect">
            <a:avLst>
              <a:gd name="adj" fmla="val 9090"/>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26000" y="2349500"/>
            <a:ext cx="558800" cy="558800"/>
          </a:xfrm>
          <a:prstGeom prst="roundRect">
            <a:avLst>
              <a:gd name="adj" fmla="val 20454"/>
            </a:avLst>
          </a:prstGeom>
          <a:solidFill>
            <a:srgbClr val="1A3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29200" y="2451100"/>
            <a:ext cx="152400" cy="152400"/>
          </a:xfrm>
          <a:prstGeom prst="ellipse">
            <a:avLst/>
          </a:prstGeom>
          <a:solidFill>
            <a:srgbClr val="1A3047"/>
          </a:solidFill>
          <a:ln w="19050">
            <a:solidFill>
              <a:srgbClr val="83A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4953000" y="2705100"/>
            <a:ext cx="0" cy="63500"/>
          </a:xfrm>
          <a:prstGeom prst="line">
            <a:avLst/>
          </a:prstGeom>
          <a:ln w="19050">
            <a:solidFill>
              <a:srgbClr val="83AD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953000" y="2641600"/>
            <a:ext cx="63500" cy="63500"/>
          </a:xfrm>
          <a:prstGeom prst="line">
            <a:avLst/>
          </a:prstGeom>
          <a:ln w="19050">
            <a:solidFill>
              <a:srgbClr val="83AD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016500" y="2641600"/>
            <a:ext cx="177800" cy="0"/>
          </a:xfrm>
          <a:prstGeom prst="line">
            <a:avLst/>
          </a:prstGeom>
          <a:ln w="19050">
            <a:solidFill>
              <a:srgbClr val="83AD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194300" y="2641600"/>
            <a:ext cx="63500" cy="63500"/>
          </a:xfrm>
          <a:prstGeom prst="line">
            <a:avLst/>
          </a:prstGeom>
          <a:ln w="19050">
            <a:solidFill>
              <a:srgbClr val="83AD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257800" y="2705100"/>
            <a:ext cx="0" cy="63500"/>
          </a:xfrm>
          <a:prstGeom prst="line">
            <a:avLst/>
          </a:prstGeom>
          <a:ln w="19050">
            <a:solidFill>
              <a:srgbClr val="83ADF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588000" y="2273300"/>
            <a:ext cx="5689600"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FFFFFF"/>
                </a:solidFill>
                <a:latin typeface="Arial"/>
              </a:rPr>
              <a:t>Yury Tsarev</a:t>
            </a:r>
          </a:p>
        </p:txBody>
      </p:sp>
      <p:sp>
        <p:nvSpPr>
          <p:cNvPr id="26" name="TextBox 25"/>
          <p:cNvSpPr txBox="1"/>
          <p:nvPr/>
        </p:nvSpPr>
        <p:spPr>
          <a:xfrm>
            <a:off x="5588000" y="2692400"/>
            <a:ext cx="5689600" cy="242569"/>
          </a:xfrm>
          <a:prstGeom prst="rect">
            <a:avLst/>
          </a:prstGeom>
          <a:noFill/>
        </p:spPr>
        <p:txBody>
          <a:bodyPr wrap="none" lIns="0" rIns="0" tIns="0" bIns="0" anchor="t">
            <a:noAutofit/>
          </a:bodyPr>
          <a:lstStyle/>
          <a:p>
            <a:pPr algn="l">
              <a:lnSpc>
                <a:spcPts val="1609"/>
              </a:lnSpc>
              <a:spcBef>
                <a:spcPts val="0"/>
              </a:spcBef>
              <a:spcAft>
                <a:spcPts val="0"/>
              </a:spcAft>
            </a:pPr>
            <a:r>
              <a:rPr sz="1400" b="0">
                <a:solidFill>
                  <a:srgbClr val="B8C8D9"/>
                </a:solidFill>
                <a:latin typeface="Arial"/>
              </a:rPr>
              <a:t>Creator &amp; Project Lead · k8gb</a:t>
            </a:r>
          </a:p>
        </p:txBody>
      </p:sp>
      <p:sp>
        <p:nvSpPr>
          <p:cNvPr id="27" name="TextBox 26"/>
          <p:cNvSpPr txBox="1"/>
          <p:nvPr/>
        </p:nvSpPr>
        <p:spPr>
          <a:xfrm>
            <a:off x="5588000" y="3048000"/>
            <a:ext cx="5689600" cy="300990"/>
          </a:xfrm>
          <a:prstGeom prst="rect">
            <a:avLst/>
          </a:prstGeom>
          <a:noFill/>
        </p:spPr>
        <p:txBody>
          <a:bodyPr wrap="none" lIns="0" rIns="0" tIns="0" bIns="0" anchor="t">
            <a:noAutofit/>
          </a:bodyPr>
          <a:lstStyle/>
          <a:p>
            <a:pPr algn="l">
              <a:lnSpc>
                <a:spcPts val="2070"/>
              </a:lnSpc>
              <a:spcBef>
                <a:spcPts val="0"/>
              </a:spcBef>
              <a:spcAft>
                <a:spcPts val="0"/>
              </a:spcAft>
            </a:pPr>
            <a:r>
              <a:rPr sz="1800" b="1">
                <a:solidFill>
                  <a:srgbClr val="83ADFF"/>
                </a:solidFill>
                <a:latin typeface="Arial"/>
                <a:hlinkClick r:id="rId5"/>
              </a:rPr>
              <a:t>linkedin.com/in/yurytsarev</a:t>
            </a:r>
          </a:p>
        </p:txBody>
      </p:sp>
      <p:sp>
        <p:nvSpPr>
          <p:cNvPr id="28" name="Rounded Rectangle 27"/>
          <p:cNvSpPr/>
          <p:nvPr/>
        </p:nvSpPr>
        <p:spPr>
          <a:xfrm>
            <a:off x="4572000" y="3759200"/>
            <a:ext cx="7010400" cy="1092200"/>
          </a:xfrm>
          <a:prstGeom prst="roundRect">
            <a:avLst>
              <a:gd name="adj" fmla="val 10465"/>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572000" y="3708400"/>
            <a:ext cx="7010400" cy="1092200"/>
          </a:xfrm>
          <a:prstGeom prst="roundRect">
            <a:avLst>
              <a:gd name="adj" fmla="val 1046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26000" y="4000500"/>
            <a:ext cx="381000" cy="381000"/>
          </a:xfrm>
          <a:prstGeom prst="roundRect">
            <a:avLst>
              <a:gd name="adj" fmla="val 23333"/>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flipH="1">
            <a:off x="4889500" y="4089400"/>
            <a:ext cx="76200" cy="101600"/>
          </a:xfrm>
          <a:prstGeom prst="line">
            <a:avLst/>
          </a:prstGeom>
          <a:ln w="1905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89500" y="4191000"/>
            <a:ext cx="76200" cy="101600"/>
          </a:xfrm>
          <a:prstGeom prst="line">
            <a:avLst/>
          </a:prstGeom>
          <a:ln w="1905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67300" y="4089400"/>
            <a:ext cx="76200" cy="101600"/>
          </a:xfrm>
          <a:prstGeom prst="line">
            <a:avLst/>
          </a:prstGeom>
          <a:ln w="1905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5067300" y="4191000"/>
            <a:ext cx="76200" cy="101600"/>
          </a:xfrm>
          <a:prstGeom prst="line">
            <a:avLst/>
          </a:prstGeom>
          <a:ln w="19050">
            <a:solidFill>
              <a:srgbClr val="2762C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35600" y="3898900"/>
            <a:ext cx="58928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2762C8"/>
                </a:solidFill>
                <a:latin typeface="Arial"/>
              </a:rPr>
              <a:t>SOURCE &amp; CONTRIBUTIONS</a:t>
            </a:r>
          </a:p>
        </p:txBody>
      </p:sp>
      <p:sp>
        <p:nvSpPr>
          <p:cNvPr id="36" name="TextBox 35"/>
          <p:cNvSpPr txBox="1"/>
          <p:nvPr/>
        </p:nvSpPr>
        <p:spPr>
          <a:xfrm>
            <a:off x="5435600" y="4241800"/>
            <a:ext cx="58928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hlinkClick r:id="rId6"/>
              </a:rPr>
              <a:t>github.com/k8gb-io/k8gb</a:t>
            </a:r>
          </a:p>
        </p:txBody>
      </p:sp>
      <p:sp>
        <p:nvSpPr>
          <p:cNvPr id="37" name="Rounded Rectangle 36"/>
          <p:cNvSpPr/>
          <p:nvPr/>
        </p:nvSpPr>
        <p:spPr>
          <a:xfrm>
            <a:off x="4572000" y="5054600"/>
            <a:ext cx="7010400" cy="1193800"/>
          </a:xfrm>
          <a:prstGeom prst="roundRect">
            <a:avLst>
              <a:gd name="adj" fmla="val 9574"/>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572000" y="5003800"/>
            <a:ext cx="7010400" cy="1193800"/>
          </a:xfrm>
          <a:prstGeom prst="roundRect">
            <a:avLst>
              <a:gd name="adj" fmla="val 9574"/>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826000" y="5295900"/>
            <a:ext cx="381000" cy="381000"/>
          </a:xfrm>
          <a:prstGeom prst="roundRect">
            <a:avLst>
              <a:gd name="adj" fmla="val 23333"/>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927600" y="5359400"/>
            <a:ext cx="177800" cy="254000"/>
          </a:xfrm>
          <a:prstGeom prst="roundRect">
            <a:avLst>
              <a:gd name="adj" fmla="val 14285"/>
            </a:avLst>
          </a:prstGeom>
          <a:solidFill>
            <a:srgbClr val="E8F4F3"/>
          </a:solidFill>
          <a:ln w="15240">
            <a:solidFill>
              <a:srgbClr val="087F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4978400" y="5435600"/>
            <a:ext cx="88900" cy="0"/>
          </a:xfrm>
          <a:prstGeom prst="line">
            <a:avLst/>
          </a:prstGeom>
          <a:ln w="1397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978400" y="5486400"/>
            <a:ext cx="88900" cy="0"/>
          </a:xfrm>
          <a:prstGeom prst="line">
            <a:avLst/>
          </a:prstGeom>
          <a:ln w="1397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978400" y="5537200"/>
            <a:ext cx="88900" cy="0"/>
          </a:xfrm>
          <a:prstGeom prst="line">
            <a:avLst/>
          </a:prstGeom>
          <a:ln w="13970">
            <a:solidFill>
              <a:srgbClr val="087F85"/>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435600" y="5194300"/>
            <a:ext cx="5892800" cy="198754"/>
          </a:xfrm>
          <a:prstGeom prst="rect">
            <a:avLst/>
          </a:prstGeom>
          <a:noFill/>
        </p:spPr>
        <p:txBody>
          <a:bodyPr wrap="none" lIns="0" rIns="0" tIns="0" bIns="0" anchor="t">
            <a:noAutofit/>
          </a:bodyPr>
          <a:lstStyle/>
          <a:p>
            <a:pPr algn="l">
              <a:lnSpc>
                <a:spcPts val="1264"/>
              </a:lnSpc>
              <a:spcBef>
                <a:spcPts val="0"/>
              </a:spcBef>
              <a:spcAft>
                <a:spcPts val="0"/>
              </a:spcAft>
            </a:pPr>
            <a:r>
              <a:rPr sz="1100" b="1">
                <a:solidFill>
                  <a:srgbClr val="087F85"/>
                </a:solidFill>
                <a:latin typeface="Arial"/>
              </a:rPr>
              <a:t>PRODUCTION CASE STUDY</a:t>
            </a:r>
          </a:p>
        </p:txBody>
      </p:sp>
      <p:sp>
        <p:nvSpPr>
          <p:cNvPr id="45" name="TextBox 44"/>
          <p:cNvSpPr txBox="1"/>
          <p:nvPr/>
        </p:nvSpPr>
        <p:spPr>
          <a:xfrm>
            <a:off x="5435600" y="5473700"/>
            <a:ext cx="58928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42338"/>
                </a:solidFill>
                <a:latin typeface="Arial"/>
              </a:rPr>
              <a:t>Millennium bcp</a:t>
            </a:r>
          </a:p>
        </p:txBody>
      </p:sp>
      <p:sp>
        <p:nvSpPr>
          <p:cNvPr id="46" name="TextBox 45"/>
          <p:cNvSpPr txBox="1"/>
          <p:nvPr/>
        </p:nvSpPr>
        <p:spPr>
          <a:xfrm>
            <a:off x="5435600" y="5905500"/>
            <a:ext cx="5892800" cy="257175"/>
          </a:xfrm>
          <a:prstGeom prst="rect">
            <a:avLst/>
          </a:prstGeom>
          <a:noFill/>
        </p:spPr>
        <p:txBody>
          <a:bodyPr wrap="none" lIns="0" rIns="0" tIns="0" bIns="0" anchor="t">
            <a:noAutofit/>
          </a:bodyPr>
          <a:lstStyle/>
          <a:p>
            <a:pPr algn="l">
              <a:lnSpc>
                <a:spcPts val="1725"/>
              </a:lnSpc>
              <a:spcBef>
                <a:spcPts val="0"/>
              </a:spcBef>
              <a:spcAft>
                <a:spcPts val="0"/>
              </a:spcAft>
            </a:pPr>
            <a:r>
              <a:rPr sz="1500" b="0">
                <a:solidFill>
                  <a:srgbClr val="087F85"/>
                </a:solidFill>
                <a:latin typeface="Arial"/>
                <a:hlinkClick r:id="rId7"/>
              </a:rPr>
              <a:t>cncf.io/case-studies/millennium-bcp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APPENDIX · UNDER THE HOOD</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A1 / 07</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Three components. Three distinct jobs.</a:t>
            </a:r>
          </a:p>
        </p:txBody>
      </p:sp>
      <p:cxnSp>
        <p:nvCxnSpPr>
          <p:cNvPr id="6" name="Connector 5"/>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8" name="TextBox 7"/>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9" name="Rounded Rectangle 8"/>
          <p:cNvSpPr/>
          <p:nvPr/>
        </p:nvSpPr>
        <p:spPr>
          <a:xfrm>
            <a:off x="609600" y="2197100"/>
            <a:ext cx="3522133" cy="3111500"/>
          </a:xfrm>
          <a:prstGeom prst="roundRect">
            <a:avLst>
              <a:gd name="adj" fmla="val 326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965200" y="2474752"/>
            <a:ext cx="914400" cy="892494"/>
          </a:xfrm>
          <a:prstGeom prst="rect">
            <a:avLst/>
          </a:prstGeom>
        </p:spPr>
      </p:pic>
      <p:sp>
        <p:nvSpPr>
          <p:cNvPr id="11" name="TextBox 10"/>
          <p:cNvSpPr txBox="1"/>
          <p:nvPr/>
        </p:nvSpPr>
        <p:spPr>
          <a:xfrm>
            <a:off x="863600" y="3632200"/>
            <a:ext cx="3014133"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142338"/>
                </a:solidFill>
                <a:latin typeface="Arial"/>
              </a:rPr>
              <a:t>k8gb controller</a:t>
            </a:r>
          </a:p>
        </p:txBody>
      </p:sp>
      <p:sp>
        <p:nvSpPr>
          <p:cNvPr id="12" name="TextBox 11"/>
          <p:cNvSpPr txBox="1"/>
          <p:nvPr/>
        </p:nvSpPr>
        <p:spPr>
          <a:xfrm>
            <a:off x="863600" y="4229100"/>
            <a:ext cx="3014133" cy="698500"/>
          </a:xfrm>
          <a:prstGeom prst="rect">
            <a:avLst/>
          </a:prstGeom>
          <a:noFill/>
        </p:spPr>
        <p:txBody>
          <a:bodyPr wrap="none" lIns="0" rIns="0" tIns="0" bIns="0" anchor="t">
            <a:noAutofit/>
          </a:bodyPr>
          <a:lstStyle/>
          <a:p>
            <a:pPr algn="l">
              <a:lnSpc>
                <a:spcPts val="2600"/>
              </a:lnSpc>
              <a:spcBef>
                <a:spcPts val="0"/>
              </a:spcBef>
              <a:spcAft>
                <a:spcPts val="0"/>
              </a:spcAft>
            </a:pPr>
            <a:r>
              <a:rPr sz="2000" b="0">
                <a:solidFill>
                  <a:srgbClr val="5D6F82"/>
                </a:solidFill>
                <a:latin typeface="Arial"/>
              </a:rPr>
              <a:t>Readiness + strategy</a:t>
            </a:r>
          </a:p>
          <a:p>
            <a:pPr algn="l">
              <a:lnSpc>
                <a:spcPts val="2600"/>
              </a:lnSpc>
              <a:spcBef>
                <a:spcPts val="0"/>
              </a:spcBef>
              <a:spcAft>
                <a:spcPts val="0"/>
              </a:spcAft>
            </a:pPr>
            <a:r>
              <a:rPr sz="2000" b="0">
                <a:solidFill>
                  <a:srgbClr val="5D6F82"/>
                </a:solidFill>
                <a:latin typeface="Arial"/>
              </a:rPr>
              <a:t>→ eligible targets</a:t>
            </a:r>
          </a:p>
        </p:txBody>
      </p:sp>
      <p:sp>
        <p:nvSpPr>
          <p:cNvPr id="13" name="Rounded Rectangle 12"/>
          <p:cNvSpPr/>
          <p:nvPr/>
        </p:nvSpPr>
        <p:spPr>
          <a:xfrm>
            <a:off x="4334933" y="2197100"/>
            <a:ext cx="3522133" cy="3111500"/>
          </a:xfrm>
          <a:prstGeom prst="roundRect">
            <a:avLst>
              <a:gd name="adj" fmla="val 326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4639733" y="2413000"/>
            <a:ext cx="1016000" cy="1016000"/>
          </a:xfrm>
          <a:prstGeom prst="rect">
            <a:avLst/>
          </a:prstGeom>
        </p:spPr>
      </p:pic>
      <p:sp>
        <p:nvSpPr>
          <p:cNvPr id="15" name="TextBox 14"/>
          <p:cNvSpPr txBox="1"/>
          <p:nvPr/>
        </p:nvSpPr>
        <p:spPr>
          <a:xfrm>
            <a:off x="4588933" y="3632200"/>
            <a:ext cx="3014133"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142338"/>
                </a:solidFill>
                <a:latin typeface="Arial"/>
              </a:rPr>
              <a:t>CoreDNS</a:t>
            </a:r>
          </a:p>
        </p:txBody>
      </p:sp>
      <p:sp>
        <p:nvSpPr>
          <p:cNvPr id="16" name="TextBox 15"/>
          <p:cNvSpPr txBox="1"/>
          <p:nvPr/>
        </p:nvSpPr>
        <p:spPr>
          <a:xfrm>
            <a:off x="4588933" y="4229100"/>
            <a:ext cx="3014133" cy="698500"/>
          </a:xfrm>
          <a:prstGeom prst="rect">
            <a:avLst/>
          </a:prstGeom>
          <a:noFill/>
        </p:spPr>
        <p:txBody>
          <a:bodyPr wrap="none" lIns="0" rIns="0" tIns="0" bIns="0" anchor="t">
            <a:noAutofit/>
          </a:bodyPr>
          <a:lstStyle/>
          <a:p>
            <a:pPr algn="l">
              <a:lnSpc>
                <a:spcPts val="2600"/>
              </a:lnSpc>
              <a:spcBef>
                <a:spcPts val="0"/>
              </a:spcBef>
              <a:spcAft>
                <a:spcPts val="0"/>
              </a:spcAft>
            </a:pPr>
            <a:r>
              <a:rPr sz="2000" b="0">
                <a:solidFill>
                  <a:srgbClr val="5D6F82"/>
                </a:solidFill>
                <a:latin typeface="Arial"/>
              </a:rPr>
              <a:t>Delegated zone</a:t>
            </a:r>
          </a:p>
          <a:p>
            <a:pPr algn="l">
              <a:lnSpc>
                <a:spcPts val="2600"/>
              </a:lnSpc>
              <a:spcBef>
                <a:spcPts val="0"/>
              </a:spcBef>
              <a:spcAft>
                <a:spcPts val="0"/>
              </a:spcAft>
            </a:pPr>
            <a:r>
              <a:rPr sz="2000" b="0">
                <a:solidFill>
                  <a:srgbClr val="5D6F82"/>
                </a:solidFill>
                <a:latin typeface="Arial"/>
              </a:rPr>
              <a:t>→ DNS answers</a:t>
            </a:r>
          </a:p>
        </p:txBody>
      </p:sp>
      <p:sp>
        <p:nvSpPr>
          <p:cNvPr id="17" name="Rounded Rectangle 16"/>
          <p:cNvSpPr/>
          <p:nvPr/>
        </p:nvSpPr>
        <p:spPr>
          <a:xfrm>
            <a:off x="8060266" y="2197100"/>
            <a:ext cx="3522133" cy="3111500"/>
          </a:xfrm>
          <a:prstGeom prst="roundRect">
            <a:avLst>
              <a:gd name="adj" fmla="val 326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4"/>
          <a:stretch>
            <a:fillRect/>
          </a:stretch>
        </p:blipFill>
        <p:spPr>
          <a:xfrm>
            <a:off x="8314618" y="2362200"/>
            <a:ext cx="1116895" cy="1117600"/>
          </a:xfrm>
          <a:prstGeom prst="rect">
            <a:avLst/>
          </a:prstGeom>
        </p:spPr>
      </p:pic>
      <p:sp>
        <p:nvSpPr>
          <p:cNvPr id="19" name="TextBox 18"/>
          <p:cNvSpPr txBox="1"/>
          <p:nvPr/>
        </p:nvSpPr>
        <p:spPr>
          <a:xfrm>
            <a:off x="8314266" y="3632200"/>
            <a:ext cx="3014133"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142338"/>
                </a:solidFill>
                <a:latin typeface="Arial"/>
              </a:rPr>
              <a:t>ExternalDNS</a:t>
            </a:r>
          </a:p>
        </p:txBody>
      </p:sp>
      <p:sp>
        <p:nvSpPr>
          <p:cNvPr id="20" name="TextBox 19"/>
          <p:cNvSpPr txBox="1"/>
          <p:nvPr/>
        </p:nvSpPr>
        <p:spPr>
          <a:xfrm>
            <a:off x="8314266" y="4229100"/>
            <a:ext cx="3014133" cy="698500"/>
          </a:xfrm>
          <a:prstGeom prst="rect">
            <a:avLst/>
          </a:prstGeom>
          <a:noFill/>
        </p:spPr>
        <p:txBody>
          <a:bodyPr wrap="none" lIns="0" rIns="0" tIns="0" bIns="0" anchor="t">
            <a:noAutofit/>
          </a:bodyPr>
          <a:lstStyle/>
          <a:p>
            <a:pPr algn="l">
              <a:lnSpc>
                <a:spcPts val="2600"/>
              </a:lnSpc>
              <a:spcBef>
                <a:spcPts val="0"/>
              </a:spcBef>
              <a:spcAft>
                <a:spcPts val="0"/>
              </a:spcAft>
            </a:pPr>
            <a:r>
              <a:rPr sz="2000" b="0">
                <a:solidFill>
                  <a:srgbClr val="5D6F82"/>
                </a:solidFill>
                <a:latin typeface="Arial"/>
              </a:rPr>
              <a:t>Delegation state</a:t>
            </a:r>
          </a:p>
          <a:p>
            <a:pPr algn="l">
              <a:lnSpc>
                <a:spcPts val="2600"/>
              </a:lnSpc>
              <a:spcBef>
                <a:spcPts val="0"/>
              </a:spcBef>
              <a:spcAft>
                <a:spcPts val="0"/>
              </a:spcAft>
            </a:pPr>
            <a:r>
              <a:rPr sz="2000" b="0">
                <a:solidFill>
                  <a:srgbClr val="5D6F82"/>
                </a:solidFill>
                <a:latin typeface="Arial"/>
              </a:rPr>
              <a:t>→ parent DNS updates</a:t>
            </a:r>
          </a:p>
        </p:txBody>
      </p:sp>
      <p:sp>
        <p:nvSpPr>
          <p:cNvPr id="21" name="Rounded Rectangle 20"/>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7400" y="5892800"/>
            <a:ext cx="10617200" cy="317500"/>
          </a:xfrm>
          <a:prstGeom prst="rect">
            <a:avLst/>
          </a:prstGeom>
          <a:noFill/>
        </p:spPr>
        <p:txBody>
          <a:bodyPr wrap="none" lIns="0" rIns="0" tIns="0" bIns="0" anchor="t">
            <a:noAutofit/>
          </a:bodyPr>
          <a:lstStyle/>
          <a:p>
            <a:pPr algn="ctr">
              <a:lnSpc>
                <a:spcPts val="2000"/>
              </a:lnSpc>
              <a:spcBef>
                <a:spcPts val="0"/>
              </a:spcBef>
              <a:spcAft>
                <a:spcPts val="0"/>
              </a:spcAft>
            </a:pPr>
            <a:r>
              <a:rPr sz="2000" b="1">
                <a:solidFill>
                  <a:srgbClr val="142338"/>
                </a:solidFill>
                <a:latin typeface="Arial"/>
              </a:rPr>
              <a:t>Decide locally. Answer authoritatively. Delegate explicitly.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APPENDIX · CURRENT IMPLEMENTATION</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A2 / 07</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Two k8gb reconciliation loops feed DNS</a:t>
            </a:r>
          </a:p>
        </p:txBody>
      </p:sp>
      <p:cxnSp>
        <p:nvCxnSpPr>
          <p:cNvPr id="6" name="Connector 5"/>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8" name="TextBox 7"/>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9" name="TextBox 8"/>
          <p:cNvSpPr txBox="1"/>
          <p:nvPr/>
        </p:nvSpPr>
        <p:spPr>
          <a:xfrm>
            <a:off x="609600" y="1828800"/>
            <a:ext cx="72390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CF0035"/>
                </a:solidFill>
                <a:latin typeface="Arial"/>
              </a:rPr>
              <a:t>ZONE MEMBERSHIP + DELEGATION</a:t>
            </a:r>
          </a:p>
        </p:txBody>
      </p:sp>
      <p:sp>
        <p:nvSpPr>
          <p:cNvPr id="10" name="TextBox 9"/>
          <p:cNvSpPr txBox="1"/>
          <p:nvPr/>
        </p:nvSpPr>
        <p:spPr>
          <a:xfrm>
            <a:off x="8458200" y="1828800"/>
            <a:ext cx="3124200" cy="213359"/>
          </a:xfrm>
          <a:prstGeom prst="rect">
            <a:avLst/>
          </a:prstGeom>
          <a:noFill/>
        </p:spPr>
        <p:txBody>
          <a:bodyPr wrap="none" lIns="0" rIns="0" tIns="0" bIns="0" anchor="t">
            <a:noAutofit/>
          </a:bodyPr>
          <a:lstStyle/>
          <a:p>
            <a:pPr algn="r">
              <a:lnSpc>
                <a:spcPts val="1380"/>
              </a:lnSpc>
              <a:spcBef>
                <a:spcPts val="0"/>
              </a:spcBef>
              <a:spcAft>
                <a:spcPts val="0"/>
              </a:spcAft>
            </a:pPr>
            <a:r>
              <a:rPr sz="1200" b="0">
                <a:solidFill>
                  <a:srgbClr val="5D6F82"/>
                </a:solidFill>
                <a:latin typeface="Arial"/>
              </a:rPr>
              <a:t>ExternalDNS provider path</a:t>
            </a:r>
          </a:p>
        </p:txBody>
      </p:sp>
      <p:cxnSp>
        <p:nvCxnSpPr>
          <p:cNvPr id="11" name="Connector 10"/>
          <p:cNvCxnSpPr/>
          <p:nvPr/>
        </p:nvCxnSpPr>
        <p:spPr>
          <a:xfrm>
            <a:off x="3721100" y="2654300"/>
            <a:ext cx="787400" cy="0"/>
          </a:xfrm>
          <a:prstGeom prst="line">
            <a:avLst/>
          </a:prstGeom>
          <a:ln w="2540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874000" y="2654300"/>
            <a:ext cx="584200" cy="0"/>
          </a:xfrm>
          <a:prstGeom prst="line">
            <a:avLst/>
          </a:prstGeom>
          <a:ln w="2540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20300" y="3098800"/>
            <a:ext cx="0" cy="330200"/>
          </a:xfrm>
          <a:prstGeom prst="line">
            <a:avLst/>
          </a:prstGeom>
          <a:ln w="2540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721100" y="2921000"/>
            <a:ext cx="393700" cy="0"/>
          </a:xfrm>
          <a:prstGeom prst="line">
            <a:avLst/>
          </a:prstGeom>
          <a:ln w="2540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114800" y="2921000"/>
            <a:ext cx="0" cy="939800"/>
          </a:xfrm>
          <a:prstGeom prst="line">
            <a:avLst/>
          </a:prstGeom>
          <a:ln w="25400">
            <a:solidFill>
              <a:srgbClr val="087F8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114800" y="3860800"/>
            <a:ext cx="393700" cy="0"/>
          </a:xfrm>
          <a:prstGeom prst="line">
            <a:avLst/>
          </a:prstGeom>
          <a:ln w="2540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302000" y="3098800"/>
            <a:ext cx="0" cy="1727200"/>
          </a:xfrm>
          <a:prstGeom prst="line">
            <a:avLst/>
          </a:prstGeom>
          <a:ln w="22860">
            <a:solidFill>
              <a:srgbClr val="087F8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09600" y="2209800"/>
            <a:ext cx="3111500" cy="889000"/>
          </a:xfrm>
          <a:prstGeom prst="roundRect">
            <a:avLst>
              <a:gd name="adj" fmla="val 10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600" y="2209800"/>
            <a:ext cx="50800" cy="8890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800" y="2374900"/>
            <a:ext cx="27305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ZoneDelegation</a:t>
            </a:r>
          </a:p>
        </p:txBody>
      </p:sp>
      <p:sp>
        <p:nvSpPr>
          <p:cNvPr id="21" name="TextBox 20"/>
          <p:cNvSpPr txBox="1"/>
          <p:nvPr/>
        </p:nvSpPr>
        <p:spPr>
          <a:xfrm>
            <a:off x="812800" y="2743200"/>
            <a:ext cx="27305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Zone + DNS-server state</a:t>
            </a:r>
          </a:p>
        </p:txBody>
      </p:sp>
      <p:sp>
        <p:nvSpPr>
          <p:cNvPr id="22" name="Rounded Rectangle 21"/>
          <p:cNvSpPr/>
          <p:nvPr/>
        </p:nvSpPr>
        <p:spPr>
          <a:xfrm>
            <a:off x="4508500" y="2209800"/>
            <a:ext cx="3365500" cy="889000"/>
          </a:xfrm>
          <a:prstGeom prst="roundRect">
            <a:avLst>
              <a:gd name="adj" fmla="val 10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08500" y="2209800"/>
            <a:ext cx="50800" cy="8890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11700" y="2374900"/>
            <a:ext cx="29845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DNSEndpoint</a:t>
            </a:r>
          </a:p>
        </p:txBody>
      </p:sp>
      <p:sp>
        <p:nvSpPr>
          <p:cNvPr id="25" name="TextBox 24"/>
          <p:cNvSpPr txBox="1"/>
          <p:nvPr/>
        </p:nvSpPr>
        <p:spPr>
          <a:xfrm>
            <a:off x="4711700" y="2743200"/>
            <a:ext cx="29845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Delegation NS + addresses</a:t>
            </a:r>
          </a:p>
        </p:txBody>
      </p:sp>
      <p:sp>
        <p:nvSpPr>
          <p:cNvPr id="26" name="Rounded Rectangle 25"/>
          <p:cNvSpPr/>
          <p:nvPr/>
        </p:nvSpPr>
        <p:spPr>
          <a:xfrm>
            <a:off x="8458200" y="2209800"/>
            <a:ext cx="3124200" cy="889000"/>
          </a:xfrm>
          <a:prstGeom prst="roundRect">
            <a:avLst>
              <a:gd name="adj" fmla="val 10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58200" y="2209800"/>
            <a:ext cx="50800" cy="8890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2"/>
          <a:stretch>
            <a:fillRect/>
          </a:stretch>
        </p:blipFill>
        <p:spPr>
          <a:xfrm>
            <a:off x="8610776" y="2374900"/>
            <a:ext cx="558447" cy="558800"/>
          </a:xfrm>
          <a:prstGeom prst="rect">
            <a:avLst/>
          </a:prstGeom>
        </p:spPr>
      </p:pic>
      <p:sp>
        <p:nvSpPr>
          <p:cNvPr id="29" name="TextBox 28"/>
          <p:cNvSpPr txBox="1"/>
          <p:nvPr/>
        </p:nvSpPr>
        <p:spPr>
          <a:xfrm>
            <a:off x="9296400" y="2374900"/>
            <a:ext cx="21082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ExternalDNS</a:t>
            </a:r>
          </a:p>
        </p:txBody>
      </p:sp>
      <p:sp>
        <p:nvSpPr>
          <p:cNvPr id="30" name="TextBox 29"/>
          <p:cNvSpPr txBox="1"/>
          <p:nvPr/>
        </p:nvSpPr>
        <p:spPr>
          <a:xfrm>
            <a:off x="9296400" y="2743200"/>
            <a:ext cx="21082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Sync parent records</a:t>
            </a:r>
          </a:p>
        </p:txBody>
      </p:sp>
      <p:sp>
        <p:nvSpPr>
          <p:cNvPr id="31" name="TextBox 30"/>
          <p:cNvSpPr txBox="1"/>
          <p:nvPr/>
        </p:nvSpPr>
        <p:spPr>
          <a:xfrm>
            <a:off x="4508500" y="3187700"/>
            <a:ext cx="3365500" cy="213359"/>
          </a:xfrm>
          <a:prstGeom prst="rect">
            <a:avLst/>
          </a:prstGeom>
          <a:noFill/>
        </p:spPr>
        <p:txBody>
          <a:bodyPr wrap="none" lIns="0" rIns="0" tIns="0" bIns="0" anchor="t">
            <a:noAutofit/>
          </a:bodyPr>
          <a:lstStyle/>
          <a:p>
            <a:pPr algn="l">
              <a:lnSpc>
                <a:spcPts val="1380"/>
              </a:lnSpc>
              <a:spcBef>
                <a:spcPts val="0"/>
              </a:spcBef>
              <a:spcAft>
                <a:spcPts val="0"/>
              </a:spcAft>
            </a:pPr>
            <a:r>
              <a:rPr sz="1200" b="0">
                <a:solidFill>
                  <a:srgbClr val="087F85"/>
                </a:solidFill>
                <a:latin typeface="Arial"/>
              </a:rPr>
              <a:t>Zone configuration</a:t>
            </a:r>
          </a:p>
        </p:txBody>
      </p:sp>
      <p:sp>
        <p:nvSpPr>
          <p:cNvPr id="32" name="Rounded Rectangle 31"/>
          <p:cNvSpPr/>
          <p:nvPr/>
        </p:nvSpPr>
        <p:spPr>
          <a:xfrm>
            <a:off x="4508500" y="3429000"/>
            <a:ext cx="3365500" cy="863600"/>
          </a:xfrm>
          <a:prstGeom prst="roundRect">
            <a:avLst>
              <a:gd name="adj" fmla="val 10294"/>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08500" y="3429000"/>
            <a:ext cx="50800" cy="8636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3"/>
          <a:stretch>
            <a:fillRect/>
          </a:stretch>
        </p:blipFill>
        <p:spPr>
          <a:xfrm>
            <a:off x="4660900" y="3581400"/>
            <a:ext cx="558800" cy="558800"/>
          </a:xfrm>
          <a:prstGeom prst="rect">
            <a:avLst/>
          </a:prstGeom>
        </p:spPr>
      </p:pic>
      <p:sp>
        <p:nvSpPr>
          <p:cNvPr id="35" name="TextBox 34"/>
          <p:cNvSpPr txBox="1"/>
          <p:nvPr/>
        </p:nvSpPr>
        <p:spPr>
          <a:xfrm>
            <a:off x="5346700" y="3594100"/>
            <a:ext cx="23495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CoreDNS</a:t>
            </a:r>
          </a:p>
        </p:txBody>
      </p:sp>
      <p:sp>
        <p:nvSpPr>
          <p:cNvPr id="36" name="TextBox 35"/>
          <p:cNvSpPr txBox="1"/>
          <p:nvPr/>
        </p:nvSpPr>
        <p:spPr>
          <a:xfrm>
            <a:off x="5346700" y="3962400"/>
            <a:ext cx="23495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Activate delegated zone</a:t>
            </a:r>
          </a:p>
        </p:txBody>
      </p:sp>
      <p:sp>
        <p:nvSpPr>
          <p:cNvPr id="37" name="TextBox 36"/>
          <p:cNvSpPr txBox="1"/>
          <p:nvPr/>
        </p:nvSpPr>
        <p:spPr>
          <a:xfrm>
            <a:off x="8458200" y="3187700"/>
            <a:ext cx="3124200" cy="213359"/>
          </a:xfrm>
          <a:prstGeom prst="rect">
            <a:avLst/>
          </a:prstGeom>
          <a:noFill/>
        </p:spPr>
        <p:txBody>
          <a:bodyPr wrap="none" lIns="0" rIns="0" tIns="0" bIns="0" anchor="t">
            <a:noAutofit/>
          </a:bodyPr>
          <a:lstStyle/>
          <a:p>
            <a:pPr algn="l">
              <a:lnSpc>
                <a:spcPts val="1380"/>
              </a:lnSpc>
              <a:spcBef>
                <a:spcPts val="0"/>
              </a:spcBef>
              <a:spcAft>
                <a:spcPts val="0"/>
              </a:spcAft>
            </a:pPr>
            <a:r>
              <a:rPr sz="1200" b="0">
                <a:solidFill>
                  <a:srgbClr val="087F85"/>
                </a:solidFill>
                <a:latin typeface="Arial"/>
              </a:rPr>
              <a:t>Parent delegation</a:t>
            </a:r>
          </a:p>
        </p:txBody>
      </p:sp>
      <p:sp>
        <p:nvSpPr>
          <p:cNvPr id="38" name="Rounded Rectangle 37"/>
          <p:cNvSpPr/>
          <p:nvPr/>
        </p:nvSpPr>
        <p:spPr>
          <a:xfrm>
            <a:off x="8458200" y="3429000"/>
            <a:ext cx="3124200" cy="863600"/>
          </a:xfrm>
          <a:prstGeom prst="roundRect">
            <a:avLst>
              <a:gd name="adj" fmla="val 10294"/>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58200" y="3429000"/>
            <a:ext cx="50800" cy="863600"/>
          </a:xfrm>
          <a:prstGeom prst="rect">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61400" y="3594100"/>
            <a:ext cx="27432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Parent DNS</a:t>
            </a:r>
          </a:p>
        </p:txBody>
      </p:sp>
      <p:sp>
        <p:nvSpPr>
          <p:cNvPr id="41" name="TextBox 40"/>
          <p:cNvSpPr txBox="1"/>
          <p:nvPr/>
        </p:nvSpPr>
        <p:spPr>
          <a:xfrm>
            <a:off x="8661400" y="3962400"/>
            <a:ext cx="27432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NS + address records</a:t>
            </a:r>
          </a:p>
        </p:txBody>
      </p:sp>
      <p:sp>
        <p:nvSpPr>
          <p:cNvPr id="42" name="TextBox 41"/>
          <p:cNvSpPr txBox="1"/>
          <p:nvPr/>
        </p:nvSpPr>
        <p:spPr>
          <a:xfrm>
            <a:off x="990600" y="3759200"/>
            <a:ext cx="2159000" cy="227965"/>
          </a:xfrm>
          <a:prstGeom prst="rect">
            <a:avLst/>
          </a:prstGeom>
          <a:noFill/>
        </p:spPr>
        <p:txBody>
          <a:bodyPr wrap="none" lIns="0" rIns="0" tIns="0" bIns="0" anchor="t">
            <a:noAutofit/>
          </a:bodyPr>
          <a:lstStyle/>
          <a:p>
            <a:pPr algn="r">
              <a:lnSpc>
                <a:spcPts val="1495"/>
              </a:lnSpc>
              <a:spcBef>
                <a:spcPts val="0"/>
              </a:spcBef>
              <a:spcAft>
                <a:spcPts val="0"/>
              </a:spcAft>
            </a:pPr>
            <a:r>
              <a:rPr sz="1300" b="0">
                <a:solidFill>
                  <a:srgbClr val="087F85"/>
                </a:solidFill>
                <a:latin typeface="Arial"/>
              </a:rPr>
              <a:t>Peer DNS IPs</a:t>
            </a:r>
          </a:p>
        </p:txBody>
      </p:sp>
      <p:sp>
        <p:nvSpPr>
          <p:cNvPr id="43" name="TextBox 42"/>
          <p:cNvSpPr txBox="1"/>
          <p:nvPr/>
        </p:nvSpPr>
        <p:spPr>
          <a:xfrm>
            <a:off x="609600" y="4470400"/>
            <a:ext cx="107950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CF0035"/>
                </a:solidFill>
                <a:latin typeface="Arial"/>
              </a:rPr>
              <a:t>APPLICATION ANSWERS</a:t>
            </a:r>
          </a:p>
        </p:txBody>
      </p:sp>
      <p:sp>
        <p:nvSpPr>
          <p:cNvPr id="44" name="Rounded Rectangle 43"/>
          <p:cNvSpPr/>
          <p:nvPr/>
        </p:nvSpPr>
        <p:spPr>
          <a:xfrm>
            <a:off x="609600" y="4826000"/>
            <a:ext cx="3111500" cy="889000"/>
          </a:xfrm>
          <a:prstGeom prst="roundRect">
            <a:avLst>
              <a:gd name="adj" fmla="val 10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09600" y="4826000"/>
            <a:ext cx="50800" cy="889000"/>
          </a:xfrm>
          <a:prstGeom prst="rect">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2800" y="4991100"/>
            <a:ext cx="27305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Gslb + readiness</a:t>
            </a:r>
          </a:p>
        </p:txBody>
      </p:sp>
      <p:sp>
        <p:nvSpPr>
          <p:cNvPr id="47" name="TextBox 46"/>
          <p:cNvSpPr txBox="1"/>
          <p:nvPr/>
        </p:nvSpPr>
        <p:spPr>
          <a:xfrm>
            <a:off x="812800" y="5359400"/>
            <a:ext cx="27305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Strategy + ready endpoints</a:t>
            </a:r>
          </a:p>
        </p:txBody>
      </p:sp>
      <p:sp>
        <p:nvSpPr>
          <p:cNvPr id="48" name="Rounded Rectangle 47"/>
          <p:cNvSpPr/>
          <p:nvPr/>
        </p:nvSpPr>
        <p:spPr>
          <a:xfrm>
            <a:off x="4508500" y="4826000"/>
            <a:ext cx="3365500" cy="889000"/>
          </a:xfrm>
          <a:prstGeom prst="roundRect">
            <a:avLst>
              <a:gd name="adj" fmla="val 10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08500" y="4826000"/>
            <a:ext cx="50800" cy="889000"/>
          </a:xfrm>
          <a:prstGeom prst="rect">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711700" y="4991100"/>
            <a:ext cx="29845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DNSEndpoint</a:t>
            </a:r>
          </a:p>
        </p:txBody>
      </p:sp>
      <p:sp>
        <p:nvSpPr>
          <p:cNvPr id="51" name="TextBox 50"/>
          <p:cNvSpPr txBox="1"/>
          <p:nvPr/>
        </p:nvSpPr>
        <p:spPr>
          <a:xfrm>
            <a:off x="4711700" y="5359400"/>
            <a:ext cx="29845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Eligible application IPs</a:t>
            </a:r>
          </a:p>
        </p:txBody>
      </p:sp>
      <p:sp>
        <p:nvSpPr>
          <p:cNvPr id="52" name="Rounded Rectangle 51"/>
          <p:cNvSpPr/>
          <p:nvPr/>
        </p:nvSpPr>
        <p:spPr>
          <a:xfrm>
            <a:off x="8458200" y="4826000"/>
            <a:ext cx="3124200" cy="889000"/>
          </a:xfrm>
          <a:prstGeom prst="roundRect">
            <a:avLst>
              <a:gd name="adj" fmla="val 10000"/>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458200" y="4826000"/>
            <a:ext cx="50800" cy="889000"/>
          </a:xfrm>
          <a:prstGeom prst="rect">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image.png"/>
          <p:cNvPicPr>
            <a:picLocks noChangeAspect="1"/>
          </p:cNvPicPr>
          <p:nvPr/>
        </p:nvPicPr>
        <p:blipFill>
          <a:blip r:embed="rId3"/>
          <a:stretch>
            <a:fillRect/>
          </a:stretch>
        </p:blipFill>
        <p:spPr>
          <a:xfrm>
            <a:off x="8610600" y="4991100"/>
            <a:ext cx="558800" cy="558800"/>
          </a:xfrm>
          <a:prstGeom prst="rect">
            <a:avLst/>
          </a:prstGeom>
        </p:spPr>
      </p:pic>
      <p:sp>
        <p:nvSpPr>
          <p:cNvPr id="55" name="TextBox 54"/>
          <p:cNvSpPr txBox="1"/>
          <p:nvPr/>
        </p:nvSpPr>
        <p:spPr>
          <a:xfrm>
            <a:off x="9296400" y="4991100"/>
            <a:ext cx="2108200" cy="359409"/>
          </a:xfrm>
          <a:prstGeom prst="rect">
            <a:avLst/>
          </a:prstGeom>
          <a:noFill/>
        </p:spPr>
        <p:txBody>
          <a:bodyPr wrap="none" lIns="0" rIns="0" tIns="0" bIns="0" anchor="t">
            <a:noAutofit/>
          </a:bodyPr>
          <a:lstStyle/>
          <a:p>
            <a:pPr algn="l">
              <a:lnSpc>
                <a:spcPts val="2529"/>
              </a:lnSpc>
              <a:spcBef>
                <a:spcPts val="0"/>
              </a:spcBef>
              <a:spcAft>
                <a:spcPts val="0"/>
              </a:spcAft>
            </a:pPr>
            <a:r>
              <a:rPr sz="2200" b="1">
                <a:solidFill>
                  <a:srgbClr val="17283E"/>
                </a:solidFill>
                <a:latin typeface="Arial"/>
              </a:rPr>
              <a:t>CoreDNS</a:t>
            </a:r>
          </a:p>
        </p:txBody>
      </p:sp>
      <p:sp>
        <p:nvSpPr>
          <p:cNvPr id="56" name="TextBox 55"/>
          <p:cNvSpPr txBox="1"/>
          <p:nvPr/>
        </p:nvSpPr>
        <p:spPr>
          <a:xfrm>
            <a:off x="9296400" y="5359400"/>
            <a:ext cx="21082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Authoritative answers</a:t>
            </a:r>
          </a:p>
        </p:txBody>
      </p:sp>
      <p:cxnSp>
        <p:nvCxnSpPr>
          <p:cNvPr id="57" name="Connector 56"/>
          <p:cNvCxnSpPr/>
          <p:nvPr/>
        </p:nvCxnSpPr>
        <p:spPr>
          <a:xfrm>
            <a:off x="3721100" y="5270500"/>
            <a:ext cx="787400" cy="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874000" y="5270500"/>
            <a:ext cx="584200" cy="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09600" y="6057900"/>
            <a:ext cx="10972800" cy="300990"/>
          </a:xfrm>
          <a:prstGeom prst="rect">
            <a:avLst/>
          </a:prstGeom>
          <a:noFill/>
        </p:spPr>
        <p:txBody>
          <a:bodyPr wrap="none" lIns="0" rIns="0" tIns="0" bIns="0" anchor="t">
            <a:noAutofit/>
          </a:bodyPr>
          <a:lstStyle/>
          <a:p>
            <a:pPr algn="ctr">
              <a:lnSpc>
                <a:spcPts val="2070"/>
              </a:lnSpc>
              <a:spcBef>
                <a:spcPts val="0"/>
              </a:spcBef>
              <a:spcAft>
                <a:spcPts val="0"/>
              </a:spcAft>
            </a:pPr>
            <a:r>
              <a:rPr sz="1800" b="0">
                <a:solidFill>
                  <a:srgbClr val="5D6F82"/>
                </a:solidFill>
                <a:latin typeface="Arial"/>
              </a:rPr>
              <a:t>Membership refresh and application reconciliation run separately.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APPENDIX · DNS OWNERSHIP</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A3 / 07</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Delegation is the authority boundary</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Parent DNS delegates the zone. CoreDNS answers application lookups.</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2082800"/>
            <a:ext cx="3937000" cy="2844800"/>
          </a:xfrm>
          <a:prstGeom prst="roundRect">
            <a:avLst>
              <a:gd name="adj" fmla="val 4464"/>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2032000"/>
            <a:ext cx="3937000" cy="2844800"/>
          </a:xfrm>
          <a:prstGeom prst="roundRect">
            <a:avLst>
              <a:gd name="adj" fmla="val 4464"/>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89000" y="2044700"/>
            <a:ext cx="1308100" cy="0"/>
          </a:xfrm>
          <a:prstGeom prst="line">
            <a:avLst/>
          </a:prstGeom>
          <a:ln w="38100">
            <a:solidFill>
              <a:srgbClr val="2762C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89000" y="2286000"/>
            <a:ext cx="27940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2762C8"/>
                </a:solidFill>
                <a:latin typeface="Arial"/>
              </a:rPr>
              <a:t>PARENT ZONE</a:t>
            </a:r>
          </a:p>
        </p:txBody>
      </p:sp>
      <p:sp>
        <p:nvSpPr>
          <p:cNvPr id="14" name="TextBox 13"/>
          <p:cNvSpPr txBox="1"/>
          <p:nvPr/>
        </p:nvSpPr>
        <p:spPr>
          <a:xfrm>
            <a:off x="889000" y="2578100"/>
            <a:ext cx="2921000"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142338"/>
                </a:solidFill>
                <a:latin typeface="Arial"/>
              </a:rPr>
              <a:t>example.com</a:t>
            </a:r>
          </a:p>
        </p:txBody>
      </p:sp>
      <p:sp>
        <p:nvSpPr>
          <p:cNvPr id="15" name="Oval 14"/>
          <p:cNvSpPr/>
          <p:nvPr/>
        </p:nvSpPr>
        <p:spPr>
          <a:xfrm>
            <a:off x="3848100" y="2349500"/>
            <a:ext cx="482600" cy="482600"/>
          </a:xfrm>
          <a:prstGeom prst="ellipse">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924300" y="2425700"/>
            <a:ext cx="330200" cy="330200"/>
          </a:xfrm>
          <a:prstGeom prst="ellipse">
            <a:avLst/>
          </a:prstGeom>
          <a:solidFill>
            <a:srgbClr val="EAF0FB"/>
          </a:solidFill>
          <a:ln w="1524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13200" y="2425700"/>
            <a:ext cx="152400" cy="330200"/>
          </a:xfrm>
          <a:prstGeom prst="ellipse">
            <a:avLst/>
          </a:prstGeom>
          <a:solidFill>
            <a:srgbClr val="EAF0FB"/>
          </a:solidFill>
          <a:ln w="1397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3924300" y="2590800"/>
            <a:ext cx="330200" cy="0"/>
          </a:xfrm>
          <a:prstGeom prst="line">
            <a:avLst/>
          </a:prstGeom>
          <a:ln w="1397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949700" y="2514600"/>
            <a:ext cx="279400" cy="0"/>
          </a:xfrm>
          <a:prstGeom prst="line">
            <a:avLst/>
          </a:prstGeom>
          <a:ln w="1016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949700" y="2667000"/>
            <a:ext cx="279400" cy="0"/>
          </a:xfrm>
          <a:prstGeom prst="line">
            <a:avLst/>
          </a:prstGeom>
          <a:ln w="10160">
            <a:solidFill>
              <a:srgbClr val="2762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89000" y="3086100"/>
            <a:ext cx="3378200"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63600" y="3251200"/>
            <a:ext cx="3429000" cy="1143000"/>
          </a:xfrm>
          <a:prstGeom prst="roundRect">
            <a:avLst>
              <a:gd name="adj" fmla="val 7777"/>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1400" y="3378200"/>
            <a:ext cx="30734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2762C8"/>
                </a:solidFill>
                <a:latin typeface="Arial"/>
              </a:rPr>
              <a:t>NS RECORDS FOR</a:t>
            </a:r>
          </a:p>
        </p:txBody>
      </p:sp>
      <p:sp>
        <p:nvSpPr>
          <p:cNvPr id="24" name="TextBox 23"/>
          <p:cNvSpPr txBox="1"/>
          <p:nvPr/>
        </p:nvSpPr>
        <p:spPr>
          <a:xfrm>
            <a:off x="1041400" y="3606800"/>
            <a:ext cx="3073400" cy="286384"/>
          </a:xfrm>
          <a:prstGeom prst="rect">
            <a:avLst/>
          </a:prstGeom>
          <a:noFill/>
        </p:spPr>
        <p:txBody>
          <a:bodyPr wrap="none" lIns="0" rIns="0" tIns="0" bIns="0" anchor="t">
            <a:noAutofit/>
          </a:bodyPr>
          <a:lstStyle/>
          <a:p>
            <a:pPr algn="l">
              <a:lnSpc>
                <a:spcPts val="1954"/>
              </a:lnSpc>
              <a:spcBef>
                <a:spcPts val="0"/>
              </a:spcBef>
              <a:spcAft>
                <a:spcPts val="0"/>
              </a:spcAft>
            </a:pPr>
            <a:r>
              <a:rPr sz="1700" b="0">
                <a:solidFill>
                  <a:srgbClr val="142338"/>
                </a:solidFill>
                <a:latin typeface="Courier New"/>
              </a:rPr>
              <a:t>gslb.example.com</a:t>
            </a:r>
          </a:p>
        </p:txBody>
      </p:sp>
      <p:sp>
        <p:nvSpPr>
          <p:cNvPr id="25" name="Rounded Rectangle 24"/>
          <p:cNvSpPr/>
          <p:nvPr/>
        </p:nvSpPr>
        <p:spPr>
          <a:xfrm>
            <a:off x="1041400" y="3949700"/>
            <a:ext cx="1346200" cy="3175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68400" y="4070350"/>
            <a:ext cx="76200" cy="762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46200" y="4000500"/>
            <a:ext cx="914400" cy="242569"/>
          </a:xfrm>
          <a:prstGeom prst="rect">
            <a:avLst/>
          </a:prstGeom>
          <a:noFill/>
        </p:spPr>
        <p:txBody>
          <a:bodyPr wrap="none" lIns="0" rIns="0" tIns="0" bIns="0" anchor="t">
            <a:noAutofit/>
          </a:bodyPr>
          <a:lstStyle/>
          <a:p>
            <a:pPr algn="ctr">
              <a:lnSpc>
                <a:spcPts val="1609"/>
              </a:lnSpc>
              <a:spcBef>
                <a:spcPts val="0"/>
              </a:spcBef>
              <a:spcAft>
                <a:spcPts val="0"/>
              </a:spcAft>
            </a:pPr>
            <a:r>
              <a:rPr sz="1400" b="0">
                <a:solidFill>
                  <a:srgbClr val="2762C8"/>
                </a:solidFill>
                <a:latin typeface="Courier New"/>
              </a:rPr>
              <a:t>ns-a</a:t>
            </a:r>
          </a:p>
        </p:txBody>
      </p:sp>
      <p:sp>
        <p:nvSpPr>
          <p:cNvPr id="28" name="Rounded Rectangle 27"/>
          <p:cNvSpPr/>
          <p:nvPr/>
        </p:nvSpPr>
        <p:spPr>
          <a:xfrm>
            <a:off x="2565400" y="3949700"/>
            <a:ext cx="1346200" cy="3175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692400" y="4070350"/>
            <a:ext cx="76200" cy="76200"/>
          </a:xfrm>
          <a:prstGeom prst="ellipse">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70200" y="4000500"/>
            <a:ext cx="914400" cy="242569"/>
          </a:xfrm>
          <a:prstGeom prst="rect">
            <a:avLst/>
          </a:prstGeom>
          <a:noFill/>
        </p:spPr>
        <p:txBody>
          <a:bodyPr wrap="none" lIns="0" rIns="0" tIns="0" bIns="0" anchor="t">
            <a:noAutofit/>
          </a:bodyPr>
          <a:lstStyle/>
          <a:p>
            <a:pPr algn="ctr">
              <a:lnSpc>
                <a:spcPts val="1609"/>
              </a:lnSpc>
              <a:spcBef>
                <a:spcPts val="0"/>
              </a:spcBef>
              <a:spcAft>
                <a:spcPts val="0"/>
              </a:spcAft>
            </a:pPr>
            <a:r>
              <a:rPr sz="1400" b="0">
                <a:solidFill>
                  <a:srgbClr val="087F85"/>
                </a:solidFill>
                <a:latin typeface="Courier New"/>
              </a:rPr>
              <a:t>ns-b</a:t>
            </a:r>
          </a:p>
        </p:txBody>
      </p:sp>
      <p:sp>
        <p:nvSpPr>
          <p:cNvPr id="31" name="TextBox 30"/>
          <p:cNvSpPr txBox="1"/>
          <p:nvPr/>
        </p:nvSpPr>
        <p:spPr>
          <a:xfrm>
            <a:off x="863600" y="4559300"/>
            <a:ext cx="3429000" cy="227965"/>
          </a:xfrm>
          <a:prstGeom prst="rect">
            <a:avLst/>
          </a:prstGeom>
          <a:noFill/>
        </p:spPr>
        <p:txBody>
          <a:bodyPr wrap="none" lIns="0" rIns="0" tIns="0" bIns="0" anchor="t">
            <a:noAutofit/>
          </a:bodyPr>
          <a:lstStyle/>
          <a:p>
            <a:pPr algn="ctr">
              <a:lnSpc>
                <a:spcPts val="1495"/>
              </a:lnSpc>
              <a:spcBef>
                <a:spcPts val="0"/>
              </a:spcBef>
              <a:spcAft>
                <a:spcPts val="0"/>
              </a:spcAft>
            </a:pPr>
            <a:r>
              <a:rPr sz="1300" b="0">
                <a:solidFill>
                  <a:srgbClr val="5D6F82"/>
                </a:solidFill>
                <a:latin typeface="Arial"/>
              </a:rPr>
              <a:t>Nameserver addresses published too.</a:t>
            </a:r>
          </a:p>
        </p:txBody>
      </p:sp>
      <p:cxnSp>
        <p:nvCxnSpPr>
          <p:cNvPr id="32" name="Connector 31"/>
          <p:cNvCxnSpPr/>
          <p:nvPr/>
        </p:nvCxnSpPr>
        <p:spPr>
          <a:xfrm>
            <a:off x="5397500" y="2146300"/>
            <a:ext cx="0" cy="2590800"/>
          </a:xfrm>
          <a:prstGeom prst="line">
            <a:avLst/>
          </a:prstGeom>
          <a:ln w="15240">
            <a:solidFill>
              <a:srgbClr val="E7BCC7"/>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635500" y="3136900"/>
            <a:ext cx="1524000" cy="213359"/>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CF0035"/>
                </a:solidFill>
                <a:latin typeface="Arial"/>
              </a:rPr>
              <a:t>DELEGATES</a:t>
            </a:r>
          </a:p>
        </p:txBody>
      </p:sp>
      <p:cxnSp>
        <p:nvCxnSpPr>
          <p:cNvPr id="34" name="Connector 33"/>
          <p:cNvCxnSpPr/>
          <p:nvPr/>
        </p:nvCxnSpPr>
        <p:spPr>
          <a:xfrm>
            <a:off x="4546600" y="3632200"/>
            <a:ext cx="1701800" cy="0"/>
          </a:xfrm>
          <a:prstGeom prst="line">
            <a:avLst/>
          </a:prstGeom>
          <a:ln w="31750">
            <a:solidFill>
              <a:srgbClr val="CF00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080000" y="3467100"/>
            <a:ext cx="635000" cy="330200"/>
          </a:xfrm>
          <a:prstGeom prst="roundRect">
            <a:avLst>
              <a:gd name="adj" fmla="val 23076"/>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68900" y="3517900"/>
            <a:ext cx="457200" cy="257175"/>
          </a:xfrm>
          <a:prstGeom prst="rect">
            <a:avLst/>
          </a:prstGeom>
          <a:noFill/>
        </p:spPr>
        <p:txBody>
          <a:bodyPr wrap="none" lIns="0" rIns="0" tIns="0" bIns="0" anchor="t">
            <a:noAutofit/>
          </a:bodyPr>
          <a:lstStyle/>
          <a:p>
            <a:pPr algn="ctr">
              <a:lnSpc>
                <a:spcPts val="1725"/>
              </a:lnSpc>
              <a:spcBef>
                <a:spcPts val="0"/>
              </a:spcBef>
              <a:spcAft>
                <a:spcPts val="0"/>
              </a:spcAft>
            </a:pPr>
            <a:r>
              <a:rPr sz="1500" b="1">
                <a:solidFill>
                  <a:srgbClr val="CF0035"/>
                </a:solidFill>
                <a:latin typeface="Arial"/>
              </a:rPr>
              <a:t>NS</a:t>
            </a:r>
          </a:p>
        </p:txBody>
      </p:sp>
      <p:sp>
        <p:nvSpPr>
          <p:cNvPr id="37" name="Rounded Rectangle 36"/>
          <p:cNvSpPr/>
          <p:nvPr/>
        </p:nvSpPr>
        <p:spPr>
          <a:xfrm>
            <a:off x="6248400" y="2082800"/>
            <a:ext cx="5334000" cy="2844800"/>
          </a:xfrm>
          <a:prstGeom prst="roundRect">
            <a:avLst>
              <a:gd name="adj" fmla="val 4464"/>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48400" y="2032000"/>
            <a:ext cx="5334000" cy="2844800"/>
          </a:xfrm>
          <a:prstGeom prst="roundRect">
            <a:avLst>
              <a:gd name="adj" fmla="val 4464"/>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6527800" y="2044700"/>
            <a:ext cx="1778000" cy="0"/>
          </a:xfrm>
          <a:prstGeom prst="line">
            <a:avLst/>
          </a:prstGeom>
          <a:ln w="38100">
            <a:solidFill>
              <a:srgbClr val="087F85"/>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527800" y="2286000"/>
            <a:ext cx="47752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6DD3CE"/>
                </a:solidFill>
                <a:latin typeface="Arial"/>
              </a:rPr>
              <a:t>DELEGATED ZONE</a:t>
            </a:r>
          </a:p>
        </p:txBody>
      </p:sp>
      <p:sp>
        <p:nvSpPr>
          <p:cNvPr id="41" name="TextBox 40"/>
          <p:cNvSpPr txBox="1"/>
          <p:nvPr/>
        </p:nvSpPr>
        <p:spPr>
          <a:xfrm>
            <a:off x="6527800" y="2578100"/>
            <a:ext cx="4775200" cy="403224"/>
          </a:xfrm>
          <a:prstGeom prst="rect">
            <a:avLst/>
          </a:prstGeom>
          <a:noFill/>
        </p:spPr>
        <p:txBody>
          <a:bodyPr wrap="none" lIns="0" rIns="0" tIns="0" bIns="0" anchor="t">
            <a:noAutofit/>
          </a:bodyPr>
          <a:lstStyle/>
          <a:p>
            <a:pPr algn="l">
              <a:lnSpc>
                <a:spcPts val="2874"/>
              </a:lnSpc>
              <a:spcBef>
                <a:spcPts val="0"/>
              </a:spcBef>
              <a:spcAft>
                <a:spcPts val="0"/>
              </a:spcAft>
            </a:pPr>
            <a:r>
              <a:rPr sz="2500" b="1">
                <a:solidFill>
                  <a:srgbClr val="FFFFFF"/>
                </a:solidFill>
                <a:latin typeface="Arial"/>
              </a:rPr>
              <a:t>gslb.example.com</a:t>
            </a:r>
          </a:p>
        </p:txBody>
      </p:sp>
      <p:sp>
        <p:nvSpPr>
          <p:cNvPr id="42" name="Rounded Rectangle 41"/>
          <p:cNvSpPr/>
          <p:nvPr/>
        </p:nvSpPr>
        <p:spPr>
          <a:xfrm>
            <a:off x="6502400" y="3238500"/>
            <a:ext cx="2324100" cy="1092200"/>
          </a:xfrm>
          <a:prstGeom prst="roundRect">
            <a:avLst>
              <a:gd name="adj" fmla="val 813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80200" y="3378200"/>
            <a:ext cx="11938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2762C8"/>
                </a:solidFill>
                <a:latin typeface="Arial"/>
              </a:rPr>
              <a:t>CLUSTER A</a:t>
            </a:r>
          </a:p>
        </p:txBody>
      </p:sp>
      <p:sp>
        <p:nvSpPr>
          <p:cNvPr id="44" name="TextBox 43"/>
          <p:cNvSpPr txBox="1"/>
          <p:nvPr/>
        </p:nvSpPr>
        <p:spPr>
          <a:xfrm>
            <a:off x="7899400" y="3390900"/>
            <a:ext cx="749300" cy="198754"/>
          </a:xfrm>
          <a:prstGeom prst="rect">
            <a:avLst/>
          </a:prstGeom>
          <a:noFill/>
        </p:spPr>
        <p:txBody>
          <a:bodyPr wrap="none" lIns="0" rIns="0" tIns="0" bIns="0" anchor="t">
            <a:noAutofit/>
          </a:bodyPr>
          <a:lstStyle/>
          <a:p>
            <a:pPr algn="r">
              <a:lnSpc>
                <a:spcPts val="1264"/>
              </a:lnSpc>
              <a:spcBef>
                <a:spcPts val="0"/>
              </a:spcBef>
              <a:spcAft>
                <a:spcPts val="0"/>
              </a:spcAft>
            </a:pPr>
            <a:r>
              <a:rPr sz="1100" b="0">
                <a:solidFill>
                  <a:srgbClr val="5D6F82"/>
                </a:solidFill>
                <a:latin typeface="Courier New"/>
              </a:rPr>
              <a:t>ns-a</a:t>
            </a:r>
          </a:p>
        </p:txBody>
      </p:sp>
      <p:pic>
        <p:nvPicPr>
          <p:cNvPr id="45" name="Picture 44" descr="image.png"/>
          <p:cNvPicPr>
            <a:picLocks noChangeAspect="1"/>
          </p:cNvPicPr>
          <p:nvPr/>
        </p:nvPicPr>
        <p:blipFill>
          <a:blip r:embed="rId2"/>
          <a:stretch>
            <a:fillRect/>
          </a:stretch>
        </p:blipFill>
        <p:spPr>
          <a:xfrm>
            <a:off x="6680200" y="3733800"/>
            <a:ext cx="431800" cy="431800"/>
          </a:xfrm>
          <a:prstGeom prst="rect">
            <a:avLst/>
          </a:prstGeom>
        </p:spPr>
      </p:pic>
      <p:sp>
        <p:nvSpPr>
          <p:cNvPr id="46" name="TextBox 45"/>
          <p:cNvSpPr txBox="1"/>
          <p:nvPr/>
        </p:nvSpPr>
        <p:spPr>
          <a:xfrm>
            <a:off x="7239000" y="3771900"/>
            <a:ext cx="14097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42338"/>
                </a:solidFill>
                <a:latin typeface="Arial"/>
              </a:rPr>
              <a:t>CoreDNS</a:t>
            </a:r>
          </a:p>
        </p:txBody>
      </p:sp>
      <p:sp>
        <p:nvSpPr>
          <p:cNvPr id="47" name="Rounded Rectangle 46"/>
          <p:cNvSpPr/>
          <p:nvPr/>
        </p:nvSpPr>
        <p:spPr>
          <a:xfrm>
            <a:off x="9004300" y="3238500"/>
            <a:ext cx="2324100" cy="1092200"/>
          </a:xfrm>
          <a:prstGeom prst="roundRect">
            <a:avLst>
              <a:gd name="adj" fmla="val 813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82100" y="3378200"/>
            <a:ext cx="11938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087F85"/>
                </a:solidFill>
                <a:latin typeface="Arial"/>
              </a:rPr>
              <a:t>CLUSTER B</a:t>
            </a:r>
          </a:p>
        </p:txBody>
      </p:sp>
      <p:sp>
        <p:nvSpPr>
          <p:cNvPr id="49" name="TextBox 48"/>
          <p:cNvSpPr txBox="1"/>
          <p:nvPr/>
        </p:nvSpPr>
        <p:spPr>
          <a:xfrm>
            <a:off x="10401300" y="3390900"/>
            <a:ext cx="749300" cy="198754"/>
          </a:xfrm>
          <a:prstGeom prst="rect">
            <a:avLst/>
          </a:prstGeom>
          <a:noFill/>
        </p:spPr>
        <p:txBody>
          <a:bodyPr wrap="none" lIns="0" rIns="0" tIns="0" bIns="0" anchor="t">
            <a:noAutofit/>
          </a:bodyPr>
          <a:lstStyle/>
          <a:p>
            <a:pPr algn="r">
              <a:lnSpc>
                <a:spcPts val="1264"/>
              </a:lnSpc>
              <a:spcBef>
                <a:spcPts val="0"/>
              </a:spcBef>
              <a:spcAft>
                <a:spcPts val="0"/>
              </a:spcAft>
            </a:pPr>
            <a:r>
              <a:rPr sz="1100" b="0">
                <a:solidFill>
                  <a:srgbClr val="5D6F82"/>
                </a:solidFill>
                <a:latin typeface="Courier New"/>
              </a:rPr>
              <a:t>ns-b</a:t>
            </a:r>
          </a:p>
        </p:txBody>
      </p:sp>
      <p:pic>
        <p:nvPicPr>
          <p:cNvPr id="50" name="Picture 49" descr="image.png"/>
          <p:cNvPicPr>
            <a:picLocks noChangeAspect="1"/>
          </p:cNvPicPr>
          <p:nvPr/>
        </p:nvPicPr>
        <p:blipFill>
          <a:blip r:embed="rId2"/>
          <a:stretch>
            <a:fillRect/>
          </a:stretch>
        </p:blipFill>
        <p:spPr>
          <a:xfrm>
            <a:off x="9182100" y="3733800"/>
            <a:ext cx="431800" cy="431800"/>
          </a:xfrm>
          <a:prstGeom prst="rect">
            <a:avLst/>
          </a:prstGeom>
        </p:spPr>
      </p:pic>
      <p:sp>
        <p:nvSpPr>
          <p:cNvPr id="51" name="TextBox 50"/>
          <p:cNvSpPr txBox="1"/>
          <p:nvPr/>
        </p:nvSpPr>
        <p:spPr>
          <a:xfrm>
            <a:off x="9740900" y="3771900"/>
            <a:ext cx="14097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42338"/>
                </a:solidFill>
                <a:latin typeface="Arial"/>
              </a:rPr>
              <a:t>CoreDNS</a:t>
            </a:r>
          </a:p>
        </p:txBody>
      </p:sp>
      <p:sp>
        <p:nvSpPr>
          <p:cNvPr id="52" name="TextBox 51"/>
          <p:cNvSpPr txBox="1"/>
          <p:nvPr/>
        </p:nvSpPr>
        <p:spPr>
          <a:xfrm>
            <a:off x="6527800" y="4508500"/>
            <a:ext cx="4775200" cy="257175"/>
          </a:xfrm>
          <a:prstGeom prst="rect">
            <a:avLst/>
          </a:prstGeom>
          <a:noFill/>
        </p:spPr>
        <p:txBody>
          <a:bodyPr wrap="none" lIns="0" rIns="0" tIns="0" bIns="0" anchor="t">
            <a:noAutofit/>
          </a:bodyPr>
          <a:lstStyle/>
          <a:p>
            <a:pPr algn="ctr">
              <a:lnSpc>
                <a:spcPts val="1725"/>
              </a:lnSpc>
              <a:spcBef>
                <a:spcPts val="0"/>
              </a:spcBef>
              <a:spcAft>
                <a:spcPts val="0"/>
              </a:spcAft>
            </a:pPr>
            <a:r>
              <a:rPr sz="1500" b="0">
                <a:solidFill>
                  <a:srgbClr val="B8C8D9"/>
                </a:solidFill>
                <a:latin typeface="Arial"/>
              </a:rPr>
              <a:t>Both serve the same application zone.</a:t>
            </a:r>
          </a:p>
        </p:txBody>
      </p:sp>
      <p:sp>
        <p:nvSpPr>
          <p:cNvPr id="53" name="Rounded Rectangle 52"/>
          <p:cNvSpPr/>
          <p:nvPr/>
        </p:nvSpPr>
        <p:spPr>
          <a:xfrm>
            <a:off x="609600" y="5118100"/>
            <a:ext cx="10972800" cy="571500"/>
          </a:xfrm>
          <a:prstGeom prst="roundRect">
            <a:avLst>
              <a:gd name="adj" fmla="val 15555"/>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00100" y="5257800"/>
            <a:ext cx="393700" cy="292100"/>
          </a:xfrm>
          <a:prstGeom prst="roundRect">
            <a:avLst>
              <a:gd name="adj" fmla="val 21739"/>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76300" y="5295900"/>
            <a:ext cx="241300" cy="242569"/>
          </a:xfrm>
          <a:prstGeom prst="rect">
            <a:avLst/>
          </a:prstGeom>
          <a:noFill/>
        </p:spPr>
        <p:txBody>
          <a:bodyPr wrap="none" lIns="0" rIns="0" tIns="0" bIns="0" anchor="t">
            <a:noAutofit/>
          </a:bodyPr>
          <a:lstStyle/>
          <a:p>
            <a:pPr algn="ctr">
              <a:lnSpc>
                <a:spcPts val="1609"/>
              </a:lnSpc>
              <a:spcBef>
                <a:spcPts val="0"/>
              </a:spcBef>
              <a:spcAft>
                <a:spcPts val="0"/>
              </a:spcAft>
            </a:pPr>
            <a:r>
              <a:rPr sz="1400" b="1">
                <a:solidFill>
                  <a:srgbClr val="2762C8"/>
                </a:solidFill>
                <a:latin typeface="Arial"/>
              </a:rPr>
              <a:t>A</a:t>
            </a:r>
          </a:p>
        </p:txBody>
      </p:sp>
      <p:sp>
        <p:nvSpPr>
          <p:cNvPr id="56" name="TextBox 55"/>
          <p:cNvSpPr txBox="1"/>
          <p:nvPr/>
        </p:nvSpPr>
        <p:spPr>
          <a:xfrm>
            <a:off x="1358900" y="5245100"/>
            <a:ext cx="47244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142338"/>
                </a:solidFill>
                <a:latin typeface="Arial"/>
              </a:rPr>
              <a:t>app.gslb.example.com</a:t>
            </a:r>
          </a:p>
        </p:txBody>
      </p:sp>
      <p:cxnSp>
        <p:nvCxnSpPr>
          <p:cNvPr id="57" name="Connector 56"/>
          <p:cNvCxnSpPr/>
          <p:nvPr/>
        </p:nvCxnSpPr>
        <p:spPr>
          <a:xfrm>
            <a:off x="6121400" y="5410200"/>
            <a:ext cx="850900" cy="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277100" y="5245100"/>
            <a:ext cx="4000500" cy="344805"/>
          </a:xfrm>
          <a:prstGeom prst="rect">
            <a:avLst/>
          </a:prstGeom>
          <a:noFill/>
        </p:spPr>
        <p:txBody>
          <a:bodyPr wrap="none" lIns="0" rIns="0" tIns="0" bIns="0" anchor="t">
            <a:noAutofit/>
          </a:bodyPr>
          <a:lstStyle/>
          <a:p>
            <a:pPr algn="l">
              <a:lnSpc>
                <a:spcPts val="2415"/>
              </a:lnSpc>
              <a:spcBef>
                <a:spcPts val="0"/>
              </a:spcBef>
              <a:spcAft>
                <a:spcPts val="0"/>
              </a:spcAft>
            </a:pPr>
            <a:r>
              <a:rPr sz="2100" b="1">
                <a:solidFill>
                  <a:srgbClr val="087F85"/>
                </a:solidFill>
                <a:latin typeface="Arial"/>
              </a:rPr>
              <a:t>Eligible application IPs</a:t>
            </a:r>
          </a:p>
        </p:txBody>
      </p:sp>
      <p:sp>
        <p:nvSpPr>
          <p:cNvPr id="59" name="Rounded Rectangle 58"/>
          <p:cNvSpPr/>
          <p:nvPr/>
        </p:nvSpPr>
        <p:spPr>
          <a:xfrm>
            <a:off x="609600" y="5816600"/>
            <a:ext cx="10972800" cy="457200"/>
          </a:xfrm>
          <a:prstGeom prst="roundRect">
            <a:avLst>
              <a:gd name="adj" fmla="val 16666"/>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87400" y="5905500"/>
            <a:ext cx="10617200" cy="333375"/>
          </a:xfrm>
          <a:prstGeom prst="rect">
            <a:avLst/>
          </a:prstGeom>
          <a:noFill/>
        </p:spPr>
        <p:txBody>
          <a:bodyPr wrap="none" lIns="0" rIns="0" tIns="0" bIns="0" anchor="t">
            <a:noAutofit/>
          </a:bodyPr>
          <a:lstStyle/>
          <a:p>
            <a:pPr algn="ctr">
              <a:lnSpc>
                <a:spcPts val="2100"/>
              </a:lnSpc>
              <a:spcBef>
                <a:spcPts val="0"/>
              </a:spcBef>
              <a:spcAft>
                <a:spcPts val="0"/>
              </a:spcAft>
            </a:pPr>
            <a:r>
              <a:rPr sz="2100" b="1">
                <a:solidFill>
                  <a:srgbClr val="FFFFFF"/>
                </a:solidFill>
                <a:latin typeface="Arial"/>
              </a:rPr>
              <a:t>Own the name, the delegation, and DNS recovery.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APPENDIX · FAILOVER / 01</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A4 / 07</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Normal operation: both authorities prefer A</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Both applications are ready. Cluster A is the preferred target.</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2184400"/>
            <a:ext cx="4902200" cy="3251200"/>
          </a:xfrm>
          <a:prstGeom prst="roundRect">
            <a:avLst>
              <a:gd name="adj" fmla="val 3906"/>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2133600"/>
            <a:ext cx="4902200" cy="3251200"/>
          </a:xfrm>
          <a:prstGeom prst="roundRect">
            <a:avLst>
              <a:gd name="adj" fmla="val 3906"/>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89000" y="2146300"/>
            <a:ext cx="4343400" cy="0"/>
          </a:xfrm>
          <a:prstGeom prst="line">
            <a:avLst/>
          </a:prstGeom>
          <a:ln w="38100">
            <a:solidFill>
              <a:srgbClr val="2762C8"/>
            </a:solidFill>
          </a:ln>
        </p:spPr>
        <p:style>
          <a:lnRef idx="2">
            <a:schemeClr val="accent1"/>
          </a:lnRef>
          <a:fillRef idx="0">
            <a:schemeClr val="accent1"/>
          </a:fillRef>
          <a:effectRef idx="1">
            <a:schemeClr val="accent1"/>
          </a:effectRef>
          <a:fontRef idx="minor">
            <a:schemeClr val="tx1"/>
          </a:fontRef>
        </p:style>
      </p:cxnSp>
      <p:pic>
        <p:nvPicPr>
          <p:cNvPr id="13" name="Picture 12" descr="image.png"/>
          <p:cNvPicPr>
            <a:picLocks noChangeAspect="1"/>
          </p:cNvPicPr>
          <p:nvPr/>
        </p:nvPicPr>
        <p:blipFill>
          <a:blip r:embed="rId2"/>
          <a:stretch>
            <a:fillRect/>
          </a:stretch>
        </p:blipFill>
        <p:spPr>
          <a:xfrm>
            <a:off x="889000" y="2413000"/>
            <a:ext cx="546100" cy="546100"/>
          </a:xfrm>
          <a:prstGeom prst="rect">
            <a:avLst/>
          </a:prstGeom>
        </p:spPr>
      </p:pic>
      <p:sp>
        <p:nvSpPr>
          <p:cNvPr id="14" name="TextBox 13"/>
          <p:cNvSpPr txBox="1"/>
          <p:nvPr/>
        </p:nvSpPr>
        <p:spPr>
          <a:xfrm>
            <a:off x="1612900" y="2387600"/>
            <a:ext cx="3619500" cy="417830"/>
          </a:xfrm>
          <a:prstGeom prst="rect">
            <a:avLst/>
          </a:prstGeom>
          <a:noFill/>
        </p:spPr>
        <p:txBody>
          <a:bodyPr wrap="none" lIns="0" rIns="0" tIns="0" bIns="0" anchor="t">
            <a:noAutofit/>
          </a:bodyPr>
          <a:lstStyle/>
          <a:p>
            <a:pPr algn="l">
              <a:lnSpc>
                <a:spcPts val="2990"/>
              </a:lnSpc>
              <a:spcBef>
                <a:spcPts val="0"/>
              </a:spcBef>
              <a:spcAft>
                <a:spcPts val="0"/>
              </a:spcAft>
            </a:pPr>
            <a:r>
              <a:rPr sz="2600" b="1">
                <a:solidFill>
                  <a:srgbClr val="2762C8"/>
                </a:solidFill>
                <a:latin typeface="Arial"/>
              </a:rPr>
              <a:t>CLUSTER A</a:t>
            </a:r>
          </a:p>
        </p:txBody>
      </p:sp>
      <p:sp>
        <p:nvSpPr>
          <p:cNvPr id="15" name="TextBox 14"/>
          <p:cNvSpPr txBox="1"/>
          <p:nvPr/>
        </p:nvSpPr>
        <p:spPr>
          <a:xfrm>
            <a:off x="1612900" y="2857500"/>
            <a:ext cx="36195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5D6F82"/>
                </a:solidFill>
                <a:latin typeface="Arial"/>
              </a:rPr>
              <a:t>PRIMARY APPLICATION</a:t>
            </a:r>
          </a:p>
        </p:txBody>
      </p:sp>
      <p:sp>
        <p:nvSpPr>
          <p:cNvPr id="16" name="TextBox 15"/>
          <p:cNvSpPr txBox="1"/>
          <p:nvPr/>
        </p:nvSpPr>
        <p:spPr>
          <a:xfrm>
            <a:off x="889000" y="3340100"/>
            <a:ext cx="27178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5D6F82"/>
                </a:solidFill>
                <a:latin typeface="Arial"/>
              </a:rPr>
              <a:t>LOCAL WORKLOAD</a:t>
            </a:r>
          </a:p>
        </p:txBody>
      </p:sp>
      <p:sp>
        <p:nvSpPr>
          <p:cNvPr id="17" name="Rounded Rectangle 16"/>
          <p:cNvSpPr/>
          <p:nvPr/>
        </p:nvSpPr>
        <p:spPr>
          <a:xfrm>
            <a:off x="3810000" y="3251200"/>
            <a:ext cx="1422400" cy="317500"/>
          </a:xfrm>
          <a:prstGeom prst="roundRect">
            <a:avLst>
              <a:gd name="adj" fmla="val 48000"/>
            </a:avLst>
          </a:prstGeom>
          <a:solidFill>
            <a:srgbClr val="E8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73500" y="3302000"/>
            <a:ext cx="1295400" cy="222250"/>
          </a:xfrm>
          <a:prstGeom prst="rect">
            <a:avLst/>
          </a:prstGeom>
          <a:noFill/>
        </p:spPr>
        <p:txBody>
          <a:bodyPr wrap="none" lIns="0" rIns="0" tIns="0" bIns="0" anchor="t">
            <a:noAutofit/>
          </a:bodyPr>
          <a:lstStyle/>
          <a:p>
            <a:pPr algn="ctr">
              <a:lnSpc>
                <a:spcPts val="1400"/>
              </a:lnSpc>
              <a:spcBef>
                <a:spcPts val="0"/>
              </a:spcBef>
              <a:spcAft>
                <a:spcPts val="0"/>
              </a:spcAft>
            </a:pPr>
            <a:r>
              <a:rPr sz="1400" b="1">
                <a:solidFill>
                  <a:srgbClr val="177C58"/>
                </a:solidFill>
                <a:latin typeface="Arial"/>
              </a:rPr>
              <a:t>READY</a:t>
            </a:r>
          </a:p>
        </p:txBody>
      </p:sp>
      <p:cxnSp>
        <p:nvCxnSpPr>
          <p:cNvPr id="19" name="Connector 18"/>
          <p:cNvCxnSpPr/>
          <p:nvPr/>
        </p:nvCxnSpPr>
        <p:spPr>
          <a:xfrm>
            <a:off x="889000" y="3759200"/>
            <a:ext cx="4343400"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pic>
        <p:nvPicPr>
          <p:cNvPr id="20" name="Picture 19" descr="image.png"/>
          <p:cNvPicPr>
            <a:picLocks noChangeAspect="1"/>
          </p:cNvPicPr>
          <p:nvPr/>
        </p:nvPicPr>
        <p:blipFill>
          <a:blip r:embed="rId3"/>
          <a:stretch>
            <a:fillRect/>
          </a:stretch>
        </p:blipFill>
        <p:spPr>
          <a:xfrm>
            <a:off x="889000" y="3898900"/>
            <a:ext cx="431800" cy="431800"/>
          </a:xfrm>
          <a:prstGeom prst="rect">
            <a:avLst/>
          </a:prstGeom>
        </p:spPr>
      </p:pic>
      <p:sp>
        <p:nvSpPr>
          <p:cNvPr id="21" name="TextBox 20"/>
          <p:cNvSpPr txBox="1"/>
          <p:nvPr/>
        </p:nvSpPr>
        <p:spPr>
          <a:xfrm>
            <a:off x="1473200" y="3937000"/>
            <a:ext cx="37592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CoreDNS answer</a:t>
            </a:r>
          </a:p>
        </p:txBody>
      </p:sp>
      <p:sp>
        <p:nvSpPr>
          <p:cNvPr id="22" name="Rounded Rectangle 21"/>
          <p:cNvSpPr/>
          <p:nvPr/>
        </p:nvSpPr>
        <p:spPr>
          <a:xfrm>
            <a:off x="889000" y="4483100"/>
            <a:ext cx="4343400" cy="723900"/>
          </a:xfrm>
          <a:prstGeom prst="roundRect">
            <a:avLst>
              <a:gd name="adj" fmla="val 12280"/>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2200" y="4584700"/>
            <a:ext cx="3048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2762C8"/>
                </a:solidFill>
                <a:latin typeface="Arial"/>
              </a:rPr>
              <a:t>APPLICATION TARGET</a:t>
            </a:r>
          </a:p>
        </p:txBody>
      </p:sp>
      <p:sp>
        <p:nvSpPr>
          <p:cNvPr id="24" name="TextBox 23"/>
          <p:cNvSpPr txBox="1"/>
          <p:nvPr/>
        </p:nvSpPr>
        <p:spPr>
          <a:xfrm>
            <a:off x="1092200" y="4800600"/>
            <a:ext cx="30480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Cluster A IPs</a:t>
            </a:r>
          </a:p>
        </p:txBody>
      </p:sp>
      <p:sp>
        <p:nvSpPr>
          <p:cNvPr id="25" name="Oval 24"/>
          <p:cNvSpPr/>
          <p:nvPr/>
        </p:nvSpPr>
        <p:spPr>
          <a:xfrm>
            <a:off x="4584700" y="4635500"/>
            <a:ext cx="431800" cy="4318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84700" y="4686300"/>
            <a:ext cx="431800" cy="359409"/>
          </a:xfrm>
          <a:prstGeom prst="rect">
            <a:avLst/>
          </a:prstGeom>
          <a:noFill/>
        </p:spPr>
        <p:txBody>
          <a:bodyPr wrap="none" lIns="0" rIns="0" tIns="0" bIns="0" anchor="t">
            <a:noAutofit/>
          </a:bodyPr>
          <a:lstStyle/>
          <a:p>
            <a:pPr algn="ctr">
              <a:lnSpc>
                <a:spcPts val="2529"/>
              </a:lnSpc>
              <a:spcBef>
                <a:spcPts val="0"/>
              </a:spcBef>
              <a:spcAft>
                <a:spcPts val="0"/>
              </a:spcAft>
            </a:pPr>
            <a:r>
              <a:rPr sz="2200" b="1">
                <a:solidFill>
                  <a:srgbClr val="FFFFFF"/>
                </a:solidFill>
                <a:latin typeface="Arial"/>
              </a:rPr>
              <a:t>A</a:t>
            </a:r>
          </a:p>
        </p:txBody>
      </p:sp>
      <p:sp>
        <p:nvSpPr>
          <p:cNvPr id="27" name="Rounded Rectangle 26"/>
          <p:cNvSpPr/>
          <p:nvPr/>
        </p:nvSpPr>
        <p:spPr>
          <a:xfrm>
            <a:off x="6680200" y="2184400"/>
            <a:ext cx="4902200" cy="3251200"/>
          </a:xfrm>
          <a:prstGeom prst="roundRect">
            <a:avLst>
              <a:gd name="adj" fmla="val 3906"/>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680200" y="2133600"/>
            <a:ext cx="4902200" cy="3251200"/>
          </a:xfrm>
          <a:prstGeom prst="roundRect">
            <a:avLst>
              <a:gd name="adj" fmla="val 3906"/>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6959600" y="2146300"/>
            <a:ext cx="4343400" cy="0"/>
          </a:xfrm>
          <a:prstGeom prst="line">
            <a:avLst/>
          </a:prstGeom>
          <a:ln w="38100">
            <a:solidFill>
              <a:srgbClr val="087F85"/>
            </a:solidFill>
          </a:ln>
        </p:spPr>
        <p:style>
          <a:lnRef idx="2">
            <a:schemeClr val="accent1"/>
          </a:lnRef>
          <a:fillRef idx="0">
            <a:schemeClr val="accent1"/>
          </a:fillRef>
          <a:effectRef idx="1">
            <a:schemeClr val="accent1"/>
          </a:effectRef>
          <a:fontRef idx="minor">
            <a:schemeClr val="tx1"/>
          </a:fontRef>
        </p:style>
      </p:cxnSp>
      <p:pic>
        <p:nvPicPr>
          <p:cNvPr id="30" name="Picture 29" descr="image.png"/>
          <p:cNvPicPr>
            <a:picLocks noChangeAspect="1"/>
          </p:cNvPicPr>
          <p:nvPr/>
        </p:nvPicPr>
        <p:blipFill>
          <a:blip r:embed="rId2"/>
          <a:stretch>
            <a:fillRect/>
          </a:stretch>
        </p:blipFill>
        <p:spPr>
          <a:xfrm>
            <a:off x="6959600" y="2413000"/>
            <a:ext cx="546100" cy="546100"/>
          </a:xfrm>
          <a:prstGeom prst="rect">
            <a:avLst/>
          </a:prstGeom>
        </p:spPr>
      </p:pic>
      <p:sp>
        <p:nvSpPr>
          <p:cNvPr id="31" name="TextBox 30"/>
          <p:cNvSpPr txBox="1"/>
          <p:nvPr/>
        </p:nvSpPr>
        <p:spPr>
          <a:xfrm>
            <a:off x="7683500" y="2387600"/>
            <a:ext cx="3619500" cy="417830"/>
          </a:xfrm>
          <a:prstGeom prst="rect">
            <a:avLst/>
          </a:prstGeom>
          <a:noFill/>
        </p:spPr>
        <p:txBody>
          <a:bodyPr wrap="none" lIns="0" rIns="0" tIns="0" bIns="0" anchor="t">
            <a:noAutofit/>
          </a:bodyPr>
          <a:lstStyle/>
          <a:p>
            <a:pPr algn="l">
              <a:lnSpc>
                <a:spcPts val="2990"/>
              </a:lnSpc>
              <a:spcBef>
                <a:spcPts val="0"/>
              </a:spcBef>
              <a:spcAft>
                <a:spcPts val="0"/>
              </a:spcAft>
            </a:pPr>
            <a:r>
              <a:rPr sz="2600" b="1">
                <a:solidFill>
                  <a:srgbClr val="087F85"/>
                </a:solidFill>
                <a:latin typeface="Arial"/>
              </a:rPr>
              <a:t>CLUSTER B</a:t>
            </a:r>
          </a:p>
        </p:txBody>
      </p:sp>
      <p:sp>
        <p:nvSpPr>
          <p:cNvPr id="32" name="TextBox 31"/>
          <p:cNvSpPr txBox="1"/>
          <p:nvPr/>
        </p:nvSpPr>
        <p:spPr>
          <a:xfrm>
            <a:off x="7683500" y="2857500"/>
            <a:ext cx="36195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5D6F82"/>
                </a:solidFill>
                <a:latin typeface="Arial"/>
              </a:rPr>
              <a:t>SECONDARY APPLICATION</a:t>
            </a:r>
          </a:p>
        </p:txBody>
      </p:sp>
      <p:sp>
        <p:nvSpPr>
          <p:cNvPr id="33" name="TextBox 32"/>
          <p:cNvSpPr txBox="1"/>
          <p:nvPr/>
        </p:nvSpPr>
        <p:spPr>
          <a:xfrm>
            <a:off x="6959600" y="3340100"/>
            <a:ext cx="27178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5D6F82"/>
                </a:solidFill>
                <a:latin typeface="Arial"/>
              </a:rPr>
              <a:t>LOCAL WORKLOAD</a:t>
            </a:r>
          </a:p>
        </p:txBody>
      </p:sp>
      <p:sp>
        <p:nvSpPr>
          <p:cNvPr id="34" name="Rounded Rectangle 33"/>
          <p:cNvSpPr/>
          <p:nvPr/>
        </p:nvSpPr>
        <p:spPr>
          <a:xfrm>
            <a:off x="9880600" y="3251200"/>
            <a:ext cx="1422400" cy="317500"/>
          </a:xfrm>
          <a:prstGeom prst="roundRect">
            <a:avLst>
              <a:gd name="adj" fmla="val 48000"/>
            </a:avLst>
          </a:prstGeom>
          <a:solidFill>
            <a:srgbClr val="E8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44100" y="3302000"/>
            <a:ext cx="1295400" cy="222250"/>
          </a:xfrm>
          <a:prstGeom prst="rect">
            <a:avLst/>
          </a:prstGeom>
          <a:noFill/>
        </p:spPr>
        <p:txBody>
          <a:bodyPr wrap="none" lIns="0" rIns="0" tIns="0" bIns="0" anchor="t">
            <a:noAutofit/>
          </a:bodyPr>
          <a:lstStyle/>
          <a:p>
            <a:pPr algn="ctr">
              <a:lnSpc>
                <a:spcPts val="1400"/>
              </a:lnSpc>
              <a:spcBef>
                <a:spcPts val="0"/>
              </a:spcBef>
              <a:spcAft>
                <a:spcPts val="0"/>
              </a:spcAft>
            </a:pPr>
            <a:r>
              <a:rPr sz="1400" b="1">
                <a:solidFill>
                  <a:srgbClr val="177C58"/>
                </a:solidFill>
                <a:latin typeface="Arial"/>
              </a:rPr>
              <a:t>READY</a:t>
            </a:r>
          </a:p>
        </p:txBody>
      </p:sp>
      <p:cxnSp>
        <p:nvCxnSpPr>
          <p:cNvPr id="36" name="Connector 35"/>
          <p:cNvCxnSpPr/>
          <p:nvPr/>
        </p:nvCxnSpPr>
        <p:spPr>
          <a:xfrm>
            <a:off x="6959600" y="3759200"/>
            <a:ext cx="4343400"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pic>
        <p:nvPicPr>
          <p:cNvPr id="37" name="Picture 36" descr="image.png"/>
          <p:cNvPicPr>
            <a:picLocks noChangeAspect="1"/>
          </p:cNvPicPr>
          <p:nvPr/>
        </p:nvPicPr>
        <p:blipFill>
          <a:blip r:embed="rId3"/>
          <a:stretch>
            <a:fillRect/>
          </a:stretch>
        </p:blipFill>
        <p:spPr>
          <a:xfrm>
            <a:off x="6959600" y="3898900"/>
            <a:ext cx="431800" cy="431800"/>
          </a:xfrm>
          <a:prstGeom prst="rect">
            <a:avLst/>
          </a:prstGeom>
        </p:spPr>
      </p:pic>
      <p:sp>
        <p:nvSpPr>
          <p:cNvPr id="38" name="TextBox 37"/>
          <p:cNvSpPr txBox="1"/>
          <p:nvPr/>
        </p:nvSpPr>
        <p:spPr>
          <a:xfrm>
            <a:off x="7543800" y="3937000"/>
            <a:ext cx="37592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CoreDNS answer</a:t>
            </a:r>
          </a:p>
        </p:txBody>
      </p:sp>
      <p:sp>
        <p:nvSpPr>
          <p:cNvPr id="39" name="Rounded Rectangle 38"/>
          <p:cNvSpPr/>
          <p:nvPr/>
        </p:nvSpPr>
        <p:spPr>
          <a:xfrm>
            <a:off x="6959600" y="4483100"/>
            <a:ext cx="4343400" cy="723900"/>
          </a:xfrm>
          <a:prstGeom prst="roundRect">
            <a:avLst>
              <a:gd name="adj" fmla="val 12280"/>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62800" y="4584700"/>
            <a:ext cx="3048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2762C8"/>
                </a:solidFill>
                <a:latin typeface="Arial"/>
              </a:rPr>
              <a:t>APPLICATION TARGET</a:t>
            </a:r>
          </a:p>
        </p:txBody>
      </p:sp>
      <p:sp>
        <p:nvSpPr>
          <p:cNvPr id="41" name="TextBox 40"/>
          <p:cNvSpPr txBox="1"/>
          <p:nvPr/>
        </p:nvSpPr>
        <p:spPr>
          <a:xfrm>
            <a:off x="7162800" y="4800600"/>
            <a:ext cx="30480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Cluster A IPs</a:t>
            </a:r>
          </a:p>
        </p:txBody>
      </p:sp>
      <p:sp>
        <p:nvSpPr>
          <p:cNvPr id="42" name="Oval 41"/>
          <p:cNvSpPr/>
          <p:nvPr/>
        </p:nvSpPr>
        <p:spPr>
          <a:xfrm>
            <a:off x="10655300" y="4635500"/>
            <a:ext cx="431800" cy="4318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55300" y="4686300"/>
            <a:ext cx="431800" cy="359409"/>
          </a:xfrm>
          <a:prstGeom prst="rect">
            <a:avLst/>
          </a:prstGeom>
          <a:noFill/>
        </p:spPr>
        <p:txBody>
          <a:bodyPr wrap="none" lIns="0" rIns="0" tIns="0" bIns="0" anchor="t">
            <a:noAutofit/>
          </a:bodyPr>
          <a:lstStyle/>
          <a:p>
            <a:pPr algn="ctr">
              <a:lnSpc>
                <a:spcPts val="2529"/>
              </a:lnSpc>
              <a:spcBef>
                <a:spcPts val="0"/>
              </a:spcBef>
              <a:spcAft>
                <a:spcPts val="0"/>
              </a:spcAft>
            </a:pPr>
            <a:r>
              <a:rPr sz="2200" b="1">
                <a:solidFill>
                  <a:srgbClr val="FFFFFF"/>
                </a:solidFill>
                <a:latin typeface="Arial"/>
              </a:rPr>
              <a:t>A</a:t>
            </a:r>
          </a:p>
        </p:txBody>
      </p:sp>
      <p:cxnSp>
        <p:nvCxnSpPr>
          <p:cNvPr id="44" name="Connector 43"/>
          <p:cNvCxnSpPr/>
          <p:nvPr/>
        </p:nvCxnSpPr>
        <p:spPr>
          <a:xfrm>
            <a:off x="5511800" y="3568700"/>
            <a:ext cx="1168400" cy="0"/>
          </a:xfrm>
          <a:prstGeom prst="line">
            <a:avLst/>
          </a:prstGeom>
          <a:ln w="19050">
            <a:solidFill>
              <a:srgbClr val="5D6F82"/>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511800" y="3035300"/>
            <a:ext cx="1168400" cy="388620"/>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5D6F82"/>
                </a:solidFill>
                <a:latin typeface="Arial"/>
              </a:rPr>
              <a:t>Peer health</a:t>
            </a:r>
          </a:p>
          <a:p>
            <a:pPr algn="ctr">
              <a:lnSpc>
                <a:spcPts val="1380"/>
              </a:lnSpc>
              <a:spcBef>
                <a:spcPts val="0"/>
              </a:spcBef>
              <a:spcAft>
                <a:spcPts val="0"/>
              </a:spcAft>
            </a:pPr>
            <a:r>
              <a:rPr sz="1200" b="1">
                <a:solidFill>
                  <a:srgbClr val="5D6F82"/>
                </a:solidFill>
                <a:latin typeface="Arial"/>
              </a:rPr>
              <a:t>via DNS</a:t>
            </a:r>
          </a:p>
        </p:txBody>
      </p:sp>
      <p:sp>
        <p:nvSpPr>
          <p:cNvPr id="46" name="TextBox 45"/>
          <p:cNvSpPr txBox="1"/>
          <p:nvPr/>
        </p:nvSpPr>
        <p:spPr>
          <a:xfrm>
            <a:off x="609600" y="5524500"/>
            <a:ext cx="10972800" cy="213359"/>
          </a:xfrm>
          <a:prstGeom prst="rect">
            <a:avLst/>
          </a:prstGeom>
          <a:noFill/>
        </p:spPr>
        <p:txBody>
          <a:bodyPr wrap="none" lIns="0" rIns="0" tIns="0" bIns="0" anchor="t">
            <a:noAutofit/>
          </a:bodyPr>
          <a:lstStyle/>
          <a:p>
            <a:pPr algn="ctr">
              <a:lnSpc>
                <a:spcPts val="1380"/>
              </a:lnSpc>
              <a:spcBef>
                <a:spcPts val="0"/>
              </a:spcBef>
              <a:spcAft>
                <a:spcPts val="0"/>
              </a:spcAft>
            </a:pPr>
            <a:r>
              <a:rPr sz="1200" b="0">
                <a:solidFill>
                  <a:srgbClr val="5D6F82"/>
                </a:solidFill>
                <a:latin typeface="Arial"/>
              </a:rPr>
              <a:t>Each k8gb controller queries peer CoreDNS.</a:t>
            </a:r>
          </a:p>
        </p:txBody>
      </p:sp>
      <p:sp>
        <p:nvSpPr>
          <p:cNvPr id="47" name="Rounded Rectangle 46"/>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7400" y="5892800"/>
            <a:ext cx="10617200" cy="301625"/>
          </a:xfrm>
          <a:prstGeom prst="rect">
            <a:avLst/>
          </a:prstGeom>
          <a:noFill/>
        </p:spPr>
        <p:txBody>
          <a:bodyPr wrap="none" lIns="0" rIns="0" tIns="0" bIns="0" anchor="t">
            <a:noAutofit/>
          </a:bodyPr>
          <a:lstStyle/>
          <a:p>
            <a:pPr algn="ctr">
              <a:lnSpc>
                <a:spcPts val="1900"/>
              </a:lnSpc>
              <a:spcBef>
                <a:spcPts val="0"/>
              </a:spcBef>
              <a:spcAft>
                <a:spcPts val="0"/>
              </a:spcAft>
            </a:pPr>
            <a:r>
              <a:rPr sz="1900" b="1">
                <a:solidFill>
                  <a:srgbClr val="142338"/>
                </a:solidFill>
                <a:latin typeface="Arial"/>
              </a:rPr>
              <a:t>Both authorities agree after reconciliation; client caches may lag.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APPENDIX · FAILOVER / 02</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A5 / 07</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A loses ready targets: publish B</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A’s application is unready; its DNS authority is still available.</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2184400"/>
            <a:ext cx="4902200" cy="3251200"/>
          </a:xfrm>
          <a:prstGeom prst="roundRect">
            <a:avLst>
              <a:gd name="adj" fmla="val 3906"/>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2133600"/>
            <a:ext cx="4902200" cy="3251200"/>
          </a:xfrm>
          <a:prstGeom prst="roundRect">
            <a:avLst>
              <a:gd name="adj" fmla="val 3906"/>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89000" y="2146300"/>
            <a:ext cx="4343400" cy="0"/>
          </a:xfrm>
          <a:prstGeom prst="line">
            <a:avLst/>
          </a:prstGeom>
          <a:ln w="38100">
            <a:solidFill>
              <a:srgbClr val="2762C8"/>
            </a:solidFill>
          </a:ln>
        </p:spPr>
        <p:style>
          <a:lnRef idx="2">
            <a:schemeClr val="accent1"/>
          </a:lnRef>
          <a:fillRef idx="0">
            <a:schemeClr val="accent1"/>
          </a:fillRef>
          <a:effectRef idx="1">
            <a:schemeClr val="accent1"/>
          </a:effectRef>
          <a:fontRef idx="minor">
            <a:schemeClr val="tx1"/>
          </a:fontRef>
        </p:style>
      </p:cxnSp>
      <p:pic>
        <p:nvPicPr>
          <p:cNvPr id="13" name="Picture 12" descr="image.png"/>
          <p:cNvPicPr>
            <a:picLocks noChangeAspect="1"/>
          </p:cNvPicPr>
          <p:nvPr/>
        </p:nvPicPr>
        <p:blipFill>
          <a:blip r:embed="rId2"/>
          <a:stretch>
            <a:fillRect/>
          </a:stretch>
        </p:blipFill>
        <p:spPr>
          <a:xfrm>
            <a:off x="889000" y="2413000"/>
            <a:ext cx="546100" cy="546100"/>
          </a:xfrm>
          <a:prstGeom prst="rect">
            <a:avLst/>
          </a:prstGeom>
        </p:spPr>
      </p:pic>
      <p:sp>
        <p:nvSpPr>
          <p:cNvPr id="14" name="TextBox 13"/>
          <p:cNvSpPr txBox="1"/>
          <p:nvPr/>
        </p:nvSpPr>
        <p:spPr>
          <a:xfrm>
            <a:off x="1612900" y="2387600"/>
            <a:ext cx="3619500" cy="417830"/>
          </a:xfrm>
          <a:prstGeom prst="rect">
            <a:avLst/>
          </a:prstGeom>
          <a:noFill/>
        </p:spPr>
        <p:txBody>
          <a:bodyPr wrap="none" lIns="0" rIns="0" tIns="0" bIns="0" anchor="t">
            <a:noAutofit/>
          </a:bodyPr>
          <a:lstStyle/>
          <a:p>
            <a:pPr algn="l">
              <a:lnSpc>
                <a:spcPts val="2990"/>
              </a:lnSpc>
              <a:spcBef>
                <a:spcPts val="0"/>
              </a:spcBef>
              <a:spcAft>
                <a:spcPts val="0"/>
              </a:spcAft>
            </a:pPr>
            <a:r>
              <a:rPr sz="2600" b="1">
                <a:solidFill>
                  <a:srgbClr val="2762C8"/>
                </a:solidFill>
                <a:latin typeface="Arial"/>
              </a:rPr>
              <a:t>CLUSTER A</a:t>
            </a:r>
          </a:p>
        </p:txBody>
      </p:sp>
      <p:sp>
        <p:nvSpPr>
          <p:cNvPr id="15" name="TextBox 14"/>
          <p:cNvSpPr txBox="1"/>
          <p:nvPr/>
        </p:nvSpPr>
        <p:spPr>
          <a:xfrm>
            <a:off x="1612900" y="2857500"/>
            <a:ext cx="36195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5D6F82"/>
                </a:solidFill>
                <a:latin typeface="Arial"/>
              </a:rPr>
              <a:t>PRIMARY APPLICATION</a:t>
            </a:r>
          </a:p>
        </p:txBody>
      </p:sp>
      <p:sp>
        <p:nvSpPr>
          <p:cNvPr id="16" name="TextBox 15"/>
          <p:cNvSpPr txBox="1"/>
          <p:nvPr/>
        </p:nvSpPr>
        <p:spPr>
          <a:xfrm>
            <a:off x="889000" y="3340100"/>
            <a:ext cx="27178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5D6F82"/>
                </a:solidFill>
                <a:latin typeface="Arial"/>
              </a:rPr>
              <a:t>LOCAL WORKLOAD</a:t>
            </a:r>
          </a:p>
        </p:txBody>
      </p:sp>
      <p:sp>
        <p:nvSpPr>
          <p:cNvPr id="17" name="Rounded Rectangle 16"/>
          <p:cNvSpPr/>
          <p:nvPr/>
        </p:nvSpPr>
        <p:spPr>
          <a:xfrm>
            <a:off x="3810000" y="3251200"/>
            <a:ext cx="1422400" cy="317500"/>
          </a:xfrm>
          <a:prstGeom prst="roundRect">
            <a:avLst>
              <a:gd name="adj" fmla="val 48000"/>
            </a:avLst>
          </a:prstGeom>
          <a:solidFill>
            <a:srgbClr val="FB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73500" y="3302000"/>
            <a:ext cx="1295400" cy="222250"/>
          </a:xfrm>
          <a:prstGeom prst="rect">
            <a:avLst/>
          </a:prstGeom>
          <a:noFill/>
        </p:spPr>
        <p:txBody>
          <a:bodyPr wrap="none" lIns="0" rIns="0" tIns="0" bIns="0" anchor="t">
            <a:noAutofit/>
          </a:bodyPr>
          <a:lstStyle/>
          <a:p>
            <a:pPr algn="ctr">
              <a:lnSpc>
                <a:spcPts val="1400"/>
              </a:lnSpc>
              <a:spcBef>
                <a:spcPts val="0"/>
              </a:spcBef>
              <a:spcAft>
                <a:spcPts val="0"/>
              </a:spcAft>
            </a:pPr>
            <a:r>
              <a:rPr sz="1400" b="1">
                <a:solidFill>
                  <a:srgbClr val="CF0035"/>
                </a:solidFill>
                <a:latin typeface="Arial"/>
              </a:rPr>
              <a:t>UNREADY</a:t>
            </a:r>
          </a:p>
        </p:txBody>
      </p:sp>
      <p:cxnSp>
        <p:nvCxnSpPr>
          <p:cNvPr id="19" name="Connector 18"/>
          <p:cNvCxnSpPr/>
          <p:nvPr/>
        </p:nvCxnSpPr>
        <p:spPr>
          <a:xfrm>
            <a:off x="889000" y="3759200"/>
            <a:ext cx="4343400"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pic>
        <p:nvPicPr>
          <p:cNvPr id="20" name="Picture 19" descr="image.png"/>
          <p:cNvPicPr>
            <a:picLocks noChangeAspect="1"/>
          </p:cNvPicPr>
          <p:nvPr/>
        </p:nvPicPr>
        <p:blipFill>
          <a:blip r:embed="rId3"/>
          <a:stretch>
            <a:fillRect/>
          </a:stretch>
        </p:blipFill>
        <p:spPr>
          <a:xfrm>
            <a:off x="889000" y="3898900"/>
            <a:ext cx="431800" cy="431800"/>
          </a:xfrm>
          <a:prstGeom prst="rect">
            <a:avLst/>
          </a:prstGeom>
        </p:spPr>
      </p:pic>
      <p:sp>
        <p:nvSpPr>
          <p:cNvPr id="21" name="TextBox 20"/>
          <p:cNvSpPr txBox="1"/>
          <p:nvPr/>
        </p:nvSpPr>
        <p:spPr>
          <a:xfrm>
            <a:off x="1473200" y="3937000"/>
            <a:ext cx="37592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CoreDNS answer</a:t>
            </a:r>
          </a:p>
        </p:txBody>
      </p:sp>
      <p:sp>
        <p:nvSpPr>
          <p:cNvPr id="22" name="Rounded Rectangle 21"/>
          <p:cNvSpPr/>
          <p:nvPr/>
        </p:nvSpPr>
        <p:spPr>
          <a:xfrm>
            <a:off x="889000" y="4483100"/>
            <a:ext cx="4343400" cy="723900"/>
          </a:xfrm>
          <a:prstGeom prst="roundRect">
            <a:avLst>
              <a:gd name="adj" fmla="val 12280"/>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2200" y="4584700"/>
            <a:ext cx="3048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087F85"/>
                </a:solidFill>
                <a:latin typeface="Arial"/>
              </a:rPr>
              <a:t>APPLICATION TARGET</a:t>
            </a:r>
          </a:p>
        </p:txBody>
      </p:sp>
      <p:sp>
        <p:nvSpPr>
          <p:cNvPr id="24" name="TextBox 23"/>
          <p:cNvSpPr txBox="1"/>
          <p:nvPr/>
        </p:nvSpPr>
        <p:spPr>
          <a:xfrm>
            <a:off x="1092200" y="4800600"/>
            <a:ext cx="30480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Cluster B IPs</a:t>
            </a:r>
          </a:p>
        </p:txBody>
      </p:sp>
      <p:sp>
        <p:nvSpPr>
          <p:cNvPr id="25" name="Oval 24"/>
          <p:cNvSpPr/>
          <p:nvPr/>
        </p:nvSpPr>
        <p:spPr>
          <a:xfrm>
            <a:off x="4584700" y="4635500"/>
            <a:ext cx="431800" cy="431800"/>
          </a:xfrm>
          <a:prstGeom prst="ellipse">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84700" y="4686300"/>
            <a:ext cx="431800" cy="359409"/>
          </a:xfrm>
          <a:prstGeom prst="rect">
            <a:avLst/>
          </a:prstGeom>
          <a:noFill/>
        </p:spPr>
        <p:txBody>
          <a:bodyPr wrap="none" lIns="0" rIns="0" tIns="0" bIns="0" anchor="t">
            <a:noAutofit/>
          </a:bodyPr>
          <a:lstStyle/>
          <a:p>
            <a:pPr algn="ctr">
              <a:lnSpc>
                <a:spcPts val="2529"/>
              </a:lnSpc>
              <a:spcBef>
                <a:spcPts val="0"/>
              </a:spcBef>
              <a:spcAft>
                <a:spcPts val="0"/>
              </a:spcAft>
            </a:pPr>
            <a:r>
              <a:rPr sz="2200" b="1">
                <a:solidFill>
                  <a:srgbClr val="FFFFFF"/>
                </a:solidFill>
                <a:latin typeface="Arial"/>
              </a:rPr>
              <a:t>B</a:t>
            </a:r>
          </a:p>
        </p:txBody>
      </p:sp>
      <p:sp>
        <p:nvSpPr>
          <p:cNvPr id="27" name="Rounded Rectangle 26"/>
          <p:cNvSpPr/>
          <p:nvPr/>
        </p:nvSpPr>
        <p:spPr>
          <a:xfrm>
            <a:off x="6680200" y="2184400"/>
            <a:ext cx="4902200" cy="3251200"/>
          </a:xfrm>
          <a:prstGeom prst="roundRect">
            <a:avLst>
              <a:gd name="adj" fmla="val 3906"/>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680200" y="2133600"/>
            <a:ext cx="4902200" cy="3251200"/>
          </a:xfrm>
          <a:prstGeom prst="roundRect">
            <a:avLst>
              <a:gd name="adj" fmla="val 3906"/>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6959600" y="2146300"/>
            <a:ext cx="4343400" cy="0"/>
          </a:xfrm>
          <a:prstGeom prst="line">
            <a:avLst/>
          </a:prstGeom>
          <a:ln w="38100">
            <a:solidFill>
              <a:srgbClr val="087F85"/>
            </a:solidFill>
          </a:ln>
        </p:spPr>
        <p:style>
          <a:lnRef idx="2">
            <a:schemeClr val="accent1"/>
          </a:lnRef>
          <a:fillRef idx="0">
            <a:schemeClr val="accent1"/>
          </a:fillRef>
          <a:effectRef idx="1">
            <a:schemeClr val="accent1"/>
          </a:effectRef>
          <a:fontRef idx="minor">
            <a:schemeClr val="tx1"/>
          </a:fontRef>
        </p:style>
      </p:cxnSp>
      <p:pic>
        <p:nvPicPr>
          <p:cNvPr id="30" name="Picture 29" descr="image.png"/>
          <p:cNvPicPr>
            <a:picLocks noChangeAspect="1"/>
          </p:cNvPicPr>
          <p:nvPr/>
        </p:nvPicPr>
        <p:blipFill>
          <a:blip r:embed="rId2"/>
          <a:stretch>
            <a:fillRect/>
          </a:stretch>
        </p:blipFill>
        <p:spPr>
          <a:xfrm>
            <a:off x="6959600" y="2413000"/>
            <a:ext cx="546100" cy="546100"/>
          </a:xfrm>
          <a:prstGeom prst="rect">
            <a:avLst/>
          </a:prstGeom>
        </p:spPr>
      </p:pic>
      <p:sp>
        <p:nvSpPr>
          <p:cNvPr id="31" name="TextBox 30"/>
          <p:cNvSpPr txBox="1"/>
          <p:nvPr/>
        </p:nvSpPr>
        <p:spPr>
          <a:xfrm>
            <a:off x="7683500" y="2387600"/>
            <a:ext cx="3619500" cy="417830"/>
          </a:xfrm>
          <a:prstGeom prst="rect">
            <a:avLst/>
          </a:prstGeom>
          <a:noFill/>
        </p:spPr>
        <p:txBody>
          <a:bodyPr wrap="none" lIns="0" rIns="0" tIns="0" bIns="0" anchor="t">
            <a:noAutofit/>
          </a:bodyPr>
          <a:lstStyle/>
          <a:p>
            <a:pPr algn="l">
              <a:lnSpc>
                <a:spcPts val="2990"/>
              </a:lnSpc>
              <a:spcBef>
                <a:spcPts val="0"/>
              </a:spcBef>
              <a:spcAft>
                <a:spcPts val="0"/>
              </a:spcAft>
            </a:pPr>
            <a:r>
              <a:rPr sz="2600" b="1">
                <a:solidFill>
                  <a:srgbClr val="087F85"/>
                </a:solidFill>
                <a:latin typeface="Arial"/>
              </a:rPr>
              <a:t>CLUSTER B</a:t>
            </a:r>
          </a:p>
        </p:txBody>
      </p:sp>
      <p:sp>
        <p:nvSpPr>
          <p:cNvPr id="32" name="TextBox 31"/>
          <p:cNvSpPr txBox="1"/>
          <p:nvPr/>
        </p:nvSpPr>
        <p:spPr>
          <a:xfrm>
            <a:off x="7683500" y="2857500"/>
            <a:ext cx="36195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5D6F82"/>
                </a:solidFill>
                <a:latin typeface="Arial"/>
              </a:rPr>
              <a:t>SECONDARY APPLICATION</a:t>
            </a:r>
          </a:p>
        </p:txBody>
      </p:sp>
      <p:sp>
        <p:nvSpPr>
          <p:cNvPr id="33" name="TextBox 32"/>
          <p:cNvSpPr txBox="1"/>
          <p:nvPr/>
        </p:nvSpPr>
        <p:spPr>
          <a:xfrm>
            <a:off x="6959600" y="3340100"/>
            <a:ext cx="27178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5D6F82"/>
                </a:solidFill>
                <a:latin typeface="Arial"/>
              </a:rPr>
              <a:t>LOCAL WORKLOAD</a:t>
            </a:r>
          </a:p>
        </p:txBody>
      </p:sp>
      <p:sp>
        <p:nvSpPr>
          <p:cNvPr id="34" name="Rounded Rectangle 33"/>
          <p:cNvSpPr/>
          <p:nvPr/>
        </p:nvSpPr>
        <p:spPr>
          <a:xfrm>
            <a:off x="9880600" y="3251200"/>
            <a:ext cx="1422400" cy="317500"/>
          </a:xfrm>
          <a:prstGeom prst="roundRect">
            <a:avLst>
              <a:gd name="adj" fmla="val 48000"/>
            </a:avLst>
          </a:prstGeom>
          <a:solidFill>
            <a:srgbClr val="E8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44100" y="3302000"/>
            <a:ext cx="1295400" cy="222250"/>
          </a:xfrm>
          <a:prstGeom prst="rect">
            <a:avLst/>
          </a:prstGeom>
          <a:noFill/>
        </p:spPr>
        <p:txBody>
          <a:bodyPr wrap="none" lIns="0" rIns="0" tIns="0" bIns="0" anchor="t">
            <a:noAutofit/>
          </a:bodyPr>
          <a:lstStyle/>
          <a:p>
            <a:pPr algn="ctr">
              <a:lnSpc>
                <a:spcPts val="1400"/>
              </a:lnSpc>
              <a:spcBef>
                <a:spcPts val="0"/>
              </a:spcBef>
              <a:spcAft>
                <a:spcPts val="0"/>
              </a:spcAft>
            </a:pPr>
            <a:r>
              <a:rPr sz="1400" b="1">
                <a:solidFill>
                  <a:srgbClr val="177C58"/>
                </a:solidFill>
                <a:latin typeface="Arial"/>
              </a:rPr>
              <a:t>READY</a:t>
            </a:r>
          </a:p>
        </p:txBody>
      </p:sp>
      <p:cxnSp>
        <p:nvCxnSpPr>
          <p:cNvPr id="36" name="Connector 35"/>
          <p:cNvCxnSpPr/>
          <p:nvPr/>
        </p:nvCxnSpPr>
        <p:spPr>
          <a:xfrm>
            <a:off x="6959600" y="3759200"/>
            <a:ext cx="4343400"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pic>
        <p:nvPicPr>
          <p:cNvPr id="37" name="Picture 36" descr="image.png"/>
          <p:cNvPicPr>
            <a:picLocks noChangeAspect="1"/>
          </p:cNvPicPr>
          <p:nvPr/>
        </p:nvPicPr>
        <p:blipFill>
          <a:blip r:embed="rId3"/>
          <a:stretch>
            <a:fillRect/>
          </a:stretch>
        </p:blipFill>
        <p:spPr>
          <a:xfrm>
            <a:off x="6959600" y="3898900"/>
            <a:ext cx="431800" cy="431800"/>
          </a:xfrm>
          <a:prstGeom prst="rect">
            <a:avLst/>
          </a:prstGeom>
        </p:spPr>
      </p:pic>
      <p:sp>
        <p:nvSpPr>
          <p:cNvPr id="38" name="TextBox 37"/>
          <p:cNvSpPr txBox="1"/>
          <p:nvPr/>
        </p:nvSpPr>
        <p:spPr>
          <a:xfrm>
            <a:off x="7543800" y="3937000"/>
            <a:ext cx="37592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CoreDNS answer</a:t>
            </a:r>
          </a:p>
        </p:txBody>
      </p:sp>
      <p:sp>
        <p:nvSpPr>
          <p:cNvPr id="39" name="Rounded Rectangle 38"/>
          <p:cNvSpPr/>
          <p:nvPr/>
        </p:nvSpPr>
        <p:spPr>
          <a:xfrm>
            <a:off x="6959600" y="4483100"/>
            <a:ext cx="4343400" cy="723900"/>
          </a:xfrm>
          <a:prstGeom prst="roundRect">
            <a:avLst>
              <a:gd name="adj" fmla="val 12280"/>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62800" y="4584700"/>
            <a:ext cx="3048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087F85"/>
                </a:solidFill>
                <a:latin typeface="Arial"/>
              </a:rPr>
              <a:t>APPLICATION TARGET</a:t>
            </a:r>
          </a:p>
        </p:txBody>
      </p:sp>
      <p:sp>
        <p:nvSpPr>
          <p:cNvPr id="41" name="TextBox 40"/>
          <p:cNvSpPr txBox="1"/>
          <p:nvPr/>
        </p:nvSpPr>
        <p:spPr>
          <a:xfrm>
            <a:off x="7162800" y="4800600"/>
            <a:ext cx="30480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Cluster B IPs</a:t>
            </a:r>
          </a:p>
        </p:txBody>
      </p:sp>
      <p:sp>
        <p:nvSpPr>
          <p:cNvPr id="42" name="Oval 41"/>
          <p:cNvSpPr/>
          <p:nvPr/>
        </p:nvSpPr>
        <p:spPr>
          <a:xfrm>
            <a:off x="10655300" y="4635500"/>
            <a:ext cx="431800" cy="431800"/>
          </a:xfrm>
          <a:prstGeom prst="ellipse">
            <a:avLst/>
          </a:prstGeom>
          <a:solidFill>
            <a:srgbClr val="087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55300" y="4686300"/>
            <a:ext cx="431800" cy="359409"/>
          </a:xfrm>
          <a:prstGeom prst="rect">
            <a:avLst/>
          </a:prstGeom>
          <a:noFill/>
        </p:spPr>
        <p:txBody>
          <a:bodyPr wrap="none" lIns="0" rIns="0" tIns="0" bIns="0" anchor="t">
            <a:noAutofit/>
          </a:bodyPr>
          <a:lstStyle/>
          <a:p>
            <a:pPr algn="ctr">
              <a:lnSpc>
                <a:spcPts val="2529"/>
              </a:lnSpc>
              <a:spcBef>
                <a:spcPts val="0"/>
              </a:spcBef>
              <a:spcAft>
                <a:spcPts val="0"/>
              </a:spcAft>
            </a:pPr>
            <a:r>
              <a:rPr sz="2200" b="1">
                <a:solidFill>
                  <a:srgbClr val="FFFFFF"/>
                </a:solidFill>
                <a:latin typeface="Arial"/>
              </a:rPr>
              <a:t>B</a:t>
            </a:r>
          </a:p>
        </p:txBody>
      </p:sp>
      <p:cxnSp>
        <p:nvCxnSpPr>
          <p:cNvPr id="44" name="Connector 43"/>
          <p:cNvCxnSpPr/>
          <p:nvPr/>
        </p:nvCxnSpPr>
        <p:spPr>
          <a:xfrm>
            <a:off x="5511800" y="3568700"/>
            <a:ext cx="1168400" cy="0"/>
          </a:xfrm>
          <a:prstGeom prst="line">
            <a:avLst/>
          </a:prstGeom>
          <a:ln w="19050">
            <a:solidFill>
              <a:srgbClr val="5D6F82"/>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511800" y="3035300"/>
            <a:ext cx="1168400" cy="388620"/>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5D6F82"/>
                </a:solidFill>
                <a:latin typeface="Arial"/>
              </a:rPr>
              <a:t>Peer health</a:t>
            </a:r>
          </a:p>
          <a:p>
            <a:pPr algn="ctr">
              <a:lnSpc>
                <a:spcPts val="1380"/>
              </a:lnSpc>
              <a:spcBef>
                <a:spcPts val="0"/>
              </a:spcBef>
              <a:spcAft>
                <a:spcPts val="0"/>
              </a:spcAft>
            </a:pPr>
            <a:r>
              <a:rPr sz="1200" b="1">
                <a:solidFill>
                  <a:srgbClr val="5D6F82"/>
                </a:solidFill>
                <a:latin typeface="Arial"/>
              </a:rPr>
              <a:t>via DNS</a:t>
            </a:r>
          </a:p>
        </p:txBody>
      </p:sp>
      <p:sp>
        <p:nvSpPr>
          <p:cNvPr id="46" name="TextBox 45"/>
          <p:cNvSpPr txBox="1"/>
          <p:nvPr/>
        </p:nvSpPr>
        <p:spPr>
          <a:xfrm>
            <a:off x="609600" y="5524500"/>
            <a:ext cx="10972800" cy="213359"/>
          </a:xfrm>
          <a:prstGeom prst="rect">
            <a:avLst/>
          </a:prstGeom>
          <a:noFill/>
        </p:spPr>
        <p:txBody>
          <a:bodyPr wrap="none" lIns="0" rIns="0" tIns="0" bIns="0" anchor="t">
            <a:noAutofit/>
          </a:bodyPr>
          <a:lstStyle/>
          <a:p>
            <a:pPr algn="ctr">
              <a:lnSpc>
                <a:spcPts val="1380"/>
              </a:lnSpc>
              <a:spcBef>
                <a:spcPts val="0"/>
              </a:spcBef>
              <a:spcAft>
                <a:spcPts val="0"/>
              </a:spcAft>
            </a:pPr>
            <a:r>
              <a:rPr sz="1200" b="0">
                <a:solidFill>
                  <a:srgbClr val="5D6F82"/>
                </a:solidFill>
                <a:latin typeface="Arial"/>
              </a:rPr>
              <a:t>Each k8gb controller queries peer CoreDNS.</a:t>
            </a:r>
          </a:p>
        </p:txBody>
      </p:sp>
      <p:sp>
        <p:nvSpPr>
          <p:cNvPr id="47" name="Rounded Rectangle 46"/>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7400" y="5892800"/>
            <a:ext cx="10617200" cy="301625"/>
          </a:xfrm>
          <a:prstGeom prst="rect">
            <a:avLst/>
          </a:prstGeom>
          <a:noFill/>
        </p:spPr>
        <p:txBody>
          <a:bodyPr wrap="none" lIns="0" rIns="0" tIns="0" bIns="0" anchor="t">
            <a:noAutofit/>
          </a:bodyPr>
          <a:lstStyle/>
          <a:p>
            <a:pPr algn="ctr">
              <a:lnSpc>
                <a:spcPts val="1900"/>
              </a:lnSpc>
              <a:spcBef>
                <a:spcPts val="0"/>
              </a:spcBef>
              <a:spcAft>
                <a:spcPts val="0"/>
              </a:spcAft>
            </a:pPr>
            <a:r>
              <a:rPr sz="1900" b="1">
                <a:solidFill>
                  <a:srgbClr val="142338"/>
                </a:solidFill>
                <a:latin typeface="Arial"/>
              </a:rPr>
              <a:t>Both authorities agree after reconciliation; client caches may lag.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APPENDIX · FAILOVER / 03</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A6 / 07</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A recovers: the strategy returns to A</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A’s application is ready again. The primary preference returns.</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2184400"/>
            <a:ext cx="4902200" cy="3251200"/>
          </a:xfrm>
          <a:prstGeom prst="roundRect">
            <a:avLst>
              <a:gd name="adj" fmla="val 3906"/>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2133600"/>
            <a:ext cx="4902200" cy="3251200"/>
          </a:xfrm>
          <a:prstGeom prst="roundRect">
            <a:avLst>
              <a:gd name="adj" fmla="val 3906"/>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89000" y="2146300"/>
            <a:ext cx="4343400" cy="0"/>
          </a:xfrm>
          <a:prstGeom prst="line">
            <a:avLst/>
          </a:prstGeom>
          <a:ln w="38100">
            <a:solidFill>
              <a:srgbClr val="2762C8"/>
            </a:solidFill>
          </a:ln>
        </p:spPr>
        <p:style>
          <a:lnRef idx="2">
            <a:schemeClr val="accent1"/>
          </a:lnRef>
          <a:fillRef idx="0">
            <a:schemeClr val="accent1"/>
          </a:fillRef>
          <a:effectRef idx="1">
            <a:schemeClr val="accent1"/>
          </a:effectRef>
          <a:fontRef idx="minor">
            <a:schemeClr val="tx1"/>
          </a:fontRef>
        </p:style>
      </p:cxnSp>
      <p:pic>
        <p:nvPicPr>
          <p:cNvPr id="13" name="Picture 12" descr="image.png"/>
          <p:cNvPicPr>
            <a:picLocks noChangeAspect="1"/>
          </p:cNvPicPr>
          <p:nvPr/>
        </p:nvPicPr>
        <p:blipFill>
          <a:blip r:embed="rId2"/>
          <a:stretch>
            <a:fillRect/>
          </a:stretch>
        </p:blipFill>
        <p:spPr>
          <a:xfrm>
            <a:off x="889000" y="2413000"/>
            <a:ext cx="546100" cy="546100"/>
          </a:xfrm>
          <a:prstGeom prst="rect">
            <a:avLst/>
          </a:prstGeom>
        </p:spPr>
      </p:pic>
      <p:sp>
        <p:nvSpPr>
          <p:cNvPr id="14" name="TextBox 13"/>
          <p:cNvSpPr txBox="1"/>
          <p:nvPr/>
        </p:nvSpPr>
        <p:spPr>
          <a:xfrm>
            <a:off x="1612900" y="2387600"/>
            <a:ext cx="3619500" cy="417830"/>
          </a:xfrm>
          <a:prstGeom prst="rect">
            <a:avLst/>
          </a:prstGeom>
          <a:noFill/>
        </p:spPr>
        <p:txBody>
          <a:bodyPr wrap="none" lIns="0" rIns="0" tIns="0" bIns="0" anchor="t">
            <a:noAutofit/>
          </a:bodyPr>
          <a:lstStyle/>
          <a:p>
            <a:pPr algn="l">
              <a:lnSpc>
                <a:spcPts val="2990"/>
              </a:lnSpc>
              <a:spcBef>
                <a:spcPts val="0"/>
              </a:spcBef>
              <a:spcAft>
                <a:spcPts val="0"/>
              </a:spcAft>
            </a:pPr>
            <a:r>
              <a:rPr sz="2600" b="1">
                <a:solidFill>
                  <a:srgbClr val="2762C8"/>
                </a:solidFill>
                <a:latin typeface="Arial"/>
              </a:rPr>
              <a:t>CLUSTER A</a:t>
            </a:r>
          </a:p>
        </p:txBody>
      </p:sp>
      <p:sp>
        <p:nvSpPr>
          <p:cNvPr id="15" name="TextBox 14"/>
          <p:cNvSpPr txBox="1"/>
          <p:nvPr/>
        </p:nvSpPr>
        <p:spPr>
          <a:xfrm>
            <a:off x="1612900" y="2857500"/>
            <a:ext cx="36195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5D6F82"/>
                </a:solidFill>
                <a:latin typeface="Arial"/>
              </a:rPr>
              <a:t>PRIMARY APPLICATION</a:t>
            </a:r>
          </a:p>
        </p:txBody>
      </p:sp>
      <p:sp>
        <p:nvSpPr>
          <p:cNvPr id="16" name="TextBox 15"/>
          <p:cNvSpPr txBox="1"/>
          <p:nvPr/>
        </p:nvSpPr>
        <p:spPr>
          <a:xfrm>
            <a:off x="889000" y="3340100"/>
            <a:ext cx="27178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5D6F82"/>
                </a:solidFill>
                <a:latin typeface="Arial"/>
              </a:rPr>
              <a:t>LOCAL WORKLOAD</a:t>
            </a:r>
          </a:p>
        </p:txBody>
      </p:sp>
      <p:sp>
        <p:nvSpPr>
          <p:cNvPr id="17" name="Rounded Rectangle 16"/>
          <p:cNvSpPr/>
          <p:nvPr/>
        </p:nvSpPr>
        <p:spPr>
          <a:xfrm>
            <a:off x="3810000" y="3251200"/>
            <a:ext cx="1422400" cy="317500"/>
          </a:xfrm>
          <a:prstGeom prst="roundRect">
            <a:avLst>
              <a:gd name="adj" fmla="val 48000"/>
            </a:avLst>
          </a:prstGeom>
          <a:solidFill>
            <a:srgbClr val="E8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73500" y="3302000"/>
            <a:ext cx="1295400" cy="222250"/>
          </a:xfrm>
          <a:prstGeom prst="rect">
            <a:avLst/>
          </a:prstGeom>
          <a:noFill/>
        </p:spPr>
        <p:txBody>
          <a:bodyPr wrap="none" lIns="0" rIns="0" tIns="0" bIns="0" anchor="t">
            <a:noAutofit/>
          </a:bodyPr>
          <a:lstStyle/>
          <a:p>
            <a:pPr algn="ctr">
              <a:lnSpc>
                <a:spcPts val="1400"/>
              </a:lnSpc>
              <a:spcBef>
                <a:spcPts val="0"/>
              </a:spcBef>
              <a:spcAft>
                <a:spcPts val="0"/>
              </a:spcAft>
            </a:pPr>
            <a:r>
              <a:rPr sz="1400" b="1">
                <a:solidFill>
                  <a:srgbClr val="177C58"/>
                </a:solidFill>
                <a:latin typeface="Arial"/>
              </a:rPr>
              <a:t>READY</a:t>
            </a:r>
          </a:p>
        </p:txBody>
      </p:sp>
      <p:cxnSp>
        <p:nvCxnSpPr>
          <p:cNvPr id="19" name="Connector 18"/>
          <p:cNvCxnSpPr/>
          <p:nvPr/>
        </p:nvCxnSpPr>
        <p:spPr>
          <a:xfrm>
            <a:off x="889000" y="3759200"/>
            <a:ext cx="4343400"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pic>
        <p:nvPicPr>
          <p:cNvPr id="20" name="Picture 19" descr="image.png"/>
          <p:cNvPicPr>
            <a:picLocks noChangeAspect="1"/>
          </p:cNvPicPr>
          <p:nvPr/>
        </p:nvPicPr>
        <p:blipFill>
          <a:blip r:embed="rId3"/>
          <a:stretch>
            <a:fillRect/>
          </a:stretch>
        </p:blipFill>
        <p:spPr>
          <a:xfrm>
            <a:off x="889000" y="3898900"/>
            <a:ext cx="431800" cy="431800"/>
          </a:xfrm>
          <a:prstGeom prst="rect">
            <a:avLst/>
          </a:prstGeom>
        </p:spPr>
      </p:pic>
      <p:sp>
        <p:nvSpPr>
          <p:cNvPr id="21" name="TextBox 20"/>
          <p:cNvSpPr txBox="1"/>
          <p:nvPr/>
        </p:nvSpPr>
        <p:spPr>
          <a:xfrm>
            <a:off x="1473200" y="3937000"/>
            <a:ext cx="37592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CoreDNS answer</a:t>
            </a:r>
          </a:p>
        </p:txBody>
      </p:sp>
      <p:sp>
        <p:nvSpPr>
          <p:cNvPr id="22" name="Rounded Rectangle 21"/>
          <p:cNvSpPr/>
          <p:nvPr/>
        </p:nvSpPr>
        <p:spPr>
          <a:xfrm>
            <a:off x="889000" y="4483100"/>
            <a:ext cx="4343400" cy="723900"/>
          </a:xfrm>
          <a:prstGeom prst="roundRect">
            <a:avLst>
              <a:gd name="adj" fmla="val 12280"/>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2200" y="4584700"/>
            <a:ext cx="3048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2762C8"/>
                </a:solidFill>
                <a:latin typeface="Arial"/>
              </a:rPr>
              <a:t>APPLICATION TARGET</a:t>
            </a:r>
          </a:p>
        </p:txBody>
      </p:sp>
      <p:sp>
        <p:nvSpPr>
          <p:cNvPr id="24" name="TextBox 23"/>
          <p:cNvSpPr txBox="1"/>
          <p:nvPr/>
        </p:nvSpPr>
        <p:spPr>
          <a:xfrm>
            <a:off x="1092200" y="4800600"/>
            <a:ext cx="30480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Cluster A IPs</a:t>
            </a:r>
          </a:p>
        </p:txBody>
      </p:sp>
      <p:sp>
        <p:nvSpPr>
          <p:cNvPr id="25" name="Oval 24"/>
          <p:cNvSpPr/>
          <p:nvPr/>
        </p:nvSpPr>
        <p:spPr>
          <a:xfrm>
            <a:off x="4584700" y="4635500"/>
            <a:ext cx="431800" cy="4318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84700" y="4686300"/>
            <a:ext cx="431800" cy="359409"/>
          </a:xfrm>
          <a:prstGeom prst="rect">
            <a:avLst/>
          </a:prstGeom>
          <a:noFill/>
        </p:spPr>
        <p:txBody>
          <a:bodyPr wrap="none" lIns="0" rIns="0" tIns="0" bIns="0" anchor="t">
            <a:noAutofit/>
          </a:bodyPr>
          <a:lstStyle/>
          <a:p>
            <a:pPr algn="ctr">
              <a:lnSpc>
                <a:spcPts val="2529"/>
              </a:lnSpc>
              <a:spcBef>
                <a:spcPts val="0"/>
              </a:spcBef>
              <a:spcAft>
                <a:spcPts val="0"/>
              </a:spcAft>
            </a:pPr>
            <a:r>
              <a:rPr sz="2200" b="1">
                <a:solidFill>
                  <a:srgbClr val="FFFFFF"/>
                </a:solidFill>
                <a:latin typeface="Arial"/>
              </a:rPr>
              <a:t>A</a:t>
            </a:r>
          </a:p>
        </p:txBody>
      </p:sp>
      <p:sp>
        <p:nvSpPr>
          <p:cNvPr id="27" name="Rounded Rectangle 26"/>
          <p:cNvSpPr/>
          <p:nvPr/>
        </p:nvSpPr>
        <p:spPr>
          <a:xfrm>
            <a:off x="6680200" y="2184400"/>
            <a:ext cx="4902200" cy="3251200"/>
          </a:xfrm>
          <a:prstGeom prst="roundRect">
            <a:avLst>
              <a:gd name="adj" fmla="val 3906"/>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680200" y="2133600"/>
            <a:ext cx="4902200" cy="3251200"/>
          </a:xfrm>
          <a:prstGeom prst="roundRect">
            <a:avLst>
              <a:gd name="adj" fmla="val 3906"/>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6959600" y="2146300"/>
            <a:ext cx="4343400" cy="0"/>
          </a:xfrm>
          <a:prstGeom prst="line">
            <a:avLst/>
          </a:prstGeom>
          <a:ln w="38100">
            <a:solidFill>
              <a:srgbClr val="087F85"/>
            </a:solidFill>
          </a:ln>
        </p:spPr>
        <p:style>
          <a:lnRef idx="2">
            <a:schemeClr val="accent1"/>
          </a:lnRef>
          <a:fillRef idx="0">
            <a:schemeClr val="accent1"/>
          </a:fillRef>
          <a:effectRef idx="1">
            <a:schemeClr val="accent1"/>
          </a:effectRef>
          <a:fontRef idx="minor">
            <a:schemeClr val="tx1"/>
          </a:fontRef>
        </p:style>
      </p:cxnSp>
      <p:pic>
        <p:nvPicPr>
          <p:cNvPr id="30" name="Picture 29" descr="image.png"/>
          <p:cNvPicPr>
            <a:picLocks noChangeAspect="1"/>
          </p:cNvPicPr>
          <p:nvPr/>
        </p:nvPicPr>
        <p:blipFill>
          <a:blip r:embed="rId2"/>
          <a:stretch>
            <a:fillRect/>
          </a:stretch>
        </p:blipFill>
        <p:spPr>
          <a:xfrm>
            <a:off x="6959600" y="2413000"/>
            <a:ext cx="546100" cy="546100"/>
          </a:xfrm>
          <a:prstGeom prst="rect">
            <a:avLst/>
          </a:prstGeom>
        </p:spPr>
      </p:pic>
      <p:sp>
        <p:nvSpPr>
          <p:cNvPr id="31" name="TextBox 30"/>
          <p:cNvSpPr txBox="1"/>
          <p:nvPr/>
        </p:nvSpPr>
        <p:spPr>
          <a:xfrm>
            <a:off x="7683500" y="2387600"/>
            <a:ext cx="3619500" cy="417830"/>
          </a:xfrm>
          <a:prstGeom prst="rect">
            <a:avLst/>
          </a:prstGeom>
          <a:noFill/>
        </p:spPr>
        <p:txBody>
          <a:bodyPr wrap="none" lIns="0" rIns="0" tIns="0" bIns="0" anchor="t">
            <a:noAutofit/>
          </a:bodyPr>
          <a:lstStyle/>
          <a:p>
            <a:pPr algn="l">
              <a:lnSpc>
                <a:spcPts val="2990"/>
              </a:lnSpc>
              <a:spcBef>
                <a:spcPts val="0"/>
              </a:spcBef>
              <a:spcAft>
                <a:spcPts val="0"/>
              </a:spcAft>
            </a:pPr>
            <a:r>
              <a:rPr sz="2600" b="1">
                <a:solidFill>
                  <a:srgbClr val="087F85"/>
                </a:solidFill>
                <a:latin typeface="Arial"/>
              </a:rPr>
              <a:t>CLUSTER B</a:t>
            </a:r>
          </a:p>
        </p:txBody>
      </p:sp>
      <p:sp>
        <p:nvSpPr>
          <p:cNvPr id="32" name="TextBox 31"/>
          <p:cNvSpPr txBox="1"/>
          <p:nvPr/>
        </p:nvSpPr>
        <p:spPr>
          <a:xfrm>
            <a:off x="7683500" y="2857500"/>
            <a:ext cx="36195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5D6F82"/>
                </a:solidFill>
                <a:latin typeface="Arial"/>
              </a:rPr>
              <a:t>SECONDARY APPLICATION</a:t>
            </a:r>
          </a:p>
        </p:txBody>
      </p:sp>
      <p:sp>
        <p:nvSpPr>
          <p:cNvPr id="33" name="TextBox 32"/>
          <p:cNvSpPr txBox="1"/>
          <p:nvPr/>
        </p:nvSpPr>
        <p:spPr>
          <a:xfrm>
            <a:off x="6959600" y="3340100"/>
            <a:ext cx="2717800" cy="227965"/>
          </a:xfrm>
          <a:prstGeom prst="rect">
            <a:avLst/>
          </a:prstGeom>
          <a:noFill/>
        </p:spPr>
        <p:txBody>
          <a:bodyPr wrap="none" lIns="0" rIns="0" tIns="0" bIns="0" anchor="t">
            <a:noAutofit/>
          </a:bodyPr>
          <a:lstStyle/>
          <a:p>
            <a:pPr algn="l">
              <a:lnSpc>
                <a:spcPts val="1495"/>
              </a:lnSpc>
              <a:spcBef>
                <a:spcPts val="0"/>
              </a:spcBef>
              <a:spcAft>
                <a:spcPts val="0"/>
              </a:spcAft>
            </a:pPr>
            <a:r>
              <a:rPr sz="1300" b="1">
                <a:solidFill>
                  <a:srgbClr val="5D6F82"/>
                </a:solidFill>
                <a:latin typeface="Arial"/>
              </a:rPr>
              <a:t>LOCAL WORKLOAD</a:t>
            </a:r>
          </a:p>
        </p:txBody>
      </p:sp>
      <p:sp>
        <p:nvSpPr>
          <p:cNvPr id="34" name="Rounded Rectangle 33"/>
          <p:cNvSpPr/>
          <p:nvPr/>
        </p:nvSpPr>
        <p:spPr>
          <a:xfrm>
            <a:off x="9880600" y="3251200"/>
            <a:ext cx="1422400" cy="317500"/>
          </a:xfrm>
          <a:prstGeom prst="roundRect">
            <a:avLst>
              <a:gd name="adj" fmla="val 48000"/>
            </a:avLst>
          </a:prstGeom>
          <a:solidFill>
            <a:srgbClr val="E8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44100" y="3302000"/>
            <a:ext cx="1295400" cy="222250"/>
          </a:xfrm>
          <a:prstGeom prst="rect">
            <a:avLst/>
          </a:prstGeom>
          <a:noFill/>
        </p:spPr>
        <p:txBody>
          <a:bodyPr wrap="none" lIns="0" rIns="0" tIns="0" bIns="0" anchor="t">
            <a:noAutofit/>
          </a:bodyPr>
          <a:lstStyle/>
          <a:p>
            <a:pPr algn="ctr">
              <a:lnSpc>
                <a:spcPts val="1400"/>
              </a:lnSpc>
              <a:spcBef>
                <a:spcPts val="0"/>
              </a:spcBef>
              <a:spcAft>
                <a:spcPts val="0"/>
              </a:spcAft>
            </a:pPr>
            <a:r>
              <a:rPr sz="1400" b="1">
                <a:solidFill>
                  <a:srgbClr val="177C58"/>
                </a:solidFill>
                <a:latin typeface="Arial"/>
              </a:rPr>
              <a:t>READY</a:t>
            </a:r>
          </a:p>
        </p:txBody>
      </p:sp>
      <p:cxnSp>
        <p:nvCxnSpPr>
          <p:cNvPr id="36" name="Connector 35"/>
          <p:cNvCxnSpPr/>
          <p:nvPr/>
        </p:nvCxnSpPr>
        <p:spPr>
          <a:xfrm>
            <a:off x="6959600" y="3759200"/>
            <a:ext cx="4343400"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pic>
        <p:nvPicPr>
          <p:cNvPr id="37" name="Picture 36" descr="image.png"/>
          <p:cNvPicPr>
            <a:picLocks noChangeAspect="1"/>
          </p:cNvPicPr>
          <p:nvPr/>
        </p:nvPicPr>
        <p:blipFill>
          <a:blip r:embed="rId3"/>
          <a:stretch>
            <a:fillRect/>
          </a:stretch>
        </p:blipFill>
        <p:spPr>
          <a:xfrm>
            <a:off x="6959600" y="3898900"/>
            <a:ext cx="431800" cy="431800"/>
          </a:xfrm>
          <a:prstGeom prst="rect">
            <a:avLst/>
          </a:prstGeom>
        </p:spPr>
      </p:pic>
      <p:sp>
        <p:nvSpPr>
          <p:cNvPr id="38" name="TextBox 37"/>
          <p:cNvSpPr txBox="1"/>
          <p:nvPr/>
        </p:nvSpPr>
        <p:spPr>
          <a:xfrm>
            <a:off x="7543800" y="3937000"/>
            <a:ext cx="37592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CoreDNS answer</a:t>
            </a:r>
          </a:p>
        </p:txBody>
      </p:sp>
      <p:sp>
        <p:nvSpPr>
          <p:cNvPr id="39" name="Rounded Rectangle 38"/>
          <p:cNvSpPr/>
          <p:nvPr/>
        </p:nvSpPr>
        <p:spPr>
          <a:xfrm>
            <a:off x="6959600" y="4483100"/>
            <a:ext cx="4343400" cy="723900"/>
          </a:xfrm>
          <a:prstGeom prst="roundRect">
            <a:avLst>
              <a:gd name="adj" fmla="val 12280"/>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62800" y="4584700"/>
            <a:ext cx="3048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2762C8"/>
                </a:solidFill>
                <a:latin typeface="Arial"/>
              </a:rPr>
              <a:t>APPLICATION TARGET</a:t>
            </a:r>
          </a:p>
        </p:txBody>
      </p:sp>
      <p:sp>
        <p:nvSpPr>
          <p:cNvPr id="41" name="TextBox 40"/>
          <p:cNvSpPr txBox="1"/>
          <p:nvPr/>
        </p:nvSpPr>
        <p:spPr>
          <a:xfrm>
            <a:off x="7162800" y="4800600"/>
            <a:ext cx="30480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142338"/>
                </a:solidFill>
                <a:latin typeface="Arial"/>
              </a:rPr>
              <a:t>Cluster A IPs</a:t>
            </a:r>
          </a:p>
        </p:txBody>
      </p:sp>
      <p:sp>
        <p:nvSpPr>
          <p:cNvPr id="42" name="Oval 41"/>
          <p:cNvSpPr/>
          <p:nvPr/>
        </p:nvSpPr>
        <p:spPr>
          <a:xfrm>
            <a:off x="10655300" y="4635500"/>
            <a:ext cx="431800" cy="43180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55300" y="4686300"/>
            <a:ext cx="431800" cy="359409"/>
          </a:xfrm>
          <a:prstGeom prst="rect">
            <a:avLst/>
          </a:prstGeom>
          <a:noFill/>
        </p:spPr>
        <p:txBody>
          <a:bodyPr wrap="none" lIns="0" rIns="0" tIns="0" bIns="0" anchor="t">
            <a:noAutofit/>
          </a:bodyPr>
          <a:lstStyle/>
          <a:p>
            <a:pPr algn="ctr">
              <a:lnSpc>
                <a:spcPts val="2529"/>
              </a:lnSpc>
              <a:spcBef>
                <a:spcPts val="0"/>
              </a:spcBef>
              <a:spcAft>
                <a:spcPts val="0"/>
              </a:spcAft>
            </a:pPr>
            <a:r>
              <a:rPr sz="2200" b="1">
                <a:solidFill>
                  <a:srgbClr val="FFFFFF"/>
                </a:solidFill>
                <a:latin typeface="Arial"/>
              </a:rPr>
              <a:t>A</a:t>
            </a:r>
          </a:p>
        </p:txBody>
      </p:sp>
      <p:cxnSp>
        <p:nvCxnSpPr>
          <p:cNvPr id="44" name="Connector 43"/>
          <p:cNvCxnSpPr/>
          <p:nvPr/>
        </p:nvCxnSpPr>
        <p:spPr>
          <a:xfrm>
            <a:off x="5511800" y="3568700"/>
            <a:ext cx="1168400" cy="0"/>
          </a:xfrm>
          <a:prstGeom prst="line">
            <a:avLst/>
          </a:prstGeom>
          <a:ln w="19050">
            <a:solidFill>
              <a:srgbClr val="5D6F82"/>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511800" y="3035300"/>
            <a:ext cx="1168400" cy="388620"/>
          </a:xfrm>
          <a:prstGeom prst="rect">
            <a:avLst/>
          </a:prstGeom>
          <a:noFill/>
        </p:spPr>
        <p:txBody>
          <a:bodyPr wrap="none" lIns="0" rIns="0" tIns="0" bIns="0" anchor="t">
            <a:noAutofit/>
          </a:bodyPr>
          <a:lstStyle/>
          <a:p>
            <a:pPr algn="ctr">
              <a:lnSpc>
                <a:spcPts val="1380"/>
              </a:lnSpc>
              <a:spcBef>
                <a:spcPts val="0"/>
              </a:spcBef>
              <a:spcAft>
                <a:spcPts val="0"/>
              </a:spcAft>
            </a:pPr>
            <a:r>
              <a:rPr sz="1200" b="1">
                <a:solidFill>
                  <a:srgbClr val="5D6F82"/>
                </a:solidFill>
                <a:latin typeface="Arial"/>
              </a:rPr>
              <a:t>Peer health</a:t>
            </a:r>
          </a:p>
          <a:p>
            <a:pPr algn="ctr">
              <a:lnSpc>
                <a:spcPts val="1380"/>
              </a:lnSpc>
              <a:spcBef>
                <a:spcPts val="0"/>
              </a:spcBef>
              <a:spcAft>
                <a:spcPts val="0"/>
              </a:spcAft>
            </a:pPr>
            <a:r>
              <a:rPr sz="1200" b="1">
                <a:solidFill>
                  <a:srgbClr val="5D6F82"/>
                </a:solidFill>
                <a:latin typeface="Arial"/>
              </a:rPr>
              <a:t>via DNS</a:t>
            </a:r>
          </a:p>
        </p:txBody>
      </p:sp>
      <p:sp>
        <p:nvSpPr>
          <p:cNvPr id="46" name="TextBox 45"/>
          <p:cNvSpPr txBox="1"/>
          <p:nvPr/>
        </p:nvSpPr>
        <p:spPr>
          <a:xfrm>
            <a:off x="609600" y="5524500"/>
            <a:ext cx="10972800" cy="213359"/>
          </a:xfrm>
          <a:prstGeom prst="rect">
            <a:avLst/>
          </a:prstGeom>
          <a:noFill/>
        </p:spPr>
        <p:txBody>
          <a:bodyPr wrap="none" lIns="0" rIns="0" tIns="0" bIns="0" anchor="t">
            <a:noAutofit/>
          </a:bodyPr>
          <a:lstStyle/>
          <a:p>
            <a:pPr algn="ctr">
              <a:lnSpc>
                <a:spcPts val="1380"/>
              </a:lnSpc>
              <a:spcBef>
                <a:spcPts val="0"/>
              </a:spcBef>
              <a:spcAft>
                <a:spcPts val="0"/>
              </a:spcAft>
            </a:pPr>
            <a:r>
              <a:rPr sz="1200" b="0">
                <a:solidFill>
                  <a:srgbClr val="5D6F82"/>
                </a:solidFill>
                <a:latin typeface="Arial"/>
              </a:rPr>
              <a:t>Each k8gb controller queries peer CoreDNS.</a:t>
            </a:r>
          </a:p>
        </p:txBody>
      </p:sp>
      <p:sp>
        <p:nvSpPr>
          <p:cNvPr id="47" name="Rounded Rectangle 46"/>
          <p:cNvSpPr/>
          <p:nvPr/>
        </p:nvSpPr>
        <p:spPr>
          <a:xfrm>
            <a:off x="609600" y="5816600"/>
            <a:ext cx="10972800" cy="457200"/>
          </a:xfrm>
          <a:prstGeom prst="roundRect">
            <a:avLst>
              <a:gd name="adj" fmla="val 1388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7400" y="5892800"/>
            <a:ext cx="10617200" cy="301625"/>
          </a:xfrm>
          <a:prstGeom prst="rect">
            <a:avLst/>
          </a:prstGeom>
          <a:noFill/>
        </p:spPr>
        <p:txBody>
          <a:bodyPr wrap="none" lIns="0" rIns="0" tIns="0" bIns="0" anchor="t">
            <a:noAutofit/>
          </a:bodyPr>
          <a:lstStyle/>
          <a:p>
            <a:pPr algn="ctr">
              <a:lnSpc>
                <a:spcPts val="1900"/>
              </a:lnSpc>
              <a:spcBef>
                <a:spcPts val="0"/>
              </a:spcBef>
              <a:spcAft>
                <a:spcPts val="0"/>
              </a:spcAft>
            </a:pPr>
            <a:r>
              <a:rPr sz="1900" b="1">
                <a:solidFill>
                  <a:srgbClr val="142338"/>
                </a:solidFill>
                <a:latin typeface="Arial"/>
              </a:rPr>
              <a:t>Both authorities agree after reconciliation; client caches may lag.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79400"/>
            <a:ext cx="9144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CF0035"/>
                </a:solidFill>
                <a:latin typeface="Arial"/>
              </a:rPr>
              <a:t>APPENDIX · AVAILABILITY MODEL</a:t>
            </a:r>
          </a:p>
        </p:txBody>
      </p:sp>
      <p:sp>
        <p:nvSpPr>
          <p:cNvPr id="4" name="TextBox 3"/>
          <p:cNvSpPr txBox="1"/>
          <p:nvPr/>
        </p:nvSpPr>
        <p:spPr>
          <a:xfrm>
            <a:off x="10693400" y="279400"/>
            <a:ext cx="889000" cy="184150"/>
          </a:xfrm>
          <a:prstGeom prst="rect">
            <a:avLst/>
          </a:prstGeom>
          <a:noFill/>
        </p:spPr>
        <p:txBody>
          <a:bodyPr wrap="none" lIns="0" rIns="0" tIns="0" bIns="0" anchor="t">
            <a:noAutofit/>
          </a:bodyPr>
          <a:lstStyle/>
          <a:p>
            <a:pPr algn="r">
              <a:lnSpc>
                <a:spcPts val="1150"/>
              </a:lnSpc>
              <a:spcBef>
                <a:spcPts val="0"/>
              </a:spcBef>
              <a:spcAft>
                <a:spcPts val="0"/>
              </a:spcAft>
            </a:pPr>
            <a:r>
              <a:rPr sz="1000" b="0">
                <a:solidFill>
                  <a:srgbClr val="5D6F82"/>
                </a:solidFill>
                <a:latin typeface="Arial"/>
              </a:rPr>
              <a:t>A7 / 07</a:t>
            </a:r>
          </a:p>
        </p:txBody>
      </p:sp>
      <p:sp>
        <p:nvSpPr>
          <p:cNvPr id="5" name="TextBox 4"/>
          <p:cNvSpPr txBox="1"/>
          <p:nvPr/>
        </p:nvSpPr>
        <p:spPr>
          <a:xfrm>
            <a:off x="609600" y="787400"/>
            <a:ext cx="10972800" cy="571500"/>
          </a:xfrm>
          <a:prstGeom prst="rect">
            <a:avLst/>
          </a:prstGeom>
          <a:noFill/>
        </p:spPr>
        <p:txBody>
          <a:bodyPr wrap="none" lIns="0" rIns="0" tIns="0" bIns="0" anchor="t">
            <a:noAutofit/>
          </a:bodyPr>
          <a:lstStyle/>
          <a:p>
            <a:pPr algn="l">
              <a:lnSpc>
                <a:spcPts val="3296"/>
              </a:lnSpc>
              <a:spcBef>
                <a:spcPts val="0"/>
              </a:spcBef>
              <a:spcAft>
                <a:spcPts val="0"/>
              </a:spcAft>
            </a:pPr>
            <a:r>
              <a:rPr sz="3200" b="1">
                <a:solidFill>
                  <a:srgbClr val="142338"/>
                </a:solidFill>
                <a:latin typeface="Arial"/>
              </a:rPr>
              <a:t>Traffic recovery is one part of availability</a:t>
            </a:r>
          </a:p>
        </p:txBody>
      </p:sp>
      <p:sp>
        <p:nvSpPr>
          <p:cNvPr id="6" name="TextBox 5"/>
          <p:cNvSpPr txBox="1"/>
          <p:nvPr/>
        </p:nvSpPr>
        <p:spPr>
          <a:xfrm>
            <a:off x="622300" y="1460500"/>
            <a:ext cx="10934700" cy="300990"/>
          </a:xfrm>
          <a:prstGeom prst="rect">
            <a:avLst/>
          </a:prstGeom>
          <a:noFill/>
        </p:spPr>
        <p:txBody>
          <a:bodyPr wrap="none" lIns="0" rIns="0" tIns="0" bIns="0" anchor="t">
            <a:noAutofit/>
          </a:bodyPr>
          <a:lstStyle/>
          <a:p>
            <a:pPr algn="l">
              <a:lnSpc>
                <a:spcPts val="2070"/>
              </a:lnSpc>
              <a:spcBef>
                <a:spcPts val="0"/>
              </a:spcBef>
              <a:spcAft>
                <a:spcPts val="0"/>
              </a:spcAft>
            </a:pPr>
            <a:r>
              <a:rPr sz="1800" b="0">
                <a:solidFill>
                  <a:srgbClr val="5D6F82"/>
                </a:solidFill>
                <a:latin typeface="Arial"/>
              </a:rPr>
              <a:t>DNS failover, data recovery, and sessions need separate plans.</a:t>
            </a:r>
          </a:p>
        </p:txBody>
      </p:sp>
      <p:cxnSp>
        <p:nvCxnSpPr>
          <p:cNvPr id="7" name="Connector 6"/>
          <p:cNvCxnSpPr/>
          <p:nvPr/>
        </p:nvCxnSpPr>
        <p:spPr>
          <a:xfrm>
            <a:off x="609600" y="6426200"/>
            <a:ext cx="10972800" cy="0"/>
          </a:xfrm>
          <a:prstGeom prst="line">
            <a:avLst/>
          </a:prstGeom>
          <a:ln w="8890">
            <a:solidFill>
              <a:srgbClr val="DAE2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6553200"/>
            <a:ext cx="4318000" cy="169545"/>
          </a:xfrm>
          <a:prstGeom prst="rect">
            <a:avLst/>
          </a:prstGeom>
          <a:noFill/>
        </p:spPr>
        <p:txBody>
          <a:bodyPr wrap="none" lIns="0" rIns="0" tIns="0" bIns="0" anchor="t">
            <a:noAutofit/>
          </a:bodyPr>
          <a:lstStyle/>
          <a:p>
            <a:pPr algn="l">
              <a:lnSpc>
                <a:spcPts val="1035"/>
              </a:lnSpc>
              <a:spcBef>
                <a:spcPts val="0"/>
              </a:spcBef>
              <a:spcAft>
                <a:spcPts val="0"/>
              </a:spcAft>
            </a:pPr>
            <a:r>
              <a:rPr sz="900" b="1">
                <a:solidFill>
                  <a:srgbClr val="5D6F82"/>
                </a:solidFill>
                <a:latin typeface="Arial"/>
              </a:rPr>
              <a:t>SOVEREIGN CLOUD DAYS 2026</a:t>
            </a:r>
          </a:p>
        </p:txBody>
      </p:sp>
      <p:sp>
        <p:nvSpPr>
          <p:cNvPr id="9" name="TextBox 8"/>
          <p:cNvSpPr txBox="1"/>
          <p:nvPr/>
        </p:nvSpPr>
        <p:spPr>
          <a:xfrm>
            <a:off x="8255000" y="6553200"/>
            <a:ext cx="3327400" cy="169545"/>
          </a:xfrm>
          <a:prstGeom prst="rect">
            <a:avLst/>
          </a:prstGeom>
          <a:noFill/>
        </p:spPr>
        <p:txBody>
          <a:bodyPr wrap="none" lIns="0" rIns="0" tIns="0" bIns="0" anchor="t">
            <a:noAutofit/>
          </a:bodyPr>
          <a:lstStyle/>
          <a:p>
            <a:pPr algn="r">
              <a:lnSpc>
                <a:spcPts val="1035"/>
              </a:lnSpc>
              <a:spcBef>
                <a:spcPts val="0"/>
              </a:spcBef>
              <a:spcAft>
                <a:spcPts val="0"/>
              </a:spcAft>
            </a:pPr>
            <a:r>
              <a:rPr sz="900" b="0">
                <a:solidFill>
                  <a:srgbClr val="5D6F82"/>
                </a:solidFill>
                <a:latin typeface="Arial"/>
              </a:rPr>
              <a:t>YURY TSAREV  /  K8GB</a:t>
            </a:r>
          </a:p>
        </p:txBody>
      </p:sp>
      <p:sp>
        <p:nvSpPr>
          <p:cNvPr id="10" name="Rounded Rectangle 9"/>
          <p:cNvSpPr/>
          <p:nvPr/>
        </p:nvSpPr>
        <p:spPr>
          <a:xfrm>
            <a:off x="609600" y="2209800"/>
            <a:ext cx="7035800" cy="3429000"/>
          </a:xfrm>
          <a:prstGeom prst="roundRect">
            <a:avLst>
              <a:gd name="adj" fmla="val 3703"/>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600" y="2159000"/>
            <a:ext cx="7035800" cy="3429000"/>
          </a:xfrm>
          <a:prstGeom prst="roundRect">
            <a:avLst>
              <a:gd name="adj" fmla="val 3703"/>
            </a:avLst>
          </a:prstGeom>
          <a:solidFill>
            <a:srgbClr val="FFFFFF"/>
          </a:solidFill>
          <a:ln w="12700">
            <a:solidFill>
              <a:srgbClr val="DA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863600" y="2367676"/>
            <a:ext cx="457200" cy="446247"/>
          </a:xfrm>
          <a:prstGeom prst="rect">
            <a:avLst/>
          </a:prstGeom>
        </p:spPr>
      </p:pic>
      <p:sp>
        <p:nvSpPr>
          <p:cNvPr id="13" name="TextBox 12"/>
          <p:cNvSpPr txBox="1"/>
          <p:nvPr/>
        </p:nvSpPr>
        <p:spPr>
          <a:xfrm>
            <a:off x="1473200" y="2476500"/>
            <a:ext cx="5918200" cy="300990"/>
          </a:xfrm>
          <a:prstGeom prst="rect">
            <a:avLst/>
          </a:prstGeom>
          <a:noFill/>
        </p:spPr>
        <p:txBody>
          <a:bodyPr wrap="none" lIns="0" rIns="0" tIns="0" bIns="0" anchor="t">
            <a:noAutofit/>
          </a:bodyPr>
          <a:lstStyle/>
          <a:p>
            <a:pPr algn="l">
              <a:lnSpc>
                <a:spcPts val="2070"/>
              </a:lnSpc>
              <a:spcBef>
                <a:spcPts val="0"/>
              </a:spcBef>
              <a:spcAft>
                <a:spcPts val="0"/>
              </a:spcAft>
            </a:pPr>
            <a:r>
              <a:rPr sz="1800" b="1">
                <a:solidFill>
                  <a:srgbClr val="142338"/>
                </a:solidFill>
                <a:latin typeface="Arial"/>
              </a:rPr>
              <a:t>k8gb · TRAFFIC STEERING</a:t>
            </a:r>
          </a:p>
        </p:txBody>
      </p:sp>
      <p:cxnSp>
        <p:nvCxnSpPr>
          <p:cNvPr id="14" name="Connector 13"/>
          <p:cNvCxnSpPr/>
          <p:nvPr/>
        </p:nvCxnSpPr>
        <p:spPr>
          <a:xfrm>
            <a:off x="863600" y="2959100"/>
            <a:ext cx="6527800"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701800" y="3149600"/>
            <a:ext cx="2540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5D6F82"/>
                </a:solidFill>
                <a:latin typeface="Arial"/>
              </a:rPr>
              <a:t>FAILURE</a:t>
            </a:r>
          </a:p>
        </p:txBody>
      </p:sp>
      <p:sp>
        <p:nvSpPr>
          <p:cNvPr id="16" name="TextBox 15"/>
          <p:cNvSpPr txBox="1"/>
          <p:nvPr/>
        </p:nvSpPr>
        <p:spPr>
          <a:xfrm>
            <a:off x="5105400" y="3149600"/>
            <a:ext cx="2286000" cy="184150"/>
          </a:xfrm>
          <a:prstGeom prst="rect">
            <a:avLst/>
          </a:prstGeom>
          <a:noFill/>
        </p:spPr>
        <p:txBody>
          <a:bodyPr wrap="none" lIns="0" rIns="0" tIns="0" bIns="0" anchor="t">
            <a:noAutofit/>
          </a:bodyPr>
          <a:lstStyle/>
          <a:p>
            <a:pPr algn="l">
              <a:lnSpc>
                <a:spcPts val="1150"/>
              </a:lnSpc>
              <a:spcBef>
                <a:spcPts val="0"/>
              </a:spcBef>
              <a:spcAft>
                <a:spcPts val="0"/>
              </a:spcAft>
            </a:pPr>
            <a:r>
              <a:rPr sz="1000" b="1">
                <a:solidFill>
                  <a:srgbClr val="2762C8"/>
                </a:solidFill>
                <a:latin typeface="Arial"/>
              </a:rPr>
              <a:t>DNS RESPONSE</a:t>
            </a:r>
          </a:p>
        </p:txBody>
      </p:sp>
      <p:cxnSp>
        <p:nvCxnSpPr>
          <p:cNvPr id="17" name="Connector 16"/>
          <p:cNvCxnSpPr/>
          <p:nvPr/>
        </p:nvCxnSpPr>
        <p:spPr>
          <a:xfrm>
            <a:off x="863600" y="4356100"/>
            <a:ext cx="6527800"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63600" y="3479800"/>
            <a:ext cx="685800" cy="685800"/>
          </a:xfrm>
          <a:prstGeom prst="roundRect">
            <a:avLst>
              <a:gd name="adj" fmla="val 18518"/>
            </a:avLst>
          </a:prstGeom>
          <a:solidFill>
            <a:srgbClr val="EA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01800" y="3505200"/>
            <a:ext cx="2667000" cy="315595"/>
          </a:xfrm>
          <a:prstGeom prst="rect">
            <a:avLst/>
          </a:prstGeom>
          <a:noFill/>
        </p:spPr>
        <p:txBody>
          <a:bodyPr wrap="none" lIns="0" rIns="0" tIns="0" bIns="0" anchor="t">
            <a:noAutofit/>
          </a:bodyPr>
          <a:lstStyle/>
          <a:p>
            <a:pPr algn="l">
              <a:lnSpc>
                <a:spcPts val="2185"/>
              </a:lnSpc>
              <a:spcBef>
                <a:spcPts val="0"/>
              </a:spcBef>
              <a:spcAft>
                <a:spcPts val="0"/>
              </a:spcAft>
            </a:pPr>
            <a:r>
              <a:rPr sz="1900" b="1">
                <a:solidFill>
                  <a:srgbClr val="142338"/>
                </a:solidFill>
                <a:latin typeface="Arial"/>
              </a:rPr>
              <a:t>APPLICATION</a:t>
            </a:r>
          </a:p>
        </p:txBody>
      </p:sp>
      <p:sp>
        <p:nvSpPr>
          <p:cNvPr id="20" name="TextBox 19"/>
          <p:cNvSpPr txBox="1"/>
          <p:nvPr/>
        </p:nvSpPr>
        <p:spPr>
          <a:xfrm>
            <a:off x="1701800" y="3924300"/>
            <a:ext cx="26670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Readiness lost</a:t>
            </a:r>
          </a:p>
        </p:txBody>
      </p:sp>
      <p:cxnSp>
        <p:nvCxnSpPr>
          <p:cNvPr id="21" name="Connector 20"/>
          <p:cNvCxnSpPr/>
          <p:nvPr/>
        </p:nvCxnSpPr>
        <p:spPr>
          <a:xfrm>
            <a:off x="4419600" y="3810000"/>
            <a:ext cx="482600" cy="0"/>
          </a:xfrm>
          <a:prstGeom prst="line">
            <a:avLst/>
          </a:prstGeom>
          <a:ln w="25400">
            <a:solidFill>
              <a:srgbClr val="2762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105400" y="3581400"/>
            <a:ext cx="2286000" cy="609600"/>
          </a:xfrm>
          <a:prstGeom prst="rect">
            <a:avLst/>
          </a:prstGeom>
          <a:noFill/>
        </p:spPr>
        <p:txBody>
          <a:bodyPr wrap="none" lIns="0" rIns="0" tIns="0" bIns="0" anchor="t">
            <a:noAutofit/>
          </a:bodyPr>
          <a:lstStyle/>
          <a:p>
            <a:pPr algn="l">
              <a:lnSpc>
                <a:spcPts val="2250"/>
              </a:lnSpc>
              <a:spcBef>
                <a:spcPts val="0"/>
              </a:spcBef>
              <a:spcAft>
                <a:spcPts val="0"/>
              </a:spcAft>
            </a:pPr>
            <a:r>
              <a:rPr sz="1800" b="1">
                <a:solidFill>
                  <a:srgbClr val="2762C8"/>
                </a:solidFill>
                <a:latin typeface="Arial"/>
              </a:rPr>
              <a:t>Exclude unready</a:t>
            </a:r>
          </a:p>
          <a:p>
            <a:pPr algn="l">
              <a:lnSpc>
                <a:spcPts val="2250"/>
              </a:lnSpc>
              <a:spcBef>
                <a:spcPts val="0"/>
              </a:spcBef>
              <a:spcAft>
                <a:spcPts val="0"/>
              </a:spcAft>
            </a:pPr>
            <a:r>
              <a:rPr sz="1800" b="1">
                <a:solidFill>
                  <a:srgbClr val="2762C8"/>
                </a:solidFill>
                <a:latin typeface="Arial"/>
              </a:rPr>
              <a:t>targets</a:t>
            </a:r>
          </a:p>
        </p:txBody>
      </p:sp>
      <p:sp>
        <p:nvSpPr>
          <p:cNvPr id="23" name="Rounded Rectangle 22"/>
          <p:cNvSpPr/>
          <p:nvPr/>
        </p:nvSpPr>
        <p:spPr>
          <a:xfrm>
            <a:off x="863600" y="4597400"/>
            <a:ext cx="685800" cy="685800"/>
          </a:xfrm>
          <a:prstGeom prst="roundRect">
            <a:avLst>
              <a:gd name="adj" fmla="val 18518"/>
            </a:avLst>
          </a:prstGeom>
          <a:solidFill>
            <a:srgbClr val="E8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01800" y="4622800"/>
            <a:ext cx="2667000" cy="315595"/>
          </a:xfrm>
          <a:prstGeom prst="rect">
            <a:avLst/>
          </a:prstGeom>
          <a:noFill/>
        </p:spPr>
        <p:txBody>
          <a:bodyPr wrap="none" lIns="0" rIns="0" tIns="0" bIns="0" anchor="t">
            <a:noAutofit/>
          </a:bodyPr>
          <a:lstStyle/>
          <a:p>
            <a:pPr algn="l">
              <a:lnSpc>
                <a:spcPts val="2185"/>
              </a:lnSpc>
              <a:spcBef>
                <a:spcPts val="0"/>
              </a:spcBef>
              <a:spcAft>
                <a:spcPts val="0"/>
              </a:spcAft>
            </a:pPr>
            <a:r>
              <a:rPr sz="1900" b="1">
                <a:solidFill>
                  <a:srgbClr val="142338"/>
                </a:solidFill>
                <a:latin typeface="Arial"/>
              </a:rPr>
              <a:t>CLUSTER / REGION</a:t>
            </a:r>
          </a:p>
        </p:txBody>
      </p:sp>
      <p:sp>
        <p:nvSpPr>
          <p:cNvPr id="25" name="TextBox 24"/>
          <p:cNvSpPr txBox="1"/>
          <p:nvPr/>
        </p:nvSpPr>
        <p:spPr>
          <a:xfrm>
            <a:off x="1701800" y="5041900"/>
            <a:ext cx="2667000" cy="271780"/>
          </a:xfrm>
          <a:prstGeom prst="rect">
            <a:avLst/>
          </a:prstGeom>
          <a:noFill/>
        </p:spPr>
        <p:txBody>
          <a:bodyPr wrap="none" lIns="0" rIns="0" tIns="0" bIns="0" anchor="t">
            <a:noAutofit/>
          </a:bodyPr>
          <a:lstStyle/>
          <a:p>
            <a:pPr algn="l">
              <a:lnSpc>
                <a:spcPts val="1839"/>
              </a:lnSpc>
              <a:spcBef>
                <a:spcPts val="0"/>
              </a:spcBef>
              <a:spcAft>
                <a:spcPts val="0"/>
              </a:spcAft>
            </a:pPr>
            <a:r>
              <a:rPr sz="1600" b="0">
                <a:solidFill>
                  <a:srgbClr val="5D6F82"/>
                </a:solidFill>
                <a:latin typeface="Arial"/>
              </a:rPr>
              <a:t>Cluster unavailable</a:t>
            </a:r>
          </a:p>
        </p:txBody>
      </p:sp>
      <p:cxnSp>
        <p:nvCxnSpPr>
          <p:cNvPr id="26" name="Connector 25"/>
          <p:cNvCxnSpPr/>
          <p:nvPr/>
        </p:nvCxnSpPr>
        <p:spPr>
          <a:xfrm>
            <a:off x="4419600" y="4927600"/>
            <a:ext cx="482600" cy="0"/>
          </a:xfrm>
          <a:prstGeom prst="line">
            <a:avLst/>
          </a:prstGeom>
          <a:ln w="25400">
            <a:solidFill>
              <a:srgbClr val="087F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105400" y="4699000"/>
            <a:ext cx="2286000" cy="609600"/>
          </a:xfrm>
          <a:prstGeom prst="rect">
            <a:avLst/>
          </a:prstGeom>
          <a:noFill/>
        </p:spPr>
        <p:txBody>
          <a:bodyPr wrap="none" lIns="0" rIns="0" tIns="0" bIns="0" anchor="t">
            <a:noAutofit/>
          </a:bodyPr>
          <a:lstStyle/>
          <a:p>
            <a:pPr algn="l">
              <a:lnSpc>
                <a:spcPts val="2250"/>
              </a:lnSpc>
              <a:spcBef>
                <a:spcPts val="0"/>
              </a:spcBef>
              <a:spcAft>
                <a:spcPts val="0"/>
              </a:spcAft>
            </a:pPr>
            <a:r>
              <a:rPr sz="1800" b="1">
                <a:solidFill>
                  <a:srgbClr val="087F85"/>
                </a:solidFill>
                <a:latin typeface="Arial"/>
              </a:rPr>
              <a:t>Publish healthy</a:t>
            </a:r>
          </a:p>
          <a:p>
            <a:pPr algn="l">
              <a:lnSpc>
                <a:spcPts val="2250"/>
              </a:lnSpc>
              <a:spcBef>
                <a:spcPts val="0"/>
              </a:spcBef>
              <a:spcAft>
                <a:spcPts val="0"/>
              </a:spcAft>
            </a:pPr>
            <a:r>
              <a:rPr sz="1800" b="1">
                <a:solidFill>
                  <a:srgbClr val="087F85"/>
                </a:solidFill>
                <a:latin typeface="Arial"/>
              </a:rPr>
              <a:t>cluster targets</a:t>
            </a:r>
          </a:p>
        </p:txBody>
      </p:sp>
      <p:sp>
        <p:nvSpPr>
          <p:cNvPr id="28" name="Rounded Rectangle 27"/>
          <p:cNvSpPr/>
          <p:nvPr/>
        </p:nvSpPr>
        <p:spPr>
          <a:xfrm>
            <a:off x="990600" y="3581400"/>
            <a:ext cx="431800" cy="393700"/>
          </a:xfrm>
          <a:prstGeom prst="roundRect">
            <a:avLst>
              <a:gd name="adj" fmla="val 12903"/>
            </a:avLst>
          </a:prstGeom>
          <a:solidFill>
            <a:srgbClr val="FFFFFF"/>
          </a:solidFill>
          <a:ln w="20320">
            <a:solidFill>
              <a:srgbClr val="276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990600" y="3683000"/>
            <a:ext cx="431800" cy="0"/>
          </a:xfrm>
          <a:prstGeom prst="line">
            <a:avLst/>
          </a:prstGeom>
          <a:ln w="16510">
            <a:solidFill>
              <a:srgbClr val="2762C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038860" y="3616960"/>
            <a:ext cx="30480" cy="3048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02360" y="3616960"/>
            <a:ext cx="30480" cy="3048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65860" y="3616960"/>
            <a:ext cx="30480" cy="30480"/>
          </a:xfrm>
          <a:prstGeom prst="ellipse">
            <a:avLst/>
          </a:prstGeom>
          <a:solidFill>
            <a:srgbClr val="276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1143000" y="3784600"/>
            <a:ext cx="101600" cy="101600"/>
          </a:xfrm>
          <a:prstGeom prst="line">
            <a:avLst/>
          </a:prstGeom>
          <a:ln w="24130">
            <a:solidFill>
              <a:srgbClr val="CF003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143000" y="3784600"/>
            <a:ext cx="101600" cy="101600"/>
          </a:xfrm>
          <a:prstGeom prst="line">
            <a:avLst/>
          </a:prstGeom>
          <a:ln w="24130">
            <a:solidFill>
              <a:srgbClr val="CF0035"/>
            </a:solidFill>
          </a:ln>
        </p:spPr>
        <p:style>
          <a:lnRef idx="2">
            <a:schemeClr val="accent1"/>
          </a:lnRef>
          <a:fillRef idx="0">
            <a:schemeClr val="accent1"/>
          </a:fillRef>
          <a:effectRef idx="1">
            <a:schemeClr val="accent1"/>
          </a:effectRef>
          <a:fontRef idx="minor">
            <a:schemeClr val="tx1"/>
          </a:fontRef>
        </p:style>
      </p:cxnSp>
      <p:pic>
        <p:nvPicPr>
          <p:cNvPr id="35" name="Picture 34" descr="image.png"/>
          <p:cNvPicPr>
            <a:picLocks noChangeAspect="1"/>
          </p:cNvPicPr>
          <p:nvPr/>
        </p:nvPicPr>
        <p:blipFill>
          <a:blip r:embed="rId3"/>
          <a:stretch>
            <a:fillRect/>
          </a:stretch>
        </p:blipFill>
        <p:spPr>
          <a:xfrm>
            <a:off x="939800" y="4673600"/>
            <a:ext cx="533400" cy="533400"/>
          </a:xfrm>
          <a:prstGeom prst="rect">
            <a:avLst/>
          </a:prstGeom>
        </p:spPr>
      </p:pic>
      <p:sp>
        <p:nvSpPr>
          <p:cNvPr id="36" name="Rounded Rectangle 35"/>
          <p:cNvSpPr/>
          <p:nvPr/>
        </p:nvSpPr>
        <p:spPr>
          <a:xfrm>
            <a:off x="7950200" y="2209800"/>
            <a:ext cx="3632200" cy="3429000"/>
          </a:xfrm>
          <a:prstGeom prst="roundRect">
            <a:avLst>
              <a:gd name="adj" fmla="val 3703"/>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950200" y="2159000"/>
            <a:ext cx="3632200" cy="3429000"/>
          </a:xfrm>
          <a:prstGeom prst="roundRect">
            <a:avLst>
              <a:gd name="adj" fmla="val 3703"/>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8255000" y="2171700"/>
            <a:ext cx="3022600" cy="0"/>
          </a:xfrm>
          <a:prstGeom prst="line">
            <a:avLst/>
          </a:prstGeom>
          <a:ln w="38100">
            <a:solidFill>
              <a:srgbClr val="CF0035"/>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255000" y="2451100"/>
            <a:ext cx="3022600" cy="213359"/>
          </a:xfrm>
          <a:prstGeom prst="rect">
            <a:avLst/>
          </a:prstGeom>
          <a:noFill/>
        </p:spPr>
        <p:txBody>
          <a:bodyPr wrap="none" lIns="0" rIns="0" tIns="0" bIns="0" anchor="t">
            <a:noAutofit/>
          </a:bodyPr>
          <a:lstStyle/>
          <a:p>
            <a:pPr algn="l">
              <a:lnSpc>
                <a:spcPts val="1380"/>
              </a:lnSpc>
              <a:spcBef>
                <a:spcPts val="0"/>
              </a:spcBef>
              <a:spcAft>
                <a:spcPts val="0"/>
              </a:spcAft>
            </a:pPr>
            <a:r>
              <a:rPr sz="1200" b="1">
                <a:solidFill>
                  <a:srgbClr val="F79BB0"/>
                </a:solidFill>
                <a:latin typeface="Arial"/>
              </a:rPr>
              <a:t>APPLICATION RESPONSIBILITY</a:t>
            </a:r>
          </a:p>
        </p:txBody>
      </p:sp>
      <p:sp>
        <p:nvSpPr>
          <p:cNvPr id="40" name="Rounded Rectangle 39"/>
          <p:cNvSpPr/>
          <p:nvPr/>
        </p:nvSpPr>
        <p:spPr>
          <a:xfrm>
            <a:off x="8255000" y="2870200"/>
            <a:ext cx="812800" cy="812800"/>
          </a:xfrm>
          <a:prstGeom prst="roundRect">
            <a:avLst>
              <a:gd name="adj" fmla="val 18750"/>
            </a:avLst>
          </a:prstGeom>
          <a:solidFill>
            <a:srgbClr val="1A3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407400" y="3340100"/>
            <a:ext cx="508000" cy="152400"/>
          </a:xfrm>
          <a:prstGeom prst="ellipse">
            <a:avLst/>
          </a:prstGeom>
          <a:solidFill>
            <a:srgbClr val="1A3047"/>
          </a:solidFill>
          <a:ln w="21590">
            <a:solidFill>
              <a:srgbClr val="F7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07400" y="3162300"/>
            <a:ext cx="508000" cy="254000"/>
          </a:xfrm>
          <a:prstGeom prst="rect">
            <a:avLst/>
          </a:prstGeom>
          <a:solidFill>
            <a:srgbClr val="1A3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8407400" y="3162300"/>
            <a:ext cx="0" cy="254000"/>
          </a:xfrm>
          <a:prstGeom prst="line">
            <a:avLst/>
          </a:prstGeom>
          <a:ln w="21590">
            <a:solidFill>
              <a:srgbClr val="F79BB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915400" y="3162300"/>
            <a:ext cx="0" cy="254000"/>
          </a:xfrm>
          <a:prstGeom prst="line">
            <a:avLst/>
          </a:prstGeom>
          <a:ln w="21590">
            <a:solidFill>
              <a:srgbClr val="F79BB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8407400" y="3213100"/>
            <a:ext cx="508000" cy="152400"/>
          </a:xfrm>
          <a:prstGeom prst="ellipse">
            <a:avLst/>
          </a:prstGeom>
          <a:solidFill>
            <a:srgbClr val="1A3047"/>
          </a:solidFill>
          <a:ln w="21590">
            <a:solidFill>
              <a:srgbClr val="F7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407400" y="3086100"/>
            <a:ext cx="508000" cy="152400"/>
          </a:xfrm>
          <a:prstGeom prst="ellipse">
            <a:avLst/>
          </a:prstGeom>
          <a:solidFill>
            <a:srgbClr val="1A3047"/>
          </a:solidFill>
          <a:ln w="21590">
            <a:solidFill>
              <a:srgbClr val="F7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55000" y="3873500"/>
            <a:ext cx="3022600" cy="374015"/>
          </a:xfrm>
          <a:prstGeom prst="rect">
            <a:avLst/>
          </a:prstGeom>
          <a:noFill/>
        </p:spPr>
        <p:txBody>
          <a:bodyPr wrap="none" lIns="0" rIns="0" tIns="0" bIns="0" anchor="t">
            <a:noAutofit/>
          </a:bodyPr>
          <a:lstStyle/>
          <a:p>
            <a:pPr algn="l">
              <a:lnSpc>
                <a:spcPts val="2645"/>
              </a:lnSpc>
              <a:spcBef>
                <a:spcPts val="0"/>
              </a:spcBef>
              <a:spcAft>
                <a:spcPts val="0"/>
              </a:spcAft>
            </a:pPr>
            <a:r>
              <a:rPr sz="2300" b="1">
                <a:solidFill>
                  <a:srgbClr val="FFFFFF"/>
                </a:solidFill>
                <a:latin typeface="Arial"/>
              </a:rPr>
              <a:t>STATEFUL DATA</a:t>
            </a:r>
          </a:p>
        </p:txBody>
      </p:sp>
      <p:sp>
        <p:nvSpPr>
          <p:cNvPr id="48" name="TextBox 47"/>
          <p:cNvSpPr txBox="1"/>
          <p:nvPr/>
        </p:nvSpPr>
        <p:spPr>
          <a:xfrm>
            <a:off x="8255000" y="4394200"/>
            <a:ext cx="3022600" cy="609600"/>
          </a:xfrm>
          <a:prstGeom prst="rect">
            <a:avLst/>
          </a:prstGeom>
          <a:noFill/>
        </p:spPr>
        <p:txBody>
          <a:bodyPr wrap="none" lIns="0" rIns="0" tIns="0" bIns="0" anchor="t">
            <a:noAutofit/>
          </a:bodyPr>
          <a:lstStyle/>
          <a:p>
            <a:pPr algn="l">
              <a:lnSpc>
                <a:spcPts val="2250"/>
              </a:lnSpc>
              <a:spcBef>
                <a:spcPts val="0"/>
              </a:spcBef>
              <a:spcAft>
                <a:spcPts val="0"/>
              </a:spcAft>
            </a:pPr>
            <a:r>
              <a:rPr sz="1800" b="0">
                <a:solidFill>
                  <a:srgbClr val="B8C8D9"/>
                </a:solidFill>
                <a:latin typeface="Arial"/>
              </a:rPr>
              <a:t>Replication, fencing,</a:t>
            </a:r>
          </a:p>
          <a:p>
            <a:pPr algn="l">
              <a:lnSpc>
                <a:spcPts val="2250"/>
              </a:lnSpc>
              <a:spcBef>
                <a:spcPts val="0"/>
              </a:spcBef>
              <a:spcAft>
                <a:spcPts val="0"/>
              </a:spcAft>
            </a:pPr>
            <a:r>
              <a:rPr sz="1800" b="0">
                <a:solidFill>
                  <a:srgbClr val="B8C8D9"/>
                </a:solidFill>
                <a:latin typeface="Arial"/>
              </a:rPr>
              <a:t>and recovery are yours.</a:t>
            </a:r>
          </a:p>
        </p:txBody>
      </p:sp>
      <p:cxnSp>
        <p:nvCxnSpPr>
          <p:cNvPr id="49" name="Connector 48"/>
          <p:cNvCxnSpPr/>
          <p:nvPr/>
        </p:nvCxnSpPr>
        <p:spPr>
          <a:xfrm>
            <a:off x="8255000" y="5054600"/>
            <a:ext cx="3022600" cy="0"/>
          </a:xfrm>
          <a:prstGeom prst="line">
            <a:avLst/>
          </a:prstGeom>
          <a:ln w="12700">
            <a:solidFill>
              <a:srgbClr val="38506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255000" y="5207000"/>
            <a:ext cx="3022600" cy="257175"/>
          </a:xfrm>
          <a:prstGeom prst="rect">
            <a:avLst/>
          </a:prstGeom>
          <a:noFill/>
        </p:spPr>
        <p:txBody>
          <a:bodyPr wrap="none" lIns="0" rIns="0" tIns="0" bIns="0" anchor="t">
            <a:noAutofit/>
          </a:bodyPr>
          <a:lstStyle/>
          <a:p>
            <a:pPr algn="l">
              <a:lnSpc>
                <a:spcPts val="1725"/>
              </a:lnSpc>
              <a:spcBef>
                <a:spcPts val="0"/>
              </a:spcBef>
              <a:spcAft>
                <a:spcPts val="0"/>
              </a:spcAft>
            </a:pPr>
            <a:r>
              <a:rPr sz="1500" b="0">
                <a:solidFill>
                  <a:srgbClr val="F79BB0"/>
                </a:solidFill>
                <a:latin typeface="Arial"/>
              </a:rPr>
              <a:t>Plan session recovery too.</a:t>
            </a:r>
          </a:p>
        </p:txBody>
      </p:sp>
      <p:sp>
        <p:nvSpPr>
          <p:cNvPr id="51" name="Rounded Rectangle 50"/>
          <p:cNvSpPr/>
          <p:nvPr/>
        </p:nvSpPr>
        <p:spPr>
          <a:xfrm>
            <a:off x="609600" y="5816600"/>
            <a:ext cx="10972800" cy="457200"/>
          </a:xfrm>
          <a:prstGeom prst="roundRect">
            <a:avLst>
              <a:gd name="adj" fmla="val 16666"/>
            </a:avLst>
          </a:prstGeom>
          <a:solidFill>
            <a:srgbClr val="14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2800" y="5905500"/>
            <a:ext cx="10566400" cy="317500"/>
          </a:xfrm>
          <a:prstGeom prst="rect">
            <a:avLst/>
          </a:prstGeom>
          <a:noFill/>
        </p:spPr>
        <p:txBody>
          <a:bodyPr wrap="none" lIns="0" rIns="0" tIns="0" bIns="0" anchor="t">
            <a:noAutofit/>
          </a:bodyPr>
          <a:lstStyle/>
          <a:p>
            <a:pPr algn="ctr">
              <a:lnSpc>
                <a:spcPts val="2000"/>
              </a:lnSpc>
              <a:spcBef>
                <a:spcPts val="0"/>
              </a:spcBef>
              <a:spcAft>
                <a:spcPts val="0"/>
              </a:spcAft>
            </a:pPr>
            <a:r>
              <a:rPr sz="2000" b="1">
                <a:solidFill>
                  <a:srgbClr val="FFFFFF"/>
                </a:solidFill>
                <a:latin typeface="Arial"/>
              </a:rPr>
              <a:t>Traffic recovery ≠ data recovery ≠ session continuity.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Controls the Failover?</dc:title>
  <dc:subject>Sovereign Global Traffic Management with Kubernetes</dc:subject>
  <dc:creator>Yury Tsarev</dc:creator>
  <cp:keywords>k8gb, sovereignty, DNS, failover, Sovereign Cloud Days 2026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