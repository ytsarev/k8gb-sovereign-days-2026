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0–0.5 minutes elapsed.</a:t>
            </a:r>
          </a:p>
          <a:p/>
          <a:p>
            <a:r>
              <a:t>Open with one question: when a cluster disappears, who controls the next connection? Introduce yourself as k8gb creator and project lead. Set the route: first the product and a working local demo, then the operational cases to test. Reach Questions at 28:30 elapsed; reserve six minutes and thirty seconds for discussion.</a:t>
            </a:r>
          </a:p>
          <a:p/>
          <a:p>
            <a:r>
              <a:t>SOURCE CHECK</a:t>
            </a:r>
          </a:p>
          <a:p>
            <a:r>
              <a:t>Local k8gb checkout: 330d33335981b9716bc8ca245660d90893eae272</a:t>
            </a:r>
          </a:p>
          <a:p>
            <a:r>
              <a:t>https://www.sovereign-cloud-days.eu/event/sovereign-cloud-days-2026-1/track/who-controls-the-failover-sovereign-global-traffic-management-with-kubernetes-63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0.5–1.75 minutes elapsed.</a:t>
            </a:r>
          </a:p>
          <a:p/>
          <a:p>
            <a:r>
              <a:t>Use this single progression: replicas across workers address node loss; a cluster spread across availability zones addresses a wider failure domain; independent clusters need traffic steering for the same hostname. Point to one failed member at each level, then ask who sends the next request to a surviving cluster. End by zooming into the independent-cluster case on the next slide.</a:t>
            </a:r>
          </a:p>
          <a:p/>
          <a:p>
            <a:r>
              <a:t>SOURCE CHECK</a:t>
            </a:r>
          </a:p>
          <a:p>
            <a:r>
              <a:t>Local k8gb checkout: 330d33335981b9716bc8ca245660d90893eae272</a:t>
            </a:r>
          </a:p>
          <a:p>
            <a:r>
              <a:t>https://kubernetes.io/docs/concepts/scheduling-eviction/topology-spread-constraints/</a:t>
            </a:r>
          </a:p>
          <a:p>
            <a:r>
              <a:t>https://kubernetes.io/docs/concepts/services-networking/service/</a:t>
            </a:r>
          </a:p>
          <a:p>
            <a:r>
              <a:t>https://kubernetes.io/docs/concepts/workloads/controllers/deployment/</a:t>
            </a:r>
          </a:p>
          <a:p>
            <a:r>
              <a:t>https://kubernetes.io/docs/setup/best-practices/multiple-zones/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1.75–2.25 minutes elapsed.</a:t>
            </a:r>
          </a:p>
          <a:p/>
          <a:p>
            <a:r>
              <a:t>Spend 30 seconds zooming into the right-hand panel of the previous slide. This illustrative topology deploys the same application in three independent Kubernetes clusters: A in Europe on Cloud 1, B in North America on Cloud 2, and C in an on-premises datacenter in Asia Pacific. The provider and region labels are examples, not a prescribed deployment or a claim that a single cluster spans them. Cloud 1 and Cloud 2 represent different providers; the third site makes the example hybrid. Clients use one application hostname. A is unavailable; B and C are healthy candidate destinations. The connectors show the hostname’s logical destinations, not a central HTTP proxy, data replication or the detailed DNS lookup path. The chosen traffic strategy determines which healthy targets are returned; the picture does not prescribe a fixed fallback order or simultaneous traffic to both. Ask which healthy cluster should receive the next request, then introduce k8gb as Kubernetes Global Balancer. Keep DNS components, cache timing and data-recovery detail for the later slides.</a:t>
            </a:r>
          </a:p>
          <a:p/>
          <a:p>
            <a:r>
              <a:t>SOURCE CHECK</a:t>
            </a:r>
          </a:p>
          <a:p>
            <a:r>
              <a:t>Local k8gb checkout: 330d33335981b9716bc8ca245660d90893eae272</a:t>
            </a:r>
          </a:p>
          <a:p>
            <a:r>
              <a:t>https://github.com/k8gb-io/k8gb/blob/330d33335981b9716bc8ca245660d90893eae272/README.md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2.25–3.25 minutes elapsed.</a:t>
            </a:r>
          </a:p>
          <a:p/>
          <a:p>
            <a:r>
              <a:t>Start by expanding the name: k8gb means Kubernetes Global Balancer. It is Kubernetes-native, decentralized, and declarative. Each participating cluster has its own controller and authoritative DNS. There is no dedicated central management cluster. Mention two or more clusters and that the two-cluster drawings are examples; this is not a tested unlimited-scale claim. Readiness and the Gslb strategy determine eligible application targets. Move directly to the production origins.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https://github.com/k8gb-io/k8gb/blob/330d33335981b9716bc8ca245660d90893eae272/controllers/providers/k8gbendpoint/applicationDNSEndpoint.go</a:t>
            </a:r>
          </a:p>
          <a:p>
            <a:r>
              <a:t>https://github.com/k8gb-io/k8gb/blob/330d33335981b9716bc8ca245660d90893eae272/docs/resource_ref.md</a:t>
            </a:r>
          </a:p>
          <a:p>
            <a:r>
              <a:t>https://github.com/k8gb-io/k8gb/blob/330d33335981b9716bc8ca245660d90893eae272/docs/dynamic_geotags.md</a:t>
            </a:r>
          </a:p>
          <a:p>
            <a:r>
              <a:t>https://github.com/k8gb-io/k8gb/blob/330d33335981b9716bc8ca245660d90893eae272/api/v1beta1io/zonedelegation_types.go</a:t>
            </a:r>
          </a:p>
          <a:p>
            <a:r>
              <a:t>https://github.com/k8gb-io/k8gb/blob/330d33335981b9716bc8ca245660d90893eae272/controllers/resolver/config.go</a:t>
            </a:r>
          </a:p>
          <a:p>
            <a:r>
              <a:t>https://www.cncf.io/projects/k8gb/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3.25–3.75 minutes elapsed.</a:t>
            </a:r>
          </a:p>
          <a:p/>
          <a:p>
            <a:r>
              <a:t>Thirty-second history: originated at Absa for real production needs across on-prem datacenters and later hybrid deployments; CNCF Sandbox in 2021; adoption beyond Absa; Incubating in July 2026. The timeline is context, not a separate project-history talk.</a:t>
            </a:r>
          </a:p>
          <a:p/>
          <a:p>
            <a:r>
              <a:t>SOURCE CHECK</a:t>
            </a:r>
          </a:p>
          <a:p>
            <a:r>
              <a:t>Local k8gb checkout: 330d33335981b9716bc8ca245660d90893eae272</a:t>
            </a:r>
          </a:p>
          <a:p>
            <a:r>
              <a:t>https://github.com/k8gb-io/k8gb/blob/330d33335981b9716bc8ca245660d90893eae272/README.md#motivation-and-architecture</a:t>
            </a:r>
          </a:p>
          <a:p>
            <a:r>
              <a:t>https://github.com/k8gb-io/k8gb/blob/330d33335981b9716bc8ca245660d90893eae272/ADOPTERS.md</a:t>
            </a:r>
          </a:p>
          <a:p>
            <a:r>
              <a:t>https://www.cncf.io/projects/k8gb/</a:t>
            </a:r>
          </a:p>
          <a:p>
            <a:r>
              <a:t>https://www.cncf.io/announcements/2026/08/05/k8gb-becomes-a-cncf-incubating-project/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3.75–4.75 minutes elapsed.</a:t>
            </a:r>
          </a:p>
          <a:p/>
          <a:p>
            <a:r>
              <a:t>Spend 60 seconds on the main architecture diagram. Each cluster runs the application plus the same three DNS components. Point to the application strip: Gateway or Ingress forwards to a Service and its Pods. Kubernetes reflects Pod readiness in EndpointSlices; k8gb consumes these ready endpoints together with the Gslb strategy. The dashed upward arrow carries that readiness signal, while real application requests stay on the workload path. CoreDNS serves application-zone answers and ExternalDNS updates parent delegation. The parent directs resolvers to the cluster authorities. Peer health is learned by querying peer CoreDNS; the controllers do not elect a central leader. Two of N clusters are shown. Use the next slide for the three component roles and the request-path slide for the client lookup. The two reconciliation loops follow the component roles; the delegation diagram follows the client request path.</a:t>
            </a:r>
          </a:p>
          <a:p/>
          <a:p>
            <a:r>
              <a:t>SOURCE CHECK</a:t>
            </a:r>
          </a:p>
          <a:p>
            <a:r>
              <a:t>Local k8gb checkout: 330d33335981b9716bc8ca245660d90893eae272</a:t>
            </a:r>
          </a:p>
          <a:p>
            <a:r>
              <a:t>https://github.com/k8gb-io/k8gb/blob/330d33335981b9716bc8ca245660d90893eae272/controllers/zones/authoritative.go</a:t>
            </a:r>
          </a:p>
          <a:p>
            <a:r>
              <a:t>https://github.com/k8gb-io/k8gb/blob/330d33335981b9716bc8ca245660d90893eae272/controllers/providers/k8gbendpoint/applicationDNSEndpoint.go</a:t>
            </a:r>
          </a:p>
          <a:p>
            <a:r>
              <a:t>https://github.com/k8gb-io/k8gb/blob/330d33335981b9716bc8ca245660d90893eae272/controllers/providers/dns/external.go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4.75–5.5 minutes elapsed.</a:t>
            </a:r>
          </a:p>
          <a:p/>
          <a:p>
            <a:r>
              <a:t>Spend 45 seconds on the three roles shown in the preceding diagram: k8gb combines readiness and the Gslb strategy to select eligible targets; CoreDNS serves authoritative answers for the delegated application zone; ExternalDNS updates parent delegation from the delegation resources. ExternalDNS does not run on every application DNS query. This describes the ExternalDNS provider path; other provider integrations differ. Next, trace how the two k8gb reconciliation loops connect these components.</a:t>
            </a:r>
          </a:p>
          <a:p/>
          <a:p>
            <a:r>
              <a:t>SOURCE CHECK</a:t>
            </a:r>
          </a:p>
          <a:p>
            <a:r>
              <a:t>Local k8gb checkout: 330d33335981b9716bc8ca245660d90893eae272</a:t>
            </a:r>
          </a:p>
          <a:p>
            <a:r>
              <a:t>https://github.com/k8gb-io/k8gb/blob/330d33335981b9716bc8ca245660d90893eae272/controllers/providers/dns/external.go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5.5–6.5 minutes elapsed.</a:t>
            </a:r>
          </a:p>
          <a:p/>
          <a:p>
            <a:r>
              <a:t>Spend one minute tracing the two lanes. The upper lane manages zone configuration and DNS-server membership: ZoneDelegation writes delegation records for ExternalDNS to sync to the parent and configures the CoreDNS zone. The lower lane combines Gslb strategy and ready endpoints, writes eligible application targets to a separate DNSEndpoint, and lets CoreDNS serve the authoritative answers. Point to the dashed peer-address input once. The two CoreDNS boxes represent two roles of the same per-cluster service. These are the two k8gb loops; ExternalDNS also has its own reconciliation. Membership refresh and application reconciliation have separate cadences. Save edge-DNS failures, partitions and timing detail for Part 2 or questions. Now follow a client request through the DNS state these loops publish.</a:t>
            </a:r>
          </a:p>
          <a:p/>
          <a:p>
            <a:r>
              <a:t>SOURCE CHECK</a:t>
            </a:r>
          </a:p>
          <a:p>
            <a:r>
              <a:t>Local k8gb checkout: 330d33335981b9716bc8ca245660d90893eae272</a:t>
            </a:r>
          </a:p>
          <a:p>
            <a:r>
              <a:t>https://github.com/k8gb-io/k8gb/blob/330d33335981b9716bc8ca245660d90893eae272/controllers/zone_delegation_reconciliation.go</a:t>
            </a:r>
          </a:p>
          <a:p>
            <a:r>
              <a:t>https://github.com/k8gb-io/k8gb/blob/330d33335981b9716bc8ca245660d90893eae272/controllers/zones/zone_service.go</a:t>
            </a:r>
          </a:p>
          <a:p>
            <a:r>
              <a:t>https://github.com/k8gb-io/k8gb/blob/330d33335981b9716bc8ca245660d90893eae272/controllers/zones/authoritative.go</a:t>
            </a:r>
          </a:p>
          <a:p>
            <a:r>
              <a:t>https://github.com/k8gb-io/k8gb/blob/330d33335981b9716bc8ca245660d90893eae272/controllers/runtime_shared.go</a:t>
            </a:r>
          </a:p>
          <a:p>
            <a:r>
              <a:t>https://github.com/k8gb-io/k8gb/blob/330d33335981b9716bc8ca245660d90893eae272/controllers/providers/dns/external.go</a:t>
            </a:r>
          </a:p>
          <a:p>
            <a:r>
              <a:t>https://github.com/k8gb-io/k8gb/blob/330d33335981b9716bc8ca245660d90893eae272/controllers/providers/k8gbendpoint/delegationDNSEndpoint.go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6.5–7.5 minutes elapsed.</a:t>
            </a:r>
          </a:p>
          <a:p/>
          <a:p>
            <a:r>
              <a:t>Spend 60 seconds on the client path. Walk the DNS lookup once: client, recursive resolver, authoritative CoreDNS, returned application address. Then point to the separate application connection through Gateway or Ingress. DNS is outside the application data path, so k8gb steers new connections without proxying application traffic. Save the cache-delay discussion for after the demo recap. Next, show how the parent zone delegates to the cluster authorities.</a:t>
            </a:r>
          </a:p>
          <a:p/>
          <a:p>
            <a:r>
              <a:t>SOURCE CHECK</a:t>
            </a:r>
          </a:p>
          <a:p>
            <a:r>
              <a:t>Local k8gb checkout: 330d33335981b9716bc8ca245660d90893eae272</a:t>
            </a:r>
          </a:p>
          <a:p>
            <a:r>
              <a:t>https://github.com/k8gb-io/k8gb/blob/330d33335981b9716bc8ca245660d90893eae272/docs/intro.md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7.5–8.5 minutes elapsed.</a:t>
            </a:r>
          </a:p>
          <a:p/>
          <a:p>
            <a:r>
              <a:t>Spend one minute on the delegation boundary. The parent zone example.com publishes NS records for gslb.example.com, pointing to the two cluster CoreDNS authorities. The recursive resolver follows this delegation; CoreDNS returns eligible application IPs for app.gslb.example.com. Both authorities serve the same delegated zone. The parent does not proxy application traffic or choose the failover target for each request. The ns-a and ns-b labels abbreviate nameserver hostnames. Nameserver address records depend on the naming arrangement; glue is specifically needed for in-bailiwick nameserver names. Your team retains control of the parent zone, registrar access and DNS recovery; k8gb does not take ownership of those. Keep this explanation focused on who answers which zone, then move to the traffic strategies that determine application answers.</a:t>
            </a:r>
          </a:p>
          <a:p/>
          <a:p>
            <a:r>
              <a:t>SOURCE CHECK</a:t>
            </a:r>
          </a:p>
          <a:p>
            <a:r>
              <a:t>Local k8gb checkout: 330d33335981b9716bc8ca245660d90893eae272</a:t>
            </a:r>
          </a:p>
          <a:p>
            <a:r>
              <a:t>https://github.com/k8gb-io/k8gb/blob/330d33335981b9716bc8ca245660d90893eae272/controllers/providers/k8gbendpoint/delegationDNSEndpoint.go</a:t>
            </a:r>
          </a:p>
          <a:p>
            <a:r>
              <a:t>https://github.com/k8gb-io/k8gb/blob/330d33335981b9716bc8ca245660d90893eae272/docs/exposing_dns.md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8.5–9.5 minutes elapsed.</a:t>
            </a:r>
          </a:p>
          <a:p/>
          <a:p>
            <a:r>
              <a:t>Spend 60 seconds on the four strategies. Failover prefers a primary cluster and returns to it when ready again; this is the demo strategy. Introduce the other modes in one sentence each: round robin uses healthy clusters, weights express relative preference, GeoIP uses client subnet information. Keep the displayed DNS-level qualifications brief. Do not pre-explain the three failover states; the audience will see them in the demo.</a:t>
            </a:r>
          </a:p>
          <a:p/>
          <a:p>
            <a:r>
              <a:t>SOURCE CHECK</a:t>
            </a:r>
          </a:p>
          <a:p>
            <a:r>
              <a:t>Local k8gb checkout: 330d33335981b9716bc8ca245660d90893eae272</a:t>
            </a:r>
          </a:p>
          <a:p>
            <a:r>
              <a:t>https://github.com/k8gb-io/k8gb/blob/330d33335981b9716bc8ca245660d90893eae272/docs/strategy.md</a:t>
            </a:r>
          </a:p>
          <a:p>
            <a:r>
              <a:t>https://github.com/k8gb-io/k8gb/blob/330d33335981b9716bc8ca245660d90893eae272/docs/wrr_caveats.md</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1.25 minutes.</a:t>
            </a:r>
          </a:p>
          <a:p/>
          <a:p>
            <a:r>
              <a:t>RUN OF SHOW: 9.5–10.75 minutes elapsed.</a:t>
            </a:r>
          </a:p>
          <a:p/>
          <a:p>
            <a:r>
              <a:t>Show the familiar apiVersion, kind, metadata and spec: Gslb is a standard Kubernetes custom resource. primaryGeoTag: eu selects the cluster tagged eu, called Cluster A in the demo; Cluster B is us. The same steering configuration is deployed per cluster. The slide uses HTTPRoute; the local demo uses Ingress with the same failover strategy. The route and delegated zone are already prepared for the demo.</a:t>
            </a:r>
          </a:p>
          <a:p/>
          <a:p>
            <a:r>
              <a:t>SOURCE CHECK</a:t>
            </a:r>
          </a:p>
          <a:p>
            <a:r>
              <a:t>Local k8gb checkout: 330d33335981b9716bc8ca245660d90893eae272</a:t>
            </a:r>
          </a:p>
          <a:p>
            <a:r>
              <a:t>https://github.com/k8gb-io/k8gb/blob/330d33335981b9716bc8ca245660d90893eae272/api/v1beta1io/gslb_types.go</a:t>
            </a:r>
          </a:p>
          <a:p>
            <a:r>
              <a:t>https://github.com/k8gb-io/k8gb/blob/330d33335981b9716bc8ca245660d90893eae272/docs/resource_ref.md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10.75–11.75 minutes elapsed.</a:t>
            </a:r>
          </a:p>
          <a:p/>
          <a:p>
            <a:r>
              <a:t>Spend 60 seconds on integration breadth. k8gb runs on conformant Kubernetes in on-prem, cloud and hybrid setups. The four native resource integrations are Gateway API, Ingress, Istio VirtualService, and LoadBalancer Service; Gateway API is recommended for new deployments. Point to the documented DNS providers rather than reading every logo. RFC 2136 covers BIND9 and Windows DNS, using TSIG or GSS-TSIG as appropriate. ExternalDNS handles configured provider APIs and RFC 2136; Infoblox also has a dedicated integration. Your team chooses the parent authority while the Gslb traffic strategy and application-zone CoreDNS layer remain the same. Provider changes still require configuration and delegation planning. The local demo uses Ingress and BIND9. Move directly to the topology choices.</a:t>
            </a:r>
          </a:p>
          <a:p/>
          <a:p>
            <a:r>
              <a:t>SOURCE CHECK</a:t>
            </a:r>
          </a:p>
          <a:p>
            <a:r>
              <a:t>Local k8gb checkout: 330d33335981b9716bc8ca245660d90893eae272</a:t>
            </a:r>
          </a:p>
          <a:p>
            <a:r>
              <a:t>https://github.com/k8gb-io/k8gb/blob/330d33335981b9716bc8ca245660d90893eae272/README.md</a:t>
            </a:r>
          </a:p>
          <a:p>
            <a:r>
              <a:t>https://github.com/k8gb-io/k8gb/blob/330d33335981b9716bc8ca245660d90893eae272/docs/resource_ref.md</a:t>
            </a:r>
          </a:p>
          <a:p>
            <a:r>
              <a:t>https://github.com/k8gb-io/k8gb/blob/330d33335981b9716bc8ca245660d90893eae272/docs/tutorials.md</a:t>
            </a:r>
          </a:p>
          <a:p>
            <a:r>
              <a:t>https://github.com/k8gb-io/k8gb/blob/330d33335981b9716bc8ca245660d90893eae272/docs/provider_rfc2136.md</a:t>
            </a:r>
          </a:p>
          <a:p>
            <a:r>
              <a:t>https://github.com/k8gb-io/k8gb/blob/330d33335981b9716bc8ca245660d90893eae272/docs/lbservice-integration.md</a:t>
            </a:r>
          </a:p>
          <a:p>
            <a:r>
              <a:t>https://www.k8gb.io/master/resource_ref/</a:t>
            </a:r>
          </a:p>
          <a:p>
            <a:r>
              <a:t>https://www.k8gb.io/master/tutorials/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11.75–12.75 minutes elapsed.</a:t>
            </a:r>
          </a:p>
          <a:p/>
          <a:p>
            <a:r>
              <a:t>Connect geotags to the audience’s topology. A tag identifies a participating k8gb cluster; it can represent a region, datacenter, rack, server, or another boundary. Rack or server examples still mean independent Kubernetes clusters, including single-node clusters. Our demo names them A/eu and B/us. End the capability section here and switch to the local setup at 12:45 elapsed.</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https://github.com/k8gb-io/k8gb/blob/330d33335981b9716bc8ca245660d90893eae272/docs/dynamic_geotags.md</a:t>
            </a:r>
          </a:p>
          <a:p>
            <a:r>
              <a:t>https://github.com/k8gb-io/k8gb/blob/330d33335981b9716bc8ca245660d90893eae272/controllers/resolver/config.go</a:t>
            </a:r>
          </a:p>
          <a:p>
            <a:r>
              <a:t>https://github.com/k8gb-io/k8gb/blob/330d33335981b9716bc8ca245660d90893eae272/controllers/resolver/config_validations.go</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 minutes.</a:t>
            </a:r>
          </a:p>
          <a:p/>
          <a:p>
            <a:r>
              <a:t>RUN OF SHOW: 12.75–18.75 minutes elapsed.</a:t>
            </a:r>
          </a:p>
          <a:p/>
          <a:p>
            <a:r>
              <a:t>SIX MINUTES INCLUDING INTRODUCTION. Spend about 45 seconds on this diagram: local BIND9 is the parent authority; A/eu is primary, B/us is secondary; the CLI observes DNS, the resolver, and actual HTTP identity. Then switch to the terminal. Show the Gslb failover strategy, compare both authoritative answers, remove A’s ready application endpoints, observe HTTP from B, restore the captured original replica count, and verify A again. Keep notes short and let the traffic pane show readiness and cache lag. Do not explain each Kubernetes object field or inspect unrelated internals. The operation is application endpoint loss, while DNS remains available. Launch the prepared presentation with ./demo/demo.sh up; the isolated recorded fallback is ./demo/demo.sh offline and is explicitly labelled recorded replay. This setup uses Ingress. Finish and restore A by 18:45 elapsed. Return to the normal-operation recap slide at 18:45 elapsed. Use the next three diagrams for a one-minute summary of A → B → A before starting Part 2 at 19:45. The recap follows the observed run; it is not a second demonstration.</a:t>
            </a:r>
          </a:p>
          <a:p/>
          <a:p>
            <a:r>
              <a:t>SOURCE CHECK</a:t>
            </a:r>
          </a:p>
          <a:p>
            <a:r>
              <a:t>Local k8gb checkout: 330d33335981b9716bc8ca245660d90893eae272</a:t>
            </a:r>
          </a:p>
          <a:p>
            <a:r>
              <a:t>https://github.com/k8gb-io/k8gb/blob/330d33335981b9716bc8ca245660d90893eae272/hack/demo-failover.sh</a:t>
            </a:r>
          </a:p>
          <a:p>
            <a:r>
              <a:t>https://github.com/k8gb-io/k8gb/blob/330d33335981b9716bc8ca245660d90893eae272/k3d/test-gslb1.yaml</a:t>
            </a:r>
          </a:p>
          <a:p>
            <a:r>
              <a:t>https://github.com/k8gb-io/k8gb/blob/330d33335981b9716bc8ca245660d90893eae272/k3d/test-gslb2.yaml</a:t>
            </a:r>
          </a:p>
          <a:p>
            <a:r>
              <a:t>https://github.com/k8gb-io/k8gb/blob/330d33335981b9716bc8ca245660d90893eae272/k3d/edge-dns.yaml</a:t>
            </a:r>
          </a:p>
          <a:p>
            <a:r>
              <a:t>https://github.com/k8gb-io/k8gb/blob/330d33335981b9716bc8ca245660d90893eae272/deploy/edge/deployment.yaml</a:t>
            </a:r>
          </a:p>
          <a:p>
            <a:r>
              <a:t>https://github.com/k8gb-io/k8gb/blob/330d33335981b9716bc8ca245660d90893eae272/deploy/edge/zone.yaml</a:t>
            </a:r>
          </a:p>
          <a:p>
            <a:r>
              <a:t>https://github.com/k8gb-io/k8gb/blob/330d33335981b9716bc8ca245660d90893eae272/deploy/gslb/k8gb.absa.oss_v1beta1_gslb_cr_failover_ingress_ref.yaml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18.75–19 minutes elapsed.</a:t>
            </a:r>
          </a:p>
          <a:p/>
          <a:p>
            <a:r>
              <a:t>15 seconds. Summarize the baseline from the demo: A/eu and B/us were both ready, and both CoreDNS authorities returned A because eu was the configured primary. Point to the two matching A answers. Both authorities were active; this is application target preference, not a DNS-master election. Advance to the fault without repeating the architecture walkthrough.</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0.5 minutes.</a:t>
            </a:r>
          </a:p>
          <a:p/>
          <a:p>
            <a:r>
              <a:t>RUN OF SHOW: 19–19.5 minutes elapsed.</a:t>
            </a:r>
          </a:p>
          <a:p/>
          <a:p>
            <a:r>
              <a:t>30 seconds. Summarize the injected fault: we removed A/eu’s ready application endpoints while its CoreDNS authority stayed reachable. After the controllers reconciled and learned peer health through DNS, both authorities returned B/us application IPs; the HTTP observer then showed successful requests from B. The matching answers describe convergence with peer visibility, not an instantaneous switch. Client caches could still hold A, and existing connections did not migrate. This was workload failure, not a whole-cluster outage. Point to A’s UNREADY badge and the two B answers, then advance.</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0.25 minutes.</a:t>
            </a:r>
          </a:p>
          <a:p/>
          <a:p>
            <a:r>
              <a:t>RUN OF SHOW: 19.5–19.75 minutes elapsed.</a:t>
            </a:r>
          </a:p>
          <a:p/>
          <a:p>
            <a:r>
              <a:t>15 seconds. Summarize recovery: we restored A/eu’s original replica count, its application became ready again, and the primary preference automatically returned both authoritative answers to A. The observer verified the return of successful requests from A. Point to the READY badge and matching A answers. End the recap at 19:45 elapsed. Transition to Part 2 using the footer: the authorities agree after reconciliation, but clients can still hold cached answers. Now examine what determines the time until a real request succeeds. Save readiness, partition and data-safety detail for the following slides.</a:t>
            </a:r>
          </a:p>
          <a:p/>
          <a:p>
            <a:r>
              <a:t>SOURCE CHECK</a:t>
            </a:r>
          </a:p>
          <a:p>
            <a:r>
              <a:t>Local k8gb checkout: 330d33335981b9716bc8ca245660d90893eae272</a:t>
            </a:r>
          </a:p>
          <a:p>
            <a:r>
              <a:t>https://github.com/k8gb-io/k8gb/blob/330d33335981b9716bc8ca245660d90893eae272/controllers/providers/k8gbendpoint/applicationDNSEndpoint.go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19.75–21.25 minutes elapsed.</a:t>
            </a:r>
          </a:p>
          <a:p/>
          <a:p>
            <a:r>
              <a:t>Start Part 2 at 19:45 elapsed, using the recap footer about cache lag as the transition: readiness changes, controllers reconcile, authorities publish, resolvers refresh, clients retry. These moments are distinct. Existing connections do not migrate when DNS changes; reconnect and session behavior need testing with the actual application. Measure the return of successful requests, not only a controller update. Spend 90 seconds; detailed timer arithmetic belongs in questions.</a:t>
            </a:r>
          </a:p>
          <a:p/>
          <a:p>
            <a:r>
              <a:t>SOURCE CHECK</a:t>
            </a:r>
          </a:p>
          <a:p>
            <a:r>
              <a:t>Local k8gb checkout: 330d33335981b9716bc8ca245660d90893eae272</a:t>
            </a:r>
          </a:p>
          <a:p>
            <a:r>
              <a:t>https://github.com/k8gb-io/k8gb/blob/330d33335981b9716bc8ca245660d90893eae272/chart/k8gb/values.yaml</a:t>
            </a:r>
          </a:p>
          <a:p>
            <a:r>
              <a:t>https://github.com/k8gb-io/k8gb/blob/330d33335981b9716bc8ca245660d90893eae272/controllers/zone_delegation_reconciliation.go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21.25–22.75 minutes elapsed.</a:t>
            </a:r>
          </a:p>
          <a:p/>
          <a:p>
            <a:r>
              <a:t>Spend 90 seconds on the readiness signal and the failed-payment example. Kubernetes runs readinessProbe checks and reflects Pod readiness in EndpointSlices; k8gb consumes that state when selecting targets. GET /healthz returns 200 while a real payment write fails because the database is read-only. The application must define readiness around the operation it needs to serve. State that principle once, then move to the partition case. Leave replication, fencing and session recovery for the availability slide immediately after the partition. Probe details and Any/All service aggregation can be discussed in questions; a readiness probe does not itself repair the database or guarantee every request.</a:t>
            </a:r>
          </a:p>
          <a:p/>
          <a:p>
            <a:r>
              <a:t>SOURCE CHECK</a:t>
            </a:r>
          </a:p>
          <a:p>
            <a:r>
              <a:t>Local k8gb checkout: 330d33335981b9716bc8ca245660d90893eae272</a:t>
            </a:r>
          </a:p>
          <a:p>
            <a:r>
              <a:t>https://github.com/k8gb-io/k8gb/blob/330d33335981b9716bc8ca245660d90893eae272/controllers/runtime_shared.go</a:t>
            </a:r>
          </a:p>
          <a:p>
            <a:r>
              <a:t>https://github.com/k8gb-io/k8gb/blob/330d33335981b9716bc8ca245660d90893eae272/api/v1beta1io/gslb_types.go</a:t>
            </a:r>
          </a:p>
          <a:p>
            <a:r>
              <a:t>https://github.com/k8gb-io/k8gb/blob/330d33335981b9716bc8ca245660d90893eae272/controllers/providers/k8gbendpoint/applicationDNSEndpoint.go</a:t>
            </a:r>
          </a:p>
          <a:p>
            <a:r>
              <a:t>https://kubernetes.io/docs/concepts/workloads/pods/probes/#readiness-probe</a:t>
            </a:r>
          </a:p>
          <a:p>
            <a:r>
              <a:t>https://kubernetes.io/docs/concepts/services-networking/endpoint-slices/#conditions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22.75–24.25 minutes elapsed.</a:t>
            </a:r>
          </a:p>
          <a:p/>
          <a:p>
            <a:r>
              <a:t>Spend 90 seconds on the partition. Now change the failure condition: both applications are ready and clients can reach both authorities, but B cannot obtain A’s peer-health answer. A can continue returning A while B returns B. The illustration shows a possible divergent state, not a claim that every partition has identical behavior. A failed observation is not proof that the remote application is down. Compare this with the clean workload failover the demo showed. Use this disagreement to introduce the next slide: steering traffic and keeping application state safe require separate recovery mechanisms.</a:t>
            </a:r>
          </a:p>
          <a:p/>
          <a:p>
            <a:r>
              <a:t>SOURCE CHECK</a:t>
            </a:r>
          </a:p>
          <a:p>
            <a:r>
              <a:t>Local k8gb checkout: 330d33335981b9716bc8ca245660d90893eae272</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24.25–25.25 minutes elapsed.</a:t>
            </a:r>
          </a:p>
          <a:p/>
          <a:p>
            <a:r>
              <a:t>Spend one minute connecting the partition to application recovery responsibilities. The left panel describes k8gb traffic steering: exclude targets when readiness is lost, and publish healthy cluster targets after observation and reconciliation. For cluster loss, new resolutions and requests require a surviving authority, application and network path. These are not promises of instantaneous recovery or restoration of the failed cluster. The partition on the previous slide can direct clients to both locations; a DNS answer does not establish safe database writer ownership. The application recovery design must handle replication, fencing of a former writer, and session recovery. DNS steering does not perform those jobs. Keep the three outcomes separate: traffic recovery, data recovery and session continuity. Avoid repeating the failed-payment example. Turn these responsibilities into the four repeatable testing steps on the next slide.</a:t>
            </a:r>
          </a:p>
          <a:p/>
          <a:p>
            <a:r>
              <a:t>SOURCE CHECK</a:t>
            </a:r>
          </a:p>
          <a:p>
            <a:r>
              <a:t>Local k8gb checkout: 330d33335981b9716bc8ca245660d90893eae272</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1.5 minutes.</a:t>
            </a:r>
          </a:p>
          <a:p/>
          <a:p>
            <a:r>
              <a:t>RUN OF SHOW: 25.25–26.75 minutes elapsed.</a:t>
            </a:r>
          </a:p>
          <a:p/>
          <a:p>
            <a:r>
              <a:t>Spend 90 seconds closing the technical section with four actions. Define expectations: version the Gslb manifest and specify where traffic should go during normal operation, failure and recovery for the strategy you actually use. Rehearse scenarios: repeat the demo approach with your own applications, DNS and network. Test workload failure, cluster loss, peer-health partitions and restoration as separate scenarios, resetting to a known baseline each time. The local demo covered workload endpoint loss and recovery; other scenarios need their own rehearsal. For failover, verify the expected primary-to-secondary-to-primary sequence; for other Gslb strategies, verify their configured routing behavior. Verify the result: compare the same hostname at the relevant authorities and a representative client resolver, send real application requests, and measure DNS convergence and the return of successful operations. Interpret different answers against the configured strategy and observation point. In a peer-health partition, divergent answers can occur and must be investigated; agreement alone does not prove application correctness. Automate and repeat: run these checks after configuration, application or infrastructure changes. k8gb automatically reconciles traffic steering; the team automates validation of the complete request path. Retain the distinction between traffic, data and session recovery without repeating the previous slide. Rehearsal establishes evidence for the tested environment and conditions, not a guarantee for every failure. Keep the detailed scenarios in these notes; speak to the four short actions on screen. Finish at 26:45 elapsed, then invite participation through the community slide.</a:t>
            </a:r>
          </a:p>
          <a:p/>
          <a:p>
            <a:r>
              <a:t>SOURCE CHECK</a:t>
            </a:r>
          </a:p>
          <a:p>
            <a:r>
              <a:t>Local k8gb checkout: 330d33335981b9716bc8ca245660d90893eae272</a:t>
            </a:r>
          </a:p>
          <a:p>
            <a:r>
              <a:t>https://github.com/k8gb-io/k8gb/blob/330d33335981b9716bc8ca245660d90893eae272/controllers/providers/metrics/prometheus.go</a:t>
            </a:r>
          </a:p>
          <a:p>
            <a:r>
              <a:t>https://github.com/k8gb-io/k8gb/blob/330d33335981b9716bc8ca245660d90893eae272/controllers/runtime_shared.go</a:t>
            </a:r>
          </a:p>
          <a:p>
            <a:r>
              <a:t>https://github.com/k8gb-io/k8gb/blob/330d33335981b9716bc8ca245660d90893eae272/controllers/providers/k8gbendpoint/applicationDNSEndpoint.go</a:t>
            </a:r>
          </a:p>
          <a:p>
            <a:r>
              <a:t>https://github.com/k8gb-io/k8gb/blob/330d33335981b9716bc8ca245660d90893eae272/controllers/zones/authoritative.go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1 minutes.</a:t>
            </a:r>
          </a:p>
          <a:p/>
          <a:p>
            <a:r>
              <a:t>RUN OF SHOW: 26.75–27.75 minutes elapsed.</a:t>
            </a:r>
          </a:p>
          <a:p/>
          <a:p>
            <a:r>
              <a:t>Spend one minute on the people behind the project. k8gb is CNCF Incubating, with seven public adopters, 46 contributors and 1,335 GitHub stars, checked on 23 October 2026. The contributor count uses the complete GitHub contributors API response and excludes three automated accounts (renovate, github-actions and dependabot). Mention the breadth of public users without reading every name. The adopter list is voluntary and is not the total installation count. Logos shown: Absa, Millennium bcp, Eficode, Open Systems, PagBank, Darede and Envio. Official brand artwork retains its original colors and proportions. Open Systems logo credit: Uvifian, CC BY-SA 4.0, https://commons.wikimedia.org/wiki/File:Open-systems-logo.svg; original artwork unchanged apart from proportional scaling and PNG rendering. Star count indicates interest, not reliability. Invite the audience to a community meeting; dates and local time are in the linked calendar. At 27:45 elapsed, move from the public adopter logos to the Millennium bcp case study. Questions follow at 28:30 elapsed.</a:t>
            </a:r>
          </a:p>
          <a:p/>
          <a:p>
            <a:r>
              <a:t>SOURCE CHECK</a:t>
            </a:r>
          </a:p>
          <a:p>
            <a:r>
              <a:t>Local k8gb checkout: 330d33335981b9716bc8ca245660d90893eae272</a:t>
            </a:r>
          </a:p>
          <a:p>
            <a:r>
              <a:t>https://www.cncf.io/projects/k8gb/</a:t>
            </a:r>
          </a:p>
          <a:p>
            <a:r>
              <a:t>https://github.com/k8gb-io/k8gb/blob/330d33335981b9716bc8ca245660d90893eae272/ADOPTERS.md</a:t>
            </a:r>
          </a:p>
          <a:p>
            <a:r>
              <a:t>https://api.github.com/repos/k8gb-io/k8gb/contributors?per_page=100</a:t>
            </a:r>
          </a:p>
          <a:p>
            <a:r>
              <a:t>https://github.com/k8gb-io/k8gb/graphs/contributors</a:t>
            </a:r>
          </a:p>
          <a:p>
            <a:r>
              <a:t>https://commons.wikimedia.org/wiki/File:Open-systems-logo.svg</a:t>
            </a:r>
          </a:p>
          <a:p>
            <a:r>
              <a:t>https://www.absa.co.za/</a:t>
            </a:r>
          </a:p>
          <a:p>
            <a:r>
              <a:t>https://www.eficode.com/</a:t>
            </a:r>
          </a:p>
          <a:p>
            <a:r>
              <a:t>https://pagbank.com.br/</a:t>
            </a:r>
          </a:p>
          <a:p>
            <a:r>
              <a:t>https://darede.com.br/</a:t>
            </a:r>
          </a:p>
          <a:p>
            <a:r>
              <a:t>https://envio.dev/brand</a:t>
            </a:r>
          </a:p>
          <a:p>
            <a:r>
              <a:t>https://github.com/k8gb-io/k8gb/blob/330d33335981b9716bc8ca245660d90893eae272/GOVERNANCE.md</a:t>
            </a:r>
          </a:p>
          <a:p>
            <a:r>
              <a:t>https://github.com/k8gb-io/k8gb/blob/330d33335981b9716bc8ca245660d90893eae272/CONTRIBUTING.md</a:t>
            </a:r>
          </a:p>
          <a:p>
            <a:r>
              <a:t>https://api.github.com/repos/k8gb-io/k8gb</a:t>
            </a:r>
          </a:p>
          <a:p>
            <a:r>
              <a:t>https://zoom-lfx.platform.linuxfoundation.org/meetings/k8gb?view=month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0.75 minutes.</a:t>
            </a:r>
          </a:p>
          <a:p/>
          <a:p>
            <a:r>
              <a:t>RUN OF SHOW: 27.75–28.5 minutes elapsed.</a:t>
            </a:r>
          </a:p>
          <a:p/>
          <a:p>
            <a:r>
              <a:t>Follow the public adopter logos with one concrete production example. Spend 45 seconds on Millennium bcp. Millennium bcp reports five regions across two cloud providers and on-premises, shorter DNS incident response, and zero downtime in the reported regional failover tests. These are the case study’s reported results for that deployment. Keep to the three displayed facts, then invite questions at 28:30 elapsed.</a:t>
            </a:r>
          </a:p>
          <a:p/>
          <a:p>
            <a:r>
              <a:t>SOURCE CHECK</a:t>
            </a:r>
          </a:p>
          <a:p>
            <a:r>
              <a:t>Local k8gb checkout: 330d33335981b9716bc8ca245660d90893eae272</a:t>
            </a:r>
          </a:p>
          <a:p>
            <a:r>
              <a:t>https://www.cncf.io/case-studies/millennium-bcp/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delivery: 6.5 minutes.</a:t>
            </a:r>
          </a:p>
          <a:p/>
          <a:p>
            <a:r>
              <a:t>RUN OF SHOW: 28.5–35 minutes elapsed.</a:t>
            </a:r>
          </a:p>
          <a:p/>
          <a:p>
            <a:r>
              <a:t>Reserve six minutes and thirty seconds for questions, from 28:30 to 35:00 elapsed. Leave the QR code, GitHub, Slack, community-calendar, adopters and LinkedIn links visible. Questions is the final slide. If a question needs the failover-state diagrams, revisit the demo recap on slides 16–18. All 26 slides are part of the main slideshow.</a:t>
            </a:r>
          </a:p>
          <a:p/>
          <a:p>
            <a:r>
              <a:t>SOURCE CHECK</a:t>
            </a:r>
          </a:p>
          <a:p>
            <a:r>
              <a:t>Local k8gb checkout: 330d33335981b9716bc8ca245660d90893eae272</a:t>
            </a:r>
          </a:p>
          <a:p>
            <a:r>
              <a:t>https://www.sovereign-cloud-days.eu/event/sovereign-cloud-days-2026-1/track/who-controls-the-failover-sovereign-global-traffic-management-with-kubernetes-63</a:t>
            </a:r>
          </a:p>
          <a:p>
            <a:r>
              <a:t>https://www.k8gb.io/</a:t>
            </a:r>
          </a:p>
          <a:p>
            <a:r>
              <a:t>https://github.com/k8gb-io/k8gb</a:t>
            </a:r>
          </a:p>
          <a:p>
            <a:r>
              <a:t>https://cloud-native.slack.com/archives/C021P656HGB</a:t>
            </a:r>
          </a:p>
          <a:p>
            <a:r>
              <a:t>https://zoom-lfx.platform.linuxfoundation.org/meetings/k8gb?view=month</a:t>
            </a:r>
          </a:p>
          <a:p>
            <a:r>
              <a:t>https://github.com/k8gb-io/k8gb/blob/330d33335981b9716bc8ca245660d90893eae272/ADOPTERS.md</a:t>
            </a:r>
          </a:p>
          <a:p>
            <a:r>
              <a:t>https://github.com/k8gb-io/k8gb/blob/330d33335981b9716bc8ca245660d90893eae272/CONTRIBUTING.md</a:t>
            </a:r>
          </a:p>
          <a:p>
            <a:r>
              <a:t>https://www.linkedin.com/in/yurytsarev/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jp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cncf.io/projects/k8gb/" TargetMode="External"/><Relationship Id="rId4" Type="http://schemas.openxmlformats.org/officeDocument/2006/relationships/hyperlink" Target="https://github.com/k8gb-io/k8gb/blob/master/ADOPTERS.md" TargetMode="External"/><Relationship Id="rId5" Type="http://schemas.openxmlformats.org/officeDocument/2006/relationships/hyperlink" Target="https://github.com/k8gb-io/k8gb/graphs/contributors" TargetMode="External"/><Relationship Id="rId6" Type="http://schemas.openxmlformats.org/officeDocument/2006/relationships/hyperlink" Target="https://github.com/k8gb-io/k8gb"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hyperlink" Target="https://zoom-lfx.platform.linuxfoundation.org/meetings/k8gb?view=month" TargetMode="External"/><Relationship Id="rId1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www.k8gb.io/" TargetMode="External"/><Relationship Id="rId5" Type="http://schemas.openxmlformats.org/officeDocument/2006/relationships/hyperlink" Target="https://github.com/k8gb-io/k8gb" TargetMode="External"/><Relationship Id="rId6" Type="http://schemas.openxmlformats.org/officeDocument/2006/relationships/hyperlink" Target="https://cloud-native.slack.com/archives/C021P656HGB" TargetMode="External"/><Relationship Id="rId7" Type="http://schemas.openxmlformats.org/officeDocument/2006/relationships/hyperlink" Target="https://zoom-lfx.platform.linuxfoundation.org/meetings/k8gb?view=month" TargetMode="External"/><Relationship Id="rId8" Type="http://schemas.openxmlformats.org/officeDocument/2006/relationships/hyperlink" Target="https://github.com/k8gb-io/k8gb/blob/master/ADOPTERS.md" TargetMode="External"/><Relationship Id="rId9" Type="http://schemas.openxmlformats.org/officeDocument/2006/relationships/hyperlink" Target="https://www.linkedin.com/in/yurytsarev/" TargetMode="External"/><Relationship Id="rId10"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SOVEREIGN GLOBAL TRAFFIC MANAGEMENT</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01 / 26</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1206500"/>
            <a:ext cx="7874000" cy="1531620"/>
          </a:xfrm>
          <a:prstGeom prst="rect">
            <a:avLst/>
          </a:prstGeom>
          <a:noFill/>
        </p:spPr>
        <p:txBody>
          <a:bodyPr wrap="none" lIns="0" rIns="0" tIns="0" bIns="0" anchor="t">
            <a:noAutofit/>
          </a:bodyPr>
          <a:lstStyle/>
          <a:p>
            <a:pPr algn="l">
              <a:lnSpc>
                <a:spcPts val="5880"/>
              </a:lnSpc>
              <a:spcBef>
                <a:spcPts val="0"/>
              </a:spcBef>
              <a:spcAft>
                <a:spcPts val="0"/>
              </a:spcAft>
            </a:pPr>
            <a:r>
              <a:rPr sz="5600" b="1">
                <a:solidFill>
                  <a:srgbClr val="FFFFFF"/>
                </a:solidFill>
                <a:latin typeface="Arial"/>
              </a:rPr>
              <a:t>Who controls</a:t>
            </a:r>
          </a:p>
          <a:p>
            <a:pPr algn="l">
              <a:lnSpc>
                <a:spcPts val="5880"/>
              </a:lnSpc>
              <a:spcBef>
                <a:spcPts val="0"/>
              </a:spcBef>
              <a:spcAft>
                <a:spcPts val="0"/>
              </a:spcAft>
            </a:pPr>
            <a:r>
              <a:rPr sz="5600" b="1">
                <a:solidFill>
                  <a:srgbClr val="FFFFFF"/>
                </a:solidFill>
                <a:latin typeface="Arial"/>
              </a:rPr>
              <a:t>the failover?</a:t>
            </a:r>
          </a:p>
        </p:txBody>
      </p:sp>
      <p:sp>
        <p:nvSpPr>
          <p:cNvPr id="9" name="TextBox 8"/>
          <p:cNvSpPr txBox="1"/>
          <p:nvPr/>
        </p:nvSpPr>
        <p:spPr>
          <a:xfrm>
            <a:off x="647700" y="3162300"/>
            <a:ext cx="8001000" cy="843788"/>
          </a:xfrm>
          <a:prstGeom prst="rect">
            <a:avLst/>
          </a:prstGeom>
          <a:noFill/>
        </p:spPr>
        <p:txBody>
          <a:bodyPr wrap="none" lIns="0" rIns="0" tIns="0" bIns="0" anchor="t">
            <a:noAutofit/>
          </a:bodyPr>
          <a:lstStyle/>
          <a:p>
            <a:pPr algn="l">
              <a:lnSpc>
                <a:spcPts val="3172"/>
              </a:lnSpc>
              <a:spcBef>
                <a:spcPts val="0"/>
              </a:spcBef>
              <a:spcAft>
                <a:spcPts val="0"/>
              </a:spcAft>
            </a:pPr>
            <a:r>
              <a:rPr sz="2600" b="0">
                <a:solidFill>
                  <a:srgbClr val="B8C8D9"/>
                </a:solidFill>
                <a:latin typeface="Arial"/>
              </a:rPr>
              <a:t>Sovereign global traffic management</a:t>
            </a:r>
          </a:p>
          <a:p>
            <a:pPr algn="l">
              <a:lnSpc>
                <a:spcPts val="3172"/>
              </a:lnSpc>
              <a:spcBef>
                <a:spcPts val="0"/>
              </a:spcBef>
              <a:spcAft>
                <a:spcPts val="0"/>
              </a:spcAft>
            </a:pPr>
            <a:r>
              <a:rPr sz="2600" b="0">
                <a:solidFill>
                  <a:srgbClr val="B8C8D9"/>
                </a:solidFill>
                <a:latin typeface="Arial"/>
              </a:rPr>
              <a:t>with Kubernetes</a:t>
            </a:r>
          </a:p>
        </p:txBody>
      </p:sp>
      <p:pic>
        <p:nvPicPr>
          <p:cNvPr id="10" name="Picture 9" descr="image.png"/>
          <p:cNvPicPr>
            <a:picLocks noChangeAspect="1"/>
          </p:cNvPicPr>
          <p:nvPr/>
        </p:nvPicPr>
        <p:blipFill>
          <a:blip r:embed="rId2"/>
          <a:stretch>
            <a:fillRect/>
          </a:stretch>
        </p:blipFill>
        <p:spPr>
          <a:xfrm>
            <a:off x="9486900" y="1333500"/>
            <a:ext cx="1841500" cy="1841500"/>
          </a:xfrm>
          <a:prstGeom prst="rect">
            <a:avLst/>
          </a:prstGeom>
        </p:spPr>
      </p:pic>
      <p:cxnSp>
        <p:nvCxnSpPr>
          <p:cNvPr id="11" name="Connector 10"/>
          <p:cNvCxnSpPr/>
          <p:nvPr/>
        </p:nvCxnSpPr>
        <p:spPr>
          <a:xfrm>
            <a:off x="660400" y="4470400"/>
            <a:ext cx="108712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698500" y="4864100"/>
            <a:ext cx="127000" cy="1270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0600" y="4737100"/>
            <a:ext cx="317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TRAFFIC MANAGEMENT</a:t>
            </a:r>
          </a:p>
        </p:txBody>
      </p:sp>
      <p:sp>
        <p:nvSpPr>
          <p:cNvPr id="14" name="Oval 13"/>
          <p:cNvSpPr/>
          <p:nvPr/>
        </p:nvSpPr>
        <p:spPr>
          <a:xfrm>
            <a:off x="4889500" y="4864100"/>
            <a:ext cx="127000" cy="127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1600" y="4737100"/>
            <a:ext cx="2159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DNS STEERING</a:t>
            </a:r>
          </a:p>
        </p:txBody>
      </p:sp>
      <p:sp>
        <p:nvSpPr>
          <p:cNvPr id="16" name="Oval 15"/>
          <p:cNvSpPr/>
          <p:nvPr/>
        </p:nvSpPr>
        <p:spPr>
          <a:xfrm>
            <a:off x="7785100" y="4864100"/>
            <a:ext cx="127000" cy="1270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77200" y="4737100"/>
            <a:ext cx="35052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FFFFFF"/>
                </a:solidFill>
                <a:latin typeface="Arial"/>
              </a:rPr>
              <a:t>MULTI-REGION RESILIENCE</a:t>
            </a:r>
          </a:p>
        </p:txBody>
      </p:sp>
      <p:sp>
        <p:nvSpPr>
          <p:cNvPr id="18" name="TextBox 17"/>
          <p:cNvSpPr txBox="1"/>
          <p:nvPr/>
        </p:nvSpPr>
        <p:spPr>
          <a:xfrm>
            <a:off x="660400" y="5524500"/>
            <a:ext cx="10414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FFFFFF"/>
                </a:solidFill>
                <a:latin typeface="Arial"/>
              </a:rPr>
              <a:t>Yury Tsarev  ·  Creator &amp; Project Lead, k8gb</a:t>
            </a:r>
          </a:p>
        </p:txBody>
      </p:sp>
      <p:sp>
        <p:nvSpPr>
          <p:cNvPr id="19" name="TextBox 18"/>
          <p:cNvSpPr txBox="1"/>
          <p:nvPr/>
        </p:nvSpPr>
        <p:spPr>
          <a:xfrm>
            <a:off x="660400" y="5943600"/>
            <a:ext cx="1041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24 October 2026  ·  Saarbrücken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RESILIENCE ACROSS CLUSTERS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02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node resilience to cluster failover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Spread replicas, then widen the failure boundary.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38200" y="2171700"/>
            <a:ext cx="2946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382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2762C8"/>
                </a:solidFill>
                <a:latin typeface="Arial"/>
              </a:rPr>
              <a:t>01</a:t>
            </a:r>
          </a:p>
        </p:txBody>
      </p:sp>
      <p:sp>
        <p:nvSpPr>
          <p:cNvPr id="13" name="TextBox 12"/>
          <p:cNvSpPr txBox="1"/>
          <p:nvPr/>
        </p:nvSpPr>
        <p:spPr>
          <a:xfrm>
            <a:off x="13081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NODES</a:t>
            </a:r>
          </a:p>
        </p:txBody>
      </p:sp>
      <p:sp>
        <p:nvSpPr>
          <p:cNvPr id="14" name="TextBox 13"/>
          <p:cNvSpPr txBox="1"/>
          <p:nvPr/>
        </p:nvSpPr>
        <p:spPr>
          <a:xfrm>
            <a:off x="8382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15" name="Rounded Rectangle 14"/>
          <p:cNvSpPr/>
          <p:nvPr/>
        </p:nvSpPr>
        <p:spPr>
          <a:xfrm>
            <a:off x="838200" y="3327400"/>
            <a:ext cx="863600" cy="850900"/>
          </a:xfrm>
          <a:prstGeom prst="roundRect">
            <a:avLst>
              <a:gd name="adj" fmla="val 746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63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CF0035"/>
                </a:solidFill>
                <a:latin typeface="Arial"/>
              </a:rPr>
              <a:t>NODE 1</a:t>
            </a:r>
          </a:p>
        </p:txBody>
      </p:sp>
      <p:sp>
        <p:nvSpPr>
          <p:cNvPr id="17" name="Rounded Rectangle 16"/>
          <p:cNvSpPr/>
          <p:nvPr/>
        </p:nvSpPr>
        <p:spPr>
          <a:xfrm>
            <a:off x="990600" y="3708400"/>
            <a:ext cx="558800" cy="279400"/>
          </a:xfrm>
          <a:prstGeom prst="roundRect">
            <a:avLst>
              <a:gd name="adj" fmla="val 13636"/>
            </a:avLst>
          </a:prstGeom>
          <a:solidFill>
            <a:srgbClr val="FFFFFF"/>
          </a:solidFill>
          <a:ln w="127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87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Pod</a:t>
            </a:r>
          </a:p>
        </p:txBody>
      </p:sp>
      <p:sp>
        <p:nvSpPr>
          <p:cNvPr id="19" name="Oval 18"/>
          <p:cNvSpPr/>
          <p:nvPr/>
        </p:nvSpPr>
        <p:spPr>
          <a:xfrm>
            <a:off x="1422400" y="31877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1485900" y="32512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8415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796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2</a:t>
            </a:r>
          </a:p>
        </p:txBody>
      </p:sp>
      <p:sp>
        <p:nvSpPr>
          <p:cNvPr id="24" name="Rounded Rectangle 23"/>
          <p:cNvSpPr/>
          <p:nvPr/>
        </p:nvSpPr>
        <p:spPr>
          <a:xfrm>
            <a:off x="19939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20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26" name="Oval 25"/>
          <p:cNvSpPr/>
          <p:nvPr/>
        </p:nvSpPr>
        <p:spPr>
          <a:xfrm>
            <a:off x="24257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24765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5273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2844800" y="3327400"/>
            <a:ext cx="863600" cy="850900"/>
          </a:xfrm>
          <a:prstGeom prst="roundRect">
            <a:avLst>
              <a:gd name="adj" fmla="val 7462"/>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2900" y="3429000"/>
            <a:ext cx="787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2762C8"/>
                </a:solidFill>
                <a:latin typeface="Arial"/>
              </a:rPr>
              <a:t>NODE 3</a:t>
            </a:r>
          </a:p>
        </p:txBody>
      </p:sp>
      <p:sp>
        <p:nvSpPr>
          <p:cNvPr id="31" name="Rounded Rectangle 30"/>
          <p:cNvSpPr/>
          <p:nvPr/>
        </p:nvSpPr>
        <p:spPr>
          <a:xfrm>
            <a:off x="2997200" y="3708400"/>
            <a:ext cx="558800" cy="279400"/>
          </a:xfrm>
          <a:prstGeom prst="roundRect">
            <a:avLst>
              <a:gd name="adj" fmla="val 13636"/>
            </a:avLst>
          </a:prstGeom>
          <a:solidFill>
            <a:srgbClr val="FFFFFF"/>
          </a:solidFill>
          <a:ln w="127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35300" y="3746500"/>
            <a:ext cx="482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Pod</a:t>
            </a:r>
          </a:p>
        </p:txBody>
      </p:sp>
      <p:sp>
        <p:nvSpPr>
          <p:cNvPr id="33" name="Oval 32"/>
          <p:cNvSpPr/>
          <p:nvPr/>
        </p:nvSpPr>
        <p:spPr>
          <a:xfrm>
            <a:off x="3429000" y="31877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79800" y="33020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30600" y="32512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382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Spread replicas</a:t>
            </a:r>
          </a:p>
        </p:txBody>
      </p:sp>
      <p:sp>
        <p:nvSpPr>
          <p:cNvPr id="37" name="TextBox 36"/>
          <p:cNvSpPr txBox="1"/>
          <p:nvPr/>
        </p:nvSpPr>
        <p:spPr>
          <a:xfrm>
            <a:off x="8382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worker failure.</a:t>
            </a:r>
          </a:p>
        </p:txBody>
      </p:sp>
      <p:sp>
        <p:nvSpPr>
          <p:cNvPr id="38" name="Rounded Rectangle 37"/>
          <p:cNvSpPr/>
          <p:nvPr/>
        </p:nvSpPr>
        <p:spPr>
          <a:xfrm>
            <a:off x="43942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4622800" y="21717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6228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087F85"/>
                </a:solidFill>
                <a:latin typeface="Arial"/>
              </a:rPr>
              <a:t>02</a:t>
            </a:r>
          </a:p>
        </p:txBody>
      </p:sp>
      <p:sp>
        <p:nvSpPr>
          <p:cNvPr id="41" name="TextBox 40"/>
          <p:cNvSpPr txBox="1"/>
          <p:nvPr/>
        </p:nvSpPr>
        <p:spPr>
          <a:xfrm>
            <a:off x="50927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AVAILABILITY ZONES</a:t>
            </a:r>
          </a:p>
        </p:txBody>
      </p:sp>
      <p:sp>
        <p:nvSpPr>
          <p:cNvPr id="42" name="TextBox 41"/>
          <p:cNvSpPr txBox="1"/>
          <p:nvPr/>
        </p:nvSpPr>
        <p:spPr>
          <a:xfrm>
            <a:off x="46228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One Kubernetes cluster</a:t>
            </a:r>
          </a:p>
        </p:txBody>
      </p:sp>
      <p:sp>
        <p:nvSpPr>
          <p:cNvPr id="43" name="Rounded Rectangle 42"/>
          <p:cNvSpPr/>
          <p:nvPr/>
        </p:nvSpPr>
        <p:spPr>
          <a:xfrm>
            <a:off x="46228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736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AZ 1</a:t>
            </a:r>
          </a:p>
        </p:txBody>
      </p:sp>
      <p:sp>
        <p:nvSpPr>
          <p:cNvPr id="45" name="Rounded Rectangle 44"/>
          <p:cNvSpPr/>
          <p:nvPr/>
        </p:nvSpPr>
        <p:spPr>
          <a:xfrm>
            <a:off x="4762500" y="36830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879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7" name="Rounded Rectangle 46"/>
          <p:cNvSpPr/>
          <p:nvPr/>
        </p:nvSpPr>
        <p:spPr>
          <a:xfrm>
            <a:off x="4762500" y="3949700"/>
            <a:ext cx="584200" cy="190500"/>
          </a:xfrm>
          <a:prstGeom prst="roundRect">
            <a:avLst>
              <a:gd name="adj" fmla="val 20000"/>
            </a:avLst>
          </a:prstGeom>
          <a:solidFill>
            <a:srgbClr val="FFFFFF"/>
          </a:solidFill>
          <a:ln w="1016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879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CF0035"/>
                </a:solidFill>
                <a:latin typeface="Arial"/>
              </a:rPr>
              <a:t>replica</a:t>
            </a:r>
          </a:p>
        </p:txBody>
      </p:sp>
      <p:sp>
        <p:nvSpPr>
          <p:cNvPr id="49" name="Oval 48"/>
          <p:cNvSpPr/>
          <p:nvPr/>
        </p:nvSpPr>
        <p:spPr>
          <a:xfrm>
            <a:off x="52070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705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56261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769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2</a:t>
            </a:r>
          </a:p>
        </p:txBody>
      </p:sp>
      <p:sp>
        <p:nvSpPr>
          <p:cNvPr id="54" name="Rounded Rectangle 53"/>
          <p:cNvSpPr/>
          <p:nvPr/>
        </p:nvSpPr>
        <p:spPr>
          <a:xfrm>
            <a:off x="57658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12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6" name="Rounded Rectangle 55"/>
          <p:cNvSpPr/>
          <p:nvPr/>
        </p:nvSpPr>
        <p:spPr>
          <a:xfrm>
            <a:off x="57658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7912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58" name="Oval 57"/>
          <p:cNvSpPr/>
          <p:nvPr/>
        </p:nvSpPr>
        <p:spPr>
          <a:xfrm>
            <a:off x="62103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62611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3119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66294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80200" y="3365500"/>
            <a:ext cx="762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AZ 3</a:t>
            </a:r>
          </a:p>
        </p:txBody>
      </p:sp>
      <p:sp>
        <p:nvSpPr>
          <p:cNvPr id="63" name="Rounded Rectangle 62"/>
          <p:cNvSpPr/>
          <p:nvPr/>
        </p:nvSpPr>
        <p:spPr>
          <a:xfrm>
            <a:off x="6769100" y="36830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794500" y="36957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5" name="Rounded Rectangle 64"/>
          <p:cNvSpPr/>
          <p:nvPr/>
        </p:nvSpPr>
        <p:spPr>
          <a:xfrm>
            <a:off x="6769100" y="3949700"/>
            <a:ext cx="584200" cy="190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794500" y="3962400"/>
            <a:ext cx="533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0">
                <a:solidFill>
                  <a:srgbClr val="087F85"/>
                </a:solidFill>
                <a:latin typeface="Arial"/>
              </a:rPr>
              <a:t>replica</a:t>
            </a:r>
          </a:p>
        </p:txBody>
      </p:sp>
      <p:sp>
        <p:nvSpPr>
          <p:cNvPr id="67" name="Oval 66"/>
          <p:cNvSpPr/>
          <p:nvPr/>
        </p:nvSpPr>
        <p:spPr>
          <a:xfrm>
            <a:off x="72136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8" name="Connector 67"/>
          <p:cNvCxnSpPr/>
          <p:nvPr/>
        </p:nvCxnSpPr>
        <p:spPr>
          <a:xfrm>
            <a:off x="72644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73152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6228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Spread across zones</a:t>
            </a:r>
          </a:p>
        </p:txBody>
      </p:sp>
      <p:sp>
        <p:nvSpPr>
          <p:cNvPr id="71" name="TextBox 70"/>
          <p:cNvSpPr txBox="1"/>
          <p:nvPr/>
        </p:nvSpPr>
        <p:spPr>
          <a:xfrm>
            <a:off x="46228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Survive a zone failure.</a:t>
            </a:r>
          </a:p>
        </p:txBody>
      </p:sp>
      <p:sp>
        <p:nvSpPr>
          <p:cNvPr id="72" name="Rounded Rectangle 71"/>
          <p:cNvSpPr/>
          <p:nvPr/>
        </p:nvSpPr>
        <p:spPr>
          <a:xfrm>
            <a:off x="8178800" y="2159000"/>
            <a:ext cx="3403600" cy="3327400"/>
          </a:xfrm>
          <a:prstGeom prst="roundRect">
            <a:avLst>
              <a:gd name="adj" fmla="val 381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8407400" y="21717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407400" y="2387600"/>
            <a:ext cx="4445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03</a:t>
            </a:r>
          </a:p>
        </p:txBody>
      </p:sp>
      <p:sp>
        <p:nvSpPr>
          <p:cNvPr id="75" name="TextBox 74"/>
          <p:cNvSpPr txBox="1"/>
          <p:nvPr/>
        </p:nvSpPr>
        <p:spPr>
          <a:xfrm>
            <a:off x="8877300" y="2362200"/>
            <a:ext cx="24765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142338"/>
                </a:solidFill>
                <a:latin typeface="Arial"/>
              </a:rPr>
              <a:t>CLUSTERS</a:t>
            </a:r>
          </a:p>
        </p:txBody>
      </p:sp>
      <p:sp>
        <p:nvSpPr>
          <p:cNvPr id="76" name="TextBox 75"/>
          <p:cNvSpPr txBox="1"/>
          <p:nvPr/>
        </p:nvSpPr>
        <p:spPr>
          <a:xfrm>
            <a:off x="8407400" y="27686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Independent clusters</a:t>
            </a:r>
          </a:p>
        </p:txBody>
      </p:sp>
      <p:sp>
        <p:nvSpPr>
          <p:cNvPr id="77" name="Rounded Rectangle 76"/>
          <p:cNvSpPr/>
          <p:nvPr/>
        </p:nvSpPr>
        <p:spPr>
          <a:xfrm>
            <a:off x="8407400" y="3225800"/>
            <a:ext cx="863600" cy="1054100"/>
          </a:xfrm>
          <a:prstGeom prst="roundRect">
            <a:avLst>
              <a:gd name="adj" fmla="val 7352"/>
            </a:avLst>
          </a:prstGeom>
          <a:solidFill>
            <a:srgbClr val="FBE9EE"/>
          </a:solidFill>
          <a:ln w="1397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8" name="Picture 77" descr="image.png"/>
          <p:cNvPicPr>
            <a:picLocks noChangeAspect="1"/>
          </p:cNvPicPr>
          <p:nvPr/>
        </p:nvPicPr>
        <p:blipFill>
          <a:blip r:embed="rId2"/>
          <a:stretch>
            <a:fillRect/>
          </a:stretch>
        </p:blipFill>
        <p:spPr>
          <a:xfrm>
            <a:off x="8648700" y="3365500"/>
            <a:ext cx="381000" cy="381000"/>
          </a:xfrm>
          <a:prstGeom prst="rect">
            <a:avLst/>
          </a:prstGeom>
        </p:spPr>
      </p:pic>
      <p:sp>
        <p:nvSpPr>
          <p:cNvPr id="79" name="TextBox 78"/>
          <p:cNvSpPr txBox="1"/>
          <p:nvPr/>
        </p:nvSpPr>
        <p:spPr>
          <a:xfrm>
            <a:off x="85344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a:t>
            </a:r>
          </a:p>
        </p:txBody>
      </p:sp>
      <p:sp>
        <p:nvSpPr>
          <p:cNvPr id="80" name="Oval 79"/>
          <p:cNvSpPr/>
          <p:nvPr/>
        </p:nvSpPr>
        <p:spPr>
          <a:xfrm>
            <a:off x="8991600" y="3086100"/>
            <a:ext cx="228600" cy="228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1" name="Connector 80"/>
          <p:cNvCxnSpPr/>
          <p:nvPr/>
        </p:nvCxnSpPr>
        <p:spPr>
          <a:xfrm>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9055100" y="3149600"/>
            <a:ext cx="1016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94107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4" name="Picture 83" descr="image.png"/>
          <p:cNvPicPr>
            <a:picLocks noChangeAspect="1"/>
          </p:cNvPicPr>
          <p:nvPr/>
        </p:nvPicPr>
        <p:blipFill>
          <a:blip r:embed="rId2"/>
          <a:stretch>
            <a:fillRect/>
          </a:stretch>
        </p:blipFill>
        <p:spPr>
          <a:xfrm>
            <a:off x="9652000" y="3365500"/>
            <a:ext cx="381000" cy="381000"/>
          </a:xfrm>
          <a:prstGeom prst="rect">
            <a:avLst/>
          </a:prstGeom>
        </p:spPr>
      </p:pic>
      <p:sp>
        <p:nvSpPr>
          <p:cNvPr id="85" name="TextBox 84"/>
          <p:cNvSpPr txBox="1"/>
          <p:nvPr/>
        </p:nvSpPr>
        <p:spPr>
          <a:xfrm>
            <a:off x="95377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B</a:t>
            </a:r>
          </a:p>
        </p:txBody>
      </p:sp>
      <p:sp>
        <p:nvSpPr>
          <p:cNvPr id="86" name="Oval 85"/>
          <p:cNvSpPr/>
          <p:nvPr/>
        </p:nvSpPr>
        <p:spPr>
          <a:xfrm>
            <a:off x="99949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0457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100965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89" name="Rounded Rectangle 88"/>
          <p:cNvSpPr/>
          <p:nvPr/>
        </p:nvSpPr>
        <p:spPr>
          <a:xfrm>
            <a:off x="10414000" y="3225800"/>
            <a:ext cx="863600" cy="1054100"/>
          </a:xfrm>
          <a:prstGeom prst="roundRect">
            <a:avLst>
              <a:gd name="adj" fmla="val 7352"/>
            </a:avLst>
          </a:prstGeom>
          <a:solidFill>
            <a:srgbClr val="E8F4F3"/>
          </a:solidFill>
          <a:ln w="1397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image.png"/>
          <p:cNvPicPr>
            <a:picLocks noChangeAspect="1"/>
          </p:cNvPicPr>
          <p:nvPr/>
        </p:nvPicPr>
        <p:blipFill>
          <a:blip r:embed="rId2"/>
          <a:stretch>
            <a:fillRect/>
          </a:stretch>
        </p:blipFill>
        <p:spPr>
          <a:xfrm>
            <a:off x="10655300" y="3365500"/>
            <a:ext cx="381000" cy="381000"/>
          </a:xfrm>
          <a:prstGeom prst="rect">
            <a:avLst/>
          </a:prstGeom>
        </p:spPr>
      </p:pic>
      <p:sp>
        <p:nvSpPr>
          <p:cNvPr id="91" name="TextBox 90"/>
          <p:cNvSpPr txBox="1"/>
          <p:nvPr/>
        </p:nvSpPr>
        <p:spPr>
          <a:xfrm>
            <a:off x="10541000" y="3873500"/>
            <a:ext cx="609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C</a:t>
            </a:r>
          </a:p>
        </p:txBody>
      </p:sp>
      <p:sp>
        <p:nvSpPr>
          <p:cNvPr id="92" name="Oval 91"/>
          <p:cNvSpPr/>
          <p:nvPr/>
        </p:nvSpPr>
        <p:spPr>
          <a:xfrm>
            <a:off x="10998200" y="3086100"/>
            <a:ext cx="228600" cy="2286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1049000" y="3200400"/>
            <a:ext cx="50800" cy="508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099800" y="3149600"/>
            <a:ext cx="76200" cy="10160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8407400" y="4559300"/>
            <a:ext cx="29464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CF0035"/>
                </a:solidFill>
                <a:latin typeface="Arial"/>
              </a:rPr>
              <a:t>Steer across clusters</a:t>
            </a:r>
          </a:p>
        </p:txBody>
      </p:sp>
      <p:sp>
        <p:nvSpPr>
          <p:cNvPr id="96" name="TextBox 95"/>
          <p:cNvSpPr txBox="1"/>
          <p:nvPr/>
        </p:nvSpPr>
        <p:spPr>
          <a:xfrm>
            <a:off x="8407400" y="4978400"/>
            <a:ext cx="29464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Keep one application hostname.</a:t>
            </a:r>
          </a:p>
        </p:txBody>
      </p:sp>
      <p:cxnSp>
        <p:nvCxnSpPr>
          <p:cNvPr id="97" name="Connector 96"/>
          <p:cNvCxnSpPr/>
          <p:nvPr/>
        </p:nvCxnSpPr>
        <p:spPr>
          <a:xfrm>
            <a:off x="41148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7899400" y="3810000"/>
            <a:ext cx="177800" cy="0"/>
          </a:xfrm>
          <a:prstGeom prst="line">
            <a:avLst/>
          </a:prstGeom>
          <a:ln w="21590">
            <a:solidFill>
              <a:srgbClr val="5D6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9" name="Rounded Rectangle 9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When an entire cluster is unavailable, who steers the next request?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MULTI-REGION · MULTI-CLOUD · HYBRID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03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One application across regions and clouds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The same application in three independent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5156200" y="2717800"/>
            <a:ext cx="0" cy="279400"/>
          </a:xfrm>
          <a:prstGeom prst="line">
            <a:avLst/>
          </a:prstGeom>
          <a:ln w="2159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311400" y="2997200"/>
            <a:ext cx="2844800" cy="0"/>
          </a:xfrm>
          <a:prstGeom prst="line">
            <a:avLst/>
          </a:prstGeom>
          <a:ln w="2159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311400" y="2997200"/>
            <a:ext cx="0" cy="292100"/>
          </a:xfrm>
          <a:prstGeom prst="line">
            <a:avLst/>
          </a:prstGeom>
          <a:ln w="2159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6000" y="2717800"/>
            <a:ext cx="0" cy="5715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035800" y="2717800"/>
            <a:ext cx="0" cy="2794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035800" y="2997200"/>
            <a:ext cx="28448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80600" y="2997200"/>
            <a:ext cx="0" cy="2921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165600" y="1917700"/>
            <a:ext cx="3860800" cy="800100"/>
          </a:xfrm>
          <a:prstGeom prst="roundRect">
            <a:avLst>
              <a:gd name="adj" fmla="val 1428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43400" y="2044700"/>
            <a:ext cx="35052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B8C8D9"/>
                </a:solidFill>
                <a:latin typeface="Arial"/>
              </a:rPr>
              <a:t>ONE APPLICATION HOSTNAME</a:t>
            </a:r>
          </a:p>
        </p:txBody>
      </p:sp>
      <p:sp>
        <p:nvSpPr>
          <p:cNvPr id="19" name="TextBox 18"/>
          <p:cNvSpPr txBox="1"/>
          <p:nvPr/>
        </p:nvSpPr>
        <p:spPr>
          <a:xfrm>
            <a:off x="4343400" y="2286000"/>
            <a:ext cx="3505200" cy="374015"/>
          </a:xfrm>
          <a:prstGeom prst="rect">
            <a:avLst/>
          </a:prstGeom>
          <a:noFill/>
        </p:spPr>
        <p:txBody>
          <a:bodyPr wrap="none" lIns="0" rIns="0" tIns="0" bIns="0" anchor="t">
            <a:noAutofit/>
          </a:bodyPr>
          <a:lstStyle/>
          <a:p>
            <a:pPr algn="ctr">
              <a:lnSpc>
                <a:spcPts val="2645"/>
              </a:lnSpc>
              <a:spcBef>
                <a:spcPts val="0"/>
              </a:spcBef>
              <a:spcAft>
                <a:spcPts val="0"/>
              </a:spcAft>
            </a:pPr>
            <a:r>
              <a:rPr sz="2300" b="0">
                <a:solidFill>
                  <a:srgbClr val="FFFFFF"/>
                </a:solidFill>
                <a:latin typeface="Courier New"/>
              </a:rPr>
              <a:t>app.example.com</a:t>
            </a:r>
          </a:p>
        </p:txBody>
      </p:sp>
      <p:sp>
        <p:nvSpPr>
          <p:cNvPr id="20" name="Rounded Rectangle 19"/>
          <p:cNvSpPr/>
          <p:nvPr/>
        </p:nvSpPr>
        <p:spPr>
          <a:xfrm>
            <a:off x="609600" y="3289300"/>
            <a:ext cx="3403600" cy="2298700"/>
          </a:xfrm>
          <a:prstGeom prst="roundRect">
            <a:avLst>
              <a:gd name="adj" fmla="val 552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838200" y="3302000"/>
            <a:ext cx="2946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63600" y="3467100"/>
            <a:ext cx="266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CLOUD 1</a:t>
            </a:r>
          </a:p>
        </p:txBody>
      </p:sp>
      <p:sp>
        <p:nvSpPr>
          <p:cNvPr id="23" name="Oval 22"/>
          <p:cNvSpPr/>
          <p:nvPr/>
        </p:nvSpPr>
        <p:spPr>
          <a:xfrm>
            <a:off x="3556000" y="3429000"/>
            <a:ext cx="254000" cy="2540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3632200" y="3505200"/>
            <a:ext cx="101600" cy="101600"/>
          </a:xfrm>
          <a:prstGeom prst="line">
            <a:avLst/>
          </a:prstGeom>
          <a:ln w="2159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632200" y="3505200"/>
            <a:ext cx="101600" cy="101600"/>
          </a:xfrm>
          <a:prstGeom prst="line">
            <a:avLst/>
          </a:prstGeom>
          <a:ln w="21590">
            <a:solidFill>
              <a:srgbClr val="FFFFF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63600" y="37465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Europe</a:t>
            </a:r>
          </a:p>
        </p:txBody>
      </p:sp>
      <p:pic>
        <p:nvPicPr>
          <p:cNvPr id="27" name="Picture 26" descr="image.png"/>
          <p:cNvPicPr>
            <a:picLocks noChangeAspect="1"/>
          </p:cNvPicPr>
          <p:nvPr/>
        </p:nvPicPr>
        <p:blipFill>
          <a:blip r:embed="rId2"/>
          <a:stretch>
            <a:fillRect/>
          </a:stretch>
        </p:blipFill>
        <p:spPr>
          <a:xfrm>
            <a:off x="863600" y="4203700"/>
            <a:ext cx="495300" cy="495300"/>
          </a:xfrm>
          <a:prstGeom prst="rect">
            <a:avLst/>
          </a:prstGeom>
        </p:spPr>
      </p:pic>
      <p:sp>
        <p:nvSpPr>
          <p:cNvPr id="28" name="TextBox 27"/>
          <p:cNvSpPr txBox="1"/>
          <p:nvPr/>
        </p:nvSpPr>
        <p:spPr>
          <a:xfrm>
            <a:off x="1562100" y="4267200"/>
            <a:ext cx="2197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Cluster A</a:t>
            </a:r>
          </a:p>
        </p:txBody>
      </p:sp>
      <p:sp>
        <p:nvSpPr>
          <p:cNvPr id="29" name="Rounded Rectangle 28"/>
          <p:cNvSpPr/>
          <p:nvPr/>
        </p:nvSpPr>
        <p:spPr>
          <a:xfrm>
            <a:off x="838200" y="4889500"/>
            <a:ext cx="2946400" cy="419100"/>
          </a:xfrm>
          <a:prstGeom prst="roundRect">
            <a:avLst>
              <a:gd name="adj" fmla="val 1818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9800" y="5003800"/>
            <a:ext cx="2743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Application · OFFLINE</a:t>
            </a:r>
          </a:p>
        </p:txBody>
      </p:sp>
      <p:sp>
        <p:nvSpPr>
          <p:cNvPr id="31" name="Rounded Rectangle 30"/>
          <p:cNvSpPr/>
          <p:nvPr/>
        </p:nvSpPr>
        <p:spPr>
          <a:xfrm>
            <a:off x="4394200" y="3289300"/>
            <a:ext cx="3403600" cy="2298700"/>
          </a:xfrm>
          <a:prstGeom prst="roundRect">
            <a:avLst>
              <a:gd name="adj" fmla="val 552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4622800" y="33020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48200" y="3467100"/>
            <a:ext cx="266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CLOUD 2</a:t>
            </a:r>
          </a:p>
        </p:txBody>
      </p:sp>
      <p:sp>
        <p:nvSpPr>
          <p:cNvPr id="34" name="Oval 33"/>
          <p:cNvSpPr/>
          <p:nvPr/>
        </p:nvSpPr>
        <p:spPr>
          <a:xfrm>
            <a:off x="7340600" y="3429000"/>
            <a:ext cx="254000" cy="2540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404100" y="3556000"/>
            <a:ext cx="50800" cy="508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7454900" y="3505200"/>
            <a:ext cx="889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4648200" y="37465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North America</a:t>
            </a:r>
          </a:p>
        </p:txBody>
      </p:sp>
      <p:pic>
        <p:nvPicPr>
          <p:cNvPr id="38" name="Picture 37" descr="image.png"/>
          <p:cNvPicPr>
            <a:picLocks noChangeAspect="1"/>
          </p:cNvPicPr>
          <p:nvPr/>
        </p:nvPicPr>
        <p:blipFill>
          <a:blip r:embed="rId2"/>
          <a:stretch>
            <a:fillRect/>
          </a:stretch>
        </p:blipFill>
        <p:spPr>
          <a:xfrm>
            <a:off x="4648200" y="4203700"/>
            <a:ext cx="495300" cy="495300"/>
          </a:xfrm>
          <a:prstGeom prst="rect">
            <a:avLst/>
          </a:prstGeom>
        </p:spPr>
      </p:pic>
      <p:sp>
        <p:nvSpPr>
          <p:cNvPr id="39" name="TextBox 38"/>
          <p:cNvSpPr txBox="1"/>
          <p:nvPr/>
        </p:nvSpPr>
        <p:spPr>
          <a:xfrm>
            <a:off x="5346700" y="4267200"/>
            <a:ext cx="2197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Cluster B</a:t>
            </a:r>
          </a:p>
        </p:txBody>
      </p:sp>
      <p:sp>
        <p:nvSpPr>
          <p:cNvPr id="40" name="Rounded Rectangle 39"/>
          <p:cNvSpPr/>
          <p:nvPr/>
        </p:nvSpPr>
        <p:spPr>
          <a:xfrm>
            <a:off x="4622800" y="4889500"/>
            <a:ext cx="2946400" cy="419100"/>
          </a:xfrm>
          <a:prstGeom prst="roundRect">
            <a:avLst>
              <a:gd name="adj" fmla="val 1818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24400" y="5003800"/>
            <a:ext cx="2743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Application · READY</a:t>
            </a:r>
          </a:p>
        </p:txBody>
      </p:sp>
      <p:sp>
        <p:nvSpPr>
          <p:cNvPr id="42" name="Rounded Rectangle 41"/>
          <p:cNvSpPr/>
          <p:nvPr/>
        </p:nvSpPr>
        <p:spPr>
          <a:xfrm>
            <a:off x="8178800" y="3289300"/>
            <a:ext cx="3403600" cy="2298700"/>
          </a:xfrm>
          <a:prstGeom prst="roundRect">
            <a:avLst>
              <a:gd name="adj" fmla="val 552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302000"/>
            <a:ext cx="2946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432800" y="3467100"/>
            <a:ext cx="266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ON-PREMISES</a:t>
            </a:r>
          </a:p>
        </p:txBody>
      </p:sp>
      <p:sp>
        <p:nvSpPr>
          <p:cNvPr id="45" name="Oval 44"/>
          <p:cNvSpPr/>
          <p:nvPr/>
        </p:nvSpPr>
        <p:spPr>
          <a:xfrm>
            <a:off x="11125200" y="3429000"/>
            <a:ext cx="254000" cy="254000"/>
          </a:xfrm>
          <a:prstGeom prst="ellipse">
            <a:avLst/>
          </a:prstGeom>
          <a:solidFill>
            <a:srgbClr val="177C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11188700" y="3556000"/>
            <a:ext cx="50800" cy="508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1239500" y="3505200"/>
            <a:ext cx="88900" cy="101600"/>
          </a:xfrm>
          <a:prstGeom prst="line">
            <a:avLst/>
          </a:prstGeom>
          <a:ln w="20320">
            <a:solidFill>
              <a:srgbClr val="FFFFFF"/>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432800" y="3746500"/>
            <a:ext cx="2895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Asia Pacific</a:t>
            </a:r>
          </a:p>
        </p:txBody>
      </p:sp>
      <p:pic>
        <p:nvPicPr>
          <p:cNvPr id="49" name="Picture 48" descr="image.png"/>
          <p:cNvPicPr>
            <a:picLocks noChangeAspect="1"/>
          </p:cNvPicPr>
          <p:nvPr/>
        </p:nvPicPr>
        <p:blipFill>
          <a:blip r:embed="rId2"/>
          <a:stretch>
            <a:fillRect/>
          </a:stretch>
        </p:blipFill>
        <p:spPr>
          <a:xfrm>
            <a:off x="8432800" y="4203700"/>
            <a:ext cx="495300" cy="495300"/>
          </a:xfrm>
          <a:prstGeom prst="rect">
            <a:avLst/>
          </a:prstGeom>
        </p:spPr>
      </p:pic>
      <p:sp>
        <p:nvSpPr>
          <p:cNvPr id="50" name="TextBox 49"/>
          <p:cNvSpPr txBox="1"/>
          <p:nvPr/>
        </p:nvSpPr>
        <p:spPr>
          <a:xfrm>
            <a:off x="9131300" y="4267200"/>
            <a:ext cx="2197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Cluster C</a:t>
            </a:r>
          </a:p>
        </p:txBody>
      </p:sp>
      <p:sp>
        <p:nvSpPr>
          <p:cNvPr id="51" name="Rounded Rectangle 50"/>
          <p:cNvSpPr/>
          <p:nvPr/>
        </p:nvSpPr>
        <p:spPr>
          <a:xfrm>
            <a:off x="8407400" y="4889500"/>
            <a:ext cx="2946400" cy="419100"/>
          </a:xfrm>
          <a:prstGeom prst="roundRect">
            <a:avLst>
              <a:gd name="adj" fmla="val 1818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509000" y="5003800"/>
            <a:ext cx="2743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Application · READY</a:t>
            </a:r>
          </a:p>
        </p:txBody>
      </p:sp>
      <p:sp>
        <p:nvSpPr>
          <p:cNvPr id="53" name="Rounded Rectangle 52"/>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Which healthy cluster should receive the next request?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1 · WHAT K8GB ENABLES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04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k8gb · Kubernetes Global Balancer</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Two or more clusters. No fixed cluster-count limit in k8gb.</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939800" y="2324100"/>
            <a:ext cx="2286000" cy="2286000"/>
          </a:xfrm>
          <a:prstGeom prst="rect">
            <a:avLst/>
          </a:prstGeom>
        </p:spPr>
      </p:pic>
      <p:sp>
        <p:nvSpPr>
          <p:cNvPr id="11" name="Rounded Rectangle 10"/>
          <p:cNvSpPr/>
          <p:nvPr/>
        </p:nvSpPr>
        <p:spPr>
          <a:xfrm>
            <a:off x="800100" y="4978400"/>
            <a:ext cx="2565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5029200"/>
            <a:ext cx="2438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CNCF INCUBATING</a:t>
            </a:r>
          </a:p>
        </p:txBody>
      </p:sp>
      <p:sp>
        <p:nvSpPr>
          <p:cNvPr id="13" name="TextBox 12"/>
          <p:cNvSpPr txBox="1"/>
          <p:nvPr/>
        </p:nvSpPr>
        <p:spPr>
          <a:xfrm>
            <a:off x="4152900" y="21971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Kubernetes-native</a:t>
            </a:r>
          </a:p>
        </p:txBody>
      </p:sp>
      <p:sp>
        <p:nvSpPr>
          <p:cNvPr id="14" name="TextBox 13"/>
          <p:cNvSpPr txBox="1"/>
          <p:nvPr/>
        </p:nvSpPr>
        <p:spPr>
          <a:xfrm>
            <a:off x="4152900" y="26797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Readiness becomes DNS eligibility.</a:t>
            </a:r>
          </a:p>
        </p:txBody>
      </p:sp>
      <p:sp>
        <p:nvSpPr>
          <p:cNvPr id="15" name="TextBox 14"/>
          <p:cNvSpPr txBox="1"/>
          <p:nvPr/>
        </p:nvSpPr>
        <p:spPr>
          <a:xfrm>
            <a:off x="4152900" y="33528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Decentralized</a:t>
            </a:r>
          </a:p>
        </p:txBody>
      </p:sp>
      <p:sp>
        <p:nvSpPr>
          <p:cNvPr id="16" name="TextBox 15"/>
          <p:cNvSpPr txBox="1"/>
          <p:nvPr/>
        </p:nvSpPr>
        <p:spPr>
          <a:xfrm>
            <a:off x="4152900" y="38354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A control loop at each participating cluster.</a:t>
            </a:r>
          </a:p>
        </p:txBody>
      </p:sp>
      <p:sp>
        <p:nvSpPr>
          <p:cNvPr id="17" name="TextBox 16"/>
          <p:cNvSpPr txBox="1"/>
          <p:nvPr/>
        </p:nvSpPr>
        <p:spPr>
          <a:xfrm>
            <a:off x="4152900" y="4508500"/>
            <a:ext cx="7112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Declarative</a:t>
            </a:r>
          </a:p>
        </p:txBody>
      </p:sp>
      <p:sp>
        <p:nvSpPr>
          <p:cNvPr id="18" name="TextBox 17"/>
          <p:cNvSpPr txBox="1"/>
          <p:nvPr/>
        </p:nvSpPr>
        <p:spPr>
          <a:xfrm>
            <a:off x="4152900" y="4991100"/>
            <a:ext cx="7112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5D6F82"/>
                </a:solidFill>
                <a:latin typeface="Arial"/>
              </a:rPr>
              <a:t>Review traffic steering in Git.</a:t>
            </a:r>
          </a:p>
        </p:txBody>
      </p:sp>
      <p:sp>
        <p:nvSpPr>
          <p:cNvPr id="19" name="Rounded Rectangle 1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Global application resilience across Kubernetes clusters.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 BRIEF HISTORY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05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From Absa production to CNCF incubation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An operational need grew into a community project.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66900" y="2641600"/>
            <a:ext cx="84582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96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PRODUCTION ORIGINS</a:t>
            </a:r>
          </a:p>
        </p:txBody>
      </p:sp>
      <p:sp>
        <p:nvSpPr>
          <p:cNvPr id="12" name="Oval 11"/>
          <p:cNvSpPr/>
          <p:nvPr/>
        </p:nvSpPr>
        <p:spPr>
          <a:xfrm>
            <a:off x="17399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61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6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96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382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82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7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965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5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65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1181100" y="3302000"/>
            <a:ext cx="152400" cy="304800"/>
          </a:xfrm>
          <a:prstGeom prst="roundRect">
            <a:avLst>
              <a:gd name="adj" fmla="val 16666"/>
            </a:avLst>
          </a:prstGeom>
          <a:solidFill>
            <a:srgbClr val="EAF0FB"/>
          </a:solidFill>
          <a:ln w="1651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1219200" y="33782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19200" y="34544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219200" y="3530600"/>
            <a:ext cx="76200" cy="0"/>
          </a:xfrm>
          <a:prstGeom prst="line">
            <a:avLst/>
          </a:prstGeom>
          <a:ln w="1270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9500" y="3454400"/>
            <a:ext cx="101600" cy="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382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Born at</a:t>
            </a:r>
          </a:p>
          <a:p>
            <a:pPr algn="l">
              <a:lnSpc>
                <a:spcPts val="2484"/>
              </a:lnSpc>
              <a:spcBef>
                <a:spcPts val="0"/>
              </a:spcBef>
              <a:spcAft>
                <a:spcPts val="0"/>
              </a:spcAft>
            </a:pPr>
            <a:r>
              <a:rPr sz="2300" b="1">
                <a:solidFill>
                  <a:srgbClr val="142338"/>
                </a:solidFill>
                <a:latin typeface="Arial"/>
              </a:rPr>
              <a:t>Absa</a:t>
            </a:r>
          </a:p>
        </p:txBody>
      </p:sp>
      <p:sp>
        <p:nvSpPr>
          <p:cNvPr id="28" name="TextBox 27"/>
          <p:cNvSpPr txBox="1"/>
          <p:nvPr/>
        </p:nvSpPr>
        <p:spPr>
          <a:xfrm>
            <a:off x="8382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Multiple on-prem</a:t>
            </a:r>
          </a:p>
          <a:p>
            <a:pPr algn="l">
              <a:lnSpc>
                <a:spcPts val="1920"/>
              </a:lnSpc>
              <a:spcBef>
                <a:spcPts val="0"/>
              </a:spcBef>
              <a:spcAft>
                <a:spcPts val="0"/>
              </a:spcAft>
            </a:pPr>
            <a:r>
              <a:rPr sz="1600" b="0">
                <a:solidFill>
                  <a:srgbClr val="5D6F82"/>
                </a:solidFill>
                <a:latin typeface="Arial"/>
              </a:rPr>
              <a:t>datacenters, then</a:t>
            </a:r>
          </a:p>
          <a:p>
            <a:pPr algn="l">
              <a:lnSpc>
                <a:spcPts val="1920"/>
              </a:lnSpc>
              <a:spcBef>
                <a:spcPts val="0"/>
              </a:spcBef>
              <a:spcAft>
                <a:spcPts val="0"/>
              </a:spcAft>
            </a:pPr>
            <a:r>
              <a:rPr sz="1600" b="0">
                <a:solidFill>
                  <a:srgbClr val="5D6F82"/>
                </a:solidFill>
                <a:latin typeface="Arial"/>
              </a:rPr>
              <a:t>hybrid deployments</a:t>
            </a:r>
          </a:p>
        </p:txBody>
      </p:sp>
      <p:sp>
        <p:nvSpPr>
          <p:cNvPr id="29" name="TextBox 28"/>
          <p:cNvSpPr txBox="1"/>
          <p:nvPr/>
        </p:nvSpPr>
        <p:spPr>
          <a:xfrm>
            <a:off x="34290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087F85"/>
                </a:solidFill>
                <a:latin typeface="Arial"/>
              </a:rPr>
              <a:t>30 MAR 2021</a:t>
            </a:r>
          </a:p>
        </p:txBody>
      </p:sp>
      <p:sp>
        <p:nvSpPr>
          <p:cNvPr id="30" name="Oval 29"/>
          <p:cNvSpPr/>
          <p:nvPr/>
        </p:nvSpPr>
        <p:spPr>
          <a:xfrm>
            <a:off x="4559300" y="2514600"/>
            <a:ext cx="254000" cy="254000"/>
          </a:xfrm>
          <a:prstGeom prst="ellipse">
            <a:avLst/>
          </a:prstGeom>
          <a:solidFill>
            <a:srgbClr val="F8FAFC"/>
          </a:solidFill>
          <a:ln w="2540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35500" y="2590800"/>
            <a:ext cx="101600" cy="1016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34290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4290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657600" y="2997200"/>
            <a:ext cx="20574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657600" y="3187700"/>
            <a:ext cx="558800" cy="558800"/>
          </a:xfrm>
          <a:prstGeom prst="roundRect">
            <a:avLst>
              <a:gd name="adj" fmla="val 204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3810000" y="3314700"/>
            <a:ext cx="0" cy="2667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810000" y="3581400"/>
            <a:ext cx="254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064000" y="3327400"/>
            <a:ext cx="0" cy="2540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65550" y="32702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765550" y="3536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019550" y="3282950"/>
            <a:ext cx="88900" cy="889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CNCF</a:t>
            </a:r>
          </a:p>
          <a:p>
            <a:pPr algn="l">
              <a:lnSpc>
                <a:spcPts val="2484"/>
              </a:lnSpc>
              <a:spcBef>
                <a:spcPts val="0"/>
              </a:spcBef>
              <a:spcAft>
                <a:spcPts val="0"/>
              </a:spcAft>
            </a:pPr>
            <a:r>
              <a:rPr sz="2300" b="1">
                <a:solidFill>
                  <a:srgbClr val="142338"/>
                </a:solidFill>
                <a:latin typeface="Arial"/>
              </a:rPr>
              <a:t>Sandbox</a:t>
            </a:r>
          </a:p>
        </p:txBody>
      </p:sp>
      <p:sp>
        <p:nvSpPr>
          <p:cNvPr id="43" name="TextBox 42"/>
          <p:cNvSpPr txBox="1"/>
          <p:nvPr/>
        </p:nvSpPr>
        <p:spPr>
          <a:xfrm>
            <a:off x="36576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Contributed to the</a:t>
            </a:r>
          </a:p>
          <a:p>
            <a:pPr algn="l">
              <a:lnSpc>
                <a:spcPts val="1920"/>
              </a:lnSpc>
              <a:spcBef>
                <a:spcPts val="0"/>
              </a:spcBef>
              <a:spcAft>
                <a:spcPts val="0"/>
              </a:spcAft>
            </a:pPr>
            <a:r>
              <a:rPr sz="1600" b="0">
                <a:solidFill>
                  <a:srgbClr val="5D6F82"/>
                </a:solidFill>
                <a:latin typeface="Arial"/>
              </a:rPr>
              <a:t>cloud native</a:t>
            </a:r>
          </a:p>
          <a:p>
            <a:pPr algn="l">
              <a:lnSpc>
                <a:spcPts val="1920"/>
              </a:lnSpc>
              <a:spcBef>
                <a:spcPts val="0"/>
              </a:spcBef>
              <a:spcAft>
                <a:spcPts val="0"/>
              </a:spcAft>
            </a:pPr>
            <a:r>
              <a:rPr sz="1600" b="0">
                <a:solidFill>
                  <a:srgbClr val="5D6F82"/>
                </a:solidFill>
                <a:latin typeface="Arial"/>
              </a:rPr>
              <a:t>community</a:t>
            </a:r>
          </a:p>
        </p:txBody>
      </p:sp>
      <p:sp>
        <p:nvSpPr>
          <p:cNvPr id="44" name="TextBox 43"/>
          <p:cNvSpPr txBox="1"/>
          <p:nvPr/>
        </p:nvSpPr>
        <p:spPr>
          <a:xfrm>
            <a:off x="62484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PUBLIC ADOPTION</a:t>
            </a:r>
          </a:p>
        </p:txBody>
      </p:sp>
      <p:sp>
        <p:nvSpPr>
          <p:cNvPr id="45" name="Oval 44"/>
          <p:cNvSpPr/>
          <p:nvPr/>
        </p:nvSpPr>
        <p:spPr>
          <a:xfrm>
            <a:off x="7378700" y="2514600"/>
            <a:ext cx="254000" cy="254000"/>
          </a:xfrm>
          <a:prstGeom prst="ellipse">
            <a:avLst/>
          </a:prstGeom>
          <a:solidFill>
            <a:srgbClr val="F8FAFC"/>
          </a:solidFill>
          <a:ln w="2540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454900" y="2590800"/>
            <a:ext cx="101600" cy="1016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484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48400" y="2984500"/>
            <a:ext cx="2514600" cy="2552700"/>
          </a:xfrm>
          <a:prstGeom prst="roundRect">
            <a:avLst>
              <a:gd name="adj" fmla="val 454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6477000" y="2997200"/>
            <a:ext cx="20574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6477000" y="3187700"/>
            <a:ext cx="558800" cy="558800"/>
          </a:xfrm>
          <a:prstGeom prst="roundRect">
            <a:avLst>
              <a:gd name="adj" fmla="val 204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572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5532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51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6832600" y="34798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711950" y="32575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692900" y="3378200"/>
            <a:ext cx="127000" cy="114300"/>
          </a:xfrm>
          <a:prstGeom prst="roundRect">
            <a:avLst>
              <a:gd name="adj" fmla="val 33333"/>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770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142338"/>
                </a:solidFill>
                <a:latin typeface="Arial"/>
              </a:rPr>
              <a:t>Beyond</a:t>
            </a:r>
          </a:p>
          <a:p>
            <a:pPr algn="l">
              <a:lnSpc>
                <a:spcPts val="2484"/>
              </a:lnSpc>
              <a:spcBef>
                <a:spcPts val="0"/>
              </a:spcBef>
              <a:spcAft>
                <a:spcPts val="0"/>
              </a:spcAft>
            </a:pPr>
            <a:r>
              <a:rPr sz="2300" b="1">
                <a:solidFill>
                  <a:srgbClr val="142338"/>
                </a:solidFill>
                <a:latin typeface="Arial"/>
              </a:rPr>
              <a:t>Absa</a:t>
            </a:r>
          </a:p>
        </p:txBody>
      </p:sp>
      <p:sp>
        <p:nvSpPr>
          <p:cNvPr id="58" name="TextBox 57"/>
          <p:cNvSpPr txBox="1"/>
          <p:nvPr/>
        </p:nvSpPr>
        <p:spPr>
          <a:xfrm>
            <a:off x="64770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5D6F82"/>
                </a:solidFill>
                <a:latin typeface="Arial"/>
              </a:rPr>
              <a:t>Millennium bcp</a:t>
            </a:r>
          </a:p>
          <a:p>
            <a:pPr algn="l">
              <a:lnSpc>
                <a:spcPts val="1920"/>
              </a:lnSpc>
              <a:spcBef>
                <a:spcPts val="0"/>
              </a:spcBef>
              <a:spcAft>
                <a:spcPts val="0"/>
              </a:spcAft>
            </a:pPr>
            <a:r>
              <a:rPr sz="1600" b="0">
                <a:solidFill>
                  <a:srgbClr val="5D6F82"/>
                </a:solidFill>
                <a:latin typeface="Arial"/>
              </a:rPr>
              <a:t>Open Systems</a:t>
            </a:r>
          </a:p>
          <a:p>
            <a:pPr algn="l">
              <a:lnSpc>
                <a:spcPts val="1920"/>
              </a:lnSpc>
              <a:spcBef>
                <a:spcPts val="0"/>
              </a:spcBef>
              <a:spcAft>
                <a:spcPts val="0"/>
              </a:spcAft>
            </a:pPr>
            <a:r>
              <a:rPr sz="1600" b="0">
                <a:solidFill>
                  <a:srgbClr val="5D6F82"/>
                </a:solidFill>
                <a:latin typeface="Arial"/>
              </a:rPr>
              <a:t>PagBank</a:t>
            </a:r>
          </a:p>
        </p:txBody>
      </p:sp>
      <p:sp>
        <p:nvSpPr>
          <p:cNvPr id="59" name="TextBox 58"/>
          <p:cNvSpPr txBox="1"/>
          <p:nvPr/>
        </p:nvSpPr>
        <p:spPr>
          <a:xfrm>
            <a:off x="9067800" y="2222500"/>
            <a:ext cx="25146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18 JUL 2026</a:t>
            </a:r>
          </a:p>
        </p:txBody>
      </p:sp>
      <p:sp>
        <p:nvSpPr>
          <p:cNvPr id="60" name="Oval 59"/>
          <p:cNvSpPr/>
          <p:nvPr/>
        </p:nvSpPr>
        <p:spPr>
          <a:xfrm>
            <a:off x="10198100" y="2514600"/>
            <a:ext cx="254000" cy="254000"/>
          </a:xfrm>
          <a:prstGeom prst="ellipse">
            <a:avLst/>
          </a:prstGeom>
          <a:solidFill>
            <a:srgbClr val="F8FAFC"/>
          </a:solidFill>
          <a:ln w="2540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274300" y="2590800"/>
            <a:ext cx="101600" cy="1016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9067800" y="3035300"/>
            <a:ext cx="2514600" cy="2552700"/>
          </a:xfrm>
          <a:prstGeom prst="roundRect">
            <a:avLst>
              <a:gd name="adj" fmla="val 454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67800" y="2984500"/>
            <a:ext cx="2514600" cy="2552700"/>
          </a:xfrm>
          <a:prstGeom prst="roundRect">
            <a:avLst>
              <a:gd name="adj" fmla="val 4545"/>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9296400" y="2997200"/>
            <a:ext cx="20574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pic>
        <p:nvPicPr>
          <p:cNvPr id="65" name="Picture 64" descr="image.png"/>
          <p:cNvPicPr>
            <a:picLocks noChangeAspect="1"/>
          </p:cNvPicPr>
          <p:nvPr/>
        </p:nvPicPr>
        <p:blipFill>
          <a:blip r:embed="rId2"/>
          <a:stretch>
            <a:fillRect/>
          </a:stretch>
        </p:blipFill>
        <p:spPr>
          <a:xfrm>
            <a:off x="9296400" y="3181693"/>
            <a:ext cx="558800" cy="545413"/>
          </a:xfrm>
          <a:prstGeom prst="rect">
            <a:avLst/>
          </a:prstGeom>
        </p:spPr>
      </p:pic>
      <p:sp>
        <p:nvSpPr>
          <p:cNvPr id="66" name="TextBox 65"/>
          <p:cNvSpPr txBox="1"/>
          <p:nvPr/>
        </p:nvSpPr>
        <p:spPr>
          <a:xfrm>
            <a:off x="9296400" y="3873500"/>
            <a:ext cx="2057400" cy="669036"/>
          </a:xfrm>
          <a:prstGeom prst="rect">
            <a:avLst/>
          </a:prstGeom>
          <a:noFill/>
        </p:spPr>
        <p:txBody>
          <a:bodyPr wrap="none" lIns="0" rIns="0" tIns="0" bIns="0" anchor="t">
            <a:noAutofit/>
          </a:bodyPr>
          <a:lstStyle/>
          <a:p>
            <a:pPr algn="l">
              <a:lnSpc>
                <a:spcPts val="2484"/>
              </a:lnSpc>
              <a:spcBef>
                <a:spcPts val="0"/>
              </a:spcBef>
              <a:spcAft>
                <a:spcPts val="0"/>
              </a:spcAft>
            </a:pPr>
            <a:r>
              <a:rPr sz="2300" b="1">
                <a:solidFill>
                  <a:srgbClr val="FFFFFF"/>
                </a:solidFill>
                <a:latin typeface="Arial"/>
              </a:rPr>
              <a:t>CNCF</a:t>
            </a:r>
          </a:p>
          <a:p>
            <a:pPr algn="l">
              <a:lnSpc>
                <a:spcPts val="2484"/>
              </a:lnSpc>
              <a:spcBef>
                <a:spcPts val="0"/>
              </a:spcBef>
              <a:spcAft>
                <a:spcPts val="0"/>
              </a:spcAft>
            </a:pPr>
            <a:r>
              <a:rPr sz="2300" b="1">
                <a:solidFill>
                  <a:srgbClr val="FFFFFF"/>
                </a:solidFill>
                <a:latin typeface="Arial"/>
              </a:rPr>
              <a:t>Incubating</a:t>
            </a:r>
          </a:p>
        </p:txBody>
      </p:sp>
      <p:sp>
        <p:nvSpPr>
          <p:cNvPr id="67" name="TextBox 66"/>
          <p:cNvSpPr txBox="1"/>
          <p:nvPr/>
        </p:nvSpPr>
        <p:spPr>
          <a:xfrm>
            <a:off x="9296400" y="4711700"/>
            <a:ext cx="2057400" cy="769619"/>
          </a:xfrm>
          <a:prstGeom prst="rect">
            <a:avLst/>
          </a:prstGeom>
          <a:noFill/>
        </p:spPr>
        <p:txBody>
          <a:bodyPr wrap="none" lIns="0" rIns="0" tIns="0" bIns="0" anchor="t">
            <a:noAutofit/>
          </a:bodyPr>
          <a:lstStyle/>
          <a:p>
            <a:pPr algn="l">
              <a:lnSpc>
                <a:spcPts val="1920"/>
              </a:lnSpc>
              <a:spcBef>
                <a:spcPts val="0"/>
              </a:spcBef>
              <a:spcAft>
                <a:spcPts val="0"/>
              </a:spcAft>
            </a:pPr>
            <a:r>
              <a:rPr sz="1600" b="0">
                <a:solidFill>
                  <a:srgbClr val="B8C8D9"/>
                </a:solidFill>
                <a:latin typeface="Arial"/>
              </a:rPr>
              <a:t>A new milestone</a:t>
            </a:r>
          </a:p>
          <a:p>
            <a:pPr algn="l">
              <a:lnSpc>
                <a:spcPts val="1920"/>
              </a:lnSpc>
              <a:spcBef>
                <a:spcPts val="0"/>
              </a:spcBef>
              <a:spcAft>
                <a:spcPts val="0"/>
              </a:spcAft>
            </a:pPr>
            <a:r>
              <a:rPr sz="1600" b="0">
                <a:solidFill>
                  <a:srgbClr val="B8C8D9"/>
                </a:solidFill>
                <a:latin typeface="Arial"/>
              </a:rPr>
              <a:t>for the project</a:t>
            </a:r>
          </a:p>
          <a:p>
            <a:pPr algn="l">
              <a:lnSpc>
                <a:spcPts val="1920"/>
              </a:lnSpc>
              <a:spcBef>
                <a:spcPts val="0"/>
              </a:spcBef>
              <a:spcAft>
                <a:spcPts val="0"/>
              </a:spcAft>
            </a:pPr>
            <a:r>
              <a:rPr sz="1600" b="0">
                <a:solidFill>
                  <a:srgbClr val="B8C8D9"/>
                </a:solidFill>
                <a:latin typeface="Arial"/>
              </a:rPr>
              <a:t>and its community</a:t>
            </a:r>
          </a:p>
        </p:txBody>
      </p:sp>
      <p:sp>
        <p:nvSpPr>
          <p:cNvPr id="68" name="Rounded Rectangle 67"/>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Born from a production problem. Built with the community.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REFERENCE ARCHITECTURE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06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Independent clusters, shared DNS contract</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3568700" y="1562100"/>
            <a:ext cx="5054600" cy="698500"/>
          </a:xfrm>
          <a:prstGeom prst="roundRect">
            <a:avLst>
              <a:gd name="adj" fmla="val 1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59200" y="1638300"/>
            <a:ext cx="46736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Parent DNS  ·  example.com</a:t>
            </a:r>
          </a:p>
        </p:txBody>
      </p:sp>
      <p:sp>
        <p:nvSpPr>
          <p:cNvPr id="11" name="TextBox 10"/>
          <p:cNvSpPr txBox="1"/>
          <p:nvPr/>
        </p:nvSpPr>
        <p:spPr>
          <a:xfrm>
            <a:off x="3759200" y="2006600"/>
            <a:ext cx="46736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B8C8D9"/>
                </a:solidFill>
                <a:latin typeface="Arial"/>
              </a:rPr>
              <a:t>NS + address updates</a:t>
            </a:r>
          </a:p>
        </p:txBody>
      </p:sp>
      <p:sp>
        <p:nvSpPr>
          <p:cNvPr id="12" name="Rounded Rectangle 11"/>
          <p:cNvSpPr/>
          <p:nvPr/>
        </p:nvSpPr>
        <p:spPr>
          <a:xfrm>
            <a:off x="9359900" y="1562100"/>
            <a:ext cx="2222500" cy="698500"/>
          </a:xfrm>
          <a:prstGeom prst="roundRect">
            <a:avLst>
              <a:gd name="adj" fmla="val 1272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2300" y="1689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2762C8"/>
                </a:solidFill>
                <a:latin typeface="Arial"/>
              </a:rPr>
              <a:t>2 OF N CLUSTERS</a:t>
            </a:r>
          </a:p>
        </p:txBody>
      </p:sp>
      <p:sp>
        <p:nvSpPr>
          <p:cNvPr id="14" name="TextBox 13"/>
          <p:cNvSpPr txBox="1"/>
          <p:nvPr/>
        </p:nvSpPr>
        <p:spPr>
          <a:xfrm>
            <a:off x="9512300" y="1943100"/>
            <a:ext cx="19177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Shown for clarity</a:t>
            </a:r>
          </a:p>
        </p:txBody>
      </p:sp>
      <p:sp>
        <p:nvSpPr>
          <p:cNvPr id="15" name="Rounded Rectangle 14"/>
          <p:cNvSpPr/>
          <p:nvPr/>
        </p:nvSpPr>
        <p:spPr>
          <a:xfrm>
            <a:off x="6096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9600" y="2476500"/>
            <a:ext cx="4902200" cy="406400"/>
          </a:xfrm>
          <a:prstGeom prst="rect">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74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2762C8"/>
                </a:solidFill>
                <a:latin typeface="Arial"/>
              </a:rPr>
              <a:t>CLUSTER A</a:t>
            </a:r>
          </a:p>
        </p:txBody>
      </p:sp>
      <p:sp>
        <p:nvSpPr>
          <p:cNvPr id="18" name="Rounded Rectangle 17"/>
          <p:cNvSpPr/>
          <p:nvPr/>
        </p:nvSpPr>
        <p:spPr>
          <a:xfrm>
            <a:off x="16764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mage.png"/>
          <p:cNvPicPr>
            <a:picLocks noChangeAspect="1"/>
          </p:cNvPicPr>
          <p:nvPr/>
        </p:nvPicPr>
        <p:blipFill>
          <a:blip r:embed="rId2"/>
          <a:stretch>
            <a:fillRect/>
          </a:stretch>
        </p:blipFill>
        <p:spPr>
          <a:xfrm>
            <a:off x="1765460" y="2933700"/>
            <a:ext cx="507679" cy="508000"/>
          </a:xfrm>
          <a:prstGeom prst="rect">
            <a:avLst/>
          </a:prstGeom>
        </p:spPr>
      </p:pic>
      <p:sp>
        <p:nvSpPr>
          <p:cNvPr id="20" name="TextBox 19"/>
          <p:cNvSpPr txBox="1"/>
          <p:nvPr/>
        </p:nvSpPr>
        <p:spPr>
          <a:xfrm>
            <a:off x="23749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2762C8"/>
                </a:solidFill>
                <a:latin typeface="Arial"/>
              </a:rPr>
              <a:t>ExternalDNS</a:t>
            </a:r>
          </a:p>
        </p:txBody>
      </p:sp>
      <p:cxnSp>
        <p:nvCxnSpPr>
          <p:cNvPr id="21" name="Connector 20"/>
          <p:cNvCxnSpPr/>
          <p:nvPr/>
        </p:nvCxnSpPr>
        <p:spPr>
          <a:xfrm flipV="1">
            <a:off x="3060700" y="1917700"/>
            <a:ext cx="0" cy="1016000"/>
          </a:xfrm>
          <a:prstGeom prst="line">
            <a:avLst/>
          </a:prstGeom>
          <a:ln w="228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060700" y="1917700"/>
            <a:ext cx="508000" cy="0"/>
          </a:xfrm>
          <a:prstGeom prst="line">
            <a:avLst/>
          </a:prstGeom>
          <a:ln w="2286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382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24" name="Rounded Rectangle 23"/>
          <p:cNvSpPr/>
          <p:nvPr/>
        </p:nvSpPr>
        <p:spPr>
          <a:xfrm>
            <a:off x="8382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8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3"/>
          <a:stretch>
            <a:fillRect/>
          </a:stretch>
        </p:blipFill>
        <p:spPr>
          <a:xfrm>
            <a:off x="990600" y="3891067"/>
            <a:ext cx="406400" cy="396664"/>
          </a:xfrm>
          <a:prstGeom prst="rect">
            <a:avLst/>
          </a:prstGeom>
        </p:spPr>
      </p:pic>
      <p:sp>
        <p:nvSpPr>
          <p:cNvPr id="27" name="TextBox 26"/>
          <p:cNvSpPr txBox="1"/>
          <p:nvPr/>
        </p:nvSpPr>
        <p:spPr>
          <a:xfrm>
            <a:off x="15240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28" name="Rounded Rectangle 27"/>
          <p:cNvSpPr/>
          <p:nvPr/>
        </p:nvSpPr>
        <p:spPr>
          <a:xfrm>
            <a:off x="31242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124200" y="3784600"/>
            <a:ext cx="50800" cy="6096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mage.png"/>
          <p:cNvPicPr>
            <a:picLocks noChangeAspect="1"/>
          </p:cNvPicPr>
          <p:nvPr/>
        </p:nvPicPr>
        <p:blipFill>
          <a:blip r:embed="rId4"/>
          <a:stretch>
            <a:fillRect/>
          </a:stretch>
        </p:blipFill>
        <p:spPr>
          <a:xfrm>
            <a:off x="3276600" y="3886200"/>
            <a:ext cx="406400" cy="406400"/>
          </a:xfrm>
          <a:prstGeom prst="rect">
            <a:avLst/>
          </a:prstGeom>
        </p:spPr>
      </p:pic>
      <p:sp>
        <p:nvSpPr>
          <p:cNvPr id="31" name="TextBox 30"/>
          <p:cNvSpPr txBox="1"/>
          <p:nvPr/>
        </p:nvSpPr>
        <p:spPr>
          <a:xfrm>
            <a:off x="38100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32" name="Connector 31"/>
          <p:cNvCxnSpPr/>
          <p:nvPr/>
        </p:nvCxnSpPr>
        <p:spPr>
          <a:xfrm>
            <a:off x="2616200" y="4089400"/>
            <a:ext cx="5080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3368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34" name="TextBox 33"/>
          <p:cNvSpPr txBox="1"/>
          <p:nvPr/>
        </p:nvSpPr>
        <p:spPr>
          <a:xfrm>
            <a:off x="33782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35" name="Rounded Rectangle 34"/>
          <p:cNvSpPr/>
          <p:nvPr/>
        </p:nvSpPr>
        <p:spPr>
          <a:xfrm>
            <a:off x="838200" y="4686300"/>
            <a:ext cx="4445000" cy="609600"/>
          </a:xfrm>
          <a:prstGeom prst="roundRect">
            <a:avLst>
              <a:gd name="adj" fmla="val 1250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06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2762C8"/>
                </a:solidFill>
                <a:latin typeface="Arial"/>
              </a:rPr>
              <a:t>APPLICATION</a:t>
            </a:r>
          </a:p>
        </p:txBody>
      </p:sp>
      <p:sp>
        <p:nvSpPr>
          <p:cNvPr id="37" name="Rounded Rectangle 36"/>
          <p:cNvSpPr/>
          <p:nvPr/>
        </p:nvSpPr>
        <p:spPr>
          <a:xfrm>
            <a:off x="9906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414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39" name="Connector 38"/>
          <p:cNvCxnSpPr/>
          <p:nvPr/>
        </p:nvCxnSpPr>
        <p:spPr>
          <a:xfrm>
            <a:off x="2463800" y="5080000"/>
            <a:ext cx="1905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26543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051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42" name="Connector 41"/>
          <p:cNvCxnSpPr/>
          <p:nvPr/>
        </p:nvCxnSpPr>
        <p:spPr>
          <a:xfrm>
            <a:off x="3492500" y="5080000"/>
            <a:ext cx="203200" cy="0"/>
          </a:xfrm>
          <a:prstGeom prst="line">
            <a:avLst/>
          </a:prstGeom>
          <a:ln w="1524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6957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100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38354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Rounded Rectangle 45"/>
          <p:cNvSpPr/>
          <p:nvPr/>
        </p:nvSpPr>
        <p:spPr>
          <a:xfrm>
            <a:off x="39751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40005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4140200" y="5016500"/>
            <a:ext cx="114300" cy="127000"/>
          </a:xfrm>
          <a:prstGeom prst="roundRect">
            <a:avLst>
              <a:gd name="adj" fmla="val 22222"/>
            </a:avLst>
          </a:prstGeom>
          <a:solidFill>
            <a:srgbClr val="EAF0FB"/>
          </a:solidFill>
          <a:ln w="1016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4165600" y="5054600"/>
            <a:ext cx="63500" cy="0"/>
          </a:xfrm>
          <a:prstGeom prst="line">
            <a:avLst/>
          </a:prstGeom>
          <a:ln w="8890">
            <a:solidFill>
              <a:srgbClr val="2762C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3815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51" name="Connector 50"/>
          <p:cNvCxnSpPr/>
          <p:nvPr/>
        </p:nvCxnSpPr>
        <p:spPr>
          <a:xfrm flipV="1">
            <a:off x="1727200" y="4394200"/>
            <a:ext cx="0" cy="292100"/>
          </a:xfrm>
          <a:prstGeom prst="line">
            <a:avLst/>
          </a:prstGeom>
          <a:ln w="17780">
            <a:solidFill>
              <a:srgbClr val="2762C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19050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sp>
        <p:nvSpPr>
          <p:cNvPr id="53" name="Rounded Rectangle 52"/>
          <p:cNvSpPr/>
          <p:nvPr/>
        </p:nvSpPr>
        <p:spPr>
          <a:xfrm>
            <a:off x="6680200" y="2476500"/>
            <a:ext cx="4902200" cy="2921000"/>
          </a:xfrm>
          <a:prstGeom prst="roundRect">
            <a:avLst>
              <a:gd name="adj" fmla="val 3478"/>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680200" y="2476500"/>
            <a:ext cx="4902200" cy="406400"/>
          </a:xfrm>
          <a:prstGeom prst="rect">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0" y="2552700"/>
            <a:ext cx="12700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rPr>
              <a:t>CLUSTER B</a:t>
            </a:r>
          </a:p>
        </p:txBody>
      </p:sp>
      <p:sp>
        <p:nvSpPr>
          <p:cNvPr id="56" name="Rounded Rectangle 55"/>
          <p:cNvSpPr/>
          <p:nvPr/>
        </p:nvSpPr>
        <p:spPr>
          <a:xfrm>
            <a:off x="7747000" y="2933700"/>
            <a:ext cx="2768600" cy="508000"/>
          </a:xfrm>
          <a:prstGeom prst="roundRect">
            <a:avLst>
              <a:gd name="adj" fmla="val 17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mage.png"/>
          <p:cNvPicPr>
            <a:picLocks noChangeAspect="1"/>
          </p:cNvPicPr>
          <p:nvPr/>
        </p:nvPicPr>
        <p:blipFill>
          <a:blip r:embed="rId2"/>
          <a:stretch>
            <a:fillRect/>
          </a:stretch>
        </p:blipFill>
        <p:spPr>
          <a:xfrm>
            <a:off x="7836060" y="2933700"/>
            <a:ext cx="507679" cy="508000"/>
          </a:xfrm>
          <a:prstGeom prst="rect">
            <a:avLst/>
          </a:prstGeom>
        </p:spPr>
      </p:pic>
      <p:sp>
        <p:nvSpPr>
          <p:cNvPr id="58" name="TextBox 57"/>
          <p:cNvSpPr txBox="1"/>
          <p:nvPr/>
        </p:nvSpPr>
        <p:spPr>
          <a:xfrm>
            <a:off x="8445500" y="30480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ExternalDNS</a:t>
            </a:r>
          </a:p>
        </p:txBody>
      </p:sp>
      <p:cxnSp>
        <p:nvCxnSpPr>
          <p:cNvPr id="59" name="Connector 58"/>
          <p:cNvCxnSpPr/>
          <p:nvPr/>
        </p:nvCxnSpPr>
        <p:spPr>
          <a:xfrm flipV="1">
            <a:off x="9131300" y="1917700"/>
            <a:ext cx="0" cy="10160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8623300" y="1917700"/>
            <a:ext cx="508000" cy="0"/>
          </a:xfrm>
          <a:prstGeom prst="line">
            <a:avLst/>
          </a:prstGeom>
          <a:ln w="2286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908800" y="3543300"/>
            <a:ext cx="1524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Gslb strategy</a:t>
            </a:r>
          </a:p>
        </p:txBody>
      </p:sp>
      <p:sp>
        <p:nvSpPr>
          <p:cNvPr id="62" name="Rounded Rectangle 61"/>
          <p:cNvSpPr/>
          <p:nvPr/>
        </p:nvSpPr>
        <p:spPr>
          <a:xfrm>
            <a:off x="6908800" y="3784600"/>
            <a:ext cx="1778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908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mage.png"/>
          <p:cNvPicPr>
            <a:picLocks noChangeAspect="1"/>
          </p:cNvPicPr>
          <p:nvPr/>
        </p:nvPicPr>
        <p:blipFill>
          <a:blip r:embed="rId3"/>
          <a:stretch>
            <a:fillRect/>
          </a:stretch>
        </p:blipFill>
        <p:spPr>
          <a:xfrm>
            <a:off x="7061200" y="3891067"/>
            <a:ext cx="406400" cy="396664"/>
          </a:xfrm>
          <a:prstGeom prst="rect">
            <a:avLst/>
          </a:prstGeom>
        </p:spPr>
      </p:pic>
      <p:sp>
        <p:nvSpPr>
          <p:cNvPr id="65" name="TextBox 64"/>
          <p:cNvSpPr txBox="1"/>
          <p:nvPr/>
        </p:nvSpPr>
        <p:spPr>
          <a:xfrm>
            <a:off x="7594600" y="3949700"/>
            <a:ext cx="91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k8gb</a:t>
            </a:r>
          </a:p>
        </p:txBody>
      </p:sp>
      <p:sp>
        <p:nvSpPr>
          <p:cNvPr id="66" name="Rounded Rectangle 65"/>
          <p:cNvSpPr/>
          <p:nvPr/>
        </p:nvSpPr>
        <p:spPr>
          <a:xfrm>
            <a:off x="9194800" y="3784600"/>
            <a:ext cx="2159000" cy="609600"/>
          </a:xfrm>
          <a:prstGeom prst="roundRect">
            <a:avLst>
              <a:gd name="adj" fmla="val 1458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194800" y="3784600"/>
            <a:ext cx="50800" cy="609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8" name="Picture 67" descr="image.png"/>
          <p:cNvPicPr>
            <a:picLocks noChangeAspect="1"/>
          </p:cNvPicPr>
          <p:nvPr/>
        </p:nvPicPr>
        <p:blipFill>
          <a:blip r:embed="rId4"/>
          <a:stretch>
            <a:fillRect/>
          </a:stretch>
        </p:blipFill>
        <p:spPr>
          <a:xfrm>
            <a:off x="9347200" y="3886200"/>
            <a:ext cx="406400" cy="406400"/>
          </a:xfrm>
          <a:prstGeom prst="rect">
            <a:avLst/>
          </a:prstGeom>
        </p:spPr>
      </p:pic>
      <p:sp>
        <p:nvSpPr>
          <p:cNvPr id="69" name="TextBox 68"/>
          <p:cNvSpPr txBox="1"/>
          <p:nvPr/>
        </p:nvSpPr>
        <p:spPr>
          <a:xfrm>
            <a:off x="9880600" y="3949700"/>
            <a:ext cx="1295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7283E"/>
                </a:solidFill>
                <a:latin typeface="Arial"/>
              </a:rPr>
              <a:t>CoreDNS</a:t>
            </a:r>
          </a:p>
        </p:txBody>
      </p:sp>
      <p:cxnSp>
        <p:nvCxnSpPr>
          <p:cNvPr id="70" name="Connector 69"/>
          <p:cNvCxnSpPr/>
          <p:nvPr/>
        </p:nvCxnSpPr>
        <p:spPr>
          <a:xfrm>
            <a:off x="8686800" y="4089400"/>
            <a:ext cx="5080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8407400" y="3568700"/>
            <a:ext cx="1066800" cy="198754"/>
          </a:xfrm>
          <a:prstGeom prst="rect">
            <a:avLst/>
          </a:prstGeom>
          <a:noFill/>
        </p:spPr>
        <p:txBody>
          <a:bodyPr wrap="none" lIns="0" rIns="0" tIns="0" bIns="0" anchor="t">
            <a:noAutofit/>
          </a:bodyPr>
          <a:lstStyle/>
          <a:p>
            <a:pPr algn="ctr">
              <a:lnSpc>
                <a:spcPts val="1264"/>
              </a:lnSpc>
              <a:spcBef>
                <a:spcPts val="0"/>
              </a:spcBef>
              <a:spcAft>
                <a:spcPts val="0"/>
              </a:spcAft>
            </a:pPr>
            <a:r>
              <a:rPr sz="1100" b="0">
                <a:solidFill>
                  <a:srgbClr val="5D6F82"/>
                </a:solidFill>
                <a:latin typeface="Arial"/>
              </a:rPr>
              <a:t>DNS state</a:t>
            </a:r>
          </a:p>
        </p:txBody>
      </p:sp>
      <p:sp>
        <p:nvSpPr>
          <p:cNvPr id="72" name="TextBox 71"/>
          <p:cNvSpPr txBox="1"/>
          <p:nvPr/>
        </p:nvSpPr>
        <p:spPr>
          <a:xfrm>
            <a:off x="9448800" y="4445000"/>
            <a:ext cx="19050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Application-zone answers</a:t>
            </a:r>
          </a:p>
        </p:txBody>
      </p:sp>
      <p:sp>
        <p:nvSpPr>
          <p:cNvPr id="73" name="Rounded Rectangle 72"/>
          <p:cNvSpPr/>
          <p:nvPr/>
        </p:nvSpPr>
        <p:spPr>
          <a:xfrm>
            <a:off x="6908800" y="4686300"/>
            <a:ext cx="4445000" cy="6096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061200" y="4749800"/>
            <a:ext cx="2032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087F85"/>
                </a:solidFill>
                <a:latin typeface="Arial"/>
              </a:rPr>
              <a:t>APPLICATION</a:t>
            </a:r>
          </a:p>
        </p:txBody>
      </p:sp>
      <p:sp>
        <p:nvSpPr>
          <p:cNvPr id="75" name="Rounded Rectangle 74"/>
          <p:cNvSpPr/>
          <p:nvPr/>
        </p:nvSpPr>
        <p:spPr>
          <a:xfrm>
            <a:off x="7061200" y="4953000"/>
            <a:ext cx="1473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112000" y="5003800"/>
            <a:ext cx="1371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Gateway / Ingress</a:t>
            </a:r>
          </a:p>
        </p:txBody>
      </p:sp>
      <p:cxnSp>
        <p:nvCxnSpPr>
          <p:cNvPr id="77" name="Connector 76"/>
          <p:cNvCxnSpPr/>
          <p:nvPr/>
        </p:nvCxnSpPr>
        <p:spPr>
          <a:xfrm>
            <a:off x="8534400" y="5080000"/>
            <a:ext cx="1905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8724900" y="4953000"/>
            <a:ext cx="8382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775700" y="5003800"/>
            <a:ext cx="736600" cy="177800"/>
          </a:xfrm>
          <a:prstGeom prst="rect">
            <a:avLst/>
          </a:prstGeom>
          <a:noFill/>
        </p:spPr>
        <p:txBody>
          <a:bodyPr wrap="none" lIns="0" rIns="0" tIns="0" bIns="0" anchor="t">
            <a:noAutofit/>
          </a:bodyPr>
          <a:lstStyle/>
          <a:p>
            <a:pPr algn="ctr">
              <a:lnSpc>
                <a:spcPts val="1100"/>
              </a:lnSpc>
              <a:spcBef>
                <a:spcPts val="0"/>
              </a:spcBef>
              <a:spcAft>
                <a:spcPts val="0"/>
              </a:spcAft>
            </a:pPr>
            <a:r>
              <a:rPr sz="1100" b="1">
                <a:solidFill>
                  <a:srgbClr val="142338"/>
                </a:solidFill>
                <a:latin typeface="Arial"/>
              </a:rPr>
              <a:t>Service</a:t>
            </a:r>
          </a:p>
        </p:txBody>
      </p:sp>
      <p:cxnSp>
        <p:nvCxnSpPr>
          <p:cNvPr id="80" name="Connector 79"/>
          <p:cNvCxnSpPr/>
          <p:nvPr/>
        </p:nvCxnSpPr>
        <p:spPr>
          <a:xfrm>
            <a:off x="9563100" y="5080000"/>
            <a:ext cx="203200" cy="0"/>
          </a:xfrm>
          <a:prstGeom prst="line">
            <a:avLst/>
          </a:prstGeom>
          <a:ln w="1524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ounded Rectangle 80"/>
          <p:cNvSpPr/>
          <p:nvPr/>
        </p:nvSpPr>
        <p:spPr>
          <a:xfrm>
            <a:off x="9766300" y="4953000"/>
            <a:ext cx="1435100" cy="266700"/>
          </a:xfrm>
          <a:prstGeom prst="roundRect">
            <a:avLst>
              <a:gd name="adj" fmla="val 14285"/>
            </a:avLst>
          </a:prstGeom>
          <a:solidFill>
            <a:srgbClr val="FFFFFF"/>
          </a:solidFill>
          <a:ln w="889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ed Rectangle 81"/>
          <p:cNvSpPr/>
          <p:nvPr/>
        </p:nvSpPr>
        <p:spPr>
          <a:xfrm>
            <a:off x="98806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3" name="Connector 82"/>
          <p:cNvCxnSpPr/>
          <p:nvPr/>
        </p:nvCxnSpPr>
        <p:spPr>
          <a:xfrm>
            <a:off x="99060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0457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a:off x="100711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6" name="Rounded Rectangle 85"/>
          <p:cNvSpPr/>
          <p:nvPr/>
        </p:nvSpPr>
        <p:spPr>
          <a:xfrm>
            <a:off x="10210800" y="5016500"/>
            <a:ext cx="114300" cy="127000"/>
          </a:xfrm>
          <a:prstGeom prst="roundRect">
            <a:avLst>
              <a:gd name="adj" fmla="val 22222"/>
            </a:avLst>
          </a:prstGeom>
          <a:solidFill>
            <a:srgbClr val="E8F4F3"/>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7" name="Connector 86"/>
          <p:cNvCxnSpPr/>
          <p:nvPr/>
        </p:nvCxnSpPr>
        <p:spPr>
          <a:xfrm>
            <a:off x="10236200" y="5054600"/>
            <a:ext cx="63500" cy="0"/>
          </a:xfrm>
          <a:prstGeom prst="line">
            <a:avLst/>
          </a:prstGeom>
          <a:ln w="8890">
            <a:solidFill>
              <a:srgbClr val="087F85"/>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10452100" y="4991100"/>
            <a:ext cx="622300" cy="190500"/>
          </a:xfrm>
          <a:prstGeom prst="rect">
            <a:avLst/>
          </a:prstGeom>
          <a:noFill/>
        </p:spPr>
        <p:txBody>
          <a:bodyPr wrap="none" lIns="0" rIns="0" tIns="0" bIns="0" anchor="t">
            <a:noAutofit/>
          </a:bodyPr>
          <a:lstStyle/>
          <a:p>
            <a:pPr algn="l">
              <a:lnSpc>
                <a:spcPts val="1200"/>
              </a:lnSpc>
              <a:spcBef>
                <a:spcPts val="0"/>
              </a:spcBef>
              <a:spcAft>
                <a:spcPts val="0"/>
              </a:spcAft>
            </a:pPr>
            <a:r>
              <a:rPr sz="1200" b="1">
                <a:solidFill>
                  <a:srgbClr val="142338"/>
                </a:solidFill>
                <a:latin typeface="Arial"/>
              </a:rPr>
              <a:t>Pods</a:t>
            </a:r>
          </a:p>
        </p:txBody>
      </p:sp>
      <p:cxnSp>
        <p:nvCxnSpPr>
          <p:cNvPr id="89" name="Connector 88"/>
          <p:cNvCxnSpPr/>
          <p:nvPr/>
        </p:nvCxnSpPr>
        <p:spPr>
          <a:xfrm flipV="1">
            <a:off x="7797800" y="4394200"/>
            <a:ext cx="0" cy="292100"/>
          </a:xfrm>
          <a:prstGeom prst="line">
            <a:avLst/>
          </a:prstGeom>
          <a:ln w="1778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7975600" y="4457700"/>
            <a:ext cx="1244600" cy="184150"/>
          </a:xfrm>
          <a:prstGeom prst="rect">
            <a:avLst/>
          </a:prstGeom>
          <a:noFill/>
        </p:spPr>
        <p:txBody>
          <a:bodyPr wrap="none" lIns="0" rIns="0" tIns="0" bIns="0" anchor="t">
            <a:noAutofit/>
          </a:bodyPr>
          <a:lstStyle/>
          <a:p>
            <a:pPr algn="l">
              <a:lnSpc>
                <a:spcPts val="1150"/>
              </a:lnSpc>
              <a:spcBef>
                <a:spcPts val="0"/>
              </a:spcBef>
              <a:spcAft>
                <a:spcPts val="0"/>
              </a:spcAft>
            </a:pPr>
            <a:r>
              <a:rPr sz="1000" b="0">
                <a:solidFill>
                  <a:srgbClr val="5D6F82"/>
                </a:solidFill>
                <a:latin typeface="Arial"/>
              </a:rPr>
              <a:t>Ready endpoints</a:t>
            </a:r>
          </a:p>
        </p:txBody>
      </p:sp>
      <p:cxnSp>
        <p:nvCxnSpPr>
          <p:cNvPr id="91" name="Connector 90"/>
          <p:cNvCxnSpPr/>
          <p:nvPr/>
        </p:nvCxnSpPr>
        <p:spPr>
          <a:xfrm flipH="1">
            <a:off x="431800" y="4089400"/>
            <a:ext cx="406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4318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431800" y="5562600"/>
            <a:ext cx="11328400" cy="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11760200" y="4089400"/>
            <a:ext cx="0" cy="1473200"/>
          </a:xfrm>
          <a:prstGeom prst="line">
            <a:avLst/>
          </a:prstGeom>
          <a:ln w="22860">
            <a:solidFill>
              <a:srgbClr val="CF0035"/>
            </a:solidFill>
            <a:prstDash val="dash"/>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353800" y="4089400"/>
            <a:ext cx="406400" cy="0"/>
          </a:xfrm>
          <a:prstGeom prst="line">
            <a:avLst/>
          </a:prstGeom>
          <a:ln w="22860">
            <a:solidFill>
              <a:srgbClr val="CF003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6" name="TextBox 95"/>
          <p:cNvSpPr txBox="1"/>
          <p:nvPr/>
        </p:nvSpPr>
        <p:spPr>
          <a:xfrm>
            <a:off x="3175000" y="5664200"/>
            <a:ext cx="5842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CF0035"/>
                </a:solidFill>
                <a:latin typeface="Arial"/>
              </a:rPr>
              <a:t>Peer health is learned through DNS</a:t>
            </a:r>
          </a:p>
        </p:txBody>
      </p:sp>
      <p:sp>
        <p:nvSpPr>
          <p:cNvPr id="97" name="TextBox 96"/>
          <p:cNvSpPr txBox="1"/>
          <p:nvPr/>
        </p:nvSpPr>
        <p:spPr>
          <a:xfrm>
            <a:off x="609600" y="6083300"/>
            <a:ext cx="10972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5D6F82"/>
                </a:solidFill>
                <a:latin typeface="Arial"/>
              </a:rPr>
              <a:t>One direction shown; each controller queries peer CoreDNS.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UNDER THE HOOD</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07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Three components. Three distinct jobs.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png"/>
          <p:cNvPicPr>
            <a:picLocks noChangeAspect="1"/>
          </p:cNvPicPr>
          <p:nvPr/>
        </p:nvPicPr>
        <p:blipFill>
          <a:blip r:embed="rId2"/>
          <a:stretch>
            <a:fillRect/>
          </a:stretch>
        </p:blipFill>
        <p:spPr>
          <a:xfrm>
            <a:off x="965200" y="2474752"/>
            <a:ext cx="914400" cy="892494"/>
          </a:xfrm>
          <a:prstGeom prst="rect">
            <a:avLst/>
          </a:prstGeom>
        </p:spPr>
      </p:pic>
      <p:sp>
        <p:nvSpPr>
          <p:cNvPr id="11" name="TextBox 10"/>
          <p:cNvSpPr txBox="1"/>
          <p:nvPr/>
        </p:nvSpPr>
        <p:spPr>
          <a:xfrm>
            <a:off x="863600"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k8gb controller</a:t>
            </a:r>
          </a:p>
        </p:txBody>
      </p:sp>
      <p:sp>
        <p:nvSpPr>
          <p:cNvPr id="12" name="TextBox 11"/>
          <p:cNvSpPr txBox="1"/>
          <p:nvPr/>
        </p:nvSpPr>
        <p:spPr>
          <a:xfrm>
            <a:off x="863600"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Readiness + strategy</a:t>
            </a:r>
          </a:p>
          <a:p>
            <a:pPr algn="l">
              <a:lnSpc>
                <a:spcPts val="2600"/>
              </a:lnSpc>
              <a:spcBef>
                <a:spcPts val="0"/>
              </a:spcBef>
              <a:spcAft>
                <a:spcPts val="0"/>
              </a:spcAft>
            </a:pPr>
            <a:r>
              <a:rPr sz="2000" b="0">
                <a:solidFill>
                  <a:srgbClr val="5D6F82"/>
                </a:solidFill>
                <a:latin typeface="Arial"/>
              </a:rPr>
              <a:t>→ eligible targets</a:t>
            </a:r>
          </a:p>
        </p:txBody>
      </p:sp>
      <p:sp>
        <p:nvSpPr>
          <p:cNvPr id="13" name="Rounded Rectangle 12"/>
          <p:cNvSpPr/>
          <p:nvPr/>
        </p:nvSpPr>
        <p:spPr>
          <a:xfrm>
            <a:off x="4334933"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4639733" y="2413000"/>
            <a:ext cx="1016000" cy="1016000"/>
          </a:xfrm>
          <a:prstGeom prst="rect">
            <a:avLst/>
          </a:prstGeom>
        </p:spPr>
      </p:pic>
      <p:sp>
        <p:nvSpPr>
          <p:cNvPr id="15" name="TextBox 14"/>
          <p:cNvSpPr txBox="1"/>
          <p:nvPr/>
        </p:nvSpPr>
        <p:spPr>
          <a:xfrm>
            <a:off x="4588933"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CoreDNS</a:t>
            </a:r>
          </a:p>
        </p:txBody>
      </p:sp>
      <p:sp>
        <p:nvSpPr>
          <p:cNvPr id="16" name="TextBox 15"/>
          <p:cNvSpPr txBox="1"/>
          <p:nvPr/>
        </p:nvSpPr>
        <p:spPr>
          <a:xfrm>
            <a:off x="4588933"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Delegated zone</a:t>
            </a:r>
          </a:p>
          <a:p>
            <a:pPr algn="l">
              <a:lnSpc>
                <a:spcPts val="2600"/>
              </a:lnSpc>
              <a:spcBef>
                <a:spcPts val="0"/>
              </a:spcBef>
              <a:spcAft>
                <a:spcPts val="0"/>
              </a:spcAft>
            </a:pPr>
            <a:r>
              <a:rPr sz="2000" b="0">
                <a:solidFill>
                  <a:srgbClr val="5D6F82"/>
                </a:solidFill>
                <a:latin typeface="Arial"/>
              </a:rPr>
              <a:t>→ DNS answers</a:t>
            </a:r>
          </a:p>
        </p:txBody>
      </p:sp>
      <p:sp>
        <p:nvSpPr>
          <p:cNvPr id="17" name="Rounded Rectangle 16"/>
          <p:cNvSpPr/>
          <p:nvPr/>
        </p:nvSpPr>
        <p:spPr>
          <a:xfrm>
            <a:off x="8060266" y="2197100"/>
            <a:ext cx="3522133" cy="3111500"/>
          </a:xfrm>
          <a:prstGeom prst="roundRect">
            <a:avLst>
              <a:gd name="adj" fmla="val 326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4"/>
          <a:stretch>
            <a:fillRect/>
          </a:stretch>
        </p:blipFill>
        <p:spPr>
          <a:xfrm>
            <a:off x="8314618" y="2362200"/>
            <a:ext cx="1116895" cy="1117600"/>
          </a:xfrm>
          <a:prstGeom prst="rect">
            <a:avLst/>
          </a:prstGeom>
        </p:spPr>
      </p:pic>
      <p:sp>
        <p:nvSpPr>
          <p:cNvPr id="19" name="TextBox 18"/>
          <p:cNvSpPr txBox="1"/>
          <p:nvPr/>
        </p:nvSpPr>
        <p:spPr>
          <a:xfrm>
            <a:off x="8314266" y="3632200"/>
            <a:ext cx="3014133"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ExternalDNS</a:t>
            </a:r>
          </a:p>
        </p:txBody>
      </p:sp>
      <p:sp>
        <p:nvSpPr>
          <p:cNvPr id="20" name="TextBox 19"/>
          <p:cNvSpPr txBox="1"/>
          <p:nvPr/>
        </p:nvSpPr>
        <p:spPr>
          <a:xfrm>
            <a:off x="8314266" y="4229100"/>
            <a:ext cx="3014133" cy="698500"/>
          </a:xfrm>
          <a:prstGeom prst="rect">
            <a:avLst/>
          </a:prstGeom>
          <a:noFill/>
        </p:spPr>
        <p:txBody>
          <a:bodyPr wrap="none" lIns="0" rIns="0" tIns="0" bIns="0" anchor="t">
            <a:noAutofit/>
          </a:bodyPr>
          <a:lstStyle/>
          <a:p>
            <a:pPr algn="l">
              <a:lnSpc>
                <a:spcPts val="2600"/>
              </a:lnSpc>
              <a:spcBef>
                <a:spcPts val="0"/>
              </a:spcBef>
              <a:spcAft>
                <a:spcPts val="0"/>
              </a:spcAft>
            </a:pPr>
            <a:r>
              <a:rPr sz="2000" b="0">
                <a:solidFill>
                  <a:srgbClr val="5D6F82"/>
                </a:solidFill>
                <a:latin typeface="Arial"/>
              </a:rPr>
              <a:t>Delegation state</a:t>
            </a:r>
          </a:p>
          <a:p>
            <a:pPr algn="l">
              <a:lnSpc>
                <a:spcPts val="2600"/>
              </a:lnSpc>
              <a:spcBef>
                <a:spcPts val="0"/>
              </a:spcBef>
              <a:spcAft>
                <a:spcPts val="0"/>
              </a:spcAft>
            </a:pPr>
            <a:r>
              <a:rPr sz="2000" b="0">
                <a:solidFill>
                  <a:srgbClr val="5D6F82"/>
                </a:solidFill>
                <a:latin typeface="Arial"/>
              </a:rPr>
              <a:t>→ parent DNS updates</a:t>
            </a:r>
          </a:p>
        </p:txBody>
      </p:sp>
      <p:sp>
        <p:nvSpPr>
          <p:cNvPr id="21" name="Rounded Rectangle 20"/>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Decide locally. Answer authoritatively. Delegate explicitly.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CURRENT IMPLEMENTATION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08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Two k8gb reconciliation loops feed DNS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TextBox 8"/>
          <p:cNvSpPr txBox="1"/>
          <p:nvPr/>
        </p:nvSpPr>
        <p:spPr>
          <a:xfrm>
            <a:off x="609600" y="1828800"/>
            <a:ext cx="7239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ZONE MEMBERSHIP + DELEGATION</a:t>
            </a:r>
          </a:p>
        </p:txBody>
      </p:sp>
      <p:sp>
        <p:nvSpPr>
          <p:cNvPr id="10" name="TextBox 9"/>
          <p:cNvSpPr txBox="1"/>
          <p:nvPr/>
        </p:nvSpPr>
        <p:spPr>
          <a:xfrm>
            <a:off x="8458200" y="1828800"/>
            <a:ext cx="31242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5D6F82"/>
                </a:solidFill>
                <a:latin typeface="Arial"/>
              </a:rPr>
              <a:t>ExternalDNS provider path</a:t>
            </a:r>
          </a:p>
        </p:txBody>
      </p:sp>
      <p:cxnSp>
        <p:nvCxnSpPr>
          <p:cNvPr id="11" name="Connector 10"/>
          <p:cNvCxnSpPr/>
          <p:nvPr/>
        </p:nvCxnSpPr>
        <p:spPr>
          <a:xfrm>
            <a:off x="3721100" y="2654300"/>
            <a:ext cx="7874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74000" y="2654300"/>
            <a:ext cx="5842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20300" y="3098800"/>
            <a:ext cx="0" cy="3302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721100" y="2921000"/>
            <a:ext cx="393700" cy="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2921000"/>
            <a:ext cx="0" cy="939800"/>
          </a:xfrm>
          <a:prstGeom prst="line">
            <a:avLst/>
          </a:prstGeom>
          <a:ln w="2540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114800" y="3860800"/>
            <a:ext cx="3937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302000" y="3098800"/>
            <a:ext cx="0" cy="1727200"/>
          </a:xfrm>
          <a:prstGeom prst="line">
            <a:avLst/>
          </a:prstGeom>
          <a:ln w="2286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9600" y="22098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96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2800" y="23749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ZoneDelegation</a:t>
            </a:r>
          </a:p>
        </p:txBody>
      </p:sp>
      <p:sp>
        <p:nvSpPr>
          <p:cNvPr id="21" name="TextBox 20"/>
          <p:cNvSpPr txBox="1"/>
          <p:nvPr/>
        </p:nvSpPr>
        <p:spPr>
          <a:xfrm>
            <a:off x="812800" y="27432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Zone + DNS-server state</a:t>
            </a:r>
          </a:p>
        </p:txBody>
      </p:sp>
      <p:sp>
        <p:nvSpPr>
          <p:cNvPr id="22" name="Rounded Rectangle 21"/>
          <p:cNvSpPr/>
          <p:nvPr/>
        </p:nvSpPr>
        <p:spPr>
          <a:xfrm>
            <a:off x="4508500" y="22098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085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11700" y="23749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25" name="TextBox 24"/>
          <p:cNvSpPr txBox="1"/>
          <p:nvPr/>
        </p:nvSpPr>
        <p:spPr>
          <a:xfrm>
            <a:off x="4711700" y="27432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Delegation NS + addresses</a:t>
            </a:r>
          </a:p>
        </p:txBody>
      </p:sp>
      <p:sp>
        <p:nvSpPr>
          <p:cNvPr id="26" name="Rounded Rectangle 25"/>
          <p:cNvSpPr/>
          <p:nvPr/>
        </p:nvSpPr>
        <p:spPr>
          <a:xfrm>
            <a:off x="8458200" y="22098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58200" y="2209800"/>
            <a:ext cx="50800" cy="8890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mage.png"/>
          <p:cNvPicPr>
            <a:picLocks noChangeAspect="1"/>
          </p:cNvPicPr>
          <p:nvPr/>
        </p:nvPicPr>
        <p:blipFill>
          <a:blip r:embed="rId2"/>
          <a:stretch>
            <a:fillRect/>
          </a:stretch>
        </p:blipFill>
        <p:spPr>
          <a:xfrm>
            <a:off x="8610776" y="2374900"/>
            <a:ext cx="558447" cy="558800"/>
          </a:xfrm>
          <a:prstGeom prst="rect">
            <a:avLst/>
          </a:prstGeom>
        </p:spPr>
      </p:pic>
      <p:sp>
        <p:nvSpPr>
          <p:cNvPr id="29" name="TextBox 28"/>
          <p:cNvSpPr txBox="1"/>
          <p:nvPr/>
        </p:nvSpPr>
        <p:spPr>
          <a:xfrm>
            <a:off x="9296400" y="23749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ExternalDNS</a:t>
            </a:r>
          </a:p>
        </p:txBody>
      </p:sp>
      <p:sp>
        <p:nvSpPr>
          <p:cNvPr id="30" name="TextBox 29"/>
          <p:cNvSpPr txBox="1"/>
          <p:nvPr/>
        </p:nvSpPr>
        <p:spPr>
          <a:xfrm>
            <a:off x="9296400" y="27432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Sync parent records</a:t>
            </a:r>
          </a:p>
        </p:txBody>
      </p:sp>
      <p:sp>
        <p:nvSpPr>
          <p:cNvPr id="31" name="TextBox 30"/>
          <p:cNvSpPr txBox="1"/>
          <p:nvPr/>
        </p:nvSpPr>
        <p:spPr>
          <a:xfrm>
            <a:off x="4508500" y="3187700"/>
            <a:ext cx="33655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Zone configuration</a:t>
            </a:r>
          </a:p>
        </p:txBody>
      </p:sp>
      <p:sp>
        <p:nvSpPr>
          <p:cNvPr id="32" name="Rounded Rectangle 31"/>
          <p:cNvSpPr/>
          <p:nvPr/>
        </p:nvSpPr>
        <p:spPr>
          <a:xfrm>
            <a:off x="4508500" y="3429000"/>
            <a:ext cx="33655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085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mage.png"/>
          <p:cNvPicPr>
            <a:picLocks noChangeAspect="1"/>
          </p:cNvPicPr>
          <p:nvPr/>
        </p:nvPicPr>
        <p:blipFill>
          <a:blip r:embed="rId3"/>
          <a:stretch>
            <a:fillRect/>
          </a:stretch>
        </p:blipFill>
        <p:spPr>
          <a:xfrm>
            <a:off x="4660900" y="3581400"/>
            <a:ext cx="558800" cy="558800"/>
          </a:xfrm>
          <a:prstGeom prst="rect">
            <a:avLst/>
          </a:prstGeom>
        </p:spPr>
      </p:pic>
      <p:sp>
        <p:nvSpPr>
          <p:cNvPr id="35" name="TextBox 34"/>
          <p:cNvSpPr txBox="1"/>
          <p:nvPr/>
        </p:nvSpPr>
        <p:spPr>
          <a:xfrm>
            <a:off x="5346700" y="3594100"/>
            <a:ext cx="2349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36" name="TextBox 35"/>
          <p:cNvSpPr txBox="1"/>
          <p:nvPr/>
        </p:nvSpPr>
        <p:spPr>
          <a:xfrm>
            <a:off x="5346700" y="3962400"/>
            <a:ext cx="2349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Activate delegated zone</a:t>
            </a:r>
          </a:p>
        </p:txBody>
      </p:sp>
      <p:sp>
        <p:nvSpPr>
          <p:cNvPr id="37" name="TextBox 36"/>
          <p:cNvSpPr txBox="1"/>
          <p:nvPr/>
        </p:nvSpPr>
        <p:spPr>
          <a:xfrm>
            <a:off x="8458200" y="3187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087F85"/>
                </a:solidFill>
                <a:latin typeface="Arial"/>
              </a:rPr>
              <a:t>Parent delegation</a:t>
            </a:r>
          </a:p>
        </p:txBody>
      </p:sp>
      <p:sp>
        <p:nvSpPr>
          <p:cNvPr id="38" name="Rounded Rectangle 37"/>
          <p:cNvSpPr/>
          <p:nvPr/>
        </p:nvSpPr>
        <p:spPr>
          <a:xfrm>
            <a:off x="8458200" y="3429000"/>
            <a:ext cx="3124200" cy="863600"/>
          </a:xfrm>
          <a:prstGeom prst="roundRect">
            <a:avLst>
              <a:gd name="adj" fmla="val 1029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458200" y="3429000"/>
            <a:ext cx="50800" cy="8636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61400" y="3594100"/>
            <a:ext cx="2743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Parent DNS</a:t>
            </a:r>
          </a:p>
        </p:txBody>
      </p:sp>
      <p:sp>
        <p:nvSpPr>
          <p:cNvPr id="41" name="TextBox 40"/>
          <p:cNvSpPr txBox="1"/>
          <p:nvPr/>
        </p:nvSpPr>
        <p:spPr>
          <a:xfrm>
            <a:off x="8661400" y="3962400"/>
            <a:ext cx="2743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NS + address records</a:t>
            </a:r>
          </a:p>
        </p:txBody>
      </p:sp>
      <p:sp>
        <p:nvSpPr>
          <p:cNvPr id="42" name="TextBox 41"/>
          <p:cNvSpPr txBox="1"/>
          <p:nvPr/>
        </p:nvSpPr>
        <p:spPr>
          <a:xfrm>
            <a:off x="990600" y="3759200"/>
            <a:ext cx="2159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087F85"/>
                </a:solidFill>
                <a:latin typeface="Arial"/>
              </a:rPr>
              <a:t>Peer DNS IPs</a:t>
            </a:r>
          </a:p>
        </p:txBody>
      </p:sp>
      <p:sp>
        <p:nvSpPr>
          <p:cNvPr id="43" name="TextBox 42"/>
          <p:cNvSpPr txBox="1"/>
          <p:nvPr/>
        </p:nvSpPr>
        <p:spPr>
          <a:xfrm>
            <a:off x="609600" y="4470400"/>
            <a:ext cx="107950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CF0035"/>
                </a:solidFill>
                <a:latin typeface="Arial"/>
              </a:rPr>
              <a:t>APPLICATION ANSWERS</a:t>
            </a:r>
          </a:p>
        </p:txBody>
      </p:sp>
      <p:sp>
        <p:nvSpPr>
          <p:cNvPr id="44" name="Rounded Rectangle 43"/>
          <p:cNvSpPr/>
          <p:nvPr/>
        </p:nvSpPr>
        <p:spPr>
          <a:xfrm>
            <a:off x="609600" y="4826000"/>
            <a:ext cx="3111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96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2800" y="4991100"/>
            <a:ext cx="2730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Gslb + readiness</a:t>
            </a:r>
          </a:p>
        </p:txBody>
      </p:sp>
      <p:sp>
        <p:nvSpPr>
          <p:cNvPr id="47" name="TextBox 46"/>
          <p:cNvSpPr txBox="1"/>
          <p:nvPr/>
        </p:nvSpPr>
        <p:spPr>
          <a:xfrm>
            <a:off x="812800" y="5359400"/>
            <a:ext cx="2730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Strategy + ready endpoints</a:t>
            </a:r>
          </a:p>
        </p:txBody>
      </p:sp>
      <p:sp>
        <p:nvSpPr>
          <p:cNvPr id="48" name="Rounded Rectangle 47"/>
          <p:cNvSpPr/>
          <p:nvPr/>
        </p:nvSpPr>
        <p:spPr>
          <a:xfrm>
            <a:off x="4508500" y="4826000"/>
            <a:ext cx="33655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085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11700" y="4991100"/>
            <a:ext cx="29845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DNSEndpoint</a:t>
            </a:r>
          </a:p>
        </p:txBody>
      </p:sp>
      <p:sp>
        <p:nvSpPr>
          <p:cNvPr id="51" name="TextBox 50"/>
          <p:cNvSpPr txBox="1"/>
          <p:nvPr/>
        </p:nvSpPr>
        <p:spPr>
          <a:xfrm>
            <a:off x="4711700" y="5359400"/>
            <a:ext cx="2984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Eligible application IPs</a:t>
            </a:r>
          </a:p>
        </p:txBody>
      </p:sp>
      <p:sp>
        <p:nvSpPr>
          <p:cNvPr id="52" name="Rounded Rectangle 51"/>
          <p:cNvSpPr/>
          <p:nvPr/>
        </p:nvSpPr>
        <p:spPr>
          <a:xfrm>
            <a:off x="8458200" y="4826000"/>
            <a:ext cx="3124200" cy="889000"/>
          </a:xfrm>
          <a:prstGeom prst="roundRect">
            <a:avLst>
              <a:gd name="adj" fmla="val 10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458200" y="4826000"/>
            <a:ext cx="50800" cy="8890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4" name="Picture 53" descr="image.png"/>
          <p:cNvPicPr>
            <a:picLocks noChangeAspect="1"/>
          </p:cNvPicPr>
          <p:nvPr/>
        </p:nvPicPr>
        <p:blipFill>
          <a:blip r:embed="rId3"/>
          <a:stretch>
            <a:fillRect/>
          </a:stretch>
        </p:blipFill>
        <p:spPr>
          <a:xfrm>
            <a:off x="8610600" y="4991100"/>
            <a:ext cx="558800" cy="558800"/>
          </a:xfrm>
          <a:prstGeom prst="rect">
            <a:avLst/>
          </a:prstGeom>
        </p:spPr>
      </p:pic>
      <p:sp>
        <p:nvSpPr>
          <p:cNvPr id="55" name="TextBox 54"/>
          <p:cNvSpPr txBox="1"/>
          <p:nvPr/>
        </p:nvSpPr>
        <p:spPr>
          <a:xfrm>
            <a:off x="9296400" y="4991100"/>
            <a:ext cx="21082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56" name="TextBox 55"/>
          <p:cNvSpPr txBox="1"/>
          <p:nvPr/>
        </p:nvSpPr>
        <p:spPr>
          <a:xfrm>
            <a:off x="9296400" y="5359400"/>
            <a:ext cx="2108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 answers</a:t>
            </a:r>
          </a:p>
        </p:txBody>
      </p:sp>
      <p:cxnSp>
        <p:nvCxnSpPr>
          <p:cNvPr id="57" name="Connector 56"/>
          <p:cNvCxnSpPr/>
          <p:nvPr/>
        </p:nvCxnSpPr>
        <p:spPr>
          <a:xfrm>
            <a:off x="3721100" y="5270500"/>
            <a:ext cx="7874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874000" y="5270500"/>
            <a:ext cx="5842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09600" y="6057900"/>
            <a:ext cx="10972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0">
                <a:solidFill>
                  <a:srgbClr val="5D6F82"/>
                </a:solidFill>
                <a:latin typeface="Arial"/>
              </a:rPr>
              <a:t>Membership refresh and application reconciliation run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THE REQUEST PATH</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09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DNS selects an address. The client connects.</a:t>
            </a:r>
          </a:p>
        </p:txBody>
      </p:sp>
      <p:cxnSp>
        <p:nvCxnSpPr>
          <p:cNvPr id="6" name="Connector 5"/>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8" name="TextBox 7"/>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9" name="Rounded Rectangle 8"/>
          <p:cNvSpPr/>
          <p:nvPr/>
        </p:nvSpPr>
        <p:spPr>
          <a:xfrm>
            <a:off x="609600" y="2413000"/>
            <a:ext cx="2286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9600" y="2413000"/>
            <a:ext cx="50800" cy="965200"/>
          </a:xfrm>
          <a:prstGeom prst="rect">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2800" y="2578100"/>
            <a:ext cx="1905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Client</a:t>
            </a:r>
          </a:p>
        </p:txBody>
      </p:sp>
      <p:sp>
        <p:nvSpPr>
          <p:cNvPr id="12" name="Rounded Rectangle 11"/>
          <p:cNvSpPr/>
          <p:nvPr/>
        </p:nvSpPr>
        <p:spPr>
          <a:xfrm>
            <a:off x="4635500" y="2413000"/>
            <a:ext cx="2667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6355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38700" y="2578100"/>
            <a:ext cx="2286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Resolver</a:t>
            </a:r>
          </a:p>
        </p:txBody>
      </p:sp>
      <p:sp>
        <p:nvSpPr>
          <p:cNvPr id="15" name="TextBox 14"/>
          <p:cNvSpPr txBox="1"/>
          <p:nvPr/>
        </p:nvSpPr>
        <p:spPr>
          <a:xfrm>
            <a:off x="4838700" y="2946400"/>
            <a:ext cx="2286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Caches answers</a:t>
            </a:r>
          </a:p>
        </p:txBody>
      </p:sp>
      <p:sp>
        <p:nvSpPr>
          <p:cNvPr id="16" name="Rounded Rectangle 15"/>
          <p:cNvSpPr/>
          <p:nvPr/>
        </p:nvSpPr>
        <p:spPr>
          <a:xfrm>
            <a:off x="9042400" y="2413000"/>
            <a:ext cx="2540000" cy="965200"/>
          </a:xfrm>
          <a:prstGeom prst="roundRect">
            <a:avLst>
              <a:gd name="adj" fmla="val 921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2400" y="2413000"/>
            <a:ext cx="50800" cy="9652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2"/>
          <a:stretch>
            <a:fillRect/>
          </a:stretch>
        </p:blipFill>
        <p:spPr>
          <a:xfrm>
            <a:off x="9194800" y="2616200"/>
            <a:ext cx="558800" cy="558800"/>
          </a:xfrm>
          <a:prstGeom prst="rect">
            <a:avLst/>
          </a:prstGeom>
        </p:spPr>
      </p:pic>
      <p:sp>
        <p:nvSpPr>
          <p:cNvPr id="19" name="TextBox 18"/>
          <p:cNvSpPr txBox="1"/>
          <p:nvPr/>
        </p:nvSpPr>
        <p:spPr>
          <a:xfrm>
            <a:off x="9880600" y="2578100"/>
            <a:ext cx="1524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CoreDNS</a:t>
            </a:r>
          </a:p>
        </p:txBody>
      </p:sp>
      <p:sp>
        <p:nvSpPr>
          <p:cNvPr id="20" name="TextBox 19"/>
          <p:cNvSpPr txBox="1"/>
          <p:nvPr/>
        </p:nvSpPr>
        <p:spPr>
          <a:xfrm>
            <a:off x="9880600" y="2946400"/>
            <a:ext cx="1524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Authoritative</a:t>
            </a:r>
          </a:p>
        </p:txBody>
      </p:sp>
      <p:cxnSp>
        <p:nvCxnSpPr>
          <p:cNvPr id="21" name="Connector 20"/>
          <p:cNvCxnSpPr/>
          <p:nvPr/>
        </p:nvCxnSpPr>
        <p:spPr>
          <a:xfrm>
            <a:off x="28956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302500" y="26543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73025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895600" y="3187700"/>
            <a:ext cx="1739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9718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6" name="TextBox 25"/>
          <p:cNvSpPr txBox="1"/>
          <p:nvPr/>
        </p:nvSpPr>
        <p:spPr>
          <a:xfrm>
            <a:off x="7340600" y="2159000"/>
            <a:ext cx="1651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DNS query</a:t>
            </a:r>
          </a:p>
        </p:txBody>
      </p:sp>
      <p:sp>
        <p:nvSpPr>
          <p:cNvPr id="27" name="TextBox 26"/>
          <p:cNvSpPr txBox="1"/>
          <p:nvPr/>
        </p:nvSpPr>
        <p:spPr>
          <a:xfrm>
            <a:off x="29972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8" name="TextBox 27"/>
          <p:cNvSpPr txBox="1"/>
          <p:nvPr/>
        </p:nvSpPr>
        <p:spPr>
          <a:xfrm>
            <a:off x="7366000" y="3441700"/>
            <a:ext cx="16256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2762C8"/>
                </a:solidFill>
                <a:latin typeface="Arial"/>
              </a:rPr>
              <a:t>A answer</a:t>
            </a:r>
          </a:p>
        </p:txBody>
      </p:sp>
      <p:sp>
        <p:nvSpPr>
          <p:cNvPr id="29" name="Rounded Rectangle 28"/>
          <p:cNvSpPr/>
          <p:nvPr/>
        </p:nvSpPr>
        <p:spPr>
          <a:xfrm>
            <a:off x="8648700" y="4445000"/>
            <a:ext cx="2933700" cy="990600"/>
          </a:xfrm>
          <a:prstGeom prst="roundRect">
            <a:avLst>
              <a:gd name="adj" fmla="val 897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648700" y="4445000"/>
            <a:ext cx="50800" cy="9906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51900" y="4610100"/>
            <a:ext cx="25527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7283E"/>
                </a:solidFill>
                <a:latin typeface="Arial"/>
              </a:rPr>
              <a:t>Selected cluster</a:t>
            </a:r>
          </a:p>
        </p:txBody>
      </p:sp>
      <p:sp>
        <p:nvSpPr>
          <p:cNvPr id="32" name="TextBox 31"/>
          <p:cNvSpPr txBox="1"/>
          <p:nvPr/>
        </p:nvSpPr>
        <p:spPr>
          <a:xfrm>
            <a:off x="8851900" y="4978400"/>
            <a:ext cx="25527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Gateway / Ingress</a:t>
            </a:r>
          </a:p>
        </p:txBody>
      </p:sp>
      <p:cxnSp>
        <p:nvCxnSpPr>
          <p:cNvPr id="33" name="Connector 32"/>
          <p:cNvCxnSpPr/>
          <p:nvPr/>
        </p:nvCxnSpPr>
        <p:spPr>
          <a:xfrm>
            <a:off x="1752600" y="3378200"/>
            <a:ext cx="0" cy="157480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752600" y="4953000"/>
            <a:ext cx="6896100" cy="0"/>
          </a:xfrm>
          <a:prstGeom prst="line">
            <a:avLst/>
          </a:prstGeom>
          <a:ln w="3810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429000" y="4495800"/>
            <a:ext cx="4572000" cy="388620"/>
          </a:xfrm>
          <a:prstGeom prst="rect">
            <a:avLst/>
          </a:prstGeom>
          <a:noFill/>
        </p:spPr>
        <p:txBody>
          <a:bodyPr wrap="none" lIns="0" rIns="0" tIns="0" bIns="0" anchor="t">
            <a:noAutofit/>
          </a:bodyPr>
          <a:lstStyle/>
          <a:p>
            <a:pPr algn="ctr">
              <a:lnSpc>
                <a:spcPts val="2760"/>
              </a:lnSpc>
              <a:spcBef>
                <a:spcPts val="0"/>
              </a:spcBef>
              <a:spcAft>
                <a:spcPts val="0"/>
              </a:spcAft>
            </a:pPr>
            <a:r>
              <a:rPr sz="2400" b="1">
                <a:solidFill>
                  <a:srgbClr val="CF0035"/>
                </a:solidFill>
                <a:latin typeface="Arial"/>
              </a:rPr>
              <a:t>Application connection</a:t>
            </a:r>
          </a:p>
        </p:txBody>
      </p:sp>
      <p:sp>
        <p:nvSpPr>
          <p:cNvPr id="36" name="Rounded Rectangle 35"/>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DNS is outside the application data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DNS OWNERSHIP</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10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Delegation is the authority boundary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Parent DNS delegates the zone. CoreDNS answers application lookups.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937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032000"/>
            <a:ext cx="3937000" cy="2844800"/>
          </a:xfrm>
          <a:prstGeom prst="roundRect">
            <a:avLst>
              <a:gd name="adj" fmla="val 4464"/>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044700"/>
            <a:ext cx="13081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89000" y="2286000"/>
            <a:ext cx="2794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PARENT ZONE</a:t>
            </a:r>
          </a:p>
        </p:txBody>
      </p:sp>
      <p:sp>
        <p:nvSpPr>
          <p:cNvPr id="14" name="TextBox 13"/>
          <p:cNvSpPr txBox="1"/>
          <p:nvPr/>
        </p:nvSpPr>
        <p:spPr>
          <a:xfrm>
            <a:off x="889000" y="2578100"/>
            <a:ext cx="29210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142338"/>
                </a:solidFill>
                <a:latin typeface="Arial"/>
              </a:rPr>
              <a:t>example.com</a:t>
            </a:r>
          </a:p>
        </p:txBody>
      </p:sp>
      <p:sp>
        <p:nvSpPr>
          <p:cNvPr id="15" name="Oval 14"/>
          <p:cNvSpPr/>
          <p:nvPr/>
        </p:nvSpPr>
        <p:spPr>
          <a:xfrm>
            <a:off x="3848100" y="2349500"/>
            <a:ext cx="482600" cy="482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924300" y="2425700"/>
            <a:ext cx="330200" cy="330200"/>
          </a:xfrm>
          <a:prstGeom prst="ellipse">
            <a:avLst/>
          </a:prstGeom>
          <a:solidFill>
            <a:srgbClr val="EAF0FB"/>
          </a:solidFill>
          <a:ln w="1524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013200" y="2425700"/>
            <a:ext cx="152400" cy="330200"/>
          </a:xfrm>
          <a:prstGeom prst="ellipse">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3924300" y="2590800"/>
            <a:ext cx="3302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49700" y="25146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949700" y="2667000"/>
            <a:ext cx="279400" cy="0"/>
          </a:xfrm>
          <a:prstGeom prst="line">
            <a:avLst/>
          </a:prstGeom>
          <a:ln w="1016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9000" y="3086100"/>
            <a:ext cx="33782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63600" y="3251200"/>
            <a:ext cx="3429000" cy="1143000"/>
          </a:xfrm>
          <a:prstGeom prst="roundRect">
            <a:avLst>
              <a:gd name="adj" fmla="val 777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1400" y="3378200"/>
            <a:ext cx="30734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NS RECORDS FOR</a:t>
            </a:r>
          </a:p>
        </p:txBody>
      </p:sp>
      <p:sp>
        <p:nvSpPr>
          <p:cNvPr id="24" name="TextBox 23"/>
          <p:cNvSpPr txBox="1"/>
          <p:nvPr/>
        </p:nvSpPr>
        <p:spPr>
          <a:xfrm>
            <a:off x="1041400" y="3606800"/>
            <a:ext cx="30734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142338"/>
                </a:solidFill>
                <a:latin typeface="Courier New"/>
              </a:rPr>
              <a:t>gslb.example.com</a:t>
            </a:r>
          </a:p>
        </p:txBody>
      </p:sp>
      <p:sp>
        <p:nvSpPr>
          <p:cNvPr id="25" name="Rounded Rectangle 24"/>
          <p:cNvSpPr/>
          <p:nvPr/>
        </p:nvSpPr>
        <p:spPr>
          <a:xfrm>
            <a:off x="1041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68400" y="4070350"/>
            <a:ext cx="76200" cy="762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6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2762C8"/>
                </a:solidFill>
                <a:latin typeface="Courier New"/>
              </a:rPr>
              <a:t>ns-a</a:t>
            </a:r>
          </a:p>
        </p:txBody>
      </p:sp>
      <p:sp>
        <p:nvSpPr>
          <p:cNvPr id="28" name="Rounded Rectangle 27"/>
          <p:cNvSpPr/>
          <p:nvPr/>
        </p:nvSpPr>
        <p:spPr>
          <a:xfrm>
            <a:off x="2565400" y="3949700"/>
            <a:ext cx="1346200" cy="317500"/>
          </a:xfrm>
          <a:prstGeom prst="roundRect">
            <a:avLst>
              <a:gd name="adj" fmla="val 2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692400" y="4070350"/>
            <a:ext cx="76200" cy="762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70200" y="4000500"/>
            <a:ext cx="9144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087F85"/>
                </a:solidFill>
                <a:latin typeface="Courier New"/>
              </a:rPr>
              <a:t>ns-b</a:t>
            </a:r>
          </a:p>
        </p:txBody>
      </p:sp>
      <p:sp>
        <p:nvSpPr>
          <p:cNvPr id="31" name="TextBox 30"/>
          <p:cNvSpPr txBox="1"/>
          <p:nvPr/>
        </p:nvSpPr>
        <p:spPr>
          <a:xfrm>
            <a:off x="863600" y="4559300"/>
            <a:ext cx="3429000" cy="227965"/>
          </a:xfrm>
          <a:prstGeom prst="rect">
            <a:avLst/>
          </a:prstGeom>
          <a:noFill/>
        </p:spPr>
        <p:txBody>
          <a:bodyPr wrap="none" lIns="0" rIns="0" tIns="0" bIns="0" anchor="t">
            <a:noAutofit/>
          </a:bodyPr>
          <a:lstStyle/>
          <a:p>
            <a:pPr algn="ctr">
              <a:lnSpc>
                <a:spcPts val="1495"/>
              </a:lnSpc>
              <a:spcBef>
                <a:spcPts val="0"/>
              </a:spcBef>
              <a:spcAft>
                <a:spcPts val="0"/>
              </a:spcAft>
            </a:pPr>
            <a:r>
              <a:rPr sz="1300" b="0">
                <a:solidFill>
                  <a:srgbClr val="5D6F82"/>
                </a:solidFill>
                <a:latin typeface="Arial"/>
              </a:rPr>
              <a:t>Nameserver addresses published too.</a:t>
            </a:r>
          </a:p>
        </p:txBody>
      </p:sp>
      <p:cxnSp>
        <p:nvCxnSpPr>
          <p:cNvPr id="32" name="Connector 31"/>
          <p:cNvCxnSpPr/>
          <p:nvPr/>
        </p:nvCxnSpPr>
        <p:spPr>
          <a:xfrm>
            <a:off x="5397500" y="2146300"/>
            <a:ext cx="0" cy="2590800"/>
          </a:xfrm>
          <a:prstGeom prst="line">
            <a:avLst/>
          </a:prstGeom>
          <a:ln w="15240">
            <a:solidFill>
              <a:srgbClr val="E7BCC7"/>
            </a:solidFill>
            <a:prstDash val="dash"/>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35500" y="3136900"/>
            <a:ext cx="152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CF0035"/>
                </a:solidFill>
                <a:latin typeface="Arial"/>
              </a:rPr>
              <a:t>DELEGATES</a:t>
            </a:r>
          </a:p>
        </p:txBody>
      </p:sp>
      <p:cxnSp>
        <p:nvCxnSpPr>
          <p:cNvPr id="34" name="Connector 33"/>
          <p:cNvCxnSpPr/>
          <p:nvPr/>
        </p:nvCxnSpPr>
        <p:spPr>
          <a:xfrm>
            <a:off x="4546600" y="3632200"/>
            <a:ext cx="1701800" cy="0"/>
          </a:xfrm>
          <a:prstGeom prst="line">
            <a:avLst/>
          </a:prstGeom>
          <a:ln w="31750">
            <a:solidFill>
              <a:srgbClr val="CF003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080000" y="3467100"/>
            <a:ext cx="635000" cy="330200"/>
          </a:xfrm>
          <a:prstGeom prst="roundRect">
            <a:avLst>
              <a:gd name="adj" fmla="val 23076"/>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900" y="3517900"/>
            <a:ext cx="45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NS</a:t>
            </a:r>
          </a:p>
        </p:txBody>
      </p:sp>
      <p:sp>
        <p:nvSpPr>
          <p:cNvPr id="37" name="Rounded Rectangle 36"/>
          <p:cNvSpPr/>
          <p:nvPr/>
        </p:nvSpPr>
        <p:spPr>
          <a:xfrm>
            <a:off x="6248400" y="2082800"/>
            <a:ext cx="5334000" cy="2844800"/>
          </a:xfrm>
          <a:prstGeom prst="roundRect">
            <a:avLst>
              <a:gd name="adj" fmla="val 4464"/>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248400" y="2032000"/>
            <a:ext cx="5334000" cy="2844800"/>
          </a:xfrm>
          <a:prstGeom prst="roundRect">
            <a:avLst>
              <a:gd name="adj" fmla="val 4464"/>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27800" y="2044700"/>
            <a:ext cx="17780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527800" y="2286000"/>
            <a:ext cx="4775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6DD3CE"/>
                </a:solidFill>
                <a:latin typeface="Arial"/>
              </a:rPr>
              <a:t>DELEGATED ZONE</a:t>
            </a:r>
          </a:p>
        </p:txBody>
      </p:sp>
      <p:sp>
        <p:nvSpPr>
          <p:cNvPr id="41" name="TextBox 40"/>
          <p:cNvSpPr txBox="1"/>
          <p:nvPr/>
        </p:nvSpPr>
        <p:spPr>
          <a:xfrm>
            <a:off x="6527800" y="2578100"/>
            <a:ext cx="4775200" cy="403224"/>
          </a:xfrm>
          <a:prstGeom prst="rect">
            <a:avLst/>
          </a:prstGeom>
          <a:noFill/>
        </p:spPr>
        <p:txBody>
          <a:bodyPr wrap="none" lIns="0" rIns="0" tIns="0" bIns="0" anchor="t">
            <a:noAutofit/>
          </a:bodyPr>
          <a:lstStyle/>
          <a:p>
            <a:pPr algn="l">
              <a:lnSpc>
                <a:spcPts val="2874"/>
              </a:lnSpc>
              <a:spcBef>
                <a:spcPts val="0"/>
              </a:spcBef>
              <a:spcAft>
                <a:spcPts val="0"/>
              </a:spcAft>
            </a:pPr>
            <a:r>
              <a:rPr sz="2500" b="1">
                <a:solidFill>
                  <a:srgbClr val="FFFFFF"/>
                </a:solidFill>
                <a:latin typeface="Arial"/>
              </a:rPr>
              <a:t>gslb.example.com</a:t>
            </a:r>
          </a:p>
        </p:txBody>
      </p:sp>
      <p:sp>
        <p:nvSpPr>
          <p:cNvPr id="42" name="Rounded Rectangle 41"/>
          <p:cNvSpPr/>
          <p:nvPr/>
        </p:nvSpPr>
        <p:spPr>
          <a:xfrm>
            <a:off x="65024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802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CLUSTER A</a:t>
            </a:r>
          </a:p>
        </p:txBody>
      </p:sp>
      <p:sp>
        <p:nvSpPr>
          <p:cNvPr id="44" name="TextBox 43"/>
          <p:cNvSpPr txBox="1"/>
          <p:nvPr/>
        </p:nvSpPr>
        <p:spPr>
          <a:xfrm>
            <a:off x="78994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ns-a</a:t>
            </a:r>
          </a:p>
        </p:txBody>
      </p:sp>
      <p:pic>
        <p:nvPicPr>
          <p:cNvPr id="45" name="Picture 44" descr="image.png"/>
          <p:cNvPicPr>
            <a:picLocks noChangeAspect="1"/>
          </p:cNvPicPr>
          <p:nvPr/>
        </p:nvPicPr>
        <p:blipFill>
          <a:blip r:embed="rId2"/>
          <a:stretch>
            <a:fillRect/>
          </a:stretch>
        </p:blipFill>
        <p:spPr>
          <a:xfrm>
            <a:off x="6680200" y="3733800"/>
            <a:ext cx="431800" cy="431800"/>
          </a:xfrm>
          <a:prstGeom prst="rect">
            <a:avLst/>
          </a:prstGeom>
        </p:spPr>
      </p:pic>
      <p:sp>
        <p:nvSpPr>
          <p:cNvPr id="46" name="TextBox 45"/>
          <p:cNvSpPr txBox="1"/>
          <p:nvPr/>
        </p:nvSpPr>
        <p:spPr>
          <a:xfrm>
            <a:off x="72390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47" name="Rounded Rectangle 46"/>
          <p:cNvSpPr/>
          <p:nvPr/>
        </p:nvSpPr>
        <p:spPr>
          <a:xfrm>
            <a:off x="9004300" y="3238500"/>
            <a:ext cx="2324100" cy="1092200"/>
          </a:xfrm>
          <a:prstGeom prst="roundRect">
            <a:avLst>
              <a:gd name="adj" fmla="val 813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2100" y="3378200"/>
            <a:ext cx="1193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CLUSTER B</a:t>
            </a:r>
          </a:p>
        </p:txBody>
      </p:sp>
      <p:sp>
        <p:nvSpPr>
          <p:cNvPr id="49" name="TextBox 48"/>
          <p:cNvSpPr txBox="1"/>
          <p:nvPr/>
        </p:nvSpPr>
        <p:spPr>
          <a:xfrm>
            <a:off x="10401300" y="3390900"/>
            <a:ext cx="749300" cy="198754"/>
          </a:xfrm>
          <a:prstGeom prst="rect">
            <a:avLst/>
          </a:prstGeom>
          <a:noFill/>
        </p:spPr>
        <p:txBody>
          <a:bodyPr wrap="none" lIns="0" rIns="0" tIns="0" bIns="0" anchor="t">
            <a:noAutofit/>
          </a:bodyPr>
          <a:lstStyle/>
          <a:p>
            <a:pPr algn="r">
              <a:lnSpc>
                <a:spcPts val="1264"/>
              </a:lnSpc>
              <a:spcBef>
                <a:spcPts val="0"/>
              </a:spcBef>
              <a:spcAft>
                <a:spcPts val="0"/>
              </a:spcAft>
            </a:pPr>
            <a:r>
              <a:rPr sz="1100" b="0">
                <a:solidFill>
                  <a:srgbClr val="5D6F82"/>
                </a:solidFill>
                <a:latin typeface="Courier New"/>
              </a:rPr>
              <a:t>ns-b</a:t>
            </a:r>
          </a:p>
        </p:txBody>
      </p:sp>
      <p:pic>
        <p:nvPicPr>
          <p:cNvPr id="50" name="Picture 49" descr="image.png"/>
          <p:cNvPicPr>
            <a:picLocks noChangeAspect="1"/>
          </p:cNvPicPr>
          <p:nvPr/>
        </p:nvPicPr>
        <p:blipFill>
          <a:blip r:embed="rId2"/>
          <a:stretch>
            <a:fillRect/>
          </a:stretch>
        </p:blipFill>
        <p:spPr>
          <a:xfrm>
            <a:off x="9182100" y="3733800"/>
            <a:ext cx="431800" cy="431800"/>
          </a:xfrm>
          <a:prstGeom prst="rect">
            <a:avLst/>
          </a:prstGeom>
        </p:spPr>
      </p:pic>
      <p:sp>
        <p:nvSpPr>
          <p:cNvPr id="51" name="TextBox 50"/>
          <p:cNvSpPr txBox="1"/>
          <p:nvPr/>
        </p:nvSpPr>
        <p:spPr>
          <a:xfrm>
            <a:off x="9740900" y="3771900"/>
            <a:ext cx="14097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CoreDNS</a:t>
            </a:r>
          </a:p>
        </p:txBody>
      </p:sp>
      <p:sp>
        <p:nvSpPr>
          <p:cNvPr id="52" name="TextBox 51"/>
          <p:cNvSpPr txBox="1"/>
          <p:nvPr/>
        </p:nvSpPr>
        <p:spPr>
          <a:xfrm>
            <a:off x="6527800" y="4508500"/>
            <a:ext cx="4775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Both serve the same application zone.</a:t>
            </a:r>
          </a:p>
        </p:txBody>
      </p:sp>
      <p:sp>
        <p:nvSpPr>
          <p:cNvPr id="53" name="Rounded Rectangle 52"/>
          <p:cNvSpPr/>
          <p:nvPr/>
        </p:nvSpPr>
        <p:spPr>
          <a:xfrm>
            <a:off x="609600" y="5118100"/>
            <a:ext cx="10972800" cy="571500"/>
          </a:xfrm>
          <a:prstGeom prst="roundRect">
            <a:avLst>
              <a:gd name="adj" fmla="val 1555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00100" y="5257800"/>
            <a:ext cx="3937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76300" y="5295900"/>
            <a:ext cx="241300" cy="242569"/>
          </a:xfrm>
          <a:prstGeom prst="rect">
            <a:avLst/>
          </a:prstGeom>
          <a:noFill/>
        </p:spPr>
        <p:txBody>
          <a:bodyPr wrap="none" lIns="0" rIns="0" tIns="0" bIns="0" anchor="t">
            <a:noAutofit/>
          </a:bodyPr>
          <a:lstStyle/>
          <a:p>
            <a:pPr algn="ctr">
              <a:lnSpc>
                <a:spcPts val="1609"/>
              </a:lnSpc>
              <a:spcBef>
                <a:spcPts val="0"/>
              </a:spcBef>
              <a:spcAft>
                <a:spcPts val="0"/>
              </a:spcAft>
            </a:pPr>
            <a:r>
              <a:rPr sz="1400" b="1">
                <a:solidFill>
                  <a:srgbClr val="2762C8"/>
                </a:solidFill>
                <a:latin typeface="Arial"/>
              </a:rPr>
              <a:t>A</a:t>
            </a:r>
          </a:p>
        </p:txBody>
      </p:sp>
      <p:sp>
        <p:nvSpPr>
          <p:cNvPr id="56" name="TextBox 55"/>
          <p:cNvSpPr txBox="1"/>
          <p:nvPr/>
        </p:nvSpPr>
        <p:spPr>
          <a:xfrm>
            <a:off x="1358900" y="5245100"/>
            <a:ext cx="47244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app.gslb.example.com</a:t>
            </a:r>
          </a:p>
        </p:txBody>
      </p:sp>
      <p:cxnSp>
        <p:nvCxnSpPr>
          <p:cNvPr id="57" name="Connector 56"/>
          <p:cNvCxnSpPr/>
          <p:nvPr/>
        </p:nvCxnSpPr>
        <p:spPr>
          <a:xfrm>
            <a:off x="6121400" y="5410200"/>
            <a:ext cx="8509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277100" y="5245100"/>
            <a:ext cx="40005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087F85"/>
                </a:solidFill>
                <a:latin typeface="Arial"/>
              </a:rPr>
              <a:t>Eligible application IPs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Own the name, the delegation, and DNS 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TRAFFIC STEERING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11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Choose how eligible clusters are used</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Illustrative DNS selections across Kubernetes clusters.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55800"/>
            <a:ext cx="5334000" cy="1727200"/>
          </a:xfrm>
          <a:prstGeom prst="roundRect">
            <a:avLst>
              <a:gd name="adj" fmla="val 661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38200" y="1968500"/>
            <a:ext cx="10414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382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FAILOVER</a:t>
            </a:r>
          </a:p>
        </p:txBody>
      </p:sp>
      <p:sp>
        <p:nvSpPr>
          <p:cNvPr id="14" name="TextBox 13"/>
          <p:cNvSpPr txBox="1"/>
          <p:nvPr/>
        </p:nvSpPr>
        <p:spPr>
          <a:xfrm>
            <a:off x="8382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FFFFFF"/>
                </a:solidFill>
                <a:latin typeface="Arial"/>
              </a:rPr>
              <a:t>Prefer primary</a:t>
            </a:r>
          </a:p>
        </p:txBody>
      </p:sp>
      <p:sp>
        <p:nvSpPr>
          <p:cNvPr id="15" name="TextBox 14"/>
          <p:cNvSpPr txBox="1"/>
          <p:nvPr/>
        </p:nvSpPr>
        <p:spPr>
          <a:xfrm>
            <a:off x="8382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Return to primary on recovery</a:t>
            </a:r>
          </a:p>
        </p:txBody>
      </p:sp>
      <p:sp>
        <p:nvSpPr>
          <p:cNvPr id="16" name="TextBox 15"/>
          <p:cNvSpPr txBox="1"/>
          <p:nvPr/>
        </p:nvSpPr>
        <p:spPr>
          <a:xfrm>
            <a:off x="37084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PRIMARY</a:t>
            </a:r>
          </a:p>
        </p:txBody>
      </p:sp>
      <p:sp>
        <p:nvSpPr>
          <p:cNvPr id="17" name="TextBox 16"/>
          <p:cNvSpPr txBox="1"/>
          <p:nvPr/>
        </p:nvSpPr>
        <p:spPr>
          <a:xfrm>
            <a:off x="4927600" y="2108200"/>
            <a:ext cx="83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B8C8D9"/>
                </a:solidFill>
                <a:latin typeface="Arial"/>
              </a:rPr>
              <a:t>BACKUP</a:t>
            </a:r>
          </a:p>
        </p:txBody>
      </p:sp>
      <p:cxnSp>
        <p:nvCxnSpPr>
          <p:cNvPr id="18" name="Connector 17"/>
          <p:cNvCxnSpPr/>
          <p:nvPr/>
        </p:nvCxnSpPr>
        <p:spPr>
          <a:xfrm flipH="1" flipV="1">
            <a:off x="4127500" y="2717800"/>
            <a:ext cx="406400" cy="266700"/>
          </a:xfrm>
          <a:prstGeom prst="line">
            <a:avLst/>
          </a:prstGeom>
          <a:ln w="19050">
            <a:solidFill>
              <a:srgbClr val="F79BB0"/>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889500" y="2717800"/>
            <a:ext cx="457200" cy="266700"/>
          </a:xfrm>
          <a:prstGeom prst="line">
            <a:avLst/>
          </a:prstGeom>
          <a:ln w="317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810000" y="2273300"/>
            <a:ext cx="635000" cy="457200"/>
          </a:xfrm>
          <a:prstGeom prst="roundRect">
            <a:avLst>
              <a:gd name="adj" fmla="val 13888"/>
            </a:avLst>
          </a:prstGeom>
          <a:solidFill>
            <a:srgbClr val="FBE9EE"/>
          </a:solidFill>
          <a:ln w="12700">
            <a:solidFill>
              <a:srgbClr val="EAC3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mage.png"/>
          <p:cNvPicPr>
            <a:picLocks noChangeAspect="1"/>
          </p:cNvPicPr>
          <p:nvPr/>
        </p:nvPicPr>
        <p:blipFill>
          <a:blip r:embed="rId2"/>
          <a:stretch>
            <a:fillRect/>
          </a:stretch>
        </p:blipFill>
        <p:spPr>
          <a:xfrm>
            <a:off x="3860800" y="2362200"/>
            <a:ext cx="279400" cy="279400"/>
          </a:xfrm>
          <a:prstGeom prst="rect">
            <a:avLst/>
          </a:prstGeom>
        </p:spPr>
      </p:pic>
      <p:sp>
        <p:nvSpPr>
          <p:cNvPr id="22" name="TextBox 21"/>
          <p:cNvSpPr txBox="1"/>
          <p:nvPr/>
        </p:nvSpPr>
        <p:spPr>
          <a:xfrm>
            <a:off x="41529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23" name="Rounded Rectangle 22"/>
          <p:cNvSpPr/>
          <p:nvPr/>
        </p:nvSpPr>
        <p:spPr>
          <a:xfrm>
            <a:off x="5029200" y="22733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png"/>
          <p:cNvPicPr>
            <a:picLocks noChangeAspect="1"/>
          </p:cNvPicPr>
          <p:nvPr/>
        </p:nvPicPr>
        <p:blipFill>
          <a:blip r:embed="rId2"/>
          <a:stretch>
            <a:fillRect/>
          </a:stretch>
        </p:blipFill>
        <p:spPr>
          <a:xfrm>
            <a:off x="5080000" y="2362200"/>
            <a:ext cx="279400" cy="279400"/>
          </a:xfrm>
          <a:prstGeom prst="rect">
            <a:avLst/>
          </a:prstGeom>
        </p:spPr>
      </p:pic>
      <p:sp>
        <p:nvSpPr>
          <p:cNvPr id="25" name="TextBox 24"/>
          <p:cNvSpPr txBox="1"/>
          <p:nvPr/>
        </p:nvSpPr>
        <p:spPr>
          <a:xfrm>
            <a:off x="5372100" y="24257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26" name="Connector 25"/>
          <p:cNvCxnSpPr/>
          <p:nvPr/>
        </p:nvCxnSpPr>
        <p:spPr>
          <a:xfrm>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860800" y="2336800"/>
            <a:ext cx="279400" cy="3175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56100" y="2984500"/>
            <a:ext cx="711200" cy="279400"/>
          </a:xfrm>
          <a:prstGeom prst="roundRect">
            <a:avLst>
              <a:gd name="adj" fmla="val 2272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69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30" name="Rounded Rectangle 29"/>
          <p:cNvSpPr/>
          <p:nvPr/>
        </p:nvSpPr>
        <p:spPr>
          <a:xfrm>
            <a:off x="6248400" y="19939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8400" y="19558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6477000" y="19685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77000" y="21590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ROUND ROBIN</a:t>
            </a:r>
          </a:p>
        </p:txBody>
      </p:sp>
      <p:sp>
        <p:nvSpPr>
          <p:cNvPr id="34" name="TextBox 33"/>
          <p:cNvSpPr txBox="1"/>
          <p:nvPr/>
        </p:nvSpPr>
        <p:spPr>
          <a:xfrm>
            <a:off x="6477000" y="25273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Use healthy clusters</a:t>
            </a:r>
          </a:p>
        </p:txBody>
      </p:sp>
      <p:sp>
        <p:nvSpPr>
          <p:cNvPr id="35" name="TextBox 34"/>
          <p:cNvSpPr txBox="1"/>
          <p:nvPr/>
        </p:nvSpPr>
        <p:spPr>
          <a:xfrm>
            <a:off x="6477000" y="33401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Active / active DNS answers</a:t>
            </a:r>
          </a:p>
        </p:txBody>
      </p:sp>
      <p:cxnSp>
        <p:nvCxnSpPr>
          <p:cNvPr id="36" name="Connector 35"/>
          <p:cNvCxnSpPr/>
          <p:nvPr/>
        </p:nvCxnSpPr>
        <p:spPr>
          <a:xfrm flipH="1" flipV="1">
            <a:off x="9588500" y="2743200"/>
            <a:ext cx="7620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2710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2"/>
          <a:stretch>
            <a:fillRect/>
          </a:stretch>
        </p:blipFill>
        <p:spPr>
          <a:xfrm>
            <a:off x="9321800" y="2374900"/>
            <a:ext cx="279400" cy="279400"/>
          </a:xfrm>
          <a:prstGeom prst="rect">
            <a:avLst/>
          </a:prstGeom>
        </p:spPr>
      </p:pic>
      <p:sp>
        <p:nvSpPr>
          <p:cNvPr id="39" name="TextBox 38"/>
          <p:cNvSpPr txBox="1"/>
          <p:nvPr/>
        </p:nvSpPr>
        <p:spPr>
          <a:xfrm>
            <a:off x="96139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cxnSp>
        <p:nvCxnSpPr>
          <p:cNvPr id="40" name="Connector 39"/>
          <p:cNvCxnSpPr/>
          <p:nvPr/>
        </p:nvCxnSpPr>
        <p:spPr>
          <a:xfrm flipH="1" flipV="1">
            <a:off x="10325100" y="2743200"/>
            <a:ext cx="254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00076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2"/>
          <a:stretch>
            <a:fillRect/>
          </a:stretch>
        </p:blipFill>
        <p:spPr>
          <a:xfrm>
            <a:off x="10058400" y="2374900"/>
            <a:ext cx="279400" cy="279400"/>
          </a:xfrm>
          <a:prstGeom prst="rect">
            <a:avLst/>
          </a:prstGeom>
        </p:spPr>
      </p:pic>
      <p:sp>
        <p:nvSpPr>
          <p:cNvPr id="43" name="TextBox 42"/>
          <p:cNvSpPr txBox="1"/>
          <p:nvPr/>
        </p:nvSpPr>
        <p:spPr>
          <a:xfrm>
            <a:off x="103505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cxnSp>
        <p:nvCxnSpPr>
          <p:cNvPr id="44" name="Connector 43"/>
          <p:cNvCxnSpPr/>
          <p:nvPr/>
        </p:nvCxnSpPr>
        <p:spPr>
          <a:xfrm flipV="1">
            <a:off x="10350500" y="2743200"/>
            <a:ext cx="711200" cy="2413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10744200" y="22860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2"/>
          <a:stretch>
            <a:fillRect/>
          </a:stretch>
        </p:blipFill>
        <p:spPr>
          <a:xfrm>
            <a:off x="10795000" y="2374900"/>
            <a:ext cx="279400" cy="279400"/>
          </a:xfrm>
          <a:prstGeom prst="rect">
            <a:avLst/>
          </a:prstGeom>
        </p:spPr>
      </p:pic>
      <p:sp>
        <p:nvSpPr>
          <p:cNvPr id="47" name="TextBox 46"/>
          <p:cNvSpPr txBox="1"/>
          <p:nvPr/>
        </p:nvSpPr>
        <p:spPr>
          <a:xfrm>
            <a:off x="11087100" y="24384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C</a:t>
            </a:r>
          </a:p>
        </p:txBody>
      </p:sp>
      <p:sp>
        <p:nvSpPr>
          <p:cNvPr id="48" name="Rounded Rectangle 47"/>
          <p:cNvSpPr/>
          <p:nvPr/>
        </p:nvSpPr>
        <p:spPr>
          <a:xfrm>
            <a:off x="9994900" y="29845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45700" y="30353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50" name="Rounded Rectangle 49"/>
          <p:cNvSpPr/>
          <p:nvPr/>
        </p:nvSpPr>
        <p:spPr>
          <a:xfrm>
            <a:off x="6096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096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a:off x="838200" y="3924300"/>
            <a:ext cx="1041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82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2762C8"/>
                </a:solidFill>
                <a:latin typeface="Arial"/>
              </a:rPr>
              <a:t>WEIGHTED ROUND ROBIN</a:t>
            </a:r>
          </a:p>
        </p:txBody>
      </p:sp>
      <p:sp>
        <p:nvSpPr>
          <p:cNvPr id="54" name="TextBox 53"/>
          <p:cNvSpPr txBox="1"/>
          <p:nvPr/>
        </p:nvSpPr>
        <p:spPr>
          <a:xfrm>
            <a:off x="8382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Express preference</a:t>
            </a:r>
          </a:p>
        </p:txBody>
      </p:sp>
      <p:sp>
        <p:nvSpPr>
          <p:cNvPr id="55" name="TextBox 54"/>
          <p:cNvSpPr txBox="1"/>
          <p:nvPr/>
        </p:nvSpPr>
        <p:spPr>
          <a:xfrm>
            <a:off x="8382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Request shares are approximate</a:t>
            </a:r>
          </a:p>
        </p:txBody>
      </p:sp>
      <p:cxnSp>
        <p:nvCxnSpPr>
          <p:cNvPr id="56" name="Connector 55"/>
          <p:cNvCxnSpPr/>
          <p:nvPr/>
        </p:nvCxnSpPr>
        <p:spPr>
          <a:xfrm flipH="1" flipV="1">
            <a:off x="3949700" y="4699000"/>
            <a:ext cx="762000" cy="2413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36322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mage.png"/>
          <p:cNvPicPr>
            <a:picLocks noChangeAspect="1"/>
          </p:cNvPicPr>
          <p:nvPr/>
        </p:nvPicPr>
        <p:blipFill>
          <a:blip r:embed="rId2"/>
          <a:stretch>
            <a:fillRect/>
          </a:stretch>
        </p:blipFill>
        <p:spPr>
          <a:xfrm>
            <a:off x="3683000" y="4330700"/>
            <a:ext cx="279400" cy="279400"/>
          </a:xfrm>
          <a:prstGeom prst="rect">
            <a:avLst/>
          </a:prstGeom>
        </p:spPr>
      </p:pic>
      <p:sp>
        <p:nvSpPr>
          <p:cNvPr id="59" name="TextBox 58"/>
          <p:cNvSpPr txBox="1"/>
          <p:nvPr/>
        </p:nvSpPr>
        <p:spPr>
          <a:xfrm>
            <a:off x="39751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w=2</a:t>
            </a:r>
          </a:p>
        </p:txBody>
      </p:sp>
      <p:cxnSp>
        <p:nvCxnSpPr>
          <p:cNvPr id="60" name="Connector 59"/>
          <p:cNvCxnSpPr/>
          <p:nvPr/>
        </p:nvCxnSpPr>
        <p:spPr>
          <a:xfrm flipH="1" flipV="1">
            <a:off x="4686300" y="4699000"/>
            <a:ext cx="25400" cy="241300"/>
          </a:xfrm>
          <a:prstGeom prst="line">
            <a:avLst/>
          </a:prstGeom>
          <a:ln w="381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3688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2" name="Picture 61" descr="image.png"/>
          <p:cNvPicPr>
            <a:picLocks noChangeAspect="1"/>
          </p:cNvPicPr>
          <p:nvPr/>
        </p:nvPicPr>
        <p:blipFill>
          <a:blip r:embed="rId2"/>
          <a:stretch>
            <a:fillRect/>
          </a:stretch>
        </p:blipFill>
        <p:spPr>
          <a:xfrm>
            <a:off x="4419600" y="4330700"/>
            <a:ext cx="279400" cy="279400"/>
          </a:xfrm>
          <a:prstGeom prst="rect">
            <a:avLst/>
          </a:prstGeom>
        </p:spPr>
      </p:pic>
      <p:sp>
        <p:nvSpPr>
          <p:cNvPr id="63" name="TextBox 62"/>
          <p:cNvSpPr txBox="1"/>
          <p:nvPr/>
        </p:nvSpPr>
        <p:spPr>
          <a:xfrm>
            <a:off x="47117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w=3</a:t>
            </a:r>
          </a:p>
        </p:txBody>
      </p:sp>
      <p:cxnSp>
        <p:nvCxnSpPr>
          <p:cNvPr id="64" name="Connector 63"/>
          <p:cNvCxnSpPr/>
          <p:nvPr/>
        </p:nvCxnSpPr>
        <p:spPr>
          <a:xfrm flipV="1">
            <a:off x="4711700" y="4699000"/>
            <a:ext cx="711200" cy="241300"/>
          </a:xfrm>
          <a:prstGeom prst="line">
            <a:avLst/>
          </a:prstGeom>
          <a:ln w="635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1054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mage.png"/>
          <p:cNvPicPr>
            <a:picLocks noChangeAspect="1"/>
          </p:cNvPicPr>
          <p:nvPr/>
        </p:nvPicPr>
        <p:blipFill>
          <a:blip r:embed="rId2"/>
          <a:stretch>
            <a:fillRect/>
          </a:stretch>
        </p:blipFill>
        <p:spPr>
          <a:xfrm>
            <a:off x="5156200" y="4330700"/>
            <a:ext cx="279400" cy="279400"/>
          </a:xfrm>
          <a:prstGeom prst="rect">
            <a:avLst/>
          </a:prstGeom>
        </p:spPr>
      </p:pic>
      <p:sp>
        <p:nvSpPr>
          <p:cNvPr id="67" name="TextBox 66"/>
          <p:cNvSpPr txBox="1"/>
          <p:nvPr/>
        </p:nvSpPr>
        <p:spPr>
          <a:xfrm>
            <a:off x="5448300" y="4394200"/>
            <a:ext cx="2667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142338"/>
                </a:solidFill>
                <a:latin typeface="Arial"/>
              </a:rPr>
              <a:t>w=5</a:t>
            </a:r>
          </a:p>
        </p:txBody>
      </p:sp>
      <p:sp>
        <p:nvSpPr>
          <p:cNvPr id="68" name="TextBox 67"/>
          <p:cNvSpPr txBox="1"/>
          <p:nvPr/>
        </p:nvSpPr>
        <p:spPr>
          <a:xfrm>
            <a:off x="3632200" y="4025900"/>
            <a:ext cx="2108200" cy="169545"/>
          </a:xfrm>
          <a:prstGeom prst="rect">
            <a:avLst/>
          </a:prstGeom>
          <a:noFill/>
        </p:spPr>
        <p:txBody>
          <a:bodyPr wrap="none" lIns="0" rIns="0" tIns="0" bIns="0" anchor="t">
            <a:noAutofit/>
          </a:bodyPr>
          <a:lstStyle/>
          <a:p>
            <a:pPr algn="ctr">
              <a:lnSpc>
                <a:spcPts val="1035"/>
              </a:lnSpc>
              <a:spcBef>
                <a:spcPts val="0"/>
              </a:spcBef>
              <a:spcAft>
                <a:spcPts val="0"/>
              </a:spcAft>
            </a:pPr>
            <a:r>
              <a:rPr sz="900" b="1">
                <a:solidFill>
                  <a:srgbClr val="5D6F82"/>
                </a:solidFill>
                <a:latin typeface="Arial"/>
              </a:rPr>
              <a:t>RELATIVE WEIGHTS</a:t>
            </a:r>
          </a:p>
        </p:txBody>
      </p:sp>
      <p:sp>
        <p:nvSpPr>
          <p:cNvPr id="69" name="Rounded Rectangle 68"/>
          <p:cNvSpPr/>
          <p:nvPr/>
        </p:nvSpPr>
        <p:spPr>
          <a:xfrm>
            <a:off x="4356100" y="4940300"/>
            <a:ext cx="711200" cy="279400"/>
          </a:xfrm>
          <a:prstGeom prst="roundRect">
            <a:avLst>
              <a:gd name="adj" fmla="val 22727"/>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406900" y="4991100"/>
            <a:ext cx="6096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FFFFFF"/>
                </a:solidFill>
                <a:latin typeface="Arial"/>
              </a:rPr>
              <a:t>DNS</a:t>
            </a:r>
          </a:p>
        </p:txBody>
      </p:sp>
      <p:sp>
        <p:nvSpPr>
          <p:cNvPr id="71" name="Rounded Rectangle 70"/>
          <p:cNvSpPr/>
          <p:nvPr/>
        </p:nvSpPr>
        <p:spPr>
          <a:xfrm>
            <a:off x="6248400" y="3949700"/>
            <a:ext cx="5334000" cy="1727200"/>
          </a:xfrm>
          <a:prstGeom prst="roundRect">
            <a:avLst>
              <a:gd name="adj" fmla="val 6617"/>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48400" y="3911600"/>
            <a:ext cx="5334000" cy="1727200"/>
          </a:xfrm>
          <a:prstGeom prst="roundRect">
            <a:avLst>
              <a:gd name="adj" fmla="val 6617"/>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a:off x="6477000" y="3924300"/>
            <a:ext cx="1041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6477000" y="4114800"/>
            <a:ext cx="2641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087F85"/>
                </a:solidFill>
                <a:latin typeface="Arial"/>
              </a:rPr>
              <a:t>GEOIP</a:t>
            </a:r>
          </a:p>
        </p:txBody>
      </p:sp>
      <p:sp>
        <p:nvSpPr>
          <p:cNvPr id="75" name="TextBox 74"/>
          <p:cNvSpPr txBox="1"/>
          <p:nvPr/>
        </p:nvSpPr>
        <p:spPr>
          <a:xfrm>
            <a:off x="6477000" y="4483100"/>
            <a:ext cx="26416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Map client subnets</a:t>
            </a:r>
          </a:p>
        </p:txBody>
      </p:sp>
      <p:sp>
        <p:nvSpPr>
          <p:cNvPr id="76" name="TextBox 75"/>
          <p:cNvSpPr txBox="1"/>
          <p:nvPr/>
        </p:nvSpPr>
        <p:spPr>
          <a:xfrm>
            <a:off x="6477000" y="5295900"/>
            <a:ext cx="48768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Needs GeoIP data + ECS</a:t>
            </a:r>
          </a:p>
        </p:txBody>
      </p:sp>
      <p:cxnSp>
        <p:nvCxnSpPr>
          <p:cNvPr id="77" name="Connector 76"/>
          <p:cNvCxnSpPr/>
          <p:nvPr/>
        </p:nvCxnSpPr>
        <p:spPr>
          <a:xfrm flipV="1">
            <a:off x="9728200" y="4699000"/>
            <a:ext cx="0" cy="22860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ounded Rectangle 77"/>
          <p:cNvSpPr/>
          <p:nvPr/>
        </p:nvSpPr>
        <p:spPr>
          <a:xfrm>
            <a:off x="9410700" y="4241800"/>
            <a:ext cx="635000" cy="457200"/>
          </a:xfrm>
          <a:prstGeom prst="roundRect">
            <a:avLst>
              <a:gd name="adj" fmla="val 13888"/>
            </a:avLst>
          </a:prstGeom>
          <a:solidFill>
            <a:srgbClr val="EAF0FB"/>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image.png"/>
          <p:cNvPicPr>
            <a:picLocks noChangeAspect="1"/>
          </p:cNvPicPr>
          <p:nvPr/>
        </p:nvPicPr>
        <p:blipFill>
          <a:blip r:embed="rId2"/>
          <a:stretch>
            <a:fillRect/>
          </a:stretch>
        </p:blipFill>
        <p:spPr>
          <a:xfrm>
            <a:off x="9461500" y="4330700"/>
            <a:ext cx="279400" cy="279400"/>
          </a:xfrm>
          <a:prstGeom prst="rect">
            <a:avLst/>
          </a:prstGeom>
        </p:spPr>
      </p:pic>
      <p:sp>
        <p:nvSpPr>
          <p:cNvPr id="80" name="TextBox 79"/>
          <p:cNvSpPr txBox="1"/>
          <p:nvPr/>
        </p:nvSpPr>
        <p:spPr>
          <a:xfrm>
            <a:off x="97536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A</a:t>
            </a:r>
          </a:p>
        </p:txBody>
      </p:sp>
      <p:sp>
        <p:nvSpPr>
          <p:cNvPr id="81" name="Rounded Rectangle 80"/>
          <p:cNvSpPr/>
          <p:nvPr/>
        </p:nvSpPr>
        <p:spPr>
          <a:xfrm>
            <a:off x="9296400" y="4927600"/>
            <a:ext cx="863600" cy="292100"/>
          </a:xfrm>
          <a:prstGeom prst="roundRect">
            <a:avLst>
              <a:gd name="adj" fmla="val 2173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3472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2762C8"/>
                </a:solidFill>
                <a:latin typeface="Arial"/>
              </a:rPr>
              <a:t>Subnet A</a:t>
            </a:r>
          </a:p>
        </p:txBody>
      </p:sp>
      <p:cxnSp>
        <p:nvCxnSpPr>
          <p:cNvPr id="83" name="Connector 82"/>
          <p:cNvCxnSpPr/>
          <p:nvPr/>
        </p:nvCxnSpPr>
        <p:spPr>
          <a:xfrm flipV="1">
            <a:off x="10947400" y="4699000"/>
            <a:ext cx="0" cy="22860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4" name="Rounded Rectangle 83"/>
          <p:cNvSpPr/>
          <p:nvPr/>
        </p:nvSpPr>
        <p:spPr>
          <a:xfrm>
            <a:off x="10629900" y="4241800"/>
            <a:ext cx="635000" cy="457200"/>
          </a:xfrm>
          <a:prstGeom prst="roundRect">
            <a:avLst>
              <a:gd name="adj" fmla="val 13888"/>
            </a:avLst>
          </a:prstGeom>
          <a:solidFill>
            <a:srgbClr val="E8F4F3"/>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5" name="Picture 84" descr="image.png"/>
          <p:cNvPicPr>
            <a:picLocks noChangeAspect="1"/>
          </p:cNvPicPr>
          <p:nvPr/>
        </p:nvPicPr>
        <p:blipFill>
          <a:blip r:embed="rId2"/>
          <a:stretch>
            <a:fillRect/>
          </a:stretch>
        </p:blipFill>
        <p:spPr>
          <a:xfrm>
            <a:off x="10680700" y="4330700"/>
            <a:ext cx="279400" cy="279400"/>
          </a:xfrm>
          <a:prstGeom prst="rect">
            <a:avLst/>
          </a:prstGeom>
        </p:spPr>
      </p:pic>
      <p:sp>
        <p:nvSpPr>
          <p:cNvPr id="86" name="TextBox 85"/>
          <p:cNvSpPr txBox="1"/>
          <p:nvPr/>
        </p:nvSpPr>
        <p:spPr>
          <a:xfrm>
            <a:off x="10972800" y="4394200"/>
            <a:ext cx="266700" cy="190500"/>
          </a:xfrm>
          <a:prstGeom prst="rect">
            <a:avLst/>
          </a:prstGeom>
          <a:noFill/>
        </p:spPr>
        <p:txBody>
          <a:bodyPr wrap="none" lIns="0" rIns="0" tIns="0" bIns="0" anchor="t">
            <a:noAutofit/>
          </a:bodyPr>
          <a:lstStyle/>
          <a:p>
            <a:pPr algn="ctr">
              <a:lnSpc>
                <a:spcPts val="1200"/>
              </a:lnSpc>
              <a:spcBef>
                <a:spcPts val="0"/>
              </a:spcBef>
              <a:spcAft>
                <a:spcPts val="0"/>
              </a:spcAft>
            </a:pPr>
            <a:r>
              <a:rPr sz="1200" b="1">
                <a:solidFill>
                  <a:srgbClr val="142338"/>
                </a:solidFill>
                <a:latin typeface="Arial"/>
              </a:rPr>
              <a:t>B</a:t>
            </a:r>
          </a:p>
        </p:txBody>
      </p:sp>
      <p:sp>
        <p:nvSpPr>
          <p:cNvPr id="87" name="Rounded Rectangle 86"/>
          <p:cNvSpPr/>
          <p:nvPr/>
        </p:nvSpPr>
        <p:spPr>
          <a:xfrm>
            <a:off x="10515600" y="4927600"/>
            <a:ext cx="863600" cy="292100"/>
          </a:xfrm>
          <a:prstGeom prst="roundRect">
            <a:avLst>
              <a:gd name="adj" fmla="val 2173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0566400" y="4991100"/>
            <a:ext cx="7620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087F85"/>
                </a:solidFill>
                <a:latin typeface="Arial"/>
              </a:rPr>
              <a:t>Subnet B</a:t>
            </a:r>
          </a:p>
        </p:txBody>
      </p:sp>
      <p:sp>
        <p:nvSpPr>
          <p:cNvPr id="89" name="Rounded Rectangle 88"/>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7400" y="58928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142338"/>
                </a:solidFill>
                <a:latin typeface="Arial"/>
              </a:rPr>
              <a:t>All modes change DNS answers, not existing connections.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DECLARATIVE CONFIGURATION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12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steering with a declarative manifest</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Gslb is a Kubernetes custom resource.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1905000"/>
            <a:ext cx="7112000" cy="3860800"/>
          </a:xfrm>
          <a:prstGeom prst="roundRect">
            <a:avLst>
              <a:gd name="adj" fmla="val 328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854200"/>
            <a:ext cx="7112000" cy="3860800"/>
          </a:xfrm>
          <a:prstGeom prst="roundRect">
            <a:avLst>
              <a:gd name="adj" fmla="val 328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1854200"/>
            <a:ext cx="7112000" cy="381000"/>
          </a:xfrm>
          <a:prstGeom prst="roundRect">
            <a:avLst>
              <a:gd name="adj" fmla="val 3333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9600" y="2057400"/>
            <a:ext cx="7112000" cy="1778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63600" y="1943100"/>
            <a:ext cx="152400" cy="203200"/>
          </a:xfrm>
          <a:prstGeom prst="roundRect">
            <a:avLst>
              <a:gd name="adj" fmla="val 16666"/>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01700" y="20066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01700" y="2070100"/>
            <a:ext cx="762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193800" y="1943100"/>
            <a:ext cx="2794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FFFFFF"/>
                </a:solidFill>
                <a:latin typeface="Courier New"/>
              </a:rPr>
              <a:t>gslb.yaml</a:t>
            </a:r>
          </a:p>
        </p:txBody>
      </p:sp>
      <p:sp>
        <p:nvSpPr>
          <p:cNvPr id="18" name="TextBox 17"/>
          <p:cNvSpPr txBox="1"/>
          <p:nvPr/>
        </p:nvSpPr>
        <p:spPr>
          <a:xfrm>
            <a:off x="4292600" y="1981200"/>
            <a:ext cx="3175000" cy="184150"/>
          </a:xfrm>
          <a:prstGeom prst="rect">
            <a:avLst/>
          </a:prstGeom>
          <a:noFill/>
        </p:spPr>
        <p:txBody>
          <a:bodyPr wrap="none" lIns="0" rIns="0" tIns="0" bIns="0" anchor="t">
            <a:noAutofit/>
          </a:bodyPr>
          <a:lstStyle/>
          <a:p>
            <a:pPr algn="r">
              <a:lnSpc>
                <a:spcPts val="1150"/>
              </a:lnSpc>
              <a:spcBef>
                <a:spcPts val="0"/>
              </a:spcBef>
              <a:spcAft>
                <a:spcPts val="0"/>
              </a:spcAft>
            </a:pPr>
            <a:r>
              <a:rPr sz="1000" b="1">
                <a:solidFill>
                  <a:srgbClr val="B8C8D9"/>
                </a:solidFill>
                <a:latin typeface="Arial"/>
              </a:rPr>
              <a:t>KUBERNETES CUSTOM RESOURCE</a:t>
            </a:r>
          </a:p>
        </p:txBody>
      </p:sp>
      <p:cxnSp>
        <p:nvCxnSpPr>
          <p:cNvPr id="19" name="Connector 18"/>
          <p:cNvCxnSpPr/>
          <p:nvPr/>
        </p:nvCxnSpPr>
        <p:spPr>
          <a:xfrm>
            <a:off x="609600" y="2235200"/>
            <a:ext cx="71120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7400" y="4826000"/>
            <a:ext cx="6756400" cy="825500"/>
          </a:xfrm>
          <a:prstGeom prst="roundRect">
            <a:avLst>
              <a:gd name="adj" fmla="val 9230"/>
            </a:avLst>
          </a:prstGeom>
          <a:solidFill>
            <a:srgbClr val="153B43"/>
          </a:solidFill>
          <a:ln w="12700">
            <a:solidFill>
              <a:srgbClr val="2F666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7400" y="4902200"/>
            <a:ext cx="38100" cy="673100"/>
          </a:xfrm>
          <a:prstGeom prst="rect">
            <a:avLst/>
          </a:prstGeom>
          <a:solidFill>
            <a:srgbClr val="6DD3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700" y="238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01</a:t>
            </a:r>
          </a:p>
        </p:txBody>
      </p:sp>
      <p:sp>
        <p:nvSpPr>
          <p:cNvPr id="23" name="TextBox 22"/>
          <p:cNvSpPr txBox="1"/>
          <p:nvPr/>
        </p:nvSpPr>
        <p:spPr>
          <a:xfrm>
            <a:off x="1282700" y="2336800"/>
            <a:ext cx="155727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apiVersion: </a:t>
            </a:r>
          </a:p>
        </p:txBody>
      </p:sp>
      <p:sp>
        <p:nvSpPr>
          <p:cNvPr id="24" name="TextBox 23"/>
          <p:cNvSpPr txBox="1"/>
          <p:nvPr/>
        </p:nvSpPr>
        <p:spPr>
          <a:xfrm>
            <a:off x="2837433" y="2336800"/>
            <a:ext cx="460476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k8gb.io/v1beta1</a:t>
            </a:r>
          </a:p>
        </p:txBody>
      </p:sp>
      <p:sp>
        <p:nvSpPr>
          <p:cNvPr id="25" name="TextBox 24"/>
          <p:cNvSpPr txBox="1"/>
          <p:nvPr/>
        </p:nvSpPr>
        <p:spPr>
          <a:xfrm>
            <a:off x="901700" y="264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02</a:t>
            </a:r>
          </a:p>
        </p:txBody>
      </p:sp>
      <p:sp>
        <p:nvSpPr>
          <p:cNvPr id="26" name="TextBox 25"/>
          <p:cNvSpPr txBox="1"/>
          <p:nvPr/>
        </p:nvSpPr>
        <p:spPr>
          <a:xfrm>
            <a:off x="1282700" y="2590800"/>
            <a:ext cx="779906"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kind: </a:t>
            </a:r>
          </a:p>
        </p:txBody>
      </p:sp>
      <p:sp>
        <p:nvSpPr>
          <p:cNvPr id="27" name="TextBox 26"/>
          <p:cNvSpPr txBox="1"/>
          <p:nvPr/>
        </p:nvSpPr>
        <p:spPr>
          <a:xfrm>
            <a:off x="2060066" y="2590800"/>
            <a:ext cx="5382133"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Gslb</a:t>
            </a:r>
          </a:p>
        </p:txBody>
      </p:sp>
      <p:sp>
        <p:nvSpPr>
          <p:cNvPr id="28" name="TextBox 27"/>
          <p:cNvSpPr txBox="1"/>
          <p:nvPr/>
        </p:nvSpPr>
        <p:spPr>
          <a:xfrm>
            <a:off x="901700" y="289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03</a:t>
            </a:r>
          </a:p>
        </p:txBody>
      </p:sp>
      <p:sp>
        <p:nvSpPr>
          <p:cNvPr id="29" name="TextBox 28"/>
          <p:cNvSpPr txBox="1"/>
          <p:nvPr/>
        </p:nvSpPr>
        <p:spPr>
          <a:xfrm>
            <a:off x="1282700" y="2844800"/>
            <a:ext cx="11685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metadata:</a:t>
            </a:r>
          </a:p>
        </p:txBody>
      </p:sp>
      <p:sp>
        <p:nvSpPr>
          <p:cNvPr id="30" name="TextBox 29"/>
          <p:cNvSpPr txBox="1"/>
          <p:nvPr/>
        </p:nvSpPr>
        <p:spPr>
          <a:xfrm>
            <a:off x="901700" y="314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04</a:t>
            </a:r>
          </a:p>
        </p:txBody>
      </p:sp>
      <p:sp>
        <p:nvSpPr>
          <p:cNvPr id="31" name="TextBox 30"/>
          <p:cNvSpPr txBox="1"/>
          <p:nvPr/>
        </p:nvSpPr>
        <p:spPr>
          <a:xfrm>
            <a:off x="1282700" y="3098800"/>
            <a:ext cx="1039028"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32" name="TextBox 31"/>
          <p:cNvSpPr txBox="1"/>
          <p:nvPr/>
        </p:nvSpPr>
        <p:spPr>
          <a:xfrm>
            <a:off x="2319188" y="3098800"/>
            <a:ext cx="51230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test-gslb-failover</a:t>
            </a:r>
          </a:p>
        </p:txBody>
      </p:sp>
      <p:sp>
        <p:nvSpPr>
          <p:cNvPr id="33" name="TextBox 32"/>
          <p:cNvSpPr txBox="1"/>
          <p:nvPr/>
        </p:nvSpPr>
        <p:spPr>
          <a:xfrm>
            <a:off x="901700" y="340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05</a:t>
            </a:r>
          </a:p>
        </p:txBody>
      </p:sp>
      <p:sp>
        <p:nvSpPr>
          <p:cNvPr id="34" name="TextBox 33"/>
          <p:cNvSpPr txBox="1"/>
          <p:nvPr/>
        </p:nvSpPr>
        <p:spPr>
          <a:xfrm>
            <a:off x="1282700" y="3352800"/>
            <a:ext cx="1686834"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namespace: </a:t>
            </a:r>
          </a:p>
        </p:txBody>
      </p:sp>
      <p:sp>
        <p:nvSpPr>
          <p:cNvPr id="35" name="TextBox 34"/>
          <p:cNvSpPr txBox="1"/>
          <p:nvPr/>
        </p:nvSpPr>
        <p:spPr>
          <a:xfrm>
            <a:off x="2966994" y="3352800"/>
            <a:ext cx="447520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test-gslb</a:t>
            </a:r>
          </a:p>
        </p:txBody>
      </p:sp>
      <p:sp>
        <p:nvSpPr>
          <p:cNvPr id="36" name="TextBox 35"/>
          <p:cNvSpPr txBox="1"/>
          <p:nvPr/>
        </p:nvSpPr>
        <p:spPr>
          <a:xfrm>
            <a:off x="901700" y="365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06</a:t>
            </a:r>
          </a:p>
        </p:txBody>
      </p:sp>
      <p:sp>
        <p:nvSpPr>
          <p:cNvPr id="37" name="TextBox 36"/>
          <p:cNvSpPr txBox="1"/>
          <p:nvPr/>
        </p:nvSpPr>
        <p:spPr>
          <a:xfrm>
            <a:off x="1282700" y="3606800"/>
            <a:ext cx="65034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spec:</a:t>
            </a:r>
          </a:p>
        </p:txBody>
      </p:sp>
      <p:sp>
        <p:nvSpPr>
          <p:cNvPr id="38" name="TextBox 37"/>
          <p:cNvSpPr txBox="1"/>
          <p:nvPr/>
        </p:nvSpPr>
        <p:spPr>
          <a:xfrm>
            <a:off x="901700" y="391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07</a:t>
            </a:r>
          </a:p>
        </p:txBody>
      </p:sp>
      <p:sp>
        <p:nvSpPr>
          <p:cNvPr id="39" name="TextBox 38"/>
          <p:cNvSpPr txBox="1"/>
          <p:nvPr/>
        </p:nvSpPr>
        <p:spPr>
          <a:xfrm>
            <a:off x="1282700" y="3860800"/>
            <a:ext cx="1816395"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resourceRef:</a:t>
            </a:r>
          </a:p>
        </p:txBody>
      </p:sp>
      <p:sp>
        <p:nvSpPr>
          <p:cNvPr id="40" name="TextBox 39"/>
          <p:cNvSpPr txBox="1"/>
          <p:nvPr/>
        </p:nvSpPr>
        <p:spPr>
          <a:xfrm>
            <a:off x="901700" y="416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08</a:t>
            </a:r>
          </a:p>
        </p:txBody>
      </p:sp>
      <p:sp>
        <p:nvSpPr>
          <p:cNvPr id="41" name="TextBox 40"/>
          <p:cNvSpPr txBox="1"/>
          <p:nvPr/>
        </p:nvSpPr>
        <p:spPr>
          <a:xfrm>
            <a:off x="1282700" y="4114800"/>
            <a:ext cx="2075517"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apiVersion: </a:t>
            </a:r>
          </a:p>
        </p:txBody>
      </p:sp>
      <p:sp>
        <p:nvSpPr>
          <p:cNvPr id="42" name="TextBox 41"/>
          <p:cNvSpPr txBox="1"/>
          <p:nvPr/>
        </p:nvSpPr>
        <p:spPr>
          <a:xfrm>
            <a:off x="3355677" y="4114800"/>
            <a:ext cx="4086522"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gateway.networking.k8s.io/v1</a:t>
            </a:r>
          </a:p>
        </p:txBody>
      </p:sp>
      <p:sp>
        <p:nvSpPr>
          <p:cNvPr id="43" name="TextBox 42"/>
          <p:cNvSpPr txBox="1"/>
          <p:nvPr/>
        </p:nvSpPr>
        <p:spPr>
          <a:xfrm>
            <a:off x="901700" y="4419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09</a:t>
            </a:r>
          </a:p>
        </p:txBody>
      </p:sp>
      <p:sp>
        <p:nvSpPr>
          <p:cNvPr id="44" name="TextBox 43"/>
          <p:cNvSpPr txBox="1"/>
          <p:nvPr/>
        </p:nvSpPr>
        <p:spPr>
          <a:xfrm>
            <a:off x="1282700" y="4368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kind: </a:t>
            </a:r>
          </a:p>
        </p:txBody>
      </p:sp>
      <p:sp>
        <p:nvSpPr>
          <p:cNvPr id="45" name="TextBox 44"/>
          <p:cNvSpPr txBox="1"/>
          <p:nvPr/>
        </p:nvSpPr>
        <p:spPr>
          <a:xfrm>
            <a:off x="2578310" y="4368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HTTPRoute</a:t>
            </a:r>
          </a:p>
        </p:txBody>
      </p:sp>
      <p:sp>
        <p:nvSpPr>
          <p:cNvPr id="46" name="TextBox 45"/>
          <p:cNvSpPr txBox="1"/>
          <p:nvPr/>
        </p:nvSpPr>
        <p:spPr>
          <a:xfrm>
            <a:off x="901700" y="4673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10</a:t>
            </a:r>
          </a:p>
        </p:txBody>
      </p:sp>
      <p:sp>
        <p:nvSpPr>
          <p:cNvPr id="47" name="TextBox 46"/>
          <p:cNvSpPr txBox="1"/>
          <p:nvPr/>
        </p:nvSpPr>
        <p:spPr>
          <a:xfrm>
            <a:off x="1282700" y="4622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78A5FA"/>
                </a:solidFill>
                <a:latin typeface="Courier New"/>
              </a:rPr>
              <a:t>    name: </a:t>
            </a:r>
          </a:p>
        </p:txBody>
      </p:sp>
      <p:sp>
        <p:nvSpPr>
          <p:cNvPr id="48" name="TextBox 47"/>
          <p:cNvSpPr txBox="1"/>
          <p:nvPr/>
        </p:nvSpPr>
        <p:spPr>
          <a:xfrm>
            <a:off x="2578310" y="4622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FFFFF"/>
                </a:solidFill>
                <a:latin typeface="Courier New"/>
              </a:rPr>
              <a:t>payments</a:t>
            </a:r>
          </a:p>
        </p:txBody>
      </p:sp>
      <p:sp>
        <p:nvSpPr>
          <p:cNvPr id="49" name="TextBox 48"/>
          <p:cNvSpPr txBox="1"/>
          <p:nvPr/>
        </p:nvSpPr>
        <p:spPr>
          <a:xfrm>
            <a:off x="901700" y="4927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11</a:t>
            </a:r>
          </a:p>
        </p:txBody>
      </p:sp>
      <p:sp>
        <p:nvSpPr>
          <p:cNvPr id="50" name="TextBox 49"/>
          <p:cNvSpPr txBox="1"/>
          <p:nvPr/>
        </p:nvSpPr>
        <p:spPr>
          <a:xfrm>
            <a:off x="1282700" y="4876800"/>
            <a:ext cx="1427711"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strategy:</a:t>
            </a:r>
          </a:p>
        </p:txBody>
      </p:sp>
      <p:sp>
        <p:nvSpPr>
          <p:cNvPr id="51" name="TextBox 50"/>
          <p:cNvSpPr txBox="1"/>
          <p:nvPr/>
        </p:nvSpPr>
        <p:spPr>
          <a:xfrm>
            <a:off x="901700" y="5181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12</a:t>
            </a:r>
          </a:p>
        </p:txBody>
      </p:sp>
      <p:sp>
        <p:nvSpPr>
          <p:cNvPr id="52" name="TextBox 51"/>
          <p:cNvSpPr txBox="1"/>
          <p:nvPr/>
        </p:nvSpPr>
        <p:spPr>
          <a:xfrm>
            <a:off x="1282700" y="5130800"/>
            <a:ext cx="129815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type: </a:t>
            </a:r>
          </a:p>
        </p:txBody>
      </p:sp>
      <p:sp>
        <p:nvSpPr>
          <p:cNvPr id="53" name="TextBox 52"/>
          <p:cNvSpPr txBox="1"/>
          <p:nvPr/>
        </p:nvSpPr>
        <p:spPr>
          <a:xfrm>
            <a:off x="2578310" y="5130800"/>
            <a:ext cx="486388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failover</a:t>
            </a:r>
          </a:p>
        </p:txBody>
      </p:sp>
      <p:sp>
        <p:nvSpPr>
          <p:cNvPr id="54" name="TextBox 53"/>
          <p:cNvSpPr txBox="1"/>
          <p:nvPr/>
        </p:nvSpPr>
        <p:spPr>
          <a:xfrm>
            <a:off x="901700" y="5435600"/>
            <a:ext cx="254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Courier New"/>
              </a:rPr>
              <a:t>13</a:t>
            </a:r>
          </a:p>
        </p:txBody>
      </p:sp>
      <p:sp>
        <p:nvSpPr>
          <p:cNvPr id="55" name="TextBox 54"/>
          <p:cNvSpPr txBox="1"/>
          <p:nvPr/>
        </p:nvSpPr>
        <p:spPr>
          <a:xfrm>
            <a:off x="1282700" y="5384800"/>
            <a:ext cx="2464200"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6DD3CE"/>
                </a:solidFill>
                <a:latin typeface="Courier New"/>
              </a:rPr>
              <a:t>    primaryGeoTag: </a:t>
            </a:r>
          </a:p>
        </p:txBody>
      </p:sp>
      <p:sp>
        <p:nvSpPr>
          <p:cNvPr id="56" name="TextBox 55"/>
          <p:cNvSpPr txBox="1"/>
          <p:nvPr/>
        </p:nvSpPr>
        <p:spPr>
          <a:xfrm>
            <a:off x="3744360" y="5384800"/>
            <a:ext cx="3697839" cy="286384"/>
          </a:xfrm>
          <a:prstGeom prst="rect">
            <a:avLst/>
          </a:prstGeom>
          <a:noFill/>
        </p:spPr>
        <p:txBody>
          <a:bodyPr wrap="none" lIns="0" rIns="0" tIns="0" bIns="0" anchor="t">
            <a:noAutofit/>
          </a:bodyPr>
          <a:lstStyle/>
          <a:p>
            <a:pPr algn="l">
              <a:lnSpc>
                <a:spcPts val="1954"/>
              </a:lnSpc>
              <a:spcBef>
                <a:spcPts val="0"/>
              </a:spcBef>
              <a:spcAft>
                <a:spcPts val="0"/>
              </a:spcAft>
            </a:pPr>
            <a:r>
              <a:rPr sz="1700" b="0">
                <a:solidFill>
                  <a:srgbClr val="F5C584"/>
                </a:solidFill>
                <a:latin typeface="Courier New"/>
              </a:rPr>
              <a:t>eu</a:t>
            </a:r>
          </a:p>
        </p:txBody>
      </p:sp>
      <p:sp>
        <p:nvSpPr>
          <p:cNvPr id="57" name="Rounded Rectangle 56"/>
          <p:cNvSpPr/>
          <p:nvPr/>
        </p:nvSpPr>
        <p:spPr>
          <a:xfrm>
            <a:off x="8102600" y="1905000"/>
            <a:ext cx="3479800" cy="1752600"/>
          </a:xfrm>
          <a:prstGeom prst="roundRect">
            <a:avLst>
              <a:gd name="adj" fmla="val 65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8102600" y="1854200"/>
            <a:ext cx="3479800" cy="1752600"/>
          </a:xfrm>
          <a:prstGeom prst="roundRect">
            <a:avLst>
              <a:gd name="adj" fmla="val 65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9" name="Connector 58"/>
          <p:cNvCxnSpPr/>
          <p:nvPr/>
        </p:nvCxnSpPr>
        <p:spPr>
          <a:xfrm>
            <a:off x="8356600" y="1866900"/>
            <a:ext cx="9398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60" name="Picture 59" descr="image.png"/>
          <p:cNvPicPr>
            <a:picLocks noChangeAspect="1"/>
          </p:cNvPicPr>
          <p:nvPr/>
        </p:nvPicPr>
        <p:blipFill>
          <a:blip r:embed="rId2"/>
          <a:stretch>
            <a:fillRect/>
          </a:stretch>
        </p:blipFill>
        <p:spPr>
          <a:xfrm>
            <a:off x="8356600" y="2095500"/>
            <a:ext cx="406400" cy="406400"/>
          </a:xfrm>
          <a:prstGeom prst="rect">
            <a:avLst/>
          </a:prstGeom>
        </p:spPr>
      </p:pic>
      <p:sp>
        <p:nvSpPr>
          <p:cNvPr id="61" name="TextBox 60"/>
          <p:cNvSpPr txBox="1"/>
          <p:nvPr/>
        </p:nvSpPr>
        <p:spPr>
          <a:xfrm>
            <a:off x="8940800" y="2146300"/>
            <a:ext cx="2387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Prefer A · eu</a:t>
            </a:r>
          </a:p>
        </p:txBody>
      </p:sp>
      <p:sp>
        <p:nvSpPr>
          <p:cNvPr id="62" name="TextBox 61"/>
          <p:cNvSpPr txBox="1"/>
          <p:nvPr/>
        </p:nvSpPr>
        <p:spPr>
          <a:xfrm>
            <a:off x="8356600" y="2794000"/>
            <a:ext cx="29718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5D6F82"/>
                </a:solidFill>
                <a:latin typeface="Arial"/>
              </a:rPr>
              <a:t>While it has</a:t>
            </a:r>
          </a:p>
          <a:p>
            <a:pPr algn="l">
              <a:lnSpc>
                <a:spcPts val="2250"/>
              </a:lnSpc>
              <a:spcBef>
                <a:spcPts val="0"/>
              </a:spcBef>
              <a:spcAft>
                <a:spcPts val="0"/>
              </a:spcAft>
            </a:pPr>
            <a:r>
              <a:rPr sz="1800" b="0">
                <a:solidFill>
                  <a:srgbClr val="5D6F82"/>
                </a:solidFill>
                <a:latin typeface="Arial"/>
              </a:rPr>
              <a:t>eligible targets.</a:t>
            </a:r>
          </a:p>
        </p:txBody>
      </p:sp>
      <p:sp>
        <p:nvSpPr>
          <p:cNvPr id="63" name="Rounded Rectangle 62"/>
          <p:cNvSpPr/>
          <p:nvPr/>
        </p:nvSpPr>
        <p:spPr>
          <a:xfrm>
            <a:off x="8102600" y="3835400"/>
            <a:ext cx="3479800" cy="1930400"/>
          </a:xfrm>
          <a:prstGeom prst="roundRect">
            <a:avLst>
              <a:gd name="adj" fmla="val 5921"/>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8102600" y="3784600"/>
            <a:ext cx="3479800" cy="1930400"/>
          </a:xfrm>
          <a:prstGeom prst="roundRect">
            <a:avLst>
              <a:gd name="adj" fmla="val 592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356600" y="3797300"/>
            <a:ext cx="9398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8356600" y="4000500"/>
            <a:ext cx="2971800" cy="344805"/>
          </a:xfrm>
          <a:prstGeom prst="rect">
            <a:avLst/>
          </a:prstGeom>
          <a:noFill/>
        </p:spPr>
        <p:txBody>
          <a:bodyPr wrap="none" lIns="0" rIns="0" tIns="0" bIns="0" anchor="t">
            <a:noAutofit/>
          </a:bodyPr>
          <a:lstStyle/>
          <a:p>
            <a:pPr algn="l">
              <a:lnSpc>
                <a:spcPts val="2415"/>
              </a:lnSpc>
              <a:spcBef>
                <a:spcPts val="0"/>
              </a:spcBef>
              <a:spcAft>
                <a:spcPts val="0"/>
              </a:spcAft>
            </a:pPr>
            <a:r>
              <a:rPr sz="2100" b="1">
                <a:solidFill>
                  <a:srgbClr val="142338"/>
                </a:solidFill>
                <a:latin typeface="Arial"/>
              </a:rPr>
              <a:t>Deploy per cluster</a:t>
            </a:r>
          </a:p>
        </p:txBody>
      </p:sp>
      <p:sp>
        <p:nvSpPr>
          <p:cNvPr id="67" name="TextBox 66"/>
          <p:cNvSpPr txBox="1"/>
          <p:nvPr/>
        </p:nvSpPr>
        <p:spPr>
          <a:xfrm>
            <a:off x="8356600" y="4406900"/>
            <a:ext cx="29718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Same configuration</a:t>
            </a:r>
          </a:p>
        </p:txBody>
      </p:sp>
      <p:cxnSp>
        <p:nvCxnSpPr>
          <p:cNvPr id="68" name="Connector 67"/>
          <p:cNvCxnSpPr/>
          <p:nvPr/>
        </p:nvCxnSpPr>
        <p:spPr>
          <a:xfrm>
            <a:off x="9842500" y="4660900"/>
            <a:ext cx="0" cy="7620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90170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9017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842500" y="4737100"/>
            <a:ext cx="825500" cy="0"/>
          </a:xfrm>
          <a:prstGeom prst="line">
            <a:avLst/>
          </a:prstGeom>
          <a:ln w="2032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0668000" y="4737100"/>
            <a:ext cx="0" cy="8890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8356600" y="4826000"/>
            <a:ext cx="1320800" cy="355600"/>
          </a:xfrm>
          <a:prstGeom prst="roundRect">
            <a:avLst>
              <a:gd name="adj" fmla="val 17857"/>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4" name="Picture 73" descr="image.png"/>
          <p:cNvPicPr>
            <a:picLocks noChangeAspect="1"/>
          </p:cNvPicPr>
          <p:nvPr/>
        </p:nvPicPr>
        <p:blipFill>
          <a:blip r:embed="rId2"/>
          <a:stretch>
            <a:fillRect/>
          </a:stretch>
        </p:blipFill>
        <p:spPr>
          <a:xfrm>
            <a:off x="8470900" y="4864100"/>
            <a:ext cx="279400" cy="279400"/>
          </a:xfrm>
          <a:prstGeom prst="rect">
            <a:avLst/>
          </a:prstGeom>
        </p:spPr>
      </p:pic>
      <p:sp>
        <p:nvSpPr>
          <p:cNvPr id="75" name="TextBox 74"/>
          <p:cNvSpPr txBox="1"/>
          <p:nvPr/>
        </p:nvSpPr>
        <p:spPr>
          <a:xfrm>
            <a:off x="8890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eu</a:t>
            </a:r>
          </a:p>
        </p:txBody>
      </p:sp>
      <p:sp>
        <p:nvSpPr>
          <p:cNvPr id="76" name="Rounded Rectangle 75"/>
          <p:cNvSpPr/>
          <p:nvPr/>
        </p:nvSpPr>
        <p:spPr>
          <a:xfrm>
            <a:off x="10007600" y="4826000"/>
            <a:ext cx="1320800" cy="355600"/>
          </a:xfrm>
          <a:prstGeom prst="roundRect">
            <a:avLst>
              <a:gd name="adj" fmla="val 17857"/>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7" name="Picture 76" descr="image.png"/>
          <p:cNvPicPr>
            <a:picLocks noChangeAspect="1"/>
          </p:cNvPicPr>
          <p:nvPr/>
        </p:nvPicPr>
        <p:blipFill>
          <a:blip r:embed="rId2"/>
          <a:stretch>
            <a:fillRect/>
          </a:stretch>
        </p:blipFill>
        <p:spPr>
          <a:xfrm>
            <a:off x="10121900" y="4864100"/>
            <a:ext cx="279400" cy="279400"/>
          </a:xfrm>
          <a:prstGeom prst="rect">
            <a:avLst/>
          </a:prstGeom>
        </p:spPr>
      </p:pic>
      <p:sp>
        <p:nvSpPr>
          <p:cNvPr id="78" name="TextBox 77"/>
          <p:cNvSpPr txBox="1"/>
          <p:nvPr/>
        </p:nvSpPr>
        <p:spPr>
          <a:xfrm>
            <a:off x="10541000" y="4889500"/>
            <a:ext cx="6096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42338"/>
                </a:solidFill>
                <a:latin typeface="Arial"/>
              </a:rPr>
              <a:t>us</a:t>
            </a:r>
          </a:p>
        </p:txBody>
      </p:sp>
      <p:sp>
        <p:nvSpPr>
          <p:cNvPr id="79" name="TextBox 78"/>
          <p:cNvSpPr txBox="1"/>
          <p:nvPr/>
        </p:nvSpPr>
        <p:spPr>
          <a:xfrm>
            <a:off x="8280400" y="5384800"/>
            <a:ext cx="3124200" cy="242569"/>
          </a:xfrm>
          <a:prstGeom prst="rect">
            <a:avLst/>
          </a:prstGeom>
          <a:noFill/>
        </p:spPr>
        <p:txBody>
          <a:bodyPr wrap="none" lIns="0" rIns="0" tIns="0" bIns="0" anchor="t">
            <a:noAutofit/>
          </a:bodyPr>
          <a:lstStyle/>
          <a:p>
            <a:pPr algn="ctr">
              <a:lnSpc>
                <a:spcPts val="1609"/>
              </a:lnSpc>
              <a:spcBef>
                <a:spcPts val="0"/>
              </a:spcBef>
              <a:spcAft>
                <a:spcPts val="0"/>
              </a:spcAft>
            </a:pPr>
            <a:r>
              <a:rPr sz="1400" b="0">
                <a:solidFill>
                  <a:srgbClr val="5D6F82"/>
                </a:solidFill>
                <a:latin typeface="Arial"/>
              </a:rPr>
              <a:t>Each cluster observes health locally.</a:t>
            </a:r>
          </a:p>
        </p:txBody>
      </p:sp>
      <p:sp>
        <p:nvSpPr>
          <p:cNvPr id="80" name="Rounded Rectangle 7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The route, zone, and matching geotags are prerequisites.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INTEGRATIONS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13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Kubernetes and DNS integrations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Run on-prem, in the cloud, or across both.</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3479800" cy="3594100"/>
          </a:xfrm>
          <a:prstGeom prst="roundRect">
            <a:avLst>
              <a:gd name="adj" fmla="val 364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1981200"/>
            <a:ext cx="3479800" cy="3594100"/>
          </a:xfrm>
          <a:prstGeom prst="roundRect">
            <a:avLst>
              <a:gd name="adj" fmla="val 3649"/>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1993900"/>
            <a:ext cx="29210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63600" y="2247900"/>
            <a:ext cx="546100" cy="546100"/>
          </a:xfrm>
          <a:prstGeom prst="rect">
            <a:avLst/>
          </a:prstGeom>
        </p:spPr>
      </p:pic>
      <p:sp>
        <p:nvSpPr>
          <p:cNvPr id="14" name="TextBox 13"/>
          <p:cNvSpPr txBox="1"/>
          <p:nvPr/>
        </p:nvSpPr>
        <p:spPr>
          <a:xfrm>
            <a:off x="1612900" y="2222500"/>
            <a:ext cx="2222500" cy="635508"/>
          </a:xfrm>
          <a:prstGeom prst="rect">
            <a:avLst/>
          </a:prstGeom>
          <a:noFill/>
        </p:spPr>
        <p:txBody>
          <a:bodyPr wrap="none" lIns="0" rIns="0" tIns="0" bIns="0" anchor="t">
            <a:noAutofit/>
          </a:bodyPr>
          <a:lstStyle/>
          <a:p>
            <a:pPr algn="l">
              <a:lnSpc>
                <a:spcPts val="2352"/>
              </a:lnSpc>
              <a:spcBef>
                <a:spcPts val="0"/>
              </a:spcBef>
              <a:spcAft>
                <a:spcPts val="0"/>
              </a:spcAft>
            </a:pPr>
            <a:r>
              <a:rPr sz="2100" b="1">
                <a:solidFill>
                  <a:srgbClr val="142338"/>
                </a:solidFill>
                <a:latin typeface="Arial"/>
              </a:rPr>
              <a:t>Conformant</a:t>
            </a:r>
          </a:p>
          <a:p>
            <a:pPr algn="l">
              <a:lnSpc>
                <a:spcPts val="2352"/>
              </a:lnSpc>
              <a:spcBef>
                <a:spcPts val="0"/>
              </a:spcBef>
              <a:spcAft>
                <a:spcPts val="0"/>
              </a:spcAft>
            </a:pPr>
            <a:r>
              <a:rPr sz="2100" b="1">
                <a:solidFill>
                  <a:srgbClr val="142338"/>
                </a:solidFill>
                <a:latin typeface="Arial"/>
              </a:rPr>
              <a:t>Kubernetes</a:t>
            </a:r>
          </a:p>
        </p:txBody>
      </p:sp>
      <p:cxnSp>
        <p:nvCxnSpPr>
          <p:cNvPr id="15" name="Connector 14"/>
          <p:cNvCxnSpPr/>
          <p:nvPr/>
        </p:nvCxnSpPr>
        <p:spPr>
          <a:xfrm>
            <a:off x="863600" y="3035300"/>
            <a:ext cx="2971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3600" y="3200400"/>
            <a:ext cx="29718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NATIVE RESOURCE INTEGRATIONS</a:t>
            </a:r>
          </a:p>
        </p:txBody>
      </p:sp>
      <p:sp>
        <p:nvSpPr>
          <p:cNvPr id="17" name="Oval 16"/>
          <p:cNvSpPr/>
          <p:nvPr/>
        </p:nvSpPr>
        <p:spPr>
          <a:xfrm>
            <a:off x="863600" y="35560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927100" y="36703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965200" y="36195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219200" y="35433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Gateway API</a:t>
            </a:r>
          </a:p>
        </p:txBody>
      </p:sp>
      <p:sp>
        <p:nvSpPr>
          <p:cNvPr id="21" name="Oval 20"/>
          <p:cNvSpPr/>
          <p:nvPr/>
        </p:nvSpPr>
        <p:spPr>
          <a:xfrm>
            <a:off x="863600" y="40386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27100" y="41529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65200" y="41021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19200" y="40259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Ingress</a:t>
            </a:r>
          </a:p>
        </p:txBody>
      </p:sp>
      <p:sp>
        <p:nvSpPr>
          <p:cNvPr id="25" name="Oval 24"/>
          <p:cNvSpPr/>
          <p:nvPr/>
        </p:nvSpPr>
        <p:spPr>
          <a:xfrm>
            <a:off x="863600" y="45212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927100" y="46355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5200" y="45847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19200" y="45085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Istio VirtualService</a:t>
            </a:r>
          </a:p>
        </p:txBody>
      </p:sp>
      <p:sp>
        <p:nvSpPr>
          <p:cNvPr id="29" name="Oval 28"/>
          <p:cNvSpPr/>
          <p:nvPr/>
        </p:nvSpPr>
        <p:spPr>
          <a:xfrm>
            <a:off x="863600" y="5003800"/>
            <a:ext cx="228600" cy="228600"/>
          </a:xfrm>
          <a:prstGeom prst="ellipse">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927100" y="5118100"/>
            <a:ext cx="38100" cy="381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65200" y="5067300"/>
            <a:ext cx="76200" cy="88900"/>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219200" y="4991100"/>
            <a:ext cx="2616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LoadBalancer Service</a:t>
            </a:r>
          </a:p>
        </p:txBody>
      </p:sp>
      <p:sp>
        <p:nvSpPr>
          <p:cNvPr id="33" name="TextBox 32"/>
          <p:cNvSpPr txBox="1"/>
          <p:nvPr/>
        </p:nvSpPr>
        <p:spPr>
          <a:xfrm>
            <a:off x="4445000" y="2044700"/>
            <a:ext cx="7137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CF0035"/>
                </a:solidFill>
                <a:latin typeface="Arial"/>
              </a:rPr>
              <a:t>AUTOMATED PARENT-ZONE DELEGATION</a:t>
            </a:r>
          </a:p>
        </p:txBody>
      </p:sp>
      <p:sp>
        <p:nvSpPr>
          <p:cNvPr id="34" name="Rounded Rectangle 33"/>
          <p:cNvSpPr/>
          <p:nvPr/>
        </p:nvSpPr>
        <p:spPr>
          <a:xfrm>
            <a:off x="44450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mage.png"/>
          <p:cNvPicPr>
            <a:picLocks noChangeAspect="1"/>
          </p:cNvPicPr>
          <p:nvPr/>
        </p:nvPicPr>
        <p:blipFill>
          <a:blip r:embed="rId3"/>
          <a:stretch>
            <a:fillRect/>
          </a:stretch>
        </p:blipFill>
        <p:spPr>
          <a:xfrm>
            <a:off x="5159088" y="2552700"/>
            <a:ext cx="807023" cy="482600"/>
          </a:xfrm>
          <a:prstGeom prst="rect">
            <a:avLst/>
          </a:prstGeom>
        </p:spPr>
      </p:pic>
      <p:sp>
        <p:nvSpPr>
          <p:cNvPr id="36" name="TextBox 35"/>
          <p:cNvSpPr txBox="1"/>
          <p:nvPr/>
        </p:nvSpPr>
        <p:spPr>
          <a:xfrm>
            <a:off x="45466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AWS Route 53</a:t>
            </a:r>
          </a:p>
        </p:txBody>
      </p:sp>
      <p:sp>
        <p:nvSpPr>
          <p:cNvPr id="37" name="Rounded Rectangle 36"/>
          <p:cNvSpPr/>
          <p:nvPr/>
        </p:nvSpPr>
        <p:spPr>
          <a:xfrm>
            <a:off x="68961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4"/>
          <a:stretch>
            <a:fillRect/>
          </a:stretch>
        </p:blipFill>
        <p:spPr>
          <a:xfrm>
            <a:off x="7251700" y="2559304"/>
            <a:ext cx="1524000" cy="469392"/>
          </a:xfrm>
          <a:prstGeom prst="rect">
            <a:avLst/>
          </a:prstGeom>
        </p:spPr>
      </p:pic>
      <p:sp>
        <p:nvSpPr>
          <p:cNvPr id="39" name="TextBox 38"/>
          <p:cNvSpPr txBox="1"/>
          <p:nvPr/>
        </p:nvSpPr>
        <p:spPr>
          <a:xfrm>
            <a:off x="69977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Azure Public DNS</a:t>
            </a:r>
          </a:p>
        </p:txBody>
      </p:sp>
      <p:sp>
        <p:nvSpPr>
          <p:cNvPr id="40" name="Rounded Rectangle 39"/>
          <p:cNvSpPr/>
          <p:nvPr/>
        </p:nvSpPr>
        <p:spPr>
          <a:xfrm>
            <a:off x="9347200" y="24511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5"/>
          <a:stretch>
            <a:fillRect/>
          </a:stretch>
        </p:blipFill>
        <p:spPr>
          <a:xfrm>
            <a:off x="9702800" y="2661412"/>
            <a:ext cx="1524000" cy="265176"/>
          </a:xfrm>
          <a:prstGeom prst="rect">
            <a:avLst/>
          </a:prstGeom>
        </p:spPr>
      </p:pic>
      <p:sp>
        <p:nvSpPr>
          <p:cNvPr id="42" name="TextBox 41"/>
          <p:cNvSpPr txBox="1"/>
          <p:nvPr/>
        </p:nvSpPr>
        <p:spPr>
          <a:xfrm>
            <a:off x="9448800" y="31496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Google Cloud DNS</a:t>
            </a:r>
          </a:p>
        </p:txBody>
      </p:sp>
      <p:sp>
        <p:nvSpPr>
          <p:cNvPr id="43" name="Rounded Rectangle 42"/>
          <p:cNvSpPr/>
          <p:nvPr/>
        </p:nvSpPr>
        <p:spPr>
          <a:xfrm>
            <a:off x="44450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6"/>
          <a:stretch>
            <a:fillRect/>
          </a:stretch>
        </p:blipFill>
        <p:spPr>
          <a:xfrm>
            <a:off x="5226050" y="3594100"/>
            <a:ext cx="673100" cy="673100"/>
          </a:xfrm>
          <a:prstGeom prst="rect">
            <a:avLst/>
          </a:prstGeom>
        </p:spPr>
      </p:pic>
      <p:sp>
        <p:nvSpPr>
          <p:cNvPr id="45" name="TextBox 44"/>
          <p:cNvSpPr txBox="1"/>
          <p:nvPr/>
        </p:nvSpPr>
        <p:spPr>
          <a:xfrm>
            <a:off x="45466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NS1</a:t>
            </a:r>
          </a:p>
        </p:txBody>
      </p:sp>
      <p:sp>
        <p:nvSpPr>
          <p:cNvPr id="46" name="Rounded Rectangle 45"/>
          <p:cNvSpPr/>
          <p:nvPr/>
        </p:nvSpPr>
        <p:spPr>
          <a:xfrm>
            <a:off x="68961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age.png"/>
          <p:cNvPicPr>
            <a:picLocks noChangeAspect="1"/>
          </p:cNvPicPr>
          <p:nvPr/>
        </p:nvPicPr>
        <p:blipFill>
          <a:blip r:embed="rId7"/>
          <a:stretch>
            <a:fillRect/>
          </a:stretch>
        </p:blipFill>
        <p:spPr>
          <a:xfrm>
            <a:off x="7251700" y="3683508"/>
            <a:ext cx="1524000" cy="481584"/>
          </a:xfrm>
          <a:prstGeom prst="rect">
            <a:avLst/>
          </a:prstGeom>
        </p:spPr>
      </p:pic>
      <p:sp>
        <p:nvSpPr>
          <p:cNvPr id="48" name="TextBox 47"/>
          <p:cNvSpPr txBox="1"/>
          <p:nvPr/>
        </p:nvSpPr>
        <p:spPr>
          <a:xfrm>
            <a:off x="69977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Infoblox</a:t>
            </a:r>
          </a:p>
        </p:txBody>
      </p:sp>
      <p:sp>
        <p:nvSpPr>
          <p:cNvPr id="49" name="Rounded Rectangle 48"/>
          <p:cNvSpPr/>
          <p:nvPr/>
        </p:nvSpPr>
        <p:spPr>
          <a:xfrm>
            <a:off x="9347200" y="3581400"/>
            <a:ext cx="2235200" cy="990600"/>
          </a:xfrm>
          <a:prstGeom prst="roundRect">
            <a:avLst>
              <a:gd name="adj" fmla="val 1025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mage.jpg"/>
          <p:cNvPicPr>
            <a:picLocks noChangeAspect="1"/>
          </p:cNvPicPr>
          <p:nvPr/>
        </p:nvPicPr>
        <p:blipFill>
          <a:blip r:embed="rId8"/>
          <a:stretch>
            <a:fillRect/>
          </a:stretch>
        </p:blipFill>
        <p:spPr>
          <a:xfrm>
            <a:off x="10128250" y="3594100"/>
            <a:ext cx="673100" cy="673100"/>
          </a:xfrm>
          <a:prstGeom prst="rect">
            <a:avLst/>
          </a:prstGeom>
        </p:spPr>
      </p:pic>
      <p:sp>
        <p:nvSpPr>
          <p:cNvPr id="51" name="TextBox 50"/>
          <p:cNvSpPr txBox="1"/>
          <p:nvPr/>
        </p:nvSpPr>
        <p:spPr>
          <a:xfrm>
            <a:off x="9448800" y="4279900"/>
            <a:ext cx="2032000" cy="230187"/>
          </a:xfrm>
          <a:prstGeom prst="rect">
            <a:avLst/>
          </a:prstGeom>
          <a:noFill/>
        </p:spPr>
        <p:txBody>
          <a:bodyPr wrap="none" lIns="0" rIns="0" tIns="0" bIns="0" anchor="t">
            <a:noAutofit/>
          </a:bodyPr>
          <a:lstStyle/>
          <a:p>
            <a:pPr algn="ctr">
              <a:lnSpc>
                <a:spcPts val="1450"/>
              </a:lnSpc>
              <a:spcBef>
                <a:spcPts val="0"/>
              </a:spcBef>
              <a:spcAft>
                <a:spcPts val="0"/>
              </a:spcAft>
            </a:pPr>
            <a:r>
              <a:rPr sz="1450" b="1">
                <a:solidFill>
                  <a:srgbClr val="142338"/>
                </a:solidFill>
                <a:latin typeface="Arial"/>
              </a:rPr>
              <a:t>Cloudflare</a:t>
            </a:r>
          </a:p>
        </p:txBody>
      </p:sp>
      <p:sp>
        <p:nvSpPr>
          <p:cNvPr id="52" name="Rounded Rectangle 51"/>
          <p:cNvSpPr/>
          <p:nvPr/>
        </p:nvSpPr>
        <p:spPr>
          <a:xfrm>
            <a:off x="4445000" y="4762500"/>
            <a:ext cx="7137400" cy="812800"/>
          </a:xfrm>
          <a:prstGeom prst="roundRect">
            <a:avLst>
              <a:gd name="adj" fmla="val 1250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648200" y="4940300"/>
            <a:ext cx="431800" cy="431800"/>
          </a:xfrm>
          <a:prstGeom prst="roundRect">
            <a:avLst>
              <a:gd name="adj" fmla="val 205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737100" y="50419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931410" y="50647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4737100" y="51435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931410" y="51663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4737100" y="5245100"/>
            <a:ext cx="254000" cy="63500"/>
          </a:xfrm>
          <a:prstGeom prst="roundRect">
            <a:avLst>
              <a:gd name="adj" fmla="val 20000"/>
            </a:avLst>
          </a:prstGeom>
          <a:solidFill>
            <a:srgbClr val="FFFFFF"/>
          </a:solidFill>
          <a:ln w="1016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4931410" y="5267960"/>
            <a:ext cx="17780" cy="1778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257800" y="4927600"/>
            <a:ext cx="19050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087F85"/>
                </a:solidFill>
                <a:latin typeface="Arial"/>
              </a:rPr>
              <a:t>RFC 2136</a:t>
            </a:r>
          </a:p>
        </p:txBody>
      </p:sp>
      <p:sp>
        <p:nvSpPr>
          <p:cNvPr id="61" name="TextBox 60"/>
          <p:cNvSpPr txBox="1"/>
          <p:nvPr/>
        </p:nvSpPr>
        <p:spPr>
          <a:xfrm>
            <a:off x="5257800" y="5270500"/>
            <a:ext cx="1905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087F85"/>
                </a:solidFill>
                <a:latin typeface="Arial"/>
              </a:rPr>
              <a:t>DNS updates</a:t>
            </a:r>
          </a:p>
        </p:txBody>
      </p:sp>
      <p:cxnSp>
        <p:nvCxnSpPr>
          <p:cNvPr id="62" name="Connector 61"/>
          <p:cNvCxnSpPr/>
          <p:nvPr/>
        </p:nvCxnSpPr>
        <p:spPr>
          <a:xfrm>
            <a:off x="7340600" y="4927600"/>
            <a:ext cx="0" cy="482600"/>
          </a:xfrm>
          <a:prstGeom prst="line">
            <a:avLst/>
          </a:prstGeom>
          <a:ln w="12700">
            <a:solidFill>
              <a:srgbClr val="B3D6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7581900" y="4927600"/>
            <a:ext cx="3746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BIND9 · Windows DNS</a:t>
            </a:r>
          </a:p>
        </p:txBody>
      </p:sp>
      <p:sp>
        <p:nvSpPr>
          <p:cNvPr id="64" name="TextBox 63"/>
          <p:cNvSpPr txBox="1"/>
          <p:nvPr/>
        </p:nvSpPr>
        <p:spPr>
          <a:xfrm>
            <a:off x="7581900" y="5270500"/>
            <a:ext cx="3746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TSIG / GSS-TSIG authentication</a:t>
            </a:r>
          </a:p>
        </p:txBody>
      </p:sp>
      <p:sp>
        <p:nvSpPr>
          <p:cNvPr id="65" name="Rounded Rectangle 64"/>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38200" y="5918200"/>
            <a:ext cx="105156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Choose your parent DNS. Keep your Gslb traffic strategy.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YOUR SOVEREIGN BOUNDARIES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14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You define what a “region” means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Global traffic management can follow your own topology.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TextBox 9"/>
          <p:cNvSpPr txBox="1"/>
          <p:nvPr/>
        </p:nvSpPr>
        <p:spPr>
          <a:xfrm>
            <a:off x="609600" y="1905000"/>
            <a:ext cx="109728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5D6F82"/>
                </a:solidFill>
                <a:latin typeface="Arial"/>
              </a:rPr>
              <a:t>ILLUSTRATIVE clusterGeoTag VALUES</a:t>
            </a:r>
          </a:p>
        </p:txBody>
      </p:sp>
      <p:sp>
        <p:nvSpPr>
          <p:cNvPr id="11" name="Rounded Rectangle 10"/>
          <p:cNvSpPr/>
          <p:nvPr/>
        </p:nvSpPr>
        <p:spPr>
          <a:xfrm>
            <a:off x="6096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8128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2319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371600" y="2565400"/>
            <a:ext cx="508000" cy="508000"/>
          </a:xfrm>
          <a:prstGeom prst="ellipse">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1300" y="2565400"/>
            <a:ext cx="228600" cy="508000"/>
          </a:xfrm>
          <a:prstGeom prst="ellipse">
            <a:avLst/>
          </a:prstGeom>
          <a:solidFill>
            <a:srgbClr val="EAF0FB"/>
          </a:solidFill>
          <a:ln w="1778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371600" y="2819400"/>
            <a:ext cx="508000" cy="0"/>
          </a:xfrm>
          <a:prstGeom prst="line">
            <a:avLst/>
          </a:prstGeom>
          <a:ln w="1778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09700" y="2692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409700" y="2946400"/>
            <a:ext cx="4318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REGION</a:t>
            </a:r>
          </a:p>
        </p:txBody>
      </p:sp>
      <p:sp>
        <p:nvSpPr>
          <p:cNvPr id="21" name="Rounded Rectangle 20"/>
          <p:cNvSpPr/>
          <p:nvPr/>
        </p:nvSpPr>
        <p:spPr>
          <a:xfrm>
            <a:off x="7874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36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eu-west</a:t>
            </a:r>
          </a:p>
        </p:txBody>
      </p:sp>
      <p:sp>
        <p:nvSpPr>
          <p:cNvPr id="23" name="Rounded Rectangle 22"/>
          <p:cNvSpPr/>
          <p:nvPr/>
        </p:nvSpPr>
        <p:spPr>
          <a:xfrm>
            <a:off x="28448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8448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30480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4671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606800" y="2552700"/>
            <a:ext cx="508000" cy="508000"/>
          </a:xfrm>
          <a:prstGeom prst="roundRect">
            <a:avLst>
              <a:gd name="adj" fmla="val 75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830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30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8354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354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87800" y="26416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987800" y="2781300"/>
            <a:ext cx="50800" cy="635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97300" y="2933700"/>
            <a:ext cx="127000" cy="127000"/>
          </a:xfrm>
          <a:prstGeom prst="rect">
            <a:avLst/>
          </a:prstGeom>
          <a:solidFill>
            <a:srgbClr val="E8F4F3"/>
          </a:solidFill>
          <a:ln w="1651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3543300" y="3073400"/>
            <a:ext cx="635000" cy="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29972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DATACENTER</a:t>
            </a:r>
          </a:p>
        </p:txBody>
      </p:sp>
      <p:sp>
        <p:nvSpPr>
          <p:cNvPr id="37" name="Rounded Rectangle 36"/>
          <p:cNvSpPr/>
          <p:nvPr/>
        </p:nvSpPr>
        <p:spPr>
          <a:xfrm>
            <a:off x="30226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988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dc-1</a:t>
            </a:r>
          </a:p>
        </p:txBody>
      </p:sp>
      <p:sp>
        <p:nvSpPr>
          <p:cNvPr id="39" name="Rounded Rectangle 38"/>
          <p:cNvSpPr/>
          <p:nvPr/>
        </p:nvSpPr>
        <p:spPr>
          <a:xfrm>
            <a:off x="50800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0800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5283200" y="2184400"/>
            <a:ext cx="1625600" cy="0"/>
          </a:xfrm>
          <a:prstGeom prst="line">
            <a:avLst/>
          </a:prstGeom>
          <a:ln w="31750">
            <a:solidFill>
              <a:srgbClr val="2762C8"/>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5702300" y="2425700"/>
            <a:ext cx="787400" cy="787400"/>
          </a:xfrm>
          <a:prstGeom prst="roundRect">
            <a:avLst>
              <a:gd name="adj" fmla="val 19354"/>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854700" y="2540000"/>
            <a:ext cx="482600" cy="558800"/>
          </a:xfrm>
          <a:prstGeom prst="roundRect">
            <a:avLst>
              <a:gd name="adj" fmla="val 7894"/>
            </a:avLst>
          </a:prstGeom>
          <a:solidFill>
            <a:srgbClr val="EAF0FB"/>
          </a:solidFill>
          <a:ln w="2159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918200" y="26035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5969000" y="26606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191250" y="26416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5918200" y="27559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5969000" y="28130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191250" y="27940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5918200" y="2908300"/>
            <a:ext cx="355600" cy="114300"/>
          </a:xfrm>
          <a:prstGeom prst="roundRect">
            <a:avLst>
              <a:gd name="adj" fmla="val 11111"/>
            </a:avLst>
          </a:prstGeom>
          <a:solidFill>
            <a:srgbClr val="EAF0FB"/>
          </a:solidFill>
          <a:ln w="1397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a:off x="5969000" y="2965450"/>
            <a:ext cx="152400" cy="0"/>
          </a:xfrm>
          <a:prstGeom prst="line">
            <a:avLst/>
          </a:prstGeom>
          <a:ln w="13970">
            <a:solidFill>
              <a:srgbClr val="2762C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191250" y="2946400"/>
            <a:ext cx="38100" cy="381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324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RACK</a:t>
            </a:r>
          </a:p>
        </p:txBody>
      </p:sp>
      <p:sp>
        <p:nvSpPr>
          <p:cNvPr id="54" name="Rounded Rectangle 53"/>
          <p:cNvSpPr/>
          <p:nvPr/>
        </p:nvSpPr>
        <p:spPr>
          <a:xfrm>
            <a:off x="5257800" y="3873500"/>
            <a:ext cx="1676400" cy="368300"/>
          </a:xfrm>
          <a:prstGeom prst="roundRect">
            <a:avLst>
              <a:gd name="adj" fmla="val 1724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340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2762C8"/>
                </a:solidFill>
                <a:latin typeface="Courier New"/>
              </a:rPr>
              <a:t>rack-a</a:t>
            </a:r>
          </a:p>
        </p:txBody>
      </p:sp>
      <p:sp>
        <p:nvSpPr>
          <p:cNvPr id="56" name="Rounded Rectangle 55"/>
          <p:cNvSpPr/>
          <p:nvPr/>
        </p:nvSpPr>
        <p:spPr>
          <a:xfrm>
            <a:off x="73152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3152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7518400" y="2184400"/>
            <a:ext cx="1625600" cy="0"/>
          </a:xfrm>
          <a:prstGeom prst="line">
            <a:avLst/>
          </a:prstGeom>
          <a:ln w="31750">
            <a:solidFill>
              <a:srgbClr val="087F85"/>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937500" y="2425700"/>
            <a:ext cx="787400" cy="787400"/>
          </a:xfrm>
          <a:prstGeom prst="roundRect">
            <a:avLst>
              <a:gd name="adj" fmla="val 19354"/>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039100" y="2667000"/>
            <a:ext cx="584200" cy="317500"/>
          </a:xfrm>
          <a:prstGeom prst="roundRect">
            <a:avLst>
              <a:gd name="adj" fmla="val 16000"/>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1" name="Connector 60"/>
          <p:cNvCxnSpPr/>
          <p:nvPr/>
        </p:nvCxnSpPr>
        <p:spPr>
          <a:xfrm>
            <a:off x="8115300" y="27559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115300" y="28448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115300" y="2933700"/>
            <a:ext cx="241300" cy="0"/>
          </a:xfrm>
          <a:prstGeom prst="line">
            <a:avLst/>
          </a:prstGeom>
          <a:ln w="15240">
            <a:solidFill>
              <a:srgbClr val="087F8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8470900" y="2781300"/>
            <a:ext cx="76200" cy="76200"/>
          </a:xfrm>
          <a:prstGeom prst="ellipse">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Connector 64"/>
          <p:cNvCxnSpPr/>
          <p:nvPr/>
        </p:nvCxnSpPr>
        <p:spPr>
          <a:xfrm>
            <a:off x="8140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521700" y="3009900"/>
            <a:ext cx="0" cy="50800"/>
          </a:xfrm>
          <a:prstGeom prst="line">
            <a:avLst/>
          </a:prstGeom>
          <a:ln w="21590">
            <a:solidFill>
              <a:srgbClr val="087F8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74676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SERVER</a:t>
            </a:r>
          </a:p>
        </p:txBody>
      </p:sp>
      <p:sp>
        <p:nvSpPr>
          <p:cNvPr id="68" name="Rounded Rectangle 67"/>
          <p:cNvSpPr/>
          <p:nvPr/>
        </p:nvSpPr>
        <p:spPr>
          <a:xfrm>
            <a:off x="7493000" y="3873500"/>
            <a:ext cx="1676400" cy="368300"/>
          </a:xfrm>
          <a:prstGeom prst="roundRect">
            <a:avLst>
              <a:gd name="adj" fmla="val 1724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5692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087F85"/>
                </a:solidFill>
                <a:latin typeface="Courier New"/>
              </a:rPr>
              <a:t>server-01</a:t>
            </a:r>
          </a:p>
        </p:txBody>
      </p:sp>
      <p:sp>
        <p:nvSpPr>
          <p:cNvPr id="70" name="Rounded Rectangle 69"/>
          <p:cNvSpPr/>
          <p:nvPr/>
        </p:nvSpPr>
        <p:spPr>
          <a:xfrm>
            <a:off x="9550400" y="2222500"/>
            <a:ext cx="2032000" cy="2273300"/>
          </a:xfrm>
          <a:prstGeom prst="roundRect">
            <a:avLst>
              <a:gd name="adj" fmla="val 5625"/>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9550400" y="2171700"/>
            <a:ext cx="2032000" cy="2273300"/>
          </a:xfrm>
          <a:prstGeom prst="roundRect">
            <a:avLst>
              <a:gd name="adj" fmla="val 5625"/>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2" name="Connector 71"/>
          <p:cNvCxnSpPr/>
          <p:nvPr/>
        </p:nvCxnSpPr>
        <p:spPr>
          <a:xfrm>
            <a:off x="9753600" y="2184400"/>
            <a:ext cx="1625600" cy="0"/>
          </a:xfrm>
          <a:prstGeom prst="line">
            <a:avLst/>
          </a:prstGeom>
          <a:ln w="31750">
            <a:solidFill>
              <a:srgbClr val="CF0035"/>
            </a:solidFill>
          </a:ln>
        </p:spPr>
        <p:style>
          <a:lnRef idx="2">
            <a:schemeClr val="accent1"/>
          </a:lnRef>
          <a:fillRef idx="0">
            <a:schemeClr val="accent1"/>
          </a:fillRef>
          <a:effectRef idx="1">
            <a:schemeClr val="accent1"/>
          </a:effectRef>
          <a:fontRef idx="minor">
            <a:schemeClr val="tx1"/>
          </a:fontRef>
        </p:style>
      </p:cxnSp>
      <p:sp>
        <p:nvSpPr>
          <p:cNvPr id="73" name="Rounded Rectangle 72"/>
          <p:cNvSpPr/>
          <p:nvPr/>
        </p:nvSpPr>
        <p:spPr>
          <a:xfrm>
            <a:off x="10172700" y="2425700"/>
            <a:ext cx="787400" cy="787400"/>
          </a:xfrm>
          <a:prstGeom prst="roundRect">
            <a:avLst>
              <a:gd name="adj" fmla="val 19354"/>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flipH="1">
            <a:off x="102743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102743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10744200" y="25527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858500" y="25527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102743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743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858500" y="2959100"/>
            <a:ext cx="0" cy="1270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10744200" y="3086100"/>
            <a:ext cx="1143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04267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566400" y="2705100"/>
            <a:ext cx="139700" cy="20320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H="1">
            <a:off x="10426700" y="2908300"/>
            <a:ext cx="279400" cy="0"/>
          </a:xfrm>
          <a:prstGeom prst="line">
            <a:avLst/>
          </a:prstGeom>
          <a:ln w="17780">
            <a:solidFill>
              <a:srgbClr val="CF0035"/>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103759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0515600" y="26543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0655300" y="2857500"/>
            <a:ext cx="101600" cy="101600"/>
          </a:xfrm>
          <a:prstGeom prst="ellipse">
            <a:avLst/>
          </a:prstGeom>
          <a:solidFill>
            <a:srgbClr val="FBE9EE"/>
          </a:solidFill>
          <a:ln w="2159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702800" y="3416300"/>
            <a:ext cx="17272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CUSTOM</a:t>
            </a:r>
          </a:p>
        </p:txBody>
      </p:sp>
      <p:sp>
        <p:nvSpPr>
          <p:cNvPr id="89" name="Rounded Rectangle 88"/>
          <p:cNvSpPr/>
          <p:nvPr/>
        </p:nvSpPr>
        <p:spPr>
          <a:xfrm>
            <a:off x="9728200" y="3873500"/>
            <a:ext cx="1676400" cy="368300"/>
          </a:xfrm>
          <a:prstGeom prst="roundRect">
            <a:avLst>
              <a:gd name="adj" fmla="val 1724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804400" y="3949700"/>
            <a:ext cx="1524000" cy="254000"/>
          </a:xfrm>
          <a:prstGeom prst="rect">
            <a:avLst/>
          </a:prstGeom>
          <a:noFill/>
        </p:spPr>
        <p:txBody>
          <a:bodyPr wrap="none" lIns="0" rIns="0" tIns="0" bIns="0" anchor="t">
            <a:noAutofit/>
          </a:bodyPr>
          <a:lstStyle/>
          <a:p>
            <a:pPr algn="ctr">
              <a:lnSpc>
                <a:spcPts val="1600"/>
              </a:lnSpc>
              <a:spcBef>
                <a:spcPts val="0"/>
              </a:spcBef>
              <a:spcAft>
                <a:spcPts val="0"/>
              </a:spcAft>
            </a:pPr>
            <a:r>
              <a:rPr sz="1600" b="0">
                <a:solidFill>
                  <a:srgbClr val="CF0035"/>
                </a:solidFill>
                <a:latin typeface="Courier New"/>
              </a:rPr>
              <a:t>sovereign-a</a:t>
            </a:r>
          </a:p>
        </p:txBody>
      </p:sp>
      <p:sp>
        <p:nvSpPr>
          <p:cNvPr id="91" name="Rounded Rectangle 90"/>
          <p:cNvSpPr/>
          <p:nvPr/>
        </p:nvSpPr>
        <p:spPr>
          <a:xfrm>
            <a:off x="609600" y="4851400"/>
            <a:ext cx="10972800" cy="838200"/>
          </a:xfrm>
          <a:prstGeom prst="roundRect">
            <a:avLst>
              <a:gd name="adj" fmla="val 1363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image.png"/>
          <p:cNvPicPr>
            <a:picLocks noChangeAspect="1"/>
          </p:cNvPicPr>
          <p:nvPr/>
        </p:nvPicPr>
        <p:blipFill>
          <a:blip r:embed="rId2"/>
          <a:stretch>
            <a:fillRect/>
          </a:stretch>
        </p:blipFill>
        <p:spPr>
          <a:xfrm>
            <a:off x="876300" y="5041900"/>
            <a:ext cx="469900" cy="469900"/>
          </a:xfrm>
          <a:prstGeom prst="rect">
            <a:avLst/>
          </a:prstGeom>
        </p:spPr>
      </p:pic>
      <p:sp>
        <p:nvSpPr>
          <p:cNvPr id="93" name="TextBox 92"/>
          <p:cNvSpPr txBox="1"/>
          <p:nvPr/>
        </p:nvSpPr>
        <p:spPr>
          <a:xfrm>
            <a:off x="1562100" y="4991100"/>
            <a:ext cx="9715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Each tag identifies a k8gb cluster.</a:t>
            </a:r>
          </a:p>
        </p:txBody>
      </p:sp>
      <p:sp>
        <p:nvSpPr>
          <p:cNvPr id="94" name="TextBox 93"/>
          <p:cNvSpPr txBox="1"/>
          <p:nvPr/>
        </p:nvSpPr>
        <p:spPr>
          <a:xfrm>
            <a:off x="1562100" y="5372100"/>
            <a:ext cx="97155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B8C8D9"/>
                </a:solidFill>
                <a:latin typeface="Arial"/>
              </a:rPr>
              <a:t>Rack or server boundaries use independent clusters, including single-node clusters.</a:t>
            </a:r>
          </a:p>
        </p:txBody>
      </p:sp>
      <p:sp>
        <p:nvSpPr>
          <p:cNvPr id="95" name="Rounded Rectangle 94"/>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787400" y="5892800"/>
            <a:ext cx="10617200" cy="349250"/>
          </a:xfrm>
          <a:prstGeom prst="rect">
            <a:avLst/>
          </a:prstGeom>
          <a:noFill/>
        </p:spPr>
        <p:txBody>
          <a:bodyPr wrap="none" lIns="0" rIns="0" tIns="0" bIns="0" anchor="t">
            <a:noAutofit/>
          </a:bodyPr>
          <a:lstStyle/>
          <a:p>
            <a:pPr algn="ctr">
              <a:lnSpc>
                <a:spcPts val="2200"/>
              </a:lnSpc>
              <a:spcBef>
                <a:spcPts val="0"/>
              </a:spcBef>
              <a:spcAft>
                <a:spcPts val="0"/>
              </a:spcAft>
            </a:pPr>
            <a:r>
              <a:rPr sz="2200" b="1">
                <a:solidFill>
                  <a:srgbClr val="142338"/>
                </a:solidFill>
                <a:latin typeface="Arial"/>
              </a:rPr>
              <a:t>Choose boundaries that match your sovereignty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LIVE DEMO · A / EU → B / US → A / EU</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15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One hostname. Two clusters.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All local. Two application clusters represent different locations.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cxnSp>
        <p:nvCxnSpPr>
          <p:cNvPr id="10" name="Connector 9"/>
          <p:cNvCxnSpPr/>
          <p:nvPr/>
        </p:nvCxnSpPr>
        <p:spPr>
          <a:xfrm flipH="1">
            <a:off x="2844800" y="2590800"/>
            <a:ext cx="1346200" cy="0"/>
          </a:xfrm>
          <a:prstGeom prst="line">
            <a:avLst/>
          </a:prstGeom>
          <a:ln w="21590">
            <a:solidFill>
              <a:srgbClr val="83AD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4800" y="2590800"/>
            <a:ext cx="0" cy="914400"/>
          </a:xfrm>
          <a:prstGeom prst="line">
            <a:avLst/>
          </a:prstGeom>
          <a:ln w="21590">
            <a:solidFill>
              <a:srgbClr val="83AD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2590800"/>
            <a:ext cx="13462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347200" y="2590800"/>
            <a:ext cx="0" cy="914400"/>
          </a:xfrm>
          <a:prstGeom prst="line">
            <a:avLst/>
          </a:prstGeom>
          <a:ln w="21590">
            <a:solidFill>
              <a:srgbClr val="66CBC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9000" y="29845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NS delegation</a:t>
            </a:r>
          </a:p>
        </p:txBody>
      </p:sp>
      <p:sp>
        <p:nvSpPr>
          <p:cNvPr id="15" name="TextBox 14"/>
          <p:cNvSpPr txBox="1"/>
          <p:nvPr/>
        </p:nvSpPr>
        <p:spPr>
          <a:xfrm>
            <a:off x="9601200" y="29845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NS delegation</a:t>
            </a:r>
          </a:p>
        </p:txBody>
      </p:sp>
      <p:sp>
        <p:nvSpPr>
          <p:cNvPr id="16" name="Rounded Rectangle 15"/>
          <p:cNvSpPr/>
          <p:nvPr/>
        </p:nvSpPr>
        <p:spPr>
          <a:xfrm>
            <a:off x="4191000" y="2108200"/>
            <a:ext cx="3810000" cy="965200"/>
          </a:xfrm>
          <a:prstGeom prst="roundRect">
            <a:avLst>
              <a:gd name="adj" fmla="val 13157"/>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19600" y="23114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483100" y="23685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798060" y="23533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19600" y="24765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483100" y="25336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4798060" y="25184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19600" y="2641600"/>
            <a:ext cx="469900" cy="114300"/>
          </a:xfrm>
          <a:prstGeom prst="roundRect">
            <a:avLst>
              <a:gd name="adj" fmla="val 22222"/>
            </a:avLst>
          </a:prstGeom>
          <a:solidFill>
            <a:srgbClr val="1A3047"/>
          </a:solidFill>
          <a:ln w="1397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4483100" y="2698750"/>
            <a:ext cx="177800" cy="0"/>
          </a:xfrm>
          <a:prstGeom prst="line">
            <a:avLst/>
          </a:prstGeom>
          <a:ln w="12700">
            <a:solidFill>
              <a:srgbClr val="B8C8D9"/>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4798060" y="2683510"/>
            <a:ext cx="30480" cy="30480"/>
          </a:xfrm>
          <a:prstGeom prst="ellipse">
            <a:avLst/>
          </a:prstGeom>
          <a:solidFill>
            <a:srgbClr val="B8C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92700" y="2260600"/>
            <a:ext cx="26797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Local BIND9</a:t>
            </a:r>
          </a:p>
        </p:txBody>
      </p:sp>
      <p:sp>
        <p:nvSpPr>
          <p:cNvPr id="27" name="TextBox 26"/>
          <p:cNvSpPr txBox="1"/>
          <p:nvPr/>
        </p:nvSpPr>
        <p:spPr>
          <a:xfrm>
            <a:off x="5092700" y="2679700"/>
            <a:ext cx="26797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Parent DNS · example.com</a:t>
            </a:r>
          </a:p>
        </p:txBody>
      </p:sp>
      <p:sp>
        <p:nvSpPr>
          <p:cNvPr id="28" name="TextBox 27"/>
          <p:cNvSpPr txBox="1"/>
          <p:nvPr/>
        </p:nvSpPr>
        <p:spPr>
          <a:xfrm>
            <a:off x="4064000" y="3175000"/>
            <a:ext cx="40640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B8C8D9"/>
                </a:solidFill>
                <a:latin typeface="Arial"/>
              </a:rPr>
              <a:t>Delegates cloud.example.com</a:t>
            </a:r>
          </a:p>
        </p:txBody>
      </p:sp>
      <p:sp>
        <p:nvSpPr>
          <p:cNvPr id="29" name="Rounded Rectangle 28"/>
          <p:cNvSpPr/>
          <p:nvPr/>
        </p:nvSpPr>
        <p:spPr>
          <a:xfrm>
            <a:off x="6096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38200" y="3517900"/>
            <a:ext cx="4013200" cy="0"/>
          </a:xfrm>
          <a:prstGeom prst="line">
            <a:avLst/>
          </a:prstGeom>
          <a:ln w="30480">
            <a:solidFill>
              <a:srgbClr val="83ADFF"/>
            </a:solidFill>
          </a:ln>
        </p:spPr>
        <p:style>
          <a:lnRef idx="2">
            <a:schemeClr val="accent1"/>
          </a:lnRef>
          <a:fillRef idx="0">
            <a:schemeClr val="accent1"/>
          </a:fillRef>
          <a:effectRef idx="1">
            <a:schemeClr val="accent1"/>
          </a:effectRef>
          <a:fontRef idx="minor">
            <a:schemeClr val="tx1"/>
          </a:fontRef>
        </p:style>
      </p:cxnSp>
      <p:pic>
        <p:nvPicPr>
          <p:cNvPr id="31" name="Picture 30" descr="image.png"/>
          <p:cNvPicPr>
            <a:picLocks noChangeAspect="1"/>
          </p:cNvPicPr>
          <p:nvPr/>
        </p:nvPicPr>
        <p:blipFill>
          <a:blip r:embed="rId2"/>
          <a:stretch>
            <a:fillRect/>
          </a:stretch>
        </p:blipFill>
        <p:spPr>
          <a:xfrm>
            <a:off x="838200" y="3657600"/>
            <a:ext cx="469900" cy="469900"/>
          </a:xfrm>
          <a:prstGeom prst="rect">
            <a:avLst/>
          </a:prstGeom>
        </p:spPr>
      </p:pic>
      <p:sp>
        <p:nvSpPr>
          <p:cNvPr id="32" name="TextBox 31"/>
          <p:cNvSpPr txBox="1"/>
          <p:nvPr/>
        </p:nvSpPr>
        <p:spPr>
          <a:xfrm>
            <a:off x="14732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A</a:t>
            </a:r>
          </a:p>
        </p:txBody>
      </p:sp>
      <p:sp>
        <p:nvSpPr>
          <p:cNvPr id="33" name="Rounded Rectangle 32"/>
          <p:cNvSpPr/>
          <p:nvPr/>
        </p:nvSpPr>
        <p:spPr>
          <a:xfrm>
            <a:off x="3683000" y="3632200"/>
            <a:ext cx="1168400" cy="317500"/>
          </a:xfrm>
          <a:prstGeom prst="roundRect">
            <a:avLst>
              <a:gd name="adj" fmla="val 48000"/>
            </a:avLst>
          </a:prstGeom>
          <a:solidFill>
            <a:srgbClr val="243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465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83ADFF"/>
                </a:solidFill>
                <a:latin typeface="Arial"/>
              </a:rPr>
              <a:t>PRIMARY</a:t>
            </a:r>
          </a:p>
        </p:txBody>
      </p:sp>
      <p:sp>
        <p:nvSpPr>
          <p:cNvPr id="35" name="TextBox 34"/>
          <p:cNvSpPr txBox="1"/>
          <p:nvPr/>
        </p:nvSpPr>
        <p:spPr>
          <a:xfrm>
            <a:off x="14732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eu · primary application</a:t>
            </a:r>
          </a:p>
        </p:txBody>
      </p:sp>
      <p:cxnSp>
        <p:nvCxnSpPr>
          <p:cNvPr id="36" name="Connector 35"/>
          <p:cNvCxnSpPr/>
          <p:nvPr/>
        </p:nvCxnSpPr>
        <p:spPr>
          <a:xfrm>
            <a:off x="8636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863600" y="4487207"/>
            <a:ext cx="342899" cy="334685"/>
          </a:xfrm>
          <a:prstGeom prst="rect">
            <a:avLst/>
          </a:prstGeom>
        </p:spPr>
      </p:pic>
      <p:sp>
        <p:nvSpPr>
          <p:cNvPr id="38" name="TextBox 37"/>
          <p:cNvSpPr txBox="1"/>
          <p:nvPr/>
        </p:nvSpPr>
        <p:spPr>
          <a:xfrm>
            <a:off x="13208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39" name="Picture 38" descr="image.png"/>
          <p:cNvPicPr>
            <a:picLocks noChangeAspect="1"/>
          </p:cNvPicPr>
          <p:nvPr/>
        </p:nvPicPr>
        <p:blipFill>
          <a:blip r:embed="rId4"/>
          <a:stretch>
            <a:fillRect/>
          </a:stretch>
        </p:blipFill>
        <p:spPr>
          <a:xfrm>
            <a:off x="2755900" y="4483100"/>
            <a:ext cx="342900" cy="342900"/>
          </a:xfrm>
          <a:prstGeom prst="rect">
            <a:avLst/>
          </a:prstGeom>
        </p:spPr>
      </p:pic>
      <p:sp>
        <p:nvSpPr>
          <p:cNvPr id="40" name="TextBox 39"/>
          <p:cNvSpPr txBox="1"/>
          <p:nvPr/>
        </p:nvSpPr>
        <p:spPr>
          <a:xfrm>
            <a:off x="32131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41" name="Rounded Rectangle 40"/>
          <p:cNvSpPr/>
          <p:nvPr/>
        </p:nvSpPr>
        <p:spPr>
          <a:xfrm>
            <a:off x="8636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8636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1938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sp>
        <p:nvSpPr>
          <p:cNvPr id="44" name="Rounded Rectangle 43"/>
          <p:cNvSpPr/>
          <p:nvPr/>
        </p:nvSpPr>
        <p:spPr>
          <a:xfrm>
            <a:off x="7112000" y="3505200"/>
            <a:ext cx="4470400" cy="1727200"/>
          </a:xfrm>
          <a:prstGeom prst="roundRect">
            <a:avLst>
              <a:gd name="adj" fmla="val 7352"/>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7340600" y="3517900"/>
            <a:ext cx="4013200" cy="0"/>
          </a:xfrm>
          <a:prstGeom prst="line">
            <a:avLst/>
          </a:prstGeom>
          <a:ln w="30480">
            <a:solidFill>
              <a:srgbClr val="66CBC9"/>
            </a:solidFill>
          </a:ln>
        </p:spPr>
        <p:style>
          <a:lnRef idx="2">
            <a:schemeClr val="accent1"/>
          </a:lnRef>
          <a:fillRef idx="0">
            <a:schemeClr val="accent1"/>
          </a:fillRef>
          <a:effectRef idx="1">
            <a:schemeClr val="accent1"/>
          </a:effectRef>
          <a:fontRef idx="minor">
            <a:schemeClr val="tx1"/>
          </a:fontRef>
        </p:style>
      </p:cxnSp>
      <p:pic>
        <p:nvPicPr>
          <p:cNvPr id="46" name="Picture 45" descr="image.png"/>
          <p:cNvPicPr>
            <a:picLocks noChangeAspect="1"/>
          </p:cNvPicPr>
          <p:nvPr/>
        </p:nvPicPr>
        <p:blipFill>
          <a:blip r:embed="rId2"/>
          <a:stretch>
            <a:fillRect/>
          </a:stretch>
        </p:blipFill>
        <p:spPr>
          <a:xfrm>
            <a:off x="7340600" y="3657600"/>
            <a:ext cx="469900" cy="469900"/>
          </a:xfrm>
          <a:prstGeom prst="rect">
            <a:avLst/>
          </a:prstGeom>
        </p:spPr>
      </p:pic>
      <p:sp>
        <p:nvSpPr>
          <p:cNvPr id="47" name="TextBox 46"/>
          <p:cNvSpPr txBox="1"/>
          <p:nvPr/>
        </p:nvSpPr>
        <p:spPr>
          <a:xfrm>
            <a:off x="7975600" y="3644900"/>
            <a:ext cx="2159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FFFFFF"/>
                </a:solidFill>
                <a:latin typeface="Arial"/>
              </a:rPr>
              <a:t>CLUSTER B</a:t>
            </a:r>
          </a:p>
        </p:txBody>
      </p:sp>
      <p:sp>
        <p:nvSpPr>
          <p:cNvPr id="48" name="Rounded Rectangle 47"/>
          <p:cNvSpPr/>
          <p:nvPr/>
        </p:nvSpPr>
        <p:spPr>
          <a:xfrm>
            <a:off x="10185400" y="3632200"/>
            <a:ext cx="1168400" cy="317500"/>
          </a:xfrm>
          <a:prstGeom prst="roundRect">
            <a:avLst>
              <a:gd name="adj" fmla="val 48000"/>
            </a:avLst>
          </a:prstGeom>
          <a:solidFill>
            <a:srgbClr val="173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48900" y="3683000"/>
            <a:ext cx="10414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66CBC9"/>
                </a:solidFill>
                <a:latin typeface="Arial"/>
              </a:rPr>
              <a:t>SECONDARY</a:t>
            </a:r>
          </a:p>
        </p:txBody>
      </p:sp>
      <p:sp>
        <p:nvSpPr>
          <p:cNvPr id="50" name="TextBox 49"/>
          <p:cNvSpPr txBox="1"/>
          <p:nvPr/>
        </p:nvSpPr>
        <p:spPr>
          <a:xfrm>
            <a:off x="7975600" y="4025900"/>
            <a:ext cx="3251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Geotag us · secondary application</a:t>
            </a:r>
          </a:p>
        </p:txBody>
      </p:sp>
      <p:cxnSp>
        <p:nvCxnSpPr>
          <p:cNvPr id="51" name="Connector 50"/>
          <p:cNvCxnSpPr/>
          <p:nvPr/>
        </p:nvCxnSpPr>
        <p:spPr>
          <a:xfrm>
            <a:off x="7366000" y="4356100"/>
            <a:ext cx="39624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pic>
        <p:nvPicPr>
          <p:cNvPr id="52" name="Picture 51" descr="image.png"/>
          <p:cNvPicPr>
            <a:picLocks noChangeAspect="1"/>
          </p:cNvPicPr>
          <p:nvPr/>
        </p:nvPicPr>
        <p:blipFill>
          <a:blip r:embed="rId3"/>
          <a:stretch>
            <a:fillRect/>
          </a:stretch>
        </p:blipFill>
        <p:spPr>
          <a:xfrm>
            <a:off x="7366000" y="4487207"/>
            <a:ext cx="342899" cy="334685"/>
          </a:xfrm>
          <a:prstGeom prst="rect">
            <a:avLst/>
          </a:prstGeom>
        </p:spPr>
      </p:pic>
      <p:sp>
        <p:nvSpPr>
          <p:cNvPr id="53" name="TextBox 52"/>
          <p:cNvSpPr txBox="1"/>
          <p:nvPr/>
        </p:nvSpPr>
        <p:spPr>
          <a:xfrm>
            <a:off x="7823200" y="4521200"/>
            <a:ext cx="9144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k8gb</a:t>
            </a:r>
          </a:p>
        </p:txBody>
      </p:sp>
      <p:pic>
        <p:nvPicPr>
          <p:cNvPr id="54" name="Picture 53" descr="image.png"/>
          <p:cNvPicPr>
            <a:picLocks noChangeAspect="1"/>
          </p:cNvPicPr>
          <p:nvPr/>
        </p:nvPicPr>
        <p:blipFill>
          <a:blip r:embed="rId4"/>
          <a:stretch>
            <a:fillRect/>
          </a:stretch>
        </p:blipFill>
        <p:spPr>
          <a:xfrm>
            <a:off x="9258300" y="4483100"/>
            <a:ext cx="342900" cy="342900"/>
          </a:xfrm>
          <a:prstGeom prst="rect">
            <a:avLst/>
          </a:prstGeom>
        </p:spPr>
      </p:pic>
      <p:sp>
        <p:nvSpPr>
          <p:cNvPr id="55" name="TextBox 54"/>
          <p:cNvSpPr txBox="1"/>
          <p:nvPr/>
        </p:nvSpPr>
        <p:spPr>
          <a:xfrm>
            <a:off x="9715500" y="4521200"/>
            <a:ext cx="1612900" cy="286384"/>
          </a:xfrm>
          <a:prstGeom prst="rect">
            <a:avLst/>
          </a:prstGeom>
          <a:noFill/>
        </p:spPr>
        <p:txBody>
          <a:bodyPr wrap="none" lIns="0" rIns="0" tIns="0" bIns="0" anchor="t">
            <a:noAutofit/>
          </a:bodyPr>
          <a:lstStyle/>
          <a:p>
            <a:pPr algn="l">
              <a:lnSpc>
                <a:spcPts val="1954"/>
              </a:lnSpc>
              <a:spcBef>
                <a:spcPts val="0"/>
              </a:spcBef>
              <a:spcAft>
                <a:spcPts val="0"/>
              </a:spcAft>
            </a:pPr>
            <a:r>
              <a:rPr sz="1700" b="1">
                <a:solidFill>
                  <a:srgbClr val="FFFFFF"/>
                </a:solidFill>
                <a:latin typeface="Arial"/>
              </a:rPr>
              <a:t>CoreDNS</a:t>
            </a:r>
          </a:p>
        </p:txBody>
      </p:sp>
      <p:sp>
        <p:nvSpPr>
          <p:cNvPr id="56" name="Rounded Rectangle 55"/>
          <p:cNvSpPr/>
          <p:nvPr/>
        </p:nvSpPr>
        <p:spPr>
          <a:xfrm>
            <a:off x="7366000" y="4927600"/>
            <a:ext cx="215900" cy="152400"/>
          </a:xfrm>
          <a:prstGeom prst="roundRect">
            <a:avLst>
              <a:gd name="adj" fmla="val 16666"/>
            </a:avLst>
          </a:prstGeom>
          <a:solidFill>
            <a:srgbClr val="1A3047"/>
          </a:solidFill>
          <a:ln w="1143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a:off x="7366000" y="4978400"/>
            <a:ext cx="215900" cy="0"/>
          </a:xfrm>
          <a:prstGeom prst="line">
            <a:avLst/>
          </a:prstGeom>
          <a:ln w="10160">
            <a:solidFill>
              <a:srgbClr val="B8C8D9"/>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7696200" y="4889500"/>
            <a:ext cx="36322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B8C8D9"/>
                </a:solidFill>
                <a:latin typeface="Arial"/>
              </a:rPr>
              <a:t>podinfo application · Ingress</a:t>
            </a:r>
          </a:p>
        </p:txBody>
      </p:sp>
      <p:cxnSp>
        <p:nvCxnSpPr>
          <p:cNvPr id="59" name="Connector 58"/>
          <p:cNvCxnSpPr/>
          <p:nvPr/>
        </p:nvCxnSpPr>
        <p:spPr>
          <a:xfrm flipH="1">
            <a:off x="2844800" y="5689600"/>
            <a:ext cx="1346200" cy="0"/>
          </a:xfrm>
          <a:prstGeom prst="line">
            <a:avLst/>
          </a:prstGeom>
          <a:ln w="19050">
            <a:solidFill>
              <a:srgbClr val="83ADFF"/>
            </a:solidFill>
            <a:prstDash val="dash"/>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2844800" y="5232400"/>
            <a:ext cx="0" cy="457200"/>
          </a:xfrm>
          <a:prstGeom prst="line">
            <a:avLst/>
          </a:prstGeom>
          <a:ln w="19050">
            <a:solidFill>
              <a:srgbClr val="83ADF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001000" y="5689600"/>
            <a:ext cx="1346200" cy="0"/>
          </a:xfrm>
          <a:prstGeom prst="line">
            <a:avLst/>
          </a:prstGeom>
          <a:ln w="19050">
            <a:solidFill>
              <a:srgbClr val="66CBC9"/>
            </a:solidFill>
            <a:prstDash val="dash"/>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9347200" y="5232400"/>
            <a:ext cx="0" cy="457200"/>
          </a:xfrm>
          <a:prstGeom prst="line">
            <a:avLst/>
          </a:prstGeom>
          <a:ln w="19050">
            <a:solidFill>
              <a:srgbClr val="66CBC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863600" y="5511800"/>
            <a:ext cx="1701800" cy="213359"/>
          </a:xfrm>
          <a:prstGeom prst="rect">
            <a:avLst/>
          </a:prstGeom>
          <a:noFill/>
        </p:spPr>
        <p:txBody>
          <a:bodyPr wrap="none" lIns="0" rIns="0" tIns="0" bIns="0" anchor="t">
            <a:noAutofit/>
          </a:bodyPr>
          <a:lstStyle/>
          <a:p>
            <a:pPr algn="r">
              <a:lnSpc>
                <a:spcPts val="1380"/>
              </a:lnSpc>
              <a:spcBef>
                <a:spcPts val="0"/>
              </a:spcBef>
              <a:spcAft>
                <a:spcPts val="0"/>
              </a:spcAft>
            </a:pPr>
            <a:r>
              <a:rPr sz="1200" b="0">
                <a:solidFill>
                  <a:srgbClr val="83ADFF"/>
                </a:solidFill>
                <a:latin typeface="Arial"/>
              </a:rPr>
              <a:t>DNS + HTTP</a:t>
            </a:r>
          </a:p>
        </p:txBody>
      </p:sp>
      <p:sp>
        <p:nvSpPr>
          <p:cNvPr id="64" name="TextBox 63"/>
          <p:cNvSpPr txBox="1"/>
          <p:nvPr/>
        </p:nvSpPr>
        <p:spPr>
          <a:xfrm>
            <a:off x="9626600" y="5511800"/>
            <a:ext cx="17018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66CBC9"/>
                </a:solidFill>
                <a:latin typeface="Arial"/>
              </a:rPr>
              <a:t>DNS + HTTP</a:t>
            </a:r>
          </a:p>
        </p:txBody>
      </p:sp>
      <p:sp>
        <p:nvSpPr>
          <p:cNvPr id="65" name="Rounded Rectangle 64"/>
          <p:cNvSpPr/>
          <p:nvPr/>
        </p:nvSpPr>
        <p:spPr>
          <a:xfrm>
            <a:off x="4191000" y="5397500"/>
            <a:ext cx="3810000" cy="622300"/>
          </a:xfrm>
          <a:prstGeom prst="roundRect">
            <a:avLst>
              <a:gd name="adj" fmla="val 1632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4406900" y="5524500"/>
            <a:ext cx="444500" cy="342900"/>
          </a:xfrm>
          <a:prstGeom prst="roundRect">
            <a:avLst>
              <a:gd name="adj" fmla="val 14814"/>
            </a:avLst>
          </a:prstGeom>
          <a:solidFill>
            <a:srgbClr val="1A3047"/>
          </a:solidFill>
          <a:ln w="15240">
            <a:solidFill>
              <a:srgbClr val="B8C8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7" name="Connector 66"/>
          <p:cNvCxnSpPr/>
          <p:nvPr/>
        </p:nvCxnSpPr>
        <p:spPr>
          <a:xfrm>
            <a:off x="4495800" y="56134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495800" y="5676900"/>
            <a:ext cx="63500" cy="6350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4610100" y="5740400"/>
            <a:ext cx="127000" cy="0"/>
          </a:xfrm>
          <a:prstGeom prst="line">
            <a:avLst/>
          </a:prstGeom>
          <a:ln w="21590">
            <a:solidFill>
              <a:srgbClr val="66CBC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041900" y="5461000"/>
            <a:ext cx="2730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FFFFFF"/>
                </a:solidFill>
                <a:latin typeface="Arial"/>
              </a:rPr>
              <a:t>CLI dashboard</a:t>
            </a:r>
          </a:p>
        </p:txBody>
      </p:sp>
      <p:sp>
        <p:nvSpPr>
          <p:cNvPr id="71" name="TextBox 70"/>
          <p:cNvSpPr txBox="1"/>
          <p:nvPr/>
        </p:nvSpPr>
        <p:spPr>
          <a:xfrm>
            <a:off x="5041900" y="5765800"/>
            <a:ext cx="27305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B8C8D9"/>
                </a:solidFill>
                <a:latin typeface="Arial"/>
              </a:rPr>
              <a:t>DNS · cache · HTTP responses</a:t>
            </a:r>
          </a:p>
        </p:txBody>
      </p:sp>
      <p:sp>
        <p:nvSpPr>
          <p:cNvPr id="72" name="TextBox 71"/>
          <p:cNvSpPr txBox="1"/>
          <p:nvPr/>
        </p:nvSpPr>
        <p:spPr>
          <a:xfrm>
            <a:off x="609600" y="6134100"/>
            <a:ext cx="10972800" cy="254000"/>
          </a:xfrm>
          <a:prstGeom prst="rect">
            <a:avLst/>
          </a:prstGeom>
          <a:noFill/>
        </p:spPr>
        <p:txBody>
          <a:bodyPr wrap="none" lIns="0" rIns="0" tIns="0" bIns="0" anchor="t">
            <a:noAutofit/>
          </a:bodyPr>
          <a:lstStyle/>
          <a:p>
            <a:pPr algn="ctr">
              <a:lnSpc>
                <a:spcPts val="1600"/>
              </a:lnSpc>
              <a:spcBef>
                <a:spcPts val="0"/>
              </a:spcBef>
              <a:spcAft>
                <a:spcPts val="0"/>
              </a:spcAft>
            </a:pPr>
            <a:r>
              <a:rPr sz="1600" b="1">
                <a:solidFill>
                  <a:srgbClr val="FFFFFF"/>
                </a:solidFill>
                <a:latin typeface="Arial"/>
              </a:rPr>
              <a:t>Observe A → remove A’s ready targets → watch B → restore 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01</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16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Normal operation: both authorities prefer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Both applications are ready. Cluster A is the preferred target.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02</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17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loses ready targets: publish 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unready; its DNS authority is still available.</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CF0035"/>
                </a:solidFill>
                <a:latin typeface="Arial"/>
              </a:rPr>
              <a:t>UNREADY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25" name="Oval 24"/>
          <p:cNvSpPr/>
          <p:nvPr/>
        </p:nvSpPr>
        <p:spPr>
          <a:xfrm>
            <a:off x="45847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B IPs</a:t>
            </a:r>
          </a:p>
        </p:txBody>
      </p:sp>
      <p:sp>
        <p:nvSpPr>
          <p:cNvPr id="42" name="Oval 41"/>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DEMO RECAP · 03</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18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recovers: the strategy returns to A</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A’s application is ready again. The primary preference returns.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9000" y="2146300"/>
            <a:ext cx="4343400" cy="0"/>
          </a:xfrm>
          <a:prstGeom prst="line">
            <a:avLst/>
          </a:prstGeom>
          <a:ln w="38100">
            <a:solidFill>
              <a:srgbClr val="2762C8"/>
            </a:solidFill>
          </a:ln>
        </p:spPr>
        <p:style>
          <a:lnRef idx="2">
            <a:schemeClr val="accent1"/>
          </a:lnRef>
          <a:fillRef idx="0">
            <a:schemeClr val="accent1"/>
          </a:fillRef>
          <a:effectRef idx="1">
            <a:schemeClr val="accent1"/>
          </a:effectRef>
          <a:fontRef idx="minor">
            <a:schemeClr val="tx1"/>
          </a:fontRef>
        </p:style>
      </p:cxnSp>
      <p:pic>
        <p:nvPicPr>
          <p:cNvPr id="13" name="Picture 12" descr="image.png"/>
          <p:cNvPicPr>
            <a:picLocks noChangeAspect="1"/>
          </p:cNvPicPr>
          <p:nvPr/>
        </p:nvPicPr>
        <p:blipFill>
          <a:blip r:embed="rId2"/>
          <a:stretch>
            <a:fillRect/>
          </a:stretch>
        </p:blipFill>
        <p:spPr>
          <a:xfrm>
            <a:off x="889000" y="2413000"/>
            <a:ext cx="546100" cy="546100"/>
          </a:xfrm>
          <a:prstGeom prst="rect">
            <a:avLst/>
          </a:prstGeom>
        </p:spPr>
      </p:pic>
      <p:sp>
        <p:nvSpPr>
          <p:cNvPr id="14" name="TextBox 13"/>
          <p:cNvSpPr txBox="1"/>
          <p:nvPr/>
        </p:nvSpPr>
        <p:spPr>
          <a:xfrm>
            <a:off x="16129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2762C8"/>
                </a:solidFill>
                <a:latin typeface="Arial"/>
              </a:rPr>
              <a:t>CLUSTER A</a:t>
            </a:r>
          </a:p>
        </p:txBody>
      </p:sp>
      <p:sp>
        <p:nvSpPr>
          <p:cNvPr id="15" name="TextBox 14"/>
          <p:cNvSpPr txBox="1"/>
          <p:nvPr/>
        </p:nvSpPr>
        <p:spPr>
          <a:xfrm>
            <a:off x="16129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PRIMARY APPLICATION</a:t>
            </a:r>
          </a:p>
        </p:txBody>
      </p:sp>
      <p:sp>
        <p:nvSpPr>
          <p:cNvPr id="16" name="TextBox 15"/>
          <p:cNvSpPr txBox="1"/>
          <p:nvPr/>
        </p:nvSpPr>
        <p:spPr>
          <a:xfrm>
            <a:off x="8890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17" name="Rounded Rectangle 16"/>
          <p:cNvSpPr/>
          <p:nvPr/>
        </p:nvSpPr>
        <p:spPr>
          <a:xfrm>
            <a:off x="38100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735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19" name="Connector 18"/>
          <p:cNvCxnSpPr/>
          <p:nvPr/>
        </p:nvCxnSpPr>
        <p:spPr>
          <a:xfrm>
            <a:off x="8890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20" name="Picture 19" descr="image.png"/>
          <p:cNvPicPr>
            <a:picLocks noChangeAspect="1"/>
          </p:cNvPicPr>
          <p:nvPr/>
        </p:nvPicPr>
        <p:blipFill>
          <a:blip r:embed="rId3"/>
          <a:stretch>
            <a:fillRect/>
          </a:stretch>
        </p:blipFill>
        <p:spPr>
          <a:xfrm>
            <a:off x="889000" y="3898900"/>
            <a:ext cx="431800" cy="431800"/>
          </a:xfrm>
          <a:prstGeom prst="rect">
            <a:avLst/>
          </a:prstGeom>
        </p:spPr>
      </p:pic>
      <p:sp>
        <p:nvSpPr>
          <p:cNvPr id="21" name="TextBox 20"/>
          <p:cNvSpPr txBox="1"/>
          <p:nvPr/>
        </p:nvSpPr>
        <p:spPr>
          <a:xfrm>
            <a:off x="14732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22" name="Rounded Rectangle 21"/>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24" name="TextBox 23"/>
          <p:cNvSpPr txBox="1"/>
          <p:nvPr/>
        </p:nvSpPr>
        <p:spPr>
          <a:xfrm>
            <a:off x="10922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25" name="Oval 24"/>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27" name="Rounded Rectangle 26"/>
          <p:cNvSpPr/>
          <p:nvPr/>
        </p:nvSpPr>
        <p:spPr>
          <a:xfrm>
            <a:off x="6680200" y="2184400"/>
            <a:ext cx="4902200" cy="3251200"/>
          </a:xfrm>
          <a:prstGeom prst="roundRect">
            <a:avLst>
              <a:gd name="adj" fmla="val 3906"/>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680200" y="2133600"/>
            <a:ext cx="4902200" cy="3251200"/>
          </a:xfrm>
          <a:prstGeom prst="roundRect">
            <a:avLst>
              <a:gd name="adj" fmla="val 3906"/>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959600" y="2146300"/>
            <a:ext cx="4343400" cy="0"/>
          </a:xfrm>
          <a:prstGeom prst="line">
            <a:avLst/>
          </a:prstGeom>
          <a:ln w="38100">
            <a:solidFill>
              <a:srgbClr val="087F85"/>
            </a:solidFill>
          </a:ln>
        </p:spPr>
        <p:style>
          <a:lnRef idx="2">
            <a:schemeClr val="accent1"/>
          </a:lnRef>
          <a:fillRef idx="0">
            <a:schemeClr val="accent1"/>
          </a:fillRef>
          <a:effectRef idx="1">
            <a:schemeClr val="accent1"/>
          </a:effectRef>
          <a:fontRef idx="minor">
            <a:schemeClr val="tx1"/>
          </a:fontRef>
        </p:style>
      </p:cxnSp>
      <p:pic>
        <p:nvPicPr>
          <p:cNvPr id="30" name="Picture 29" descr="image.png"/>
          <p:cNvPicPr>
            <a:picLocks noChangeAspect="1"/>
          </p:cNvPicPr>
          <p:nvPr/>
        </p:nvPicPr>
        <p:blipFill>
          <a:blip r:embed="rId2"/>
          <a:stretch>
            <a:fillRect/>
          </a:stretch>
        </p:blipFill>
        <p:spPr>
          <a:xfrm>
            <a:off x="6959600" y="2413000"/>
            <a:ext cx="546100" cy="546100"/>
          </a:xfrm>
          <a:prstGeom prst="rect">
            <a:avLst/>
          </a:prstGeom>
        </p:spPr>
      </p:pic>
      <p:sp>
        <p:nvSpPr>
          <p:cNvPr id="31" name="TextBox 30"/>
          <p:cNvSpPr txBox="1"/>
          <p:nvPr/>
        </p:nvSpPr>
        <p:spPr>
          <a:xfrm>
            <a:off x="7683500" y="23876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087F85"/>
                </a:solidFill>
                <a:latin typeface="Arial"/>
              </a:rPr>
              <a:t>CLUSTER B</a:t>
            </a:r>
          </a:p>
        </p:txBody>
      </p:sp>
      <p:sp>
        <p:nvSpPr>
          <p:cNvPr id="32" name="TextBox 31"/>
          <p:cNvSpPr txBox="1"/>
          <p:nvPr/>
        </p:nvSpPr>
        <p:spPr>
          <a:xfrm>
            <a:off x="7683500" y="2857500"/>
            <a:ext cx="36195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SECONDARY APPLICATION</a:t>
            </a:r>
          </a:p>
        </p:txBody>
      </p:sp>
      <p:sp>
        <p:nvSpPr>
          <p:cNvPr id="33" name="TextBox 32"/>
          <p:cNvSpPr txBox="1"/>
          <p:nvPr/>
        </p:nvSpPr>
        <p:spPr>
          <a:xfrm>
            <a:off x="6959600" y="3340100"/>
            <a:ext cx="2717800" cy="227965"/>
          </a:xfrm>
          <a:prstGeom prst="rect">
            <a:avLst/>
          </a:prstGeom>
          <a:noFill/>
        </p:spPr>
        <p:txBody>
          <a:bodyPr wrap="none" lIns="0" rIns="0" tIns="0" bIns="0" anchor="t">
            <a:noAutofit/>
          </a:bodyPr>
          <a:lstStyle/>
          <a:p>
            <a:pPr algn="l">
              <a:lnSpc>
                <a:spcPts val="1495"/>
              </a:lnSpc>
              <a:spcBef>
                <a:spcPts val="0"/>
              </a:spcBef>
              <a:spcAft>
                <a:spcPts val="0"/>
              </a:spcAft>
            </a:pPr>
            <a:r>
              <a:rPr sz="1300" b="1">
                <a:solidFill>
                  <a:srgbClr val="5D6F82"/>
                </a:solidFill>
                <a:latin typeface="Arial"/>
              </a:rPr>
              <a:t>LOCAL WORKLOAD</a:t>
            </a:r>
          </a:p>
        </p:txBody>
      </p:sp>
      <p:sp>
        <p:nvSpPr>
          <p:cNvPr id="34" name="Rounded Rectangle 33"/>
          <p:cNvSpPr/>
          <p:nvPr/>
        </p:nvSpPr>
        <p:spPr>
          <a:xfrm>
            <a:off x="9880600" y="32512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44100" y="3302000"/>
            <a:ext cx="1295400" cy="222250"/>
          </a:xfrm>
          <a:prstGeom prst="rect">
            <a:avLst/>
          </a:prstGeom>
          <a:noFill/>
        </p:spPr>
        <p:txBody>
          <a:bodyPr wrap="none" lIns="0" rIns="0" tIns="0" bIns="0" anchor="t">
            <a:noAutofit/>
          </a:bodyPr>
          <a:lstStyle/>
          <a:p>
            <a:pPr algn="ctr">
              <a:lnSpc>
                <a:spcPts val="1400"/>
              </a:lnSpc>
              <a:spcBef>
                <a:spcPts val="0"/>
              </a:spcBef>
              <a:spcAft>
                <a:spcPts val="0"/>
              </a:spcAft>
            </a:pPr>
            <a:r>
              <a:rPr sz="1400" b="1">
                <a:solidFill>
                  <a:srgbClr val="177C58"/>
                </a:solidFill>
                <a:latin typeface="Arial"/>
              </a:rPr>
              <a:t>READY</a:t>
            </a:r>
          </a:p>
        </p:txBody>
      </p:sp>
      <p:cxnSp>
        <p:nvCxnSpPr>
          <p:cNvPr id="36" name="Connector 35"/>
          <p:cNvCxnSpPr/>
          <p:nvPr/>
        </p:nvCxnSpPr>
        <p:spPr>
          <a:xfrm>
            <a:off x="6959600" y="3759200"/>
            <a:ext cx="43434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pic>
        <p:nvPicPr>
          <p:cNvPr id="37" name="Picture 36" descr="image.png"/>
          <p:cNvPicPr>
            <a:picLocks noChangeAspect="1"/>
          </p:cNvPicPr>
          <p:nvPr/>
        </p:nvPicPr>
        <p:blipFill>
          <a:blip r:embed="rId3"/>
          <a:stretch>
            <a:fillRect/>
          </a:stretch>
        </p:blipFill>
        <p:spPr>
          <a:xfrm>
            <a:off x="6959600" y="3898900"/>
            <a:ext cx="431800" cy="431800"/>
          </a:xfrm>
          <a:prstGeom prst="rect">
            <a:avLst/>
          </a:prstGeom>
        </p:spPr>
      </p:pic>
      <p:sp>
        <p:nvSpPr>
          <p:cNvPr id="38" name="TextBox 37"/>
          <p:cNvSpPr txBox="1"/>
          <p:nvPr/>
        </p:nvSpPr>
        <p:spPr>
          <a:xfrm>
            <a:off x="7543800" y="3937000"/>
            <a:ext cx="37592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CoreDNS answer</a:t>
            </a:r>
          </a:p>
        </p:txBody>
      </p:sp>
      <p:sp>
        <p:nvSpPr>
          <p:cNvPr id="39" name="Rounded Rectangle 38"/>
          <p:cNvSpPr/>
          <p:nvPr/>
        </p:nvSpPr>
        <p:spPr>
          <a:xfrm>
            <a:off x="69596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APPLICATION TARGET</a:t>
            </a:r>
          </a:p>
        </p:txBody>
      </p:sp>
      <p:sp>
        <p:nvSpPr>
          <p:cNvPr id="41" name="TextBox 40"/>
          <p:cNvSpPr txBox="1"/>
          <p:nvPr/>
        </p:nvSpPr>
        <p:spPr>
          <a:xfrm>
            <a:off x="7162800" y="4800600"/>
            <a:ext cx="3048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142338"/>
                </a:solidFill>
                <a:latin typeface="Arial"/>
              </a:rPr>
              <a:t>Cluster A IPs</a:t>
            </a:r>
          </a:p>
        </p:txBody>
      </p:sp>
      <p:sp>
        <p:nvSpPr>
          <p:cNvPr id="42" name="Oval 41"/>
          <p:cNvSpPr/>
          <p:nvPr/>
        </p:nvSpPr>
        <p:spPr>
          <a:xfrm>
            <a:off x="106553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cxnSp>
        <p:nvCxnSpPr>
          <p:cNvPr id="44" name="Connector 43"/>
          <p:cNvCxnSpPr/>
          <p:nvPr/>
        </p:nvCxnSpPr>
        <p:spPr>
          <a:xfrm>
            <a:off x="5511800" y="3568700"/>
            <a:ext cx="1168400" cy="0"/>
          </a:xfrm>
          <a:prstGeom prst="line">
            <a:avLst/>
          </a:prstGeom>
          <a:ln w="19050">
            <a:solidFill>
              <a:srgbClr val="5D6F82"/>
            </a:solidFill>
            <a:prstDash val="dash"/>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511800" y="3035300"/>
            <a:ext cx="1168400" cy="388620"/>
          </a:xfrm>
          <a:prstGeom prst="rect">
            <a:avLst/>
          </a:prstGeom>
          <a:noFill/>
        </p:spPr>
        <p:txBody>
          <a:bodyPr wrap="none" lIns="0" rIns="0" tIns="0" bIns="0" anchor="t">
            <a:noAutofit/>
          </a:bodyPr>
          <a:lstStyle/>
          <a:p>
            <a:pPr algn="ctr">
              <a:lnSpc>
                <a:spcPts val="1380"/>
              </a:lnSpc>
              <a:spcBef>
                <a:spcPts val="0"/>
              </a:spcBef>
              <a:spcAft>
                <a:spcPts val="0"/>
              </a:spcAft>
            </a:pPr>
            <a:r>
              <a:rPr sz="1200" b="1">
                <a:solidFill>
                  <a:srgbClr val="5D6F82"/>
                </a:solidFill>
                <a:latin typeface="Arial"/>
              </a:rPr>
              <a:t>Peer health</a:t>
            </a:r>
          </a:p>
          <a:p>
            <a:pPr algn="ctr">
              <a:lnSpc>
                <a:spcPts val="1380"/>
              </a:lnSpc>
              <a:spcBef>
                <a:spcPts val="0"/>
              </a:spcBef>
              <a:spcAft>
                <a:spcPts val="0"/>
              </a:spcAft>
            </a:pPr>
            <a:r>
              <a:rPr sz="1200" b="1">
                <a:solidFill>
                  <a:srgbClr val="5D6F82"/>
                </a:solidFill>
                <a:latin typeface="Arial"/>
              </a:rPr>
              <a:t>via DNS</a:t>
            </a:r>
          </a:p>
        </p:txBody>
      </p:sp>
      <p:sp>
        <p:nvSpPr>
          <p:cNvPr id="46" name="TextBox 45"/>
          <p:cNvSpPr txBox="1"/>
          <p:nvPr/>
        </p:nvSpPr>
        <p:spPr>
          <a:xfrm>
            <a:off x="609600" y="5524500"/>
            <a:ext cx="10972800" cy="213359"/>
          </a:xfrm>
          <a:prstGeom prst="rect">
            <a:avLst/>
          </a:prstGeom>
          <a:noFill/>
        </p:spPr>
        <p:txBody>
          <a:bodyPr wrap="none" lIns="0" rIns="0" tIns="0" bIns="0" anchor="t">
            <a:noAutofit/>
          </a:bodyPr>
          <a:lstStyle/>
          <a:p>
            <a:pPr algn="ctr">
              <a:lnSpc>
                <a:spcPts val="1380"/>
              </a:lnSpc>
              <a:spcBef>
                <a:spcPts val="0"/>
              </a:spcBef>
              <a:spcAft>
                <a:spcPts val="0"/>
              </a:spcAft>
            </a:pPr>
            <a:r>
              <a:rPr sz="1200" b="0">
                <a:solidFill>
                  <a:srgbClr val="5D6F82"/>
                </a:solidFill>
                <a:latin typeface="Arial"/>
              </a:rPr>
              <a:t>Each k8gb controller queries peer CoreDNS.</a:t>
            </a:r>
          </a:p>
        </p:txBody>
      </p:sp>
      <p:sp>
        <p:nvSpPr>
          <p:cNvPr id="47" name="Rounded Rectangle 46"/>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7400" y="5892800"/>
            <a:ext cx="10617200" cy="301625"/>
          </a:xfrm>
          <a:prstGeom prst="rect">
            <a:avLst/>
          </a:prstGeom>
          <a:noFill/>
        </p:spPr>
        <p:txBody>
          <a:bodyPr wrap="none" lIns="0" rIns="0" tIns="0" bIns="0" anchor="t">
            <a:noAutofit/>
          </a:bodyPr>
          <a:lstStyle/>
          <a:p>
            <a:pPr algn="ctr">
              <a:lnSpc>
                <a:spcPts val="1900"/>
              </a:lnSpc>
              <a:spcBef>
                <a:spcPts val="0"/>
              </a:spcBef>
              <a:spcAft>
                <a:spcPts val="0"/>
              </a:spcAft>
            </a:pPr>
            <a:r>
              <a:rPr sz="1900" b="1">
                <a:solidFill>
                  <a:srgbClr val="142338"/>
                </a:solidFill>
                <a:latin typeface="Arial"/>
              </a:rPr>
              <a:t>Both authorities agree after reconciliation; client caches may lag.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PART 2 · OPERATING K8GB</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19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A new DNS answer is not an instant switch</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Detection, DNS publication and client recovery happen at different times.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cxnSp>
        <p:nvCxnSpPr>
          <p:cNvPr id="10" name="Connector 9"/>
          <p:cNvCxnSpPr/>
          <p:nvPr/>
        </p:nvCxnSpPr>
        <p:spPr>
          <a:xfrm>
            <a:off x="1828800" y="3556000"/>
            <a:ext cx="5689600" cy="0"/>
          </a:xfrm>
          <a:prstGeom prst="line">
            <a:avLst/>
          </a:prstGeom>
          <a:ln w="38100">
            <a:solidFill>
              <a:srgbClr val="DAE2E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518400" y="3556000"/>
            <a:ext cx="2844800" cy="0"/>
          </a:xfrm>
          <a:prstGeom prst="line">
            <a:avLst/>
          </a:prstGeom>
          <a:ln w="25400">
            <a:solidFill>
              <a:srgbClr val="087F8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96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CF0035"/>
                </a:solidFill>
                <a:latin typeface="Arial"/>
              </a:rPr>
              <a:t>FAILURE</a:t>
            </a:r>
          </a:p>
        </p:txBody>
      </p:sp>
      <p:sp>
        <p:nvSpPr>
          <p:cNvPr id="13" name="Rounded Rectangle 12"/>
          <p:cNvSpPr/>
          <p:nvPr/>
        </p:nvSpPr>
        <p:spPr>
          <a:xfrm>
            <a:off x="1447800" y="2489200"/>
            <a:ext cx="762000" cy="736600"/>
          </a:xfrm>
          <a:prstGeom prst="roundRect">
            <a:avLst>
              <a:gd name="adj" fmla="val 20689"/>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689100" y="3416300"/>
            <a:ext cx="279400" cy="27940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637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01</a:t>
            </a:r>
          </a:p>
        </p:txBody>
      </p:sp>
      <p:sp>
        <p:nvSpPr>
          <p:cNvPr id="16" name="TextBox 15"/>
          <p:cNvSpPr txBox="1"/>
          <p:nvPr/>
        </p:nvSpPr>
        <p:spPr>
          <a:xfrm>
            <a:off x="6096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Workload or</a:t>
            </a:r>
          </a:p>
          <a:p>
            <a:pPr algn="ctr">
              <a:lnSpc>
                <a:spcPts val="2500"/>
              </a:lnSpc>
              <a:spcBef>
                <a:spcPts val="0"/>
              </a:spcBef>
              <a:spcAft>
                <a:spcPts val="0"/>
              </a:spcAft>
            </a:pPr>
            <a:r>
              <a:rPr sz="2000" b="0">
                <a:solidFill>
                  <a:srgbClr val="142338"/>
                </a:solidFill>
                <a:latin typeface="Arial"/>
              </a:rPr>
              <a:t>cluster fails</a:t>
            </a:r>
          </a:p>
        </p:txBody>
      </p:sp>
      <p:sp>
        <p:nvSpPr>
          <p:cNvPr id="17" name="TextBox 16"/>
          <p:cNvSpPr txBox="1"/>
          <p:nvPr/>
        </p:nvSpPr>
        <p:spPr>
          <a:xfrm>
            <a:off x="34544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2762C8"/>
                </a:solidFill>
                <a:latin typeface="Arial"/>
              </a:rPr>
              <a:t>DETECTION</a:t>
            </a:r>
          </a:p>
        </p:txBody>
      </p:sp>
      <p:sp>
        <p:nvSpPr>
          <p:cNvPr id="18" name="Rounded Rectangle 17"/>
          <p:cNvSpPr/>
          <p:nvPr/>
        </p:nvSpPr>
        <p:spPr>
          <a:xfrm>
            <a:off x="4292600" y="2489200"/>
            <a:ext cx="762000" cy="736600"/>
          </a:xfrm>
          <a:prstGeom prst="roundRect">
            <a:avLst>
              <a:gd name="adj" fmla="val 20689"/>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33900" y="3416300"/>
            <a:ext cx="279400" cy="2794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085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02</a:t>
            </a:r>
          </a:p>
        </p:txBody>
      </p:sp>
      <p:sp>
        <p:nvSpPr>
          <p:cNvPr id="21" name="TextBox 20"/>
          <p:cNvSpPr txBox="1"/>
          <p:nvPr/>
        </p:nvSpPr>
        <p:spPr>
          <a:xfrm>
            <a:off x="34544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Readiness +</a:t>
            </a:r>
          </a:p>
          <a:p>
            <a:pPr algn="ctr">
              <a:lnSpc>
                <a:spcPts val="2500"/>
              </a:lnSpc>
              <a:spcBef>
                <a:spcPts val="0"/>
              </a:spcBef>
              <a:spcAft>
                <a:spcPts val="0"/>
              </a:spcAft>
            </a:pPr>
            <a:r>
              <a:rPr sz="2000" b="0">
                <a:solidFill>
                  <a:srgbClr val="142338"/>
                </a:solidFill>
                <a:latin typeface="Arial"/>
              </a:rPr>
              <a:t>reconciliation</a:t>
            </a:r>
          </a:p>
        </p:txBody>
      </p:sp>
      <p:sp>
        <p:nvSpPr>
          <p:cNvPr id="22" name="TextBox 21"/>
          <p:cNvSpPr txBox="1"/>
          <p:nvPr/>
        </p:nvSpPr>
        <p:spPr>
          <a:xfrm>
            <a:off x="62992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087F85"/>
                </a:solidFill>
                <a:latin typeface="Arial"/>
              </a:rPr>
              <a:t>PUBLICATION</a:t>
            </a:r>
          </a:p>
        </p:txBody>
      </p:sp>
      <p:sp>
        <p:nvSpPr>
          <p:cNvPr id="23" name="Rounded Rectangle 22"/>
          <p:cNvSpPr/>
          <p:nvPr/>
        </p:nvSpPr>
        <p:spPr>
          <a:xfrm>
            <a:off x="7137400" y="2489200"/>
            <a:ext cx="762000" cy="736600"/>
          </a:xfrm>
          <a:prstGeom prst="roundRect">
            <a:avLst>
              <a:gd name="adj" fmla="val 20689"/>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78700" y="3416300"/>
            <a:ext cx="279400" cy="2794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33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03</a:t>
            </a:r>
          </a:p>
        </p:txBody>
      </p:sp>
      <p:sp>
        <p:nvSpPr>
          <p:cNvPr id="26" name="TextBox 25"/>
          <p:cNvSpPr txBox="1"/>
          <p:nvPr/>
        </p:nvSpPr>
        <p:spPr>
          <a:xfrm>
            <a:off x="62992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Authority serves</a:t>
            </a:r>
          </a:p>
          <a:p>
            <a:pPr algn="ctr">
              <a:lnSpc>
                <a:spcPts val="2500"/>
              </a:lnSpc>
              <a:spcBef>
                <a:spcPts val="0"/>
              </a:spcBef>
              <a:spcAft>
                <a:spcPts val="0"/>
              </a:spcAft>
            </a:pPr>
            <a:r>
              <a:rPr sz="2000" b="0">
                <a:solidFill>
                  <a:srgbClr val="142338"/>
                </a:solidFill>
                <a:latin typeface="Arial"/>
              </a:rPr>
              <a:t>new answer</a:t>
            </a:r>
          </a:p>
        </p:txBody>
      </p:sp>
      <p:sp>
        <p:nvSpPr>
          <p:cNvPr id="27" name="TextBox 26"/>
          <p:cNvSpPr txBox="1"/>
          <p:nvPr/>
        </p:nvSpPr>
        <p:spPr>
          <a:xfrm>
            <a:off x="9144000" y="2120900"/>
            <a:ext cx="2438400" cy="257175"/>
          </a:xfrm>
          <a:prstGeom prst="rect">
            <a:avLst/>
          </a:prstGeom>
          <a:noFill/>
        </p:spPr>
        <p:txBody>
          <a:bodyPr wrap="none" lIns="0" rIns="0" tIns="0" bIns="0" anchor="t">
            <a:noAutofit/>
          </a:bodyPr>
          <a:lstStyle/>
          <a:p>
            <a:pPr algn="ctr">
              <a:lnSpc>
                <a:spcPts val="1725"/>
              </a:lnSpc>
              <a:spcBef>
                <a:spcPts val="0"/>
              </a:spcBef>
              <a:spcAft>
                <a:spcPts val="0"/>
              </a:spcAft>
            </a:pPr>
            <a:r>
              <a:rPr sz="1500" b="1">
                <a:solidFill>
                  <a:srgbClr val="142338"/>
                </a:solidFill>
                <a:latin typeface="Arial"/>
              </a:rPr>
              <a:t>CLIENT</a:t>
            </a:r>
          </a:p>
        </p:txBody>
      </p:sp>
      <p:sp>
        <p:nvSpPr>
          <p:cNvPr id="28" name="Rounded Rectangle 27"/>
          <p:cNvSpPr/>
          <p:nvPr/>
        </p:nvSpPr>
        <p:spPr>
          <a:xfrm>
            <a:off x="9982200" y="2489200"/>
            <a:ext cx="762000" cy="736600"/>
          </a:xfrm>
          <a:prstGeom prst="roundRect">
            <a:avLst>
              <a:gd name="adj" fmla="val 20689"/>
            </a:avLst>
          </a:prstGeom>
          <a:solidFill>
            <a:srgbClr val="E9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23500" y="3416300"/>
            <a:ext cx="279400" cy="279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98100" y="3467100"/>
            <a:ext cx="330200" cy="165100"/>
          </a:xfrm>
          <a:prstGeom prst="rect">
            <a:avLst/>
          </a:prstGeom>
          <a:noFill/>
        </p:spPr>
        <p:txBody>
          <a:bodyPr wrap="none" lIns="0" rIns="0" tIns="0" bIns="0" anchor="t">
            <a:noAutofit/>
          </a:bodyPr>
          <a:lstStyle/>
          <a:p>
            <a:pPr algn="ctr">
              <a:lnSpc>
                <a:spcPts val="1000"/>
              </a:lnSpc>
              <a:spcBef>
                <a:spcPts val="0"/>
              </a:spcBef>
              <a:spcAft>
                <a:spcPts val="0"/>
              </a:spcAft>
            </a:pPr>
            <a:r>
              <a:rPr sz="1000" b="1">
                <a:solidFill>
                  <a:srgbClr val="FFFFFF"/>
                </a:solidFill>
                <a:latin typeface="Arial"/>
              </a:rPr>
              <a:t>04</a:t>
            </a:r>
          </a:p>
        </p:txBody>
      </p:sp>
      <p:sp>
        <p:nvSpPr>
          <p:cNvPr id="31" name="TextBox 30"/>
          <p:cNvSpPr txBox="1"/>
          <p:nvPr/>
        </p:nvSpPr>
        <p:spPr>
          <a:xfrm>
            <a:off x="9144000" y="3924300"/>
            <a:ext cx="2438400" cy="673100"/>
          </a:xfrm>
          <a:prstGeom prst="rect">
            <a:avLst/>
          </a:prstGeom>
          <a:noFill/>
        </p:spPr>
        <p:txBody>
          <a:bodyPr wrap="none" lIns="0" rIns="0" tIns="0" bIns="0" anchor="t">
            <a:noAutofit/>
          </a:bodyPr>
          <a:lstStyle/>
          <a:p>
            <a:pPr algn="ctr">
              <a:lnSpc>
                <a:spcPts val="2500"/>
              </a:lnSpc>
              <a:spcBef>
                <a:spcPts val="0"/>
              </a:spcBef>
              <a:spcAft>
                <a:spcPts val="0"/>
              </a:spcAft>
            </a:pPr>
            <a:r>
              <a:rPr sz="2000" b="0">
                <a:solidFill>
                  <a:srgbClr val="142338"/>
                </a:solidFill>
                <a:latin typeface="Arial"/>
              </a:rPr>
              <a:t>Cache refresh +</a:t>
            </a:r>
          </a:p>
          <a:p>
            <a:pPr algn="ctr">
              <a:lnSpc>
                <a:spcPts val="2500"/>
              </a:lnSpc>
              <a:spcBef>
                <a:spcPts val="0"/>
              </a:spcBef>
              <a:spcAft>
                <a:spcPts val="0"/>
              </a:spcAft>
            </a:pPr>
            <a:r>
              <a:rPr sz="2000" b="0">
                <a:solidFill>
                  <a:srgbClr val="142338"/>
                </a:solidFill>
                <a:latin typeface="Arial"/>
              </a:rPr>
              <a:t>connection retries</a:t>
            </a:r>
          </a:p>
        </p:txBody>
      </p:sp>
      <p:cxnSp>
        <p:nvCxnSpPr>
          <p:cNvPr id="32" name="Connector 31"/>
          <p:cNvCxnSpPr/>
          <p:nvPr/>
        </p:nvCxnSpPr>
        <p:spPr>
          <a:xfrm>
            <a:off x="18288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1600200" y="3035300"/>
            <a:ext cx="457200" cy="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600200" y="2641600"/>
            <a:ext cx="228600" cy="393700"/>
          </a:xfrm>
          <a:prstGeom prst="line">
            <a:avLst/>
          </a:prstGeom>
          <a:ln w="2286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828800" y="2768600"/>
            <a:ext cx="0" cy="139700"/>
          </a:xfrm>
          <a:prstGeom prst="line">
            <a:avLst/>
          </a:prstGeom>
          <a:ln w="25400">
            <a:solidFill>
              <a:srgbClr val="CF003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1811020" y="2954020"/>
            <a:ext cx="35560" cy="35560"/>
          </a:xfrm>
          <a:prstGeom prst="ellipse">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419600" y="2667000"/>
            <a:ext cx="508000" cy="368300"/>
          </a:xfrm>
          <a:prstGeom prst="roundRect">
            <a:avLst>
              <a:gd name="adj" fmla="val 13793"/>
            </a:avLst>
          </a:prstGeom>
          <a:solidFill>
            <a:srgbClr val="FFFFFF"/>
          </a:solidFill>
          <a:ln w="1905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4470400" y="2870200"/>
            <a:ext cx="889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4559300" y="2768600"/>
            <a:ext cx="50800" cy="1016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610100" y="2768600"/>
            <a:ext cx="76200" cy="1778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686300" y="2832100"/>
            <a:ext cx="63500" cy="11430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49800" y="2832100"/>
            <a:ext cx="127000" cy="0"/>
          </a:xfrm>
          <a:prstGeom prst="line">
            <a:avLst/>
          </a:prstGeom>
          <a:ln w="21590">
            <a:solidFill>
              <a:srgbClr val="2762C8"/>
            </a:solidFill>
          </a:ln>
        </p:spPr>
        <p:style>
          <a:lnRef idx="2">
            <a:schemeClr val="accent1"/>
          </a:lnRef>
          <a:fillRef idx="0">
            <a:schemeClr val="accent1"/>
          </a:fillRef>
          <a:effectRef idx="1">
            <a:schemeClr val="accent1"/>
          </a:effectRef>
          <a:fontRef idx="minor">
            <a:schemeClr val="tx1"/>
          </a:fontRef>
        </p:style>
      </p:cxnSp>
      <p:pic>
        <p:nvPicPr>
          <p:cNvPr id="43" name="Picture 42" descr="image.png"/>
          <p:cNvPicPr>
            <a:picLocks noChangeAspect="1"/>
          </p:cNvPicPr>
          <p:nvPr/>
        </p:nvPicPr>
        <p:blipFill>
          <a:blip r:embed="rId2"/>
          <a:stretch>
            <a:fillRect/>
          </a:stretch>
        </p:blipFill>
        <p:spPr>
          <a:xfrm>
            <a:off x="7277100" y="2616200"/>
            <a:ext cx="482600" cy="482600"/>
          </a:xfrm>
          <a:prstGeom prst="rect">
            <a:avLst/>
          </a:prstGeom>
        </p:spPr>
      </p:pic>
      <p:sp>
        <p:nvSpPr>
          <p:cNvPr id="44" name="Rounded Rectangle 43"/>
          <p:cNvSpPr/>
          <p:nvPr/>
        </p:nvSpPr>
        <p:spPr>
          <a:xfrm>
            <a:off x="10109200" y="2654300"/>
            <a:ext cx="508000" cy="393700"/>
          </a:xfrm>
          <a:prstGeom prst="roundRect">
            <a:avLst>
              <a:gd name="adj" fmla="val 12903"/>
            </a:avLst>
          </a:prstGeom>
          <a:solidFill>
            <a:srgbClr val="FFFFFF"/>
          </a:solidFill>
          <a:ln w="19050">
            <a:solidFill>
              <a:srgbClr val="1423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Connector 44"/>
          <p:cNvCxnSpPr/>
          <p:nvPr/>
        </p:nvCxnSpPr>
        <p:spPr>
          <a:xfrm>
            <a:off x="10109200" y="2768600"/>
            <a:ext cx="508000" cy="0"/>
          </a:xfrm>
          <a:prstGeom prst="line">
            <a:avLst/>
          </a:prstGeom>
          <a:ln w="13970">
            <a:solidFill>
              <a:srgbClr val="142338"/>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10172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2362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299700" y="2705100"/>
            <a:ext cx="25400" cy="25400"/>
          </a:xfrm>
          <a:prstGeom prst="ellipse">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Connector 48"/>
          <p:cNvCxnSpPr/>
          <p:nvPr/>
        </p:nvCxnSpPr>
        <p:spPr>
          <a:xfrm>
            <a:off x="10223500" y="2908300"/>
            <a:ext cx="76200" cy="508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299700" y="2844800"/>
            <a:ext cx="165100" cy="114300"/>
          </a:xfrm>
          <a:prstGeom prst="line">
            <a:avLst/>
          </a:prstGeom>
          <a:ln w="22860">
            <a:solidFill>
              <a:srgbClr val="087F8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8128000" y="3124200"/>
            <a:ext cx="16256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087F85"/>
                </a:solidFill>
                <a:latin typeface="Arial"/>
              </a:rPr>
              <a:t>CLIENT DELAY</a:t>
            </a:r>
          </a:p>
        </p:txBody>
      </p:sp>
      <p:sp>
        <p:nvSpPr>
          <p:cNvPr id="52" name="Oval 51"/>
          <p:cNvSpPr/>
          <p:nvPr/>
        </p:nvSpPr>
        <p:spPr>
          <a:xfrm>
            <a:off x="8788400" y="3403600"/>
            <a:ext cx="304800" cy="304800"/>
          </a:xfrm>
          <a:prstGeom prst="ellipse">
            <a:avLst/>
          </a:prstGeom>
          <a:solidFill>
            <a:srgbClr val="F8FAFC"/>
          </a:solidFill>
          <a:ln w="1905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8940800" y="3454400"/>
            <a:ext cx="0" cy="1016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940800" y="3556000"/>
            <a:ext cx="76200" cy="38100"/>
          </a:xfrm>
          <a:prstGeom prst="line">
            <a:avLst/>
          </a:prstGeom>
          <a:ln w="19050">
            <a:solidFill>
              <a:srgbClr val="087F85"/>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609600" y="4953000"/>
            <a:ext cx="52832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TIMING VARIES</a:t>
            </a:r>
          </a:p>
        </p:txBody>
      </p:sp>
      <p:sp>
        <p:nvSpPr>
          <p:cNvPr id="56" name="TextBox 55"/>
          <p:cNvSpPr txBox="1"/>
          <p:nvPr/>
        </p:nvSpPr>
        <p:spPr>
          <a:xfrm>
            <a:off x="609600" y="5168900"/>
            <a:ext cx="52832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5D6F82"/>
                </a:solidFill>
                <a:latin typeface="Arial"/>
              </a:rPr>
              <a:t>Readiness · reconciliation · caches · retries</a:t>
            </a:r>
          </a:p>
        </p:txBody>
      </p:sp>
      <p:sp>
        <p:nvSpPr>
          <p:cNvPr id="57" name="Rounded Rectangle 56"/>
          <p:cNvSpPr/>
          <p:nvPr/>
        </p:nvSpPr>
        <p:spPr>
          <a:xfrm>
            <a:off x="6299200" y="4953000"/>
            <a:ext cx="5283200" cy="533400"/>
          </a:xfrm>
          <a:prstGeom prst="roundRect">
            <a:avLst>
              <a:gd name="adj" fmla="val 16666"/>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77000" y="5105400"/>
            <a:ext cx="4927600" cy="285750"/>
          </a:xfrm>
          <a:prstGeom prst="rect">
            <a:avLst/>
          </a:prstGeom>
          <a:noFill/>
        </p:spPr>
        <p:txBody>
          <a:bodyPr wrap="none" lIns="0" rIns="0" tIns="0" bIns="0" anchor="t">
            <a:noAutofit/>
          </a:bodyPr>
          <a:lstStyle/>
          <a:p>
            <a:pPr algn="ctr">
              <a:lnSpc>
                <a:spcPts val="1800"/>
              </a:lnSpc>
              <a:spcBef>
                <a:spcPts val="0"/>
              </a:spcBef>
              <a:spcAft>
                <a:spcPts val="0"/>
              </a:spcAft>
            </a:pPr>
            <a:r>
              <a:rPr sz="1800" b="1">
                <a:solidFill>
                  <a:srgbClr val="087F85"/>
                </a:solidFill>
                <a:latin typeface="Arial"/>
              </a:rPr>
              <a:t>New DNS answer ≠ recovered clients</a:t>
            </a:r>
          </a:p>
        </p:txBody>
      </p:sp>
      <p:sp>
        <p:nvSpPr>
          <p:cNvPr id="59" name="Rounded Rectangle 58"/>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7400" y="59055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FFFFFF"/>
                </a:solidFill>
                <a:latin typeface="Arial"/>
              </a:rPr>
              <a:t>Measure recovery at the resolver and application.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OPERATING K8GB · APPLICATION READINESS</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20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Readiness must reflect the real operation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Kubernetes runs Pod probes. k8gb consumes EndpointSlice readiness.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96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2762C8"/>
                </a:solidFill>
                <a:latin typeface="Courier New"/>
              </a:rPr>
              <a:t>readinessProbe</a:t>
            </a:r>
          </a:p>
        </p:txBody>
      </p:sp>
      <p:sp>
        <p:nvSpPr>
          <p:cNvPr id="13" name="TextBox 12"/>
          <p:cNvSpPr txBox="1"/>
          <p:nvPr/>
        </p:nvSpPr>
        <p:spPr>
          <a:xfrm>
            <a:off x="7874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Application-defined check</a:t>
            </a:r>
          </a:p>
        </p:txBody>
      </p:sp>
      <p:cxnSp>
        <p:nvCxnSpPr>
          <p:cNvPr id="14" name="Connector 13"/>
          <p:cNvCxnSpPr/>
          <p:nvPr/>
        </p:nvCxnSpPr>
        <p:spPr>
          <a:xfrm>
            <a:off x="31242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290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29000" y="2032000"/>
            <a:ext cx="50800" cy="914400"/>
          </a:xfrm>
          <a:prstGeom prst="rect">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68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2762C8"/>
                </a:solidFill>
                <a:latin typeface="Arial"/>
              </a:rPr>
              <a:t>Pod Ready</a:t>
            </a:r>
          </a:p>
        </p:txBody>
      </p:sp>
      <p:sp>
        <p:nvSpPr>
          <p:cNvPr id="18" name="TextBox 17"/>
          <p:cNvSpPr txBox="1"/>
          <p:nvPr/>
        </p:nvSpPr>
        <p:spPr>
          <a:xfrm>
            <a:off x="36068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Kubernetes condition</a:t>
            </a:r>
          </a:p>
        </p:txBody>
      </p:sp>
      <p:cxnSp>
        <p:nvCxnSpPr>
          <p:cNvPr id="19" name="Connector 18"/>
          <p:cNvCxnSpPr/>
          <p:nvPr/>
        </p:nvCxnSpPr>
        <p:spPr>
          <a:xfrm>
            <a:off x="5943600" y="2489200"/>
            <a:ext cx="304800" cy="0"/>
          </a:xfrm>
          <a:prstGeom prst="line">
            <a:avLst/>
          </a:prstGeom>
          <a:ln w="2032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484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8400" y="2032000"/>
            <a:ext cx="50800" cy="914400"/>
          </a:xfrm>
          <a:prstGeom prst="rect">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62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087F85"/>
                </a:solidFill>
                <a:latin typeface="Arial"/>
              </a:rPr>
              <a:t>EndpointSlice</a:t>
            </a:r>
          </a:p>
        </p:txBody>
      </p:sp>
      <p:sp>
        <p:nvSpPr>
          <p:cNvPr id="23" name="TextBox 22"/>
          <p:cNvSpPr txBox="1"/>
          <p:nvPr/>
        </p:nvSpPr>
        <p:spPr>
          <a:xfrm>
            <a:off x="64262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Service endpoint readiness</a:t>
            </a:r>
          </a:p>
        </p:txBody>
      </p:sp>
      <p:cxnSp>
        <p:nvCxnSpPr>
          <p:cNvPr id="24" name="Connector 23"/>
          <p:cNvCxnSpPr/>
          <p:nvPr/>
        </p:nvCxnSpPr>
        <p:spPr>
          <a:xfrm>
            <a:off x="8763000" y="2489200"/>
            <a:ext cx="304800" cy="0"/>
          </a:xfrm>
          <a:prstGeom prst="line">
            <a:avLst/>
          </a:prstGeom>
          <a:ln w="2032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67800" y="2032000"/>
            <a:ext cx="2514600" cy="914400"/>
          </a:xfrm>
          <a:prstGeom prst="roundRect">
            <a:avLst>
              <a:gd name="adj" fmla="val 1111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67800" y="2032000"/>
            <a:ext cx="50800" cy="914400"/>
          </a:xfrm>
          <a:prstGeom prst="rect">
            <a:avLst/>
          </a:prstGeom>
          <a:solidFill>
            <a:srgbClr val="CF0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5600" y="2171700"/>
            <a:ext cx="2159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CF0035"/>
                </a:solidFill>
                <a:latin typeface="Arial"/>
              </a:rPr>
              <a:t>Gslb targets</a:t>
            </a:r>
          </a:p>
        </p:txBody>
      </p:sp>
      <p:sp>
        <p:nvSpPr>
          <p:cNvPr id="28" name="TextBox 27"/>
          <p:cNvSpPr txBox="1"/>
          <p:nvPr/>
        </p:nvSpPr>
        <p:spPr>
          <a:xfrm>
            <a:off x="9245600" y="2590800"/>
            <a:ext cx="2159000" cy="213359"/>
          </a:xfrm>
          <a:prstGeom prst="rect">
            <a:avLst/>
          </a:prstGeom>
          <a:noFill/>
        </p:spPr>
        <p:txBody>
          <a:bodyPr wrap="none" lIns="0" rIns="0" tIns="0" bIns="0" anchor="t">
            <a:noAutofit/>
          </a:bodyPr>
          <a:lstStyle/>
          <a:p>
            <a:pPr algn="l">
              <a:lnSpc>
                <a:spcPts val="1380"/>
              </a:lnSpc>
              <a:spcBef>
                <a:spcPts val="0"/>
              </a:spcBef>
              <a:spcAft>
                <a:spcPts val="0"/>
              </a:spcAft>
            </a:pPr>
            <a:r>
              <a:rPr sz="1200" b="0">
                <a:solidFill>
                  <a:srgbClr val="5D6F82"/>
                </a:solidFill>
                <a:latin typeface="Arial"/>
              </a:rPr>
              <a:t>Readiness + traffic strategy</a:t>
            </a:r>
          </a:p>
        </p:txBody>
      </p:sp>
      <p:sp>
        <p:nvSpPr>
          <p:cNvPr id="29" name="Rounded Rectangle 28"/>
          <p:cNvSpPr/>
          <p:nvPr/>
        </p:nvSpPr>
        <p:spPr>
          <a:xfrm>
            <a:off x="609600" y="3340100"/>
            <a:ext cx="3632200" cy="2286000"/>
          </a:xfrm>
          <a:prstGeom prst="roundRect">
            <a:avLst>
              <a:gd name="adj" fmla="val 50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3600" y="3568700"/>
            <a:ext cx="31242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177C58"/>
                </a:solidFill>
                <a:latin typeface="Arial"/>
              </a:rPr>
              <a:t>HEALTH ENDPOINT</a:t>
            </a:r>
          </a:p>
        </p:txBody>
      </p:sp>
      <p:sp>
        <p:nvSpPr>
          <p:cNvPr id="31" name="TextBox 30"/>
          <p:cNvSpPr txBox="1"/>
          <p:nvPr/>
        </p:nvSpPr>
        <p:spPr>
          <a:xfrm>
            <a:off x="863600" y="3949700"/>
            <a:ext cx="3124200" cy="359409"/>
          </a:xfrm>
          <a:prstGeom prst="rect">
            <a:avLst/>
          </a:prstGeom>
          <a:noFill/>
        </p:spPr>
        <p:txBody>
          <a:bodyPr wrap="none" lIns="0" rIns="0" tIns="0" bIns="0" anchor="t">
            <a:noAutofit/>
          </a:bodyPr>
          <a:lstStyle/>
          <a:p>
            <a:pPr algn="l">
              <a:lnSpc>
                <a:spcPts val="2529"/>
              </a:lnSpc>
              <a:spcBef>
                <a:spcPts val="0"/>
              </a:spcBef>
              <a:spcAft>
                <a:spcPts val="0"/>
              </a:spcAft>
            </a:pPr>
            <a:r>
              <a:rPr sz="2200" b="0">
                <a:solidFill>
                  <a:srgbClr val="142338"/>
                </a:solidFill>
                <a:latin typeface="Courier New"/>
              </a:rPr>
              <a:t>GET /healthz</a:t>
            </a:r>
          </a:p>
        </p:txBody>
      </p:sp>
      <p:sp>
        <p:nvSpPr>
          <p:cNvPr id="32" name="Rounded Rectangle 31"/>
          <p:cNvSpPr/>
          <p:nvPr/>
        </p:nvSpPr>
        <p:spPr>
          <a:xfrm>
            <a:off x="863600" y="4457700"/>
            <a:ext cx="16510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7100" y="4508500"/>
            <a:ext cx="1524000" cy="238125"/>
          </a:xfrm>
          <a:prstGeom prst="rect">
            <a:avLst/>
          </a:prstGeom>
          <a:noFill/>
        </p:spPr>
        <p:txBody>
          <a:bodyPr wrap="none" lIns="0" rIns="0" tIns="0" bIns="0" anchor="t">
            <a:noAutofit/>
          </a:bodyPr>
          <a:lstStyle/>
          <a:p>
            <a:pPr algn="ctr">
              <a:lnSpc>
                <a:spcPts val="1500"/>
              </a:lnSpc>
              <a:spcBef>
                <a:spcPts val="0"/>
              </a:spcBef>
              <a:spcAft>
                <a:spcPts val="0"/>
              </a:spcAft>
            </a:pPr>
            <a:r>
              <a:rPr sz="1500" b="1">
                <a:solidFill>
                  <a:srgbClr val="177C58"/>
                </a:solidFill>
                <a:latin typeface="Arial"/>
              </a:rPr>
              <a:t>HTTP 200</a:t>
            </a:r>
          </a:p>
        </p:txBody>
      </p:sp>
      <p:sp>
        <p:nvSpPr>
          <p:cNvPr id="34" name="TextBox 33"/>
          <p:cNvSpPr txBox="1"/>
          <p:nvPr/>
        </p:nvSpPr>
        <p:spPr>
          <a:xfrm>
            <a:off x="863600" y="5130800"/>
            <a:ext cx="31242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The shallow check passes.</a:t>
            </a:r>
          </a:p>
        </p:txBody>
      </p:sp>
      <p:sp>
        <p:nvSpPr>
          <p:cNvPr id="35" name="Rounded Rectangle 34"/>
          <p:cNvSpPr/>
          <p:nvPr/>
        </p:nvSpPr>
        <p:spPr>
          <a:xfrm>
            <a:off x="4572000" y="3340100"/>
            <a:ext cx="7010400" cy="2286000"/>
          </a:xfrm>
          <a:prstGeom prst="roundRect">
            <a:avLst>
              <a:gd name="adj" fmla="val 5000"/>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26000" y="3568700"/>
            <a:ext cx="6477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REAL REQUEST</a:t>
            </a:r>
          </a:p>
        </p:txBody>
      </p:sp>
      <p:sp>
        <p:nvSpPr>
          <p:cNvPr id="37" name="TextBox 36"/>
          <p:cNvSpPr txBox="1"/>
          <p:nvPr/>
        </p:nvSpPr>
        <p:spPr>
          <a:xfrm>
            <a:off x="4826000" y="3873500"/>
            <a:ext cx="64770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FFFFFF"/>
                </a:solidFill>
                <a:latin typeface="Arial"/>
              </a:rPr>
              <a:t>Payment cannot be saved</a:t>
            </a:r>
          </a:p>
        </p:txBody>
      </p:sp>
      <p:sp>
        <p:nvSpPr>
          <p:cNvPr id="38" name="Rounded Rectangle 37"/>
          <p:cNvSpPr/>
          <p:nvPr/>
        </p:nvSpPr>
        <p:spPr>
          <a:xfrm>
            <a:off x="48260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0038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Payment API</a:t>
            </a:r>
          </a:p>
        </p:txBody>
      </p:sp>
      <p:sp>
        <p:nvSpPr>
          <p:cNvPr id="40" name="TextBox 39"/>
          <p:cNvSpPr txBox="1"/>
          <p:nvPr/>
        </p:nvSpPr>
        <p:spPr>
          <a:xfrm>
            <a:off x="50038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2762C8"/>
                </a:solidFill>
                <a:latin typeface="Courier New"/>
              </a:rPr>
              <a:t>POST /payments</a:t>
            </a:r>
          </a:p>
        </p:txBody>
      </p:sp>
      <p:sp>
        <p:nvSpPr>
          <p:cNvPr id="41" name="Rounded Rectangle 40"/>
          <p:cNvSpPr/>
          <p:nvPr/>
        </p:nvSpPr>
        <p:spPr>
          <a:xfrm>
            <a:off x="8864600" y="4394200"/>
            <a:ext cx="2438400" cy="749300"/>
          </a:xfrm>
          <a:prstGeom prst="roundRect">
            <a:avLst>
              <a:gd name="adj" fmla="val 1016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42400" y="4470400"/>
            <a:ext cx="20828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Database</a:t>
            </a:r>
          </a:p>
        </p:txBody>
      </p:sp>
      <p:sp>
        <p:nvSpPr>
          <p:cNvPr id="43" name="TextBox 42"/>
          <p:cNvSpPr txBox="1"/>
          <p:nvPr/>
        </p:nvSpPr>
        <p:spPr>
          <a:xfrm>
            <a:off x="9042400" y="4826000"/>
            <a:ext cx="20828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CF0035"/>
                </a:solidFill>
                <a:latin typeface="Arial"/>
              </a:rPr>
              <a:t>READ-ONLY</a:t>
            </a:r>
          </a:p>
        </p:txBody>
      </p:sp>
      <p:sp>
        <p:nvSpPr>
          <p:cNvPr id="44" name="TextBox 43"/>
          <p:cNvSpPr txBox="1"/>
          <p:nvPr/>
        </p:nvSpPr>
        <p:spPr>
          <a:xfrm>
            <a:off x="7480300" y="44323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WRITE</a:t>
            </a:r>
          </a:p>
        </p:txBody>
      </p:sp>
      <p:cxnSp>
        <p:nvCxnSpPr>
          <p:cNvPr id="45" name="Connector 44"/>
          <p:cNvCxnSpPr/>
          <p:nvPr/>
        </p:nvCxnSpPr>
        <p:spPr>
          <a:xfrm>
            <a:off x="7264400" y="4826000"/>
            <a:ext cx="622300" cy="0"/>
          </a:xfrm>
          <a:prstGeom prst="line">
            <a:avLst/>
          </a:prstGeom>
          <a:ln w="2286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242300" y="4826000"/>
            <a:ext cx="622300" cy="0"/>
          </a:xfrm>
          <a:prstGeom prst="line">
            <a:avLst/>
          </a:prstGeom>
          <a:ln w="22860">
            <a:solidFill>
              <a:srgbClr val="F79BB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975600" y="4737100"/>
            <a:ext cx="177800" cy="177800"/>
          </a:xfrm>
          <a:prstGeom prst="line">
            <a:avLst/>
          </a:prstGeom>
          <a:ln w="25400">
            <a:solidFill>
              <a:srgbClr val="F79BB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826000" y="5321300"/>
            <a:ext cx="6477000" cy="242569"/>
          </a:xfrm>
          <a:prstGeom prst="rect">
            <a:avLst/>
          </a:prstGeom>
          <a:noFill/>
        </p:spPr>
        <p:txBody>
          <a:bodyPr wrap="none" lIns="0" rIns="0" tIns="0" bIns="0" anchor="t">
            <a:noAutofit/>
          </a:bodyPr>
          <a:lstStyle/>
          <a:p>
            <a:pPr algn="l">
              <a:lnSpc>
                <a:spcPts val="1609"/>
              </a:lnSpc>
              <a:spcBef>
                <a:spcPts val="0"/>
              </a:spcBef>
              <a:spcAft>
                <a:spcPts val="0"/>
              </a:spcAft>
            </a:pPr>
            <a:r>
              <a:rPr sz="1400" b="0">
                <a:solidFill>
                  <a:srgbClr val="B8C8D9"/>
                </a:solidFill>
                <a:latin typeface="Arial"/>
              </a:rPr>
              <a:t>Replication and safe writer ownership belong to the application.</a:t>
            </a:r>
          </a:p>
        </p:txBody>
      </p:sp>
      <p:sp>
        <p:nvSpPr>
          <p:cNvPr id="50" name="Rounded Rectangle 49"/>
          <p:cNvSpPr/>
          <p:nvPr/>
        </p:nvSpPr>
        <p:spPr>
          <a:xfrm>
            <a:off x="609600" y="58166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87400" y="58928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k8gb steers traffic. The application must be ready to serve.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THE DANGEROUS EDGE CASE</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21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FFFFFF"/>
                </a:solidFill>
                <a:latin typeface="Arial"/>
              </a:rPr>
              <a:t>A partition can create two correct-looking answers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B8C8D9"/>
                </a:solidFill>
                <a:latin typeface="Arial"/>
              </a:rPr>
              <a:t>Both applications are ready. Clients can still reach both DNS authorities.</a:t>
            </a:r>
          </a:p>
        </p:txBody>
      </p:sp>
      <p:cxnSp>
        <p:nvCxnSpPr>
          <p:cNvPr id="7" name="Connector 6"/>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10" name="Rounded Rectangle 9"/>
          <p:cNvSpPr/>
          <p:nvPr/>
        </p:nvSpPr>
        <p:spPr>
          <a:xfrm>
            <a:off x="6096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89000" y="2146300"/>
            <a:ext cx="4343400" cy="0"/>
          </a:xfrm>
          <a:prstGeom prst="line">
            <a:avLst/>
          </a:prstGeom>
          <a:ln w="38100">
            <a:solidFill>
              <a:srgbClr val="78A5FA"/>
            </a:solidFill>
          </a:ln>
        </p:spPr>
        <p:style>
          <a:lnRef idx="2">
            <a:schemeClr val="accent1"/>
          </a:lnRef>
          <a:fillRef idx="0">
            <a:schemeClr val="accent1"/>
          </a:fillRef>
          <a:effectRef idx="1">
            <a:schemeClr val="accent1"/>
          </a:effectRef>
          <a:fontRef idx="minor">
            <a:schemeClr val="tx1"/>
          </a:fontRef>
        </p:style>
      </p:cxnSp>
      <p:pic>
        <p:nvPicPr>
          <p:cNvPr id="12" name="Picture 11" descr="image.png"/>
          <p:cNvPicPr>
            <a:picLocks noChangeAspect="1"/>
          </p:cNvPicPr>
          <p:nvPr/>
        </p:nvPicPr>
        <p:blipFill>
          <a:blip r:embed="rId2"/>
          <a:stretch>
            <a:fillRect/>
          </a:stretch>
        </p:blipFill>
        <p:spPr>
          <a:xfrm>
            <a:off x="889000" y="2374900"/>
            <a:ext cx="546100" cy="546100"/>
          </a:xfrm>
          <a:prstGeom prst="rect">
            <a:avLst/>
          </a:prstGeom>
        </p:spPr>
      </p:pic>
      <p:sp>
        <p:nvSpPr>
          <p:cNvPr id="13" name="TextBox 12"/>
          <p:cNvSpPr txBox="1"/>
          <p:nvPr/>
        </p:nvSpPr>
        <p:spPr>
          <a:xfrm>
            <a:off x="16129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A</a:t>
            </a:r>
          </a:p>
        </p:txBody>
      </p:sp>
      <p:sp>
        <p:nvSpPr>
          <p:cNvPr id="14" name="TextBox 13"/>
          <p:cNvSpPr txBox="1"/>
          <p:nvPr/>
        </p:nvSpPr>
        <p:spPr>
          <a:xfrm>
            <a:off x="8890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PRIMARY APPLICATION</a:t>
            </a:r>
          </a:p>
        </p:txBody>
      </p:sp>
      <p:sp>
        <p:nvSpPr>
          <p:cNvPr id="15" name="Rounded Rectangle 14"/>
          <p:cNvSpPr/>
          <p:nvPr/>
        </p:nvSpPr>
        <p:spPr>
          <a:xfrm>
            <a:off x="38100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735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17" name="Rounded Rectangle 16"/>
          <p:cNvSpPr/>
          <p:nvPr/>
        </p:nvSpPr>
        <p:spPr>
          <a:xfrm>
            <a:off x="8890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png"/>
          <p:cNvPicPr>
            <a:picLocks noChangeAspect="1"/>
          </p:cNvPicPr>
          <p:nvPr/>
        </p:nvPicPr>
        <p:blipFill>
          <a:blip r:embed="rId3"/>
          <a:stretch>
            <a:fillRect/>
          </a:stretch>
        </p:blipFill>
        <p:spPr>
          <a:xfrm>
            <a:off x="1016000" y="3725663"/>
            <a:ext cx="381000" cy="371872"/>
          </a:xfrm>
          <a:prstGeom prst="rect">
            <a:avLst/>
          </a:prstGeom>
        </p:spPr>
      </p:pic>
      <p:sp>
        <p:nvSpPr>
          <p:cNvPr id="19" name="TextBox 18"/>
          <p:cNvSpPr txBox="1"/>
          <p:nvPr/>
        </p:nvSpPr>
        <p:spPr>
          <a:xfrm>
            <a:off x="15240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20" name="Connector 19"/>
          <p:cNvCxnSpPr/>
          <p:nvPr/>
        </p:nvCxnSpPr>
        <p:spPr>
          <a:xfrm>
            <a:off x="2489200" y="3924300"/>
            <a:ext cx="762000" cy="0"/>
          </a:xfrm>
          <a:prstGeom prst="line">
            <a:avLst/>
          </a:prstGeom>
          <a:ln w="2286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32512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png"/>
          <p:cNvPicPr>
            <a:picLocks noChangeAspect="1"/>
          </p:cNvPicPr>
          <p:nvPr/>
        </p:nvPicPr>
        <p:blipFill>
          <a:blip r:embed="rId4"/>
          <a:stretch>
            <a:fillRect/>
          </a:stretch>
        </p:blipFill>
        <p:spPr>
          <a:xfrm>
            <a:off x="3378200" y="3721100"/>
            <a:ext cx="381000" cy="381000"/>
          </a:xfrm>
          <a:prstGeom prst="rect">
            <a:avLst/>
          </a:prstGeom>
        </p:spPr>
      </p:pic>
      <p:sp>
        <p:nvSpPr>
          <p:cNvPr id="23" name="TextBox 22"/>
          <p:cNvSpPr txBox="1"/>
          <p:nvPr/>
        </p:nvSpPr>
        <p:spPr>
          <a:xfrm>
            <a:off x="38862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24" name="Connector 23"/>
          <p:cNvCxnSpPr/>
          <p:nvPr/>
        </p:nvCxnSpPr>
        <p:spPr>
          <a:xfrm>
            <a:off x="4241800" y="4241800"/>
            <a:ext cx="0" cy="241300"/>
          </a:xfrm>
          <a:prstGeom prst="line">
            <a:avLst/>
          </a:prstGeom>
          <a:ln w="19050">
            <a:solidFill>
              <a:srgbClr val="78A5F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889000" y="4483100"/>
            <a:ext cx="4343400" cy="723900"/>
          </a:xfrm>
          <a:prstGeom prst="roundRect">
            <a:avLst>
              <a:gd name="adj" fmla="val 12280"/>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22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AUTHORITATIVE ANSWER</a:t>
            </a:r>
          </a:p>
        </p:txBody>
      </p:sp>
      <p:sp>
        <p:nvSpPr>
          <p:cNvPr id="27" name="TextBox 26"/>
          <p:cNvSpPr txBox="1"/>
          <p:nvPr/>
        </p:nvSpPr>
        <p:spPr>
          <a:xfrm>
            <a:off x="10922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A</a:t>
            </a:r>
          </a:p>
        </p:txBody>
      </p:sp>
      <p:sp>
        <p:nvSpPr>
          <p:cNvPr id="28" name="Oval 27"/>
          <p:cNvSpPr/>
          <p:nvPr/>
        </p:nvSpPr>
        <p:spPr>
          <a:xfrm>
            <a:off x="4584700" y="4635500"/>
            <a:ext cx="431800" cy="4318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847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A</a:t>
            </a:r>
          </a:p>
        </p:txBody>
      </p:sp>
      <p:sp>
        <p:nvSpPr>
          <p:cNvPr id="30" name="Rounded Rectangle 29"/>
          <p:cNvSpPr/>
          <p:nvPr/>
        </p:nvSpPr>
        <p:spPr>
          <a:xfrm>
            <a:off x="6680200" y="2133600"/>
            <a:ext cx="4902200" cy="3251200"/>
          </a:xfrm>
          <a:prstGeom prst="roundRect">
            <a:avLst>
              <a:gd name="adj" fmla="val 3906"/>
            </a:avLst>
          </a:prstGeom>
          <a:solidFill>
            <a:srgbClr val="1A3047"/>
          </a:solidFill>
          <a:ln w="12700">
            <a:solidFill>
              <a:srgbClr val="3850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6959600" y="2146300"/>
            <a:ext cx="4343400" cy="0"/>
          </a:xfrm>
          <a:prstGeom prst="line">
            <a:avLst/>
          </a:prstGeom>
          <a:ln w="38100">
            <a:solidFill>
              <a:srgbClr val="6DD3CE"/>
            </a:solidFill>
          </a:ln>
        </p:spPr>
        <p:style>
          <a:lnRef idx="2">
            <a:schemeClr val="accent1"/>
          </a:lnRef>
          <a:fillRef idx="0">
            <a:schemeClr val="accent1"/>
          </a:fillRef>
          <a:effectRef idx="1">
            <a:schemeClr val="accent1"/>
          </a:effectRef>
          <a:fontRef idx="minor">
            <a:schemeClr val="tx1"/>
          </a:fontRef>
        </p:style>
      </p:cxnSp>
      <p:pic>
        <p:nvPicPr>
          <p:cNvPr id="32" name="Picture 31" descr="image.png"/>
          <p:cNvPicPr>
            <a:picLocks noChangeAspect="1"/>
          </p:cNvPicPr>
          <p:nvPr/>
        </p:nvPicPr>
        <p:blipFill>
          <a:blip r:embed="rId2"/>
          <a:stretch>
            <a:fillRect/>
          </a:stretch>
        </p:blipFill>
        <p:spPr>
          <a:xfrm>
            <a:off x="6959600" y="2374900"/>
            <a:ext cx="546100" cy="546100"/>
          </a:xfrm>
          <a:prstGeom prst="rect">
            <a:avLst/>
          </a:prstGeom>
        </p:spPr>
      </p:pic>
      <p:sp>
        <p:nvSpPr>
          <p:cNvPr id="33" name="TextBox 32"/>
          <p:cNvSpPr txBox="1"/>
          <p:nvPr/>
        </p:nvSpPr>
        <p:spPr>
          <a:xfrm>
            <a:off x="7683500" y="2413000"/>
            <a:ext cx="36195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CLUSTER B</a:t>
            </a:r>
          </a:p>
        </p:txBody>
      </p:sp>
      <p:sp>
        <p:nvSpPr>
          <p:cNvPr id="34" name="TextBox 33"/>
          <p:cNvSpPr txBox="1"/>
          <p:nvPr/>
        </p:nvSpPr>
        <p:spPr>
          <a:xfrm>
            <a:off x="6959600" y="3048000"/>
            <a:ext cx="27178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SECONDARY APPLICATION</a:t>
            </a:r>
          </a:p>
        </p:txBody>
      </p:sp>
      <p:sp>
        <p:nvSpPr>
          <p:cNvPr id="35" name="Rounded Rectangle 34"/>
          <p:cNvSpPr/>
          <p:nvPr/>
        </p:nvSpPr>
        <p:spPr>
          <a:xfrm>
            <a:off x="9880600" y="2946400"/>
            <a:ext cx="1422400" cy="317500"/>
          </a:xfrm>
          <a:prstGeom prst="roundRect">
            <a:avLst>
              <a:gd name="adj" fmla="val 48000"/>
            </a:avLst>
          </a:prstGeom>
          <a:solidFill>
            <a:srgbClr val="E8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44100" y="2997200"/>
            <a:ext cx="1295400" cy="206375"/>
          </a:xfrm>
          <a:prstGeom prst="rect">
            <a:avLst/>
          </a:prstGeom>
          <a:noFill/>
        </p:spPr>
        <p:txBody>
          <a:bodyPr wrap="none" lIns="0" rIns="0" tIns="0" bIns="0" anchor="t">
            <a:noAutofit/>
          </a:bodyPr>
          <a:lstStyle/>
          <a:p>
            <a:pPr algn="ctr">
              <a:lnSpc>
                <a:spcPts val="1300"/>
              </a:lnSpc>
              <a:spcBef>
                <a:spcPts val="0"/>
              </a:spcBef>
              <a:spcAft>
                <a:spcPts val="0"/>
              </a:spcAft>
            </a:pPr>
            <a:r>
              <a:rPr sz="1300" b="1">
                <a:solidFill>
                  <a:srgbClr val="177C58"/>
                </a:solidFill>
                <a:latin typeface="Arial"/>
              </a:rPr>
              <a:t>APP READY</a:t>
            </a:r>
          </a:p>
        </p:txBody>
      </p:sp>
      <p:sp>
        <p:nvSpPr>
          <p:cNvPr id="37" name="Rounded Rectangle 36"/>
          <p:cNvSpPr/>
          <p:nvPr/>
        </p:nvSpPr>
        <p:spPr>
          <a:xfrm>
            <a:off x="6959600" y="3606800"/>
            <a:ext cx="1600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86600" y="3725663"/>
            <a:ext cx="381000" cy="371872"/>
          </a:xfrm>
          <a:prstGeom prst="rect">
            <a:avLst/>
          </a:prstGeom>
        </p:spPr>
      </p:pic>
      <p:sp>
        <p:nvSpPr>
          <p:cNvPr id="39" name="TextBox 38"/>
          <p:cNvSpPr txBox="1"/>
          <p:nvPr/>
        </p:nvSpPr>
        <p:spPr>
          <a:xfrm>
            <a:off x="7594600" y="3771900"/>
            <a:ext cx="825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k8gb</a:t>
            </a:r>
          </a:p>
        </p:txBody>
      </p:sp>
      <p:cxnSp>
        <p:nvCxnSpPr>
          <p:cNvPr id="40" name="Connector 39"/>
          <p:cNvCxnSpPr/>
          <p:nvPr/>
        </p:nvCxnSpPr>
        <p:spPr>
          <a:xfrm>
            <a:off x="8559800" y="3924300"/>
            <a:ext cx="762000" cy="0"/>
          </a:xfrm>
          <a:prstGeom prst="line">
            <a:avLst/>
          </a:prstGeom>
          <a:ln w="2286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321800" y="3606800"/>
            <a:ext cx="1981200" cy="635000"/>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4"/>
          <a:stretch>
            <a:fillRect/>
          </a:stretch>
        </p:blipFill>
        <p:spPr>
          <a:xfrm>
            <a:off x="9448800" y="3721100"/>
            <a:ext cx="381000" cy="381000"/>
          </a:xfrm>
          <a:prstGeom prst="rect">
            <a:avLst/>
          </a:prstGeom>
        </p:spPr>
      </p:pic>
      <p:sp>
        <p:nvSpPr>
          <p:cNvPr id="43" name="TextBox 42"/>
          <p:cNvSpPr txBox="1"/>
          <p:nvPr/>
        </p:nvSpPr>
        <p:spPr>
          <a:xfrm>
            <a:off x="9956800" y="3771900"/>
            <a:ext cx="1206500" cy="330200"/>
          </a:xfrm>
          <a:prstGeom prst="rect">
            <a:avLst/>
          </a:prstGeom>
          <a:noFill/>
        </p:spPr>
        <p:txBody>
          <a:bodyPr wrap="none" lIns="0" rIns="0" tIns="0" bIns="0" anchor="t">
            <a:noAutofit/>
          </a:bodyPr>
          <a:lstStyle/>
          <a:p>
            <a:pPr algn="l">
              <a:lnSpc>
                <a:spcPts val="2300"/>
              </a:lnSpc>
              <a:spcBef>
                <a:spcPts val="0"/>
              </a:spcBef>
              <a:spcAft>
                <a:spcPts val="0"/>
              </a:spcAft>
            </a:pPr>
            <a:r>
              <a:rPr sz="2000" b="1">
                <a:solidFill>
                  <a:srgbClr val="142338"/>
                </a:solidFill>
                <a:latin typeface="Arial"/>
              </a:rPr>
              <a:t>CoreDNS</a:t>
            </a:r>
          </a:p>
        </p:txBody>
      </p:sp>
      <p:cxnSp>
        <p:nvCxnSpPr>
          <p:cNvPr id="44" name="Connector 43"/>
          <p:cNvCxnSpPr/>
          <p:nvPr/>
        </p:nvCxnSpPr>
        <p:spPr>
          <a:xfrm>
            <a:off x="10312400" y="4241800"/>
            <a:ext cx="0" cy="241300"/>
          </a:xfrm>
          <a:prstGeom prst="line">
            <a:avLst/>
          </a:prstGeom>
          <a:ln w="19050">
            <a:solidFill>
              <a:srgbClr val="6DD3C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959600" y="4483100"/>
            <a:ext cx="4343400" cy="723900"/>
          </a:xfrm>
          <a:prstGeom prst="roundRect">
            <a:avLst>
              <a:gd name="adj" fmla="val 12280"/>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62800" y="4584700"/>
            <a:ext cx="3048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087F85"/>
                </a:solidFill>
                <a:latin typeface="Arial"/>
              </a:rPr>
              <a:t>AUTHORITATIVE ANSWER</a:t>
            </a:r>
          </a:p>
        </p:txBody>
      </p:sp>
      <p:sp>
        <p:nvSpPr>
          <p:cNvPr id="47" name="TextBox 46"/>
          <p:cNvSpPr txBox="1"/>
          <p:nvPr/>
        </p:nvSpPr>
        <p:spPr>
          <a:xfrm>
            <a:off x="7162800" y="4800600"/>
            <a:ext cx="30480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rPr>
              <a:t>Application IPs: B</a:t>
            </a:r>
          </a:p>
        </p:txBody>
      </p:sp>
      <p:sp>
        <p:nvSpPr>
          <p:cNvPr id="48" name="Oval 47"/>
          <p:cNvSpPr/>
          <p:nvPr/>
        </p:nvSpPr>
        <p:spPr>
          <a:xfrm>
            <a:off x="10655300" y="4635500"/>
            <a:ext cx="431800" cy="43180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55300" y="4686300"/>
            <a:ext cx="431800" cy="359409"/>
          </a:xfrm>
          <a:prstGeom prst="rect">
            <a:avLst/>
          </a:prstGeom>
          <a:noFill/>
        </p:spPr>
        <p:txBody>
          <a:bodyPr wrap="none" lIns="0" rIns="0" tIns="0" bIns="0" anchor="t">
            <a:noAutofit/>
          </a:bodyPr>
          <a:lstStyle/>
          <a:p>
            <a:pPr algn="ctr">
              <a:lnSpc>
                <a:spcPts val="2529"/>
              </a:lnSpc>
              <a:spcBef>
                <a:spcPts val="0"/>
              </a:spcBef>
              <a:spcAft>
                <a:spcPts val="0"/>
              </a:spcAft>
            </a:pPr>
            <a:r>
              <a:rPr sz="2200" b="1">
                <a:solidFill>
                  <a:srgbClr val="FFFFFF"/>
                </a:solidFill>
                <a:latin typeface="Arial"/>
              </a:rPr>
              <a:t>B</a:t>
            </a:r>
          </a:p>
        </p:txBody>
      </p:sp>
      <p:cxnSp>
        <p:nvCxnSpPr>
          <p:cNvPr id="50" name="Connector 49"/>
          <p:cNvCxnSpPr/>
          <p:nvPr/>
        </p:nvCxnSpPr>
        <p:spPr>
          <a:xfrm flipH="1">
            <a:off x="5232400" y="3924300"/>
            <a:ext cx="1727200" cy="0"/>
          </a:xfrm>
          <a:prstGeom prst="line">
            <a:avLst/>
          </a:prstGeom>
          <a:ln w="25400">
            <a:solidFill>
              <a:srgbClr val="F79BB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511800" y="3492500"/>
            <a:ext cx="1168400" cy="184150"/>
          </a:xfrm>
          <a:prstGeom prst="rect">
            <a:avLst/>
          </a:prstGeom>
          <a:noFill/>
        </p:spPr>
        <p:txBody>
          <a:bodyPr wrap="none" lIns="0" rIns="0" tIns="0" bIns="0" anchor="t">
            <a:noAutofit/>
          </a:bodyPr>
          <a:lstStyle/>
          <a:p>
            <a:pPr algn="ctr">
              <a:lnSpc>
                <a:spcPts val="1150"/>
              </a:lnSpc>
              <a:spcBef>
                <a:spcPts val="0"/>
              </a:spcBef>
              <a:spcAft>
                <a:spcPts val="0"/>
              </a:spcAft>
            </a:pPr>
            <a:r>
              <a:rPr sz="1000" b="1">
                <a:solidFill>
                  <a:srgbClr val="F79BB0"/>
                </a:solidFill>
                <a:latin typeface="Arial"/>
              </a:rPr>
              <a:t>PEER QUERY</a:t>
            </a:r>
          </a:p>
        </p:txBody>
      </p:sp>
      <p:sp>
        <p:nvSpPr>
          <p:cNvPr id="52" name="Oval 51"/>
          <p:cNvSpPr/>
          <p:nvPr/>
        </p:nvSpPr>
        <p:spPr>
          <a:xfrm>
            <a:off x="5930900" y="3759200"/>
            <a:ext cx="330200" cy="330200"/>
          </a:xfrm>
          <a:prstGeom prst="ellipse">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007100" y="3835400"/>
            <a:ext cx="177800" cy="177800"/>
          </a:xfrm>
          <a:prstGeom prst="line">
            <a:avLst/>
          </a:prstGeom>
          <a:ln w="31750">
            <a:solidFill>
              <a:srgbClr val="F79BB0"/>
            </a:solidFill>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842000" y="4635500"/>
            <a:ext cx="508000" cy="476250"/>
          </a:xfrm>
          <a:prstGeom prst="rect">
            <a:avLst/>
          </a:prstGeom>
          <a:noFill/>
        </p:spPr>
        <p:txBody>
          <a:bodyPr wrap="none" lIns="0" rIns="0" tIns="0" bIns="0" anchor="t">
            <a:noAutofit/>
          </a:bodyPr>
          <a:lstStyle/>
          <a:p>
            <a:pPr algn="ctr">
              <a:lnSpc>
                <a:spcPts val="3450"/>
              </a:lnSpc>
              <a:spcBef>
                <a:spcPts val="0"/>
              </a:spcBef>
              <a:spcAft>
                <a:spcPts val="0"/>
              </a:spcAft>
            </a:pPr>
            <a:r>
              <a:rPr sz="3000" b="1">
                <a:solidFill>
                  <a:srgbClr val="F79BB0"/>
                </a:solidFill>
                <a:latin typeface="Arial"/>
              </a:rPr>
              <a:t>≠</a:t>
            </a:r>
          </a:p>
        </p:txBody>
      </p:sp>
      <p:sp>
        <p:nvSpPr>
          <p:cNvPr id="56" name="TextBox 55"/>
          <p:cNvSpPr txBox="1"/>
          <p:nvPr/>
        </p:nvSpPr>
        <p:spPr>
          <a:xfrm>
            <a:off x="1625600" y="5524500"/>
            <a:ext cx="89408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F79BB0"/>
                </a:solidFill>
                <a:latin typeface="Arial"/>
              </a:rPr>
              <a:t>B cannot obtain A’s peer-health answer.</a:t>
            </a:r>
          </a:p>
        </p:txBody>
      </p:sp>
      <p:sp>
        <p:nvSpPr>
          <p:cNvPr id="57" name="Rounded Rectangle 56"/>
          <p:cNvSpPr/>
          <p:nvPr/>
        </p:nvSpPr>
        <p:spPr>
          <a:xfrm>
            <a:off x="609600" y="5930900"/>
            <a:ext cx="10972800" cy="457200"/>
          </a:xfrm>
          <a:prstGeom prst="roundRect">
            <a:avLst>
              <a:gd name="adj" fmla="val 13888"/>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7400" y="6007100"/>
            <a:ext cx="106172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A failed health query does not prove the application is down.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AVAILABILITY MODEL</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22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Traffic recovery is one part of availability</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DNS failover, data recovery, and sessions need separate plans.</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209800"/>
            <a:ext cx="70358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9600" y="2159000"/>
            <a:ext cx="7035800" cy="3429000"/>
          </a:xfrm>
          <a:prstGeom prst="roundRect">
            <a:avLst>
              <a:gd name="adj" fmla="val 370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2"/>
          <a:stretch>
            <a:fillRect/>
          </a:stretch>
        </p:blipFill>
        <p:spPr>
          <a:xfrm>
            <a:off x="863600" y="2367676"/>
            <a:ext cx="457200" cy="446247"/>
          </a:xfrm>
          <a:prstGeom prst="rect">
            <a:avLst/>
          </a:prstGeom>
        </p:spPr>
      </p:pic>
      <p:sp>
        <p:nvSpPr>
          <p:cNvPr id="13" name="TextBox 12"/>
          <p:cNvSpPr txBox="1"/>
          <p:nvPr/>
        </p:nvSpPr>
        <p:spPr>
          <a:xfrm>
            <a:off x="1473200" y="2476500"/>
            <a:ext cx="59182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142338"/>
                </a:solidFill>
                <a:latin typeface="Arial"/>
              </a:rPr>
              <a:t>k8gb · TRAFFIC STEERING</a:t>
            </a:r>
          </a:p>
        </p:txBody>
      </p:sp>
      <p:cxnSp>
        <p:nvCxnSpPr>
          <p:cNvPr id="14" name="Connector 13"/>
          <p:cNvCxnSpPr/>
          <p:nvPr/>
        </p:nvCxnSpPr>
        <p:spPr>
          <a:xfrm>
            <a:off x="863600" y="2959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701800" y="3149600"/>
            <a:ext cx="2540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5D6F82"/>
                </a:solidFill>
                <a:latin typeface="Arial"/>
              </a:rPr>
              <a:t>FAILURE</a:t>
            </a:r>
          </a:p>
        </p:txBody>
      </p:sp>
      <p:sp>
        <p:nvSpPr>
          <p:cNvPr id="16" name="TextBox 15"/>
          <p:cNvSpPr txBox="1"/>
          <p:nvPr/>
        </p:nvSpPr>
        <p:spPr>
          <a:xfrm>
            <a:off x="5105400" y="3149600"/>
            <a:ext cx="2286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2762C8"/>
                </a:solidFill>
                <a:latin typeface="Arial"/>
              </a:rPr>
              <a:t>DNS RESPONSE</a:t>
            </a:r>
          </a:p>
        </p:txBody>
      </p:sp>
      <p:cxnSp>
        <p:nvCxnSpPr>
          <p:cNvPr id="17" name="Connector 16"/>
          <p:cNvCxnSpPr/>
          <p:nvPr/>
        </p:nvCxnSpPr>
        <p:spPr>
          <a:xfrm>
            <a:off x="863600" y="4356100"/>
            <a:ext cx="6527800" cy="0"/>
          </a:xfrm>
          <a:prstGeom prst="line">
            <a:avLst/>
          </a:prstGeom>
          <a:ln w="12700">
            <a:solidFill>
              <a:srgbClr val="DAE2EA"/>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63600" y="3479800"/>
            <a:ext cx="685800" cy="685800"/>
          </a:xfrm>
          <a:prstGeom prst="roundRect">
            <a:avLst>
              <a:gd name="adj" fmla="val 1851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1800" y="35052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APPLICATION</a:t>
            </a:r>
          </a:p>
        </p:txBody>
      </p:sp>
      <p:sp>
        <p:nvSpPr>
          <p:cNvPr id="20" name="TextBox 19"/>
          <p:cNvSpPr txBox="1"/>
          <p:nvPr/>
        </p:nvSpPr>
        <p:spPr>
          <a:xfrm>
            <a:off x="1701800" y="39243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Readiness lost</a:t>
            </a:r>
          </a:p>
        </p:txBody>
      </p:sp>
      <p:cxnSp>
        <p:nvCxnSpPr>
          <p:cNvPr id="21" name="Connector 20"/>
          <p:cNvCxnSpPr/>
          <p:nvPr/>
        </p:nvCxnSpPr>
        <p:spPr>
          <a:xfrm>
            <a:off x="4419600" y="3810000"/>
            <a:ext cx="482600" cy="0"/>
          </a:xfrm>
          <a:prstGeom prst="line">
            <a:avLst/>
          </a:prstGeom>
          <a:ln w="25400">
            <a:solidFill>
              <a:srgbClr val="2762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105400" y="35814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2762C8"/>
                </a:solidFill>
                <a:latin typeface="Arial"/>
              </a:rPr>
              <a:t>Exclude unready</a:t>
            </a:r>
          </a:p>
          <a:p>
            <a:pPr algn="l">
              <a:lnSpc>
                <a:spcPts val="2250"/>
              </a:lnSpc>
              <a:spcBef>
                <a:spcPts val="0"/>
              </a:spcBef>
              <a:spcAft>
                <a:spcPts val="0"/>
              </a:spcAft>
            </a:pPr>
            <a:r>
              <a:rPr sz="1800" b="1">
                <a:solidFill>
                  <a:srgbClr val="2762C8"/>
                </a:solidFill>
                <a:latin typeface="Arial"/>
              </a:rPr>
              <a:t>targets</a:t>
            </a:r>
          </a:p>
        </p:txBody>
      </p:sp>
      <p:sp>
        <p:nvSpPr>
          <p:cNvPr id="23" name="Rounded Rectangle 22"/>
          <p:cNvSpPr/>
          <p:nvPr/>
        </p:nvSpPr>
        <p:spPr>
          <a:xfrm>
            <a:off x="863600" y="4597400"/>
            <a:ext cx="685800" cy="685800"/>
          </a:xfrm>
          <a:prstGeom prst="roundRect">
            <a:avLst>
              <a:gd name="adj" fmla="val 18518"/>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701800" y="4622800"/>
            <a:ext cx="26670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rPr>
              <a:t>CLUSTER / REGION</a:t>
            </a:r>
          </a:p>
        </p:txBody>
      </p:sp>
      <p:sp>
        <p:nvSpPr>
          <p:cNvPr id="25" name="TextBox 24"/>
          <p:cNvSpPr txBox="1"/>
          <p:nvPr/>
        </p:nvSpPr>
        <p:spPr>
          <a:xfrm>
            <a:off x="1701800" y="5041900"/>
            <a:ext cx="2667000" cy="271780"/>
          </a:xfrm>
          <a:prstGeom prst="rect">
            <a:avLst/>
          </a:prstGeom>
          <a:noFill/>
        </p:spPr>
        <p:txBody>
          <a:bodyPr wrap="none" lIns="0" rIns="0" tIns="0" bIns="0" anchor="t">
            <a:noAutofit/>
          </a:bodyPr>
          <a:lstStyle/>
          <a:p>
            <a:pPr algn="l">
              <a:lnSpc>
                <a:spcPts val="1839"/>
              </a:lnSpc>
              <a:spcBef>
                <a:spcPts val="0"/>
              </a:spcBef>
              <a:spcAft>
                <a:spcPts val="0"/>
              </a:spcAft>
            </a:pPr>
            <a:r>
              <a:rPr sz="1600" b="0">
                <a:solidFill>
                  <a:srgbClr val="5D6F82"/>
                </a:solidFill>
                <a:latin typeface="Arial"/>
              </a:rPr>
              <a:t>Cluster unavailable</a:t>
            </a:r>
          </a:p>
        </p:txBody>
      </p:sp>
      <p:cxnSp>
        <p:nvCxnSpPr>
          <p:cNvPr id="26" name="Connector 25"/>
          <p:cNvCxnSpPr/>
          <p:nvPr/>
        </p:nvCxnSpPr>
        <p:spPr>
          <a:xfrm>
            <a:off x="4419600" y="4927600"/>
            <a:ext cx="482600" cy="0"/>
          </a:xfrm>
          <a:prstGeom prst="line">
            <a:avLst/>
          </a:prstGeom>
          <a:ln w="25400">
            <a:solidFill>
              <a:srgbClr val="087F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105400" y="4699000"/>
            <a:ext cx="2286000" cy="609600"/>
          </a:xfrm>
          <a:prstGeom prst="rect">
            <a:avLst/>
          </a:prstGeom>
          <a:noFill/>
        </p:spPr>
        <p:txBody>
          <a:bodyPr wrap="none" lIns="0" rIns="0" tIns="0" bIns="0" anchor="t">
            <a:noAutofit/>
          </a:bodyPr>
          <a:lstStyle/>
          <a:p>
            <a:pPr algn="l">
              <a:lnSpc>
                <a:spcPts val="2250"/>
              </a:lnSpc>
              <a:spcBef>
                <a:spcPts val="0"/>
              </a:spcBef>
              <a:spcAft>
                <a:spcPts val="0"/>
              </a:spcAft>
            </a:pPr>
            <a:r>
              <a:rPr sz="1800" b="1">
                <a:solidFill>
                  <a:srgbClr val="087F85"/>
                </a:solidFill>
                <a:latin typeface="Arial"/>
              </a:rPr>
              <a:t>Publish healthy</a:t>
            </a:r>
          </a:p>
          <a:p>
            <a:pPr algn="l">
              <a:lnSpc>
                <a:spcPts val="2250"/>
              </a:lnSpc>
              <a:spcBef>
                <a:spcPts val="0"/>
              </a:spcBef>
              <a:spcAft>
                <a:spcPts val="0"/>
              </a:spcAft>
            </a:pPr>
            <a:r>
              <a:rPr sz="1800" b="1">
                <a:solidFill>
                  <a:srgbClr val="087F85"/>
                </a:solidFill>
                <a:latin typeface="Arial"/>
              </a:rPr>
              <a:t>cluster targets</a:t>
            </a:r>
          </a:p>
        </p:txBody>
      </p:sp>
      <p:sp>
        <p:nvSpPr>
          <p:cNvPr id="28" name="Rounded Rectangle 27"/>
          <p:cNvSpPr/>
          <p:nvPr/>
        </p:nvSpPr>
        <p:spPr>
          <a:xfrm>
            <a:off x="990600" y="3581400"/>
            <a:ext cx="431800" cy="393700"/>
          </a:xfrm>
          <a:prstGeom prst="roundRect">
            <a:avLst>
              <a:gd name="adj" fmla="val 12903"/>
            </a:avLst>
          </a:prstGeom>
          <a:solidFill>
            <a:srgbClr val="FFFFFF"/>
          </a:solidFill>
          <a:ln w="20320">
            <a:solidFill>
              <a:srgbClr val="2762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90600" y="3683000"/>
            <a:ext cx="431800" cy="0"/>
          </a:xfrm>
          <a:prstGeom prst="line">
            <a:avLst/>
          </a:prstGeom>
          <a:ln w="16510">
            <a:solidFill>
              <a:srgbClr val="2762C8"/>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038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023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65860" y="3616960"/>
            <a:ext cx="30480" cy="3048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143000" y="3784600"/>
            <a:ext cx="101600" cy="101600"/>
          </a:xfrm>
          <a:prstGeom prst="line">
            <a:avLst/>
          </a:prstGeom>
          <a:ln w="24130">
            <a:solidFill>
              <a:srgbClr val="CF0035"/>
            </a:solidFill>
          </a:ln>
        </p:spPr>
        <p:style>
          <a:lnRef idx="2">
            <a:schemeClr val="accent1"/>
          </a:lnRef>
          <a:fillRef idx="0">
            <a:schemeClr val="accent1"/>
          </a:fillRef>
          <a:effectRef idx="1">
            <a:schemeClr val="accent1"/>
          </a:effectRef>
          <a:fontRef idx="minor">
            <a:schemeClr val="tx1"/>
          </a:fontRef>
        </p:style>
      </p:cxnSp>
      <p:pic>
        <p:nvPicPr>
          <p:cNvPr id="35" name="Picture 34" descr="image.png"/>
          <p:cNvPicPr>
            <a:picLocks noChangeAspect="1"/>
          </p:cNvPicPr>
          <p:nvPr/>
        </p:nvPicPr>
        <p:blipFill>
          <a:blip r:embed="rId3"/>
          <a:stretch>
            <a:fillRect/>
          </a:stretch>
        </p:blipFill>
        <p:spPr>
          <a:xfrm>
            <a:off x="939800" y="4673600"/>
            <a:ext cx="533400" cy="533400"/>
          </a:xfrm>
          <a:prstGeom prst="rect">
            <a:avLst/>
          </a:prstGeom>
        </p:spPr>
      </p:pic>
      <p:sp>
        <p:nvSpPr>
          <p:cNvPr id="36" name="Rounded Rectangle 35"/>
          <p:cNvSpPr/>
          <p:nvPr/>
        </p:nvSpPr>
        <p:spPr>
          <a:xfrm>
            <a:off x="7950200" y="2209800"/>
            <a:ext cx="3632200" cy="3429000"/>
          </a:xfrm>
          <a:prstGeom prst="roundRect">
            <a:avLst>
              <a:gd name="adj" fmla="val 370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50200" y="2159000"/>
            <a:ext cx="3632200" cy="3429000"/>
          </a:xfrm>
          <a:prstGeom prst="roundRect">
            <a:avLst>
              <a:gd name="adj" fmla="val 370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8255000" y="2171700"/>
            <a:ext cx="3022600" cy="0"/>
          </a:xfrm>
          <a:prstGeom prst="line">
            <a:avLst/>
          </a:prstGeom>
          <a:ln w="38100">
            <a:solidFill>
              <a:srgbClr val="CF0035"/>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55000" y="2451100"/>
            <a:ext cx="30226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F79BB0"/>
                </a:solidFill>
                <a:latin typeface="Arial"/>
              </a:rPr>
              <a:t>APPLICATION RESPONSIBILITY</a:t>
            </a:r>
          </a:p>
        </p:txBody>
      </p:sp>
      <p:sp>
        <p:nvSpPr>
          <p:cNvPr id="40" name="Rounded Rectangle 39"/>
          <p:cNvSpPr/>
          <p:nvPr/>
        </p:nvSpPr>
        <p:spPr>
          <a:xfrm>
            <a:off x="8255000" y="2870200"/>
            <a:ext cx="812800" cy="812800"/>
          </a:xfrm>
          <a:prstGeom prst="roundRect">
            <a:avLst>
              <a:gd name="adj" fmla="val 18750"/>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07400" y="3340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407400" y="3162300"/>
            <a:ext cx="508000" cy="254000"/>
          </a:xfrm>
          <a:prstGeom prst="rect">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8407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915400" y="3162300"/>
            <a:ext cx="0" cy="254000"/>
          </a:xfrm>
          <a:prstGeom prst="line">
            <a:avLst/>
          </a:prstGeom>
          <a:ln w="21590">
            <a:solidFill>
              <a:srgbClr val="F79BB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8407400" y="3213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07400" y="3086100"/>
            <a:ext cx="508000" cy="152400"/>
          </a:xfrm>
          <a:prstGeom prst="ellipse">
            <a:avLst/>
          </a:prstGeom>
          <a:solidFill>
            <a:srgbClr val="1A3047"/>
          </a:solidFill>
          <a:ln w="21590">
            <a:solidFill>
              <a:srgbClr val="F79B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55000" y="3873500"/>
            <a:ext cx="30226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STATEFUL DATA</a:t>
            </a:r>
          </a:p>
        </p:txBody>
      </p:sp>
      <p:sp>
        <p:nvSpPr>
          <p:cNvPr id="48" name="TextBox 47"/>
          <p:cNvSpPr txBox="1"/>
          <p:nvPr/>
        </p:nvSpPr>
        <p:spPr>
          <a:xfrm>
            <a:off x="8255000" y="4394200"/>
            <a:ext cx="3022600" cy="609600"/>
          </a:xfrm>
          <a:prstGeom prst="rect">
            <a:avLst/>
          </a:prstGeom>
          <a:noFill/>
        </p:spPr>
        <p:txBody>
          <a:bodyPr wrap="none" lIns="0" rIns="0" tIns="0" bIns="0" anchor="t">
            <a:noAutofit/>
          </a:bodyPr>
          <a:lstStyle/>
          <a:p>
            <a:pPr algn="l">
              <a:lnSpc>
                <a:spcPts val="2250"/>
              </a:lnSpc>
              <a:spcBef>
                <a:spcPts val="0"/>
              </a:spcBef>
              <a:spcAft>
                <a:spcPts val="0"/>
              </a:spcAft>
            </a:pPr>
            <a:r>
              <a:rPr sz="1800" b="0">
                <a:solidFill>
                  <a:srgbClr val="B8C8D9"/>
                </a:solidFill>
                <a:latin typeface="Arial"/>
              </a:rPr>
              <a:t>Replication, fencing,</a:t>
            </a:r>
          </a:p>
          <a:p>
            <a:pPr algn="l">
              <a:lnSpc>
                <a:spcPts val="2250"/>
              </a:lnSpc>
              <a:spcBef>
                <a:spcPts val="0"/>
              </a:spcBef>
              <a:spcAft>
                <a:spcPts val="0"/>
              </a:spcAft>
            </a:pPr>
            <a:r>
              <a:rPr sz="1800" b="0">
                <a:solidFill>
                  <a:srgbClr val="B8C8D9"/>
                </a:solidFill>
                <a:latin typeface="Arial"/>
              </a:rPr>
              <a:t>and recovery are yours.</a:t>
            </a:r>
          </a:p>
        </p:txBody>
      </p:sp>
      <p:cxnSp>
        <p:nvCxnSpPr>
          <p:cNvPr id="49" name="Connector 48"/>
          <p:cNvCxnSpPr/>
          <p:nvPr/>
        </p:nvCxnSpPr>
        <p:spPr>
          <a:xfrm>
            <a:off x="8255000" y="5054600"/>
            <a:ext cx="3022600" cy="0"/>
          </a:xfrm>
          <a:prstGeom prst="line">
            <a:avLst/>
          </a:prstGeom>
          <a:ln w="12700">
            <a:solidFill>
              <a:srgbClr val="385068"/>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255000" y="5207000"/>
            <a:ext cx="3022600" cy="257175"/>
          </a:xfrm>
          <a:prstGeom prst="rect">
            <a:avLst/>
          </a:prstGeom>
          <a:noFill/>
        </p:spPr>
        <p:txBody>
          <a:bodyPr wrap="none" lIns="0" rIns="0" tIns="0" bIns="0" anchor="t">
            <a:noAutofit/>
          </a:bodyPr>
          <a:lstStyle/>
          <a:p>
            <a:pPr algn="l">
              <a:lnSpc>
                <a:spcPts val="1725"/>
              </a:lnSpc>
              <a:spcBef>
                <a:spcPts val="0"/>
              </a:spcBef>
              <a:spcAft>
                <a:spcPts val="0"/>
              </a:spcAft>
            </a:pPr>
            <a:r>
              <a:rPr sz="1500" b="0">
                <a:solidFill>
                  <a:srgbClr val="F79BB0"/>
                </a:solidFill>
                <a:latin typeface="Arial"/>
              </a:rPr>
              <a:t>Plan session recovery too.</a:t>
            </a:r>
          </a:p>
        </p:txBody>
      </p:sp>
      <p:sp>
        <p:nvSpPr>
          <p:cNvPr id="51" name="Rounded Rectangle 50"/>
          <p:cNvSpPr/>
          <p:nvPr/>
        </p:nvSpPr>
        <p:spPr>
          <a:xfrm>
            <a:off x="609600" y="5816600"/>
            <a:ext cx="10972800" cy="457200"/>
          </a:xfrm>
          <a:prstGeom prst="roundRect">
            <a:avLst>
              <a:gd name="adj" fmla="val 166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800" y="5905500"/>
            <a:ext cx="105664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Traffic recovery ≠ data recovery ≠ session continuity.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F46A87"/>
                </a:solidFill>
                <a:latin typeface="Arial"/>
              </a:rPr>
              <a:t>RESILIENCE TESTING</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B8C8D9"/>
                </a:solidFill>
                <a:latin typeface="Arial"/>
              </a:rPr>
              <a:t>23 / 26</a:t>
            </a:r>
          </a:p>
        </p:txBody>
      </p:sp>
      <p:cxnSp>
        <p:nvCxnSpPr>
          <p:cNvPr id="5" name="Connector 4"/>
          <p:cNvCxnSpPr/>
          <p:nvPr/>
        </p:nvCxnSpPr>
        <p:spPr>
          <a:xfrm>
            <a:off x="609600" y="6426200"/>
            <a:ext cx="10972800" cy="0"/>
          </a:xfrm>
          <a:prstGeom prst="line">
            <a:avLst/>
          </a:prstGeom>
          <a:ln w="8890">
            <a:solidFill>
              <a:srgbClr val="38506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B8C8D9"/>
                </a:solidFill>
                <a:latin typeface="Arial"/>
              </a:rPr>
              <a:t>SOVEREIGN CLOUD DAYS 2026</a:t>
            </a:r>
          </a:p>
        </p:txBody>
      </p:sp>
      <p:sp>
        <p:nvSpPr>
          <p:cNvPr id="7" name="TextBox 6"/>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B8C8D9"/>
                </a:solidFill>
                <a:latin typeface="Arial"/>
              </a:rPr>
              <a:t>YURY TSAREV  /  K8GB</a:t>
            </a:r>
          </a:p>
        </p:txBody>
      </p:sp>
      <p:sp>
        <p:nvSpPr>
          <p:cNvPr id="8" name="TextBox 7"/>
          <p:cNvSpPr txBox="1"/>
          <p:nvPr/>
        </p:nvSpPr>
        <p:spPr>
          <a:xfrm>
            <a:off x="609600" y="825500"/>
            <a:ext cx="9271000" cy="1080516"/>
          </a:xfrm>
          <a:prstGeom prst="rect">
            <a:avLst/>
          </a:prstGeom>
          <a:noFill/>
        </p:spPr>
        <p:txBody>
          <a:bodyPr wrap="none" lIns="0" rIns="0" tIns="0" bIns="0" anchor="t">
            <a:noAutofit/>
          </a:bodyPr>
          <a:lstStyle/>
          <a:p>
            <a:pPr algn="l">
              <a:lnSpc>
                <a:spcPts val="4104"/>
              </a:lnSpc>
              <a:spcBef>
                <a:spcPts val="0"/>
              </a:spcBef>
              <a:spcAft>
                <a:spcPts val="0"/>
              </a:spcAft>
            </a:pPr>
            <a:r>
              <a:rPr sz="3800" b="1">
                <a:solidFill>
                  <a:srgbClr val="FFFFFF"/>
                </a:solidFill>
                <a:latin typeface="Arial"/>
              </a:rPr>
              <a:t>Test your traffic strategy</a:t>
            </a:r>
          </a:p>
          <a:p>
            <a:pPr algn="l">
              <a:lnSpc>
                <a:spcPts val="4104"/>
              </a:lnSpc>
              <a:spcBef>
                <a:spcPts val="0"/>
              </a:spcBef>
              <a:spcAft>
                <a:spcPts val="0"/>
              </a:spcAft>
            </a:pPr>
            <a:r>
              <a:rPr sz="3800" b="1">
                <a:solidFill>
                  <a:srgbClr val="FFFFFF"/>
                </a:solidFill>
                <a:latin typeface="Arial"/>
              </a:rPr>
              <a:t>in your environment</a:t>
            </a:r>
          </a:p>
        </p:txBody>
      </p:sp>
      <p:pic>
        <p:nvPicPr>
          <p:cNvPr id="9" name="Picture 8" descr="image.png"/>
          <p:cNvPicPr>
            <a:picLocks noChangeAspect="1"/>
          </p:cNvPicPr>
          <p:nvPr/>
        </p:nvPicPr>
        <p:blipFill>
          <a:blip r:embed="rId2"/>
          <a:stretch>
            <a:fillRect/>
          </a:stretch>
        </p:blipFill>
        <p:spPr>
          <a:xfrm>
            <a:off x="10388600" y="915086"/>
            <a:ext cx="1117600" cy="1090827"/>
          </a:xfrm>
          <a:prstGeom prst="rect">
            <a:avLst/>
          </a:prstGeom>
        </p:spPr>
      </p:pic>
      <p:sp>
        <p:nvSpPr>
          <p:cNvPr id="10" name="TextBox 9"/>
          <p:cNvSpPr txBox="1"/>
          <p:nvPr/>
        </p:nvSpPr>
        <p:spPr>
          <a:xfrm>
            <a:off x="812800" y="24257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3ADFF"/>
                </a:solidFill>
                <a:latin typeface="Arial"/>
              </a:rPr>
              <a:t>Define expectations</a:t>
            </a:r>
          </a:p>
        </p:txBody>
      </p:sp>
      <p:sp>
        <p:nvSpPr>
          <p:cNvPr id="11" name="TextBox 10"/>
          <p:cNvSpPr txBox="1"/>
          <p:nvPr/>
        </p:nvSpPr>
        <p:spPr>
          <a:xfrm>
            <a:off x="5029200" y="24511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Expected routing for each scenario.</a:t>
            </a:r>
          </a:p>
        </p:txBody>
      </p:sp>
      <p:cxnSp>
        <p:nvCxnSpPr>
          <p:cNvPr id="12" name="Connector 11"/>
          <p:cNvCxnSpPr/>
          <p:nvPr/>
        </p:nvCxnSpPr>
        <p:spPr>
          <a:xfrm>
            <a:off x="812800" y="29845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12800" y="32004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66CBC9"/>
                </a:solidFill>
                <a:latin typeface="Arial"/>
              </a:rPr>
              <a:t>Rehearse scenarios</a:t>
            </a:r>
          </a:p>
        </p:txBody>
      </p:sp>
      <p:sp>
        <p:nvSpPr>
          <p:cNvPr id="14" name="TextBox 13"/>
          <p:cNvSpPr txBox="1"/>
          <p:nvPr/>
        </p:nvSpPr>
        <p:spPr>
          <a:xfrm>
            <a:off x="5029200" y="32258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Failures and recovery in your environment.</a:t>
            </a:r>
          </a:p>
        </p:txBody>
      </p:sp>
      <p:cxnSp>
        <p:nvCxnSpPr>
          <p:cNvPr id="15" name="Connector 14"/>
          <p:cNvCxnSpPr/>
          <p:nvPr/>
        </p:nvCxnSpPr>
        <p:spPr>
          <a:xfrm>
            <a:off x="812800" y="37592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2800" y="39751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79BB0"/>
                </a:solidFill>
                <a:latin typeface="Arial"/>
              </a:rPr>
              <a:t>Verify the result</a:t>
            </a:r>
          </a:p>
        </p:txBody>
      </p:sp>
      <p:sp>
        <p:nvSpPr>
          <p:cNvPr id="17" name="TextBox 16"/>
          <p:cNvSpPr txBox="1"/>
          <p:nvPr/>
        </p:nvSpPr>
        <p:spPr>
          <a:xfrm>
            <a:off x="5029200" y="40005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DNS answers, real requests and timing.</a:t>
            </a:r>
          </a:p>
        </p:txBody>
      </p:sp>
      <p:cxnSp>
        <p:nvCxnSpPr>
          <p:cNvPr id="18" name="Connector 17"/>
          <p:cNvCxnSpPr/>
          <p:nvPr/>
        </p:nvCxnSpPr>
        <p:spPr>
          <a:xfrm>
            <a:off x="812800" y="4533900"/>
            <a:ext cx="10566400" cy="0"/>
          </a:xfrm>
          <a:prstGeom prst="line">
            <a:avLst/>
          </a:prstGeom>
          <a:ln w="10160">
            <a:solidFill>
              <a:srgbClr val="38506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4749800"/>
            <a:ext cx="39370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8ED1AF"/>
                </a:solidFill>
                <a:latin typeface="Arial"/>
              </a:rPr>
              <a:t>Automate and repeat</a:t>
            </a:r>
          </a:p>
        </p:txBody>
      </p:sp>
      <p:sp>
        <p:nvSpPr>
          <p:cNvPr id="20" name="TextBox 19"/>
          <p:cNvSpPr txBox="1"/>
          <p:nvPr/>
        </p:nvSpPr>
        <p:spPr>
          <a:xfrm>
            <a:off x="5029200" y="4775200"/>
            <a:ext cx="63500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FFFFFF"/>
                </a:solidFill>
                <a:latin typeface="Arial"/>
              </a:rPr>
              <a:t>Run the checks after changes.</a:t>
            </a:r>
          </a:p>
        </p:txBody>
      </p:sp>
      <p:sp>
        <p:nvSpPr>
          <p:cNvPr id="21" name="Rounded Rectangle 20"/>
          <p:cNvSpPr/>
          <p:nvPr/>
        </p:nvSpPr>
        <p:spPr>
          <a:xfrm>
            <a:off x="609600" y="5727700"/>
            <a:ext cx="10972800" cy="520700"/>
          </a:xfrm>
          <a:prstGeom prst="roundRect">
            <a:avLst>
              <a:gd name="adj" fmla="val 17073"/>
            </a:avLst>
          </a:prstGeom>
          <a:solidFill>
            <a:srgbClr val="1A30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200" y="5854700"/>
            <a:ext cx="10515600" cy="317500"/>
          </a:xfrm>
          <a:prstGeom prst="rect">
            <a:avLst/>
          </a:prstGeom>
          <a:noFill/>
        </p:spPr>
        <p:txBody>
          <a:bodyPr wrap="none" lIns="0" rIns="0" tIns="0" bIns="0" anchor="t">
            <a:noAutofit/>
          </a:bodyPr>
          <a:lstStyle/>
          <a:p>
            <a:pPr algn="ctr">
              <a:lnSpc>
                <a:spcPts val="2000"/>
              </a:lnSpc>
              <a:spcBef>
                <a:spcPts val="0"/>
              </a:spcBef>
              <a:spcAft>
                <a:spcPts val="0"/>
              </a:spcAft>
            </a:pPr>
            <a:r>
              <a:rPr sz="2000" b="1">
                <a:solidFill>
                  <a:srgbClr val="FFFFFF"/>
                </a:solidFill>
                <a:latin typeface="Arial"/>
              </a:rPr>
              <a:t>Validate failover, failback, and every Gslb strategy you rely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PROJECT &amp;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24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The community behind k8gb</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Public users, shared maintenance, open participation.</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048000" cy="3429000"/>
          </a:xfrm>
          <a:prstGeom prst="roundRect">
            <a:avLst>
              <a:gd name="adj" fmla="val 4166"/>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1384300" y="2367450"/>
            <a:ext cx="1498600" cy="1462699"/>
          </a:xfrm>
          <a:prstGeom prst="rect">
            <a:avLst/>
          </a:prstGeom>
        </p:spPr>
      </p:pic>
      <p:sp>
        <p:nvSpPr>
          <p:cNvPr id="12" name="TextBox 11"/>
          <p:cNvSpPr txBox="1"/>
          <p:nvPr/>
        </p:nvSpPr>
        <p:spPr>
          <a:xfrm>
            <a:off x="863600" y="4076700"/>
            <a:ext cx="2540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B8C8D9"/>
                </a:solidFill>
                <a:latin typeface="Arial"/>
              </a:rPr>
              <a:t>CNCF</a:t>
            </a:r>
          </a:p>
        </p:txBody>
      </p:sp>
      <p:sp>
        <p:nvSpPr>
          <p:cNvPr id="13" name="TextBox 12"/>
          <p:cNvSpPr txBox="1"/>
          <p:nvPr/>
        </p:nvSpPr>
        <p:spPr>
          <a:xfrm>
            <a:off x="787400" y="4394200"/>
            <a:ext cx="2692400" cy="508000"/>
          </a:xfrm>
          <a:prstGeom prst="rect">
            <a:avLst/>
          </a:prstGeom>
          <a:noFill/>
        </p:spPr>
        <p:txBody>
          <a:bodyPr wrap="none" lIns="0" rIns="0" tIns="0" bIns="0" anchor="t">
            <a:noAutofit/>
          </a:bodyPr>
          <a:lstStyle/>
          <a:p>
            <a:pPr algn="ctr">
              <a:lnSpc>
                <a:spcPts val="3679"/>
              </a:lnSpc>
              <a:spcBef>
                <a:spcPts val="0"/>
              </a:spcBef>
              <a:spcAft>
                <a:spcPts val="0"/>
              </a:spcAft>
            </a:pPr>
            <a:r>
              <a:rPr sz="3200" b="1">
                <a:solidFill>
                  <a:srgbClr val="FFFFFF"/>
                </a:solidFill>
                <a:latin typeface="Arial"/>
                <a:hlinkClick r:id="rId3"/>
              </a:rPr>
              <a:t>Incubating</a:t>
            </a:r>
          </a:p>
        </p:txBody>
      </p:sp>
      <p:sp>
        <p:nvSpPr>
          <p:cNvPr id="14" name="TextBox 13"/>
          <p:cNvSpPr txBox="1"/>
          <p:nvPr/>
        </p:nvSpPr>
        <p:spPr>
          <a:xfrm>
            <a:off x="863600" y="5041900"/>
            <a:ext cx="2540000" cy="257175"/>
          </a:xfrm>
          <a:prstGeom prst="rect">
            <a:avLst/>
          </a:prstGeom>
          <a:noFill/>
        </p:spPr>
        <p:txBody>
          <a:bodyPr wrap="none" lIns="0" rIns="0" tIns="0" bIns="0" anchor="t">
            <a:noAutofit/>
          </a:bodyPr>
          <a:lstStyle/>
          <a:p>
            <a:pPr algn="ctr">
              <a:lnSpc>
                <a:spcPts val="1725"/>
              </a:lnSpc>
              <a:spcBef>
                <a:spcPts val="0"/>
              </a:spcBef>
              <a:spcAft>
                <a:spcPts val="0"/>
              </a:spcAft>
            </a:pPr>
            <a:r>
              <a:rPr sz="1500" b="0">
                <a:solidFill>
                  <a:srgbClr val="B8C8D9"/>
                </a:solidFill>
                <a:latin typeface="Arial"/>
              </a:rPr>
              <a:t>Since July 2026</a:t>
            </a:r>
          </a:p>
        </p:txBody>
      </p:sp>
      <p:sp>
        <p:nvSpPr>
          <p:cNvPr id="15" name="Rounded Rectangle 14"/>
          <p:cNvSpPr/>
          <p:nvPr/>
        </p:nvSpPr>
        <p:spPr>
          <a:xfrm>
            <a:off x="3962400" y="2082800"/>
            <a:ext cx="2387600" cy="1625600"/>
          </a:xfrm>
          <a:prstGeom prst="roundRect">
            <a:avLst>
              <a:gd name="adj" fmla="val 7031"/>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402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CF0035"/>
                </a:solidFill>
                <a:latin typeface="Arial"/>
                <a:hlinkClick r:id="rId4"/>
              </a:rPr>
              <a:t>7</a:t>
            </a:r>
          </a:p>
        </p:txBody>
      </p:sp>
      <p:sp>
        <p:nvSpPr>
          <p:cNvPr id="17" name="TextBox 16"/>
          <p:cNvSpPr txBox="1"/>
          <p:nvPr/>
        </p:nvSpPr>
        <p:spPr>
          <a:xfrm>
            <a:off x="41402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4"/>
              </a:rPr>
              <a:t>public adopters</a:t>
            </a:r>
          </a:p>
        </p:txBody>
      </p:sp>
      <p:sp>
        <p:nvSpPr>
          <p:cNvPr id="18" name="Rounded Rectangle 17"/>
          <p:cNvSpPr/>
          <p:nvPr/>
        </p:nvSpPr>
        <p:spPr>
          <a:xfrm>
            <a:off x="6578600" y="2082800"/>
            <a:ext cx="2387600" cy="1625600"/>
          </a:xfrm>
          <a:prstGeom prst="roundRect">
            <a:avLst>
              <a:gd name="adj" fmla="val 7031"/>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564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087F85"/>
                </a:solidFill>
                <a:latin typeface="Arial"/>
                <a:hlinkClick r:id="rId5"/>
              </a:rPr>
              <a:t>46</a:t>
            </a:r>
          </a:p>
        </p:txBody>
      </p:sp>
      <p:sp>
        <p:nvSpPr>
          <p:cNvPr id="20" name="TextBox 19"/>
          <p:cNvSpPr txBox="1"/>
          <p:nvPr/>
        </p:nvSpPr>
        <p:spPr>
          <a:xfrm>
            <a:off x="6756400" y="3238500"/>
            <a:ext cx="20320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5"/>
              </a:rPr>
              <a:t>contributors</a:t>
            </a:r>
          </a:p>
        </p:txBody>
      </p:sp>
      <p:sp>
        <p:nvSpPr>
          <p:cNvPr id="21" name="Rounded Rectangle 20"/>
          <p:cNvSpPr/>
          <p:nvPr/>
        </p:nvSpPr>
        <p:spPr>
          <a:xfrm>
            <a:off x="9194800" y="2082800"/>
            <a:ext cx="2387600" cy="1625600"/>
          </a:xfrm>
          <a:prstGeom prst="roundRect">
            <a:avLst>
              <a:gd name="adj" fmla="val 7031"/>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72600" y="2273300"/>
            <a:ext cx="2032000" cy="762000"/>
          </a:xfrm>
          <a:prstGeom prst="rect">
            <a:avLst/>
          </a:prstGeom>
          <a:noFill/>
        </p:spPr>
        <p:txBody>
          <a:bodyPr wrap="none" lIns="0" rIns="0" tIns="0" bIns="0" anchor="t">
            <a:noAutofit/>
          </a:bodyPr>
          <a:lstStyle/>
          <a:p>
            <a:pPr algn="ctr">
              <a:lnSpc>
                <a:spcPts val="5520"/>
              </a:lnSpc>
              <a:spcBef>
                <a:spcPts val="0"/>
              </a:spcBef>
              <a:spcAft>
                <a:spcPts val="0"/>
              </a:spcAft>
            </a:pPr>
            <a:r>
              <a:rPr sz="4800" b="1">
                <a:solidFill>
                  <a:srgbClr val="2762C8"/>
                </a:solidFill>
                <a:latin typeface="Arial"/>
                <a:hlinkClick r:id="rId6"/>
              </a:rPr>
              <a:t>1,335</a:t>
            </a:r>
          </a:p>
        </p:txBody>
      </p:sp>
      <p:cxnSp>
        <p:nvCxnSpPr>
          <p:cNvPr id="23" name="Connector 22"/>
          <p:cNvCxnSpPr/>
          <p:nvPr/>
        </p:nvCxnSpPr>
        <p:spPr>
          <a:xfrm>
            <a:off x="9563100" y="3238500"/>
            <a:ext cx="33591"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596691"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9617452"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617452"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9563100" y="3422650"/>
            <a:ext cx="74648"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9488451" y="3422650"/>
            <a:ext cx="74649" cy="4559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488451" y="3383160"/>
            <a:ext cx="20296" cy="85085"/>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9442315" y="3326254"/>
            <a:ext cx="66432" cy="56906"/>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442315" y="3319264"/>
            <a:ext cx="87193" cy="6990"/>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529508" y="3238500"/>
            <a:ext cx="33592" cy="80764"/>
          </a:xfrm>
          <a:prstGeom prst="line">
            <a:avLst/>
          </a:prstGeom>
          <a:ln w="22860">
            <a:solidFill>
              <a:srgbClr val="B87A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766300" y="3238500"/>
            <a:ext cx="1638300" cy="286384"/>
          </a:xfrm>
          <a:prstGeom prst="rect">
            <a:avLst/>
          </a:prstGeom>
          <a:noFill/>
        </p:spPr>
        <p:txBody>
          <a:bodyPr wrap="none" lIns="0" rIns="0" tIns="0" bIns="0" anchor="t">
            <a:noAutofit/>
          </a:bodyPr>
          <a:lstStyle/>
          <a:p>
            <a:pPr algn="ctr">
              <a:lnSpc>
                <a:spcPts val="1954"/>
              </a:lnSpc>
              <a:spcBef>
                <a:spcPts val="0"/>
              </a:spcBef>
              <a:spcAft>
                <a:spcPts val="0"/>
              </a:spcAft>
            </a:pPr>
            <a:r>
              <a:rPr sz="1700" b="1">
                <a:solidFill>
                  <a:srgbClr val="142338"/>
                </a:solidFill>
                <a:latin typeface="Arial"/>
                <a:hlinkClick r:id="rId6"/>
              </a:rPr>
              <a:t>GitHub stars</a:t>
            </a:r>
          </a:p>
        </p:txBody>
      </p:sp>
      <p:sp>
        <p:nvSpPr>
          <p:cNvPr id="34" name="TextBox 33"/>
          <p:cNvSpPr txBox="1"/>
          <p:nvPr/>
        </p:nvSpPr>
        <p:spPr>
          <a:xfrm>
            <a:off x="3962400" y="3886200"/>
            <a:ext cx="76200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5D6F82"/>
                </a:solidFill>
                <a:latin typeface="Arial"/>
              </a:rPr>
              <a:t>PUBLIC ADOPTERS</a:t>
            </a:r>
          </a:p>
        </p:txBody>
      </p:sp>
      <p:sp>
        <p:nvSpPr>
          <p:cNvPr id="35" name="Rounded Rectangle 34"/>
          <p:cNvSpPr/>
          <p:nvPr/>
        </p:nvSpPr>
        <p:spPr>
          <a:xfrm>
            <a:off x="39624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4559300" y="4178300"/>
            <a:ext cx="558800" cy="558800"/>
          </a:xfrm>
          <a:prstGeom prst="rect">
            <a:avLst/>
          </a:prstGeom>
        </p:spPr>
      </p:pic>
      <p:sp>
        <p:nvSpPr>
          <p:cNvPr id="37" name="Rounded Rectangle 36"/>
          <p:cNvSpPr/>
          <p:nvPr/>
        </p:nvSpPr>
        <p:spPr>
          <a:xfrm>
            <a:off x="59182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8"/>
          <a:stretch>
            <a:fillRect/>
          </a:stretch>
        </p:blipFill>
        <p:spPr>
          <a:xfrm>
            <a:off x="6020137" y="4203700"/>
            <a:ext cx="1548725" cy="508000"/>
          </a:xfrm>
          <a:prstGeom prst="rect">
            <a:avLst/>
          </a:prstGeom>
        </p:spPr>
      </p:pic>
      <p:sp>
        <p:nvSpPr>
          <p:cNvPr id="39" name="Rounded Rectangle 38"/>
          <p:cNvSpPr/>
          <p:nvPr/>
        </p:nvSpPr>
        <p:spPr>
          <a:xfrm>
            <a:off x="78740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mage.png"/>
          <p:cNvPicPr>
            <a:picLocks noChangeAspect="1"/>
          </p:cNvPicPr>
          <p:nvPr/>
        </p:nvPicPr>
        <p:blipFill>
          <a:blip r:embed="rId9"/>
          <a:stretch>
            <a:fillRect/>
          </a:stretch>
        </p:blipFill>
        <p:spPr>
          <a:xfrm>
            <a:off x="8382000" y="4178300"/>
            <a:ext cx="736600" cy="558800"/>
          </a:xfrm>
          <a:prstGeom prst="rect">
            <a:avLst/>
          </a:prstGeom>
        </p:spPr>
      </p:pic>
      <p:sp>
        <p:nvSpPr>
          <p:cNvPr id="41" name="Rounded Rectangle 40"/>
          <p:cNvSpPr/>
          <p:nvPr/>
        </p:nvSpPr>
        <p:spPr>
          <a:xfrm>
            <a:off x="9829800" y="41656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mage.png"/>
          <p:cNvPicPr>
            <a:picLocks noChangeAspect="1"/>
          </p:cNvPicPr>
          <p:nvPr/>
        </p:nvPicPr>
        <p:blipFill>
          <a:blip r:embed="rId10"/>
          <a:stretch>
            <a:fillRect/>
          </a:stretch>
        </p:blipFill>
        <p:spPr>
          <a:xfrm>
            <a:off x="9931400" y="4240309"/>
            <a:ext cx="1549400" cy="434780"/>
          </a:xfrm>
          <a:prstGeom prst="rect">
            <a:avLst/>
          </a:prstGeom>
        </p:spPr>
      </p:pic>
      <p:sp>
        <p:nvSpPr>
          <p:cNvPr id="43" name="Rounded Rectangle 42"/>
          <p:cNvSpPr/>
          <p:nvPr/>
        </p:nvSpPr>
        <p:spPr>
          <a:xfrm>
            <a:off x="49403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image.png"/>
          <p:cNvPicPr>
            <a:picLocks noChangeAspect="1"/>
          </p:cNvPicPr>
          <p:nvPr/>
        </p:nvPicPr>
        <p:blipFill>
          <a:blip r:embed="rId11"/>
          <a:stretch>
            <a:fillRect/>
          </a:stretch>
        </p:blipFill>
        <p:spPr>
          <a:xfrm>
            <a:off x="5041900" y="4946542"/>
            <a:ext cx="1549399" cy="393915"/>
          </a:xfrm>
          <a:prstGeom prst="rect">
            <a:avLst/>
          </a:prstGeom>
        </p:spPr>
      </p:pic>
      <p:sp>
        <p:nvSpPr>
          <p:cNvPr id="45" name="Rounded Rectangle 44"/>
          <p:cNvSpPr/>
          <p:nvPr/>
        </p:nvSpPr>
        <p:spPr>
          <a:xfrm>
            <a:off x="6896100" y="4851400"/>
            <a:ext cx="1752600" cy="584200"/>
          </a:xfrm>
          <a:prstGeom prst="roundRect">
            <a:avLst>
              <a:gd name="adj" fmla="val 1304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12"/>
          <a:stretch>
            <a:fillRect/>
          </a:stretch>
        </p:blipFill>
        <p:spPr>
          <a:xfrm>
            <a:off x="7151511" y="4864100"/>
            <a:ext cx="1241777" cy="558800"/>
          </a:xfrm>
          <a:prstGeom prst="rect">
            <a:avLst/>
          </a:prstGeom>
        </p:spPr>
      </p:pic>
      <p:sp>
        <p:nvSpPr>
          <p:cNvPr id="47" name="Rounded Rectangle 46"/>
          <p:cNvSpPr/>
          <p:nvPr/>
        </p:nvSpPr>
        <p:spPr>
          <a:xfrm>
            <a:off x="8851900" y="4851400"/>
            <a:ext cx="1752600" cy="584200"/>
          </a:xfrm>
          <a:prstGeom prst="roundRect">
            <a:avLst>
              <a:gd name="adj" fmla="val 13043"/>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13"/>
          <a:stretch>
            <a:fillRect/>
          </a:stretch>
        </p:blipFill>
        <p:spPr>
          <a:xfrm>
            <a:off x="9017000" y="4972082"/>
            <a:ext cx="1422399" cy="342834"/>
          </a:xfrm>
          <a:prstGeom prst="rect">
            <a:avLst/>
          </a:prstGeom>
        </p:spPr>
      </p:pic>
      <p:sp>
        <p:nvSpPr>
          <p:cNvPr id="49" name="TextBox 48"/>
          <p:cNvSpPr txBox="1"/>
          <p:nvPr/>
        </p:nvSpPr>
        <p:spPr>
          <a:xfrm>
            <a:off x="3962400" y="5524500"/>
            <a:ext cx="7620000" cy="198754"/>
          </a:xfrm>
          <a:prstGeom prst="rect">
            <a:avLst/>
          </a:prstGeom>
          <a:noFill/>
        </p:spPr>
        <p:txBody>
          <a:bodyPr wrap="none" lIns="0" rIns="0" tIns="0" bIns="0" anchor="t">
            <a:noAutofit/>
          </a:bodyPr>
          <a:lstStyle/>
          <a:p>
            <a:pPr algn="l">
              <a:lnSpc>
                <a:spcPts val="1264"/>
              </a:lnSpc>
              <a:spcBef>
                <a:spcPts val="0"/>
              </a:spcBef>
              <a:spcAft>
                <a:spcPts val="0"/>
              </a:spcAft>
            </a:pPr>
            <a:r>
              <a:rPr sz="1100" b="0">
                <a:solidFill>
                  <a:srgbClr val="5D6F82"/>
                </a:solidFill>
                <a:latin typeface="Arial"/>
              </a:rPr>
              <a:t>CNCF / GitHub · checked 23 October 2026</a:t>
            </a:r>
          </a:p>
        </p:txBody>
      </p:sp>
      <p:sp>
        <p:nvSpPr>
          <p:cNvPr id="50" name="Rounded Rectangle 49"/>
          <p:cNvSpPr/>
          <p:nvPr/>
        </p:nvSpPr>
        <p:spPr>
          <a:xfrm>
            <a:off x="609600" y="5753100"/>
            <a:ext cx="10972800" cy="495300"/>
          </a:xfrm>
          <a:prstGeom prst="roundRect">
            <a:avLst>
              <a:gd name="adj" fmla="val 1794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8200" y="5880100"/>
            <a:ext cx="33655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2762C8"/>
                </a:solidFill>
                <a:latin typeface="Arial"/>
                <a:hlinkClick r:id="rId14"/>
              </a:rPr>
              <a:t>Meet the community</a:t>
            </a:r>
          </a:p>
        </p:txBody>
      </p:sp>
      <p:sp>
        <p:nvSpPr>
          <p:cNvPr id="52" name="TextBox 51"/>
          <p:cNvSpPr txBox="1"/>
          <p:nvPr/>
        </p:nvSpPr>
        <p:spPr>
          <a:xfrm>
            <a:off x="4279900" y="5892800"/>
            <a:ext cx="70739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142338"/>
                </a:solidFill>
                <a:latin typeface="Arial"/>
                <a:hlinkClick r:id="rId14"/>
              </a:rPr>
              <a:t>Every other Wednesday · everyone welcome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REAL-WORLD ADOPTION</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25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Resilience in production</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Millennium bcp · Results reported in a CNCF case study</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pic>
        <p:nvPicPr>
          <p:cNvPr id="10" name="Picture 9" descr="image.png"/>
          <p:cNvPicPr>
            <a:picLocks noChangeAspect="1"/>
          </p:cNvPicPr>
          <p:nvPr/>
        </p:nvPicPr>
        <p:blipFill>
          <a:blip r:embed="rId2"/>
          <a:stretch>
            <a:fillRect/>
          </a:stretch>
        </p:blipFill>
        <p:spPr>
          <a:xfrm>
            <a:off x="8915400" y="762746"/>
            <a:ext cx="2667000" cy="874806"/>
          </a:xfrm>
          <a:prstGeom prst="rect">
            <a:avLst/>
          </a:prstGeom>
        </p:spPr>
      </p:pic>
      <p:sp>
        <p:nvSpPr>
          <p:cNvPr id="11" name="Rounded Rectangle 10"/>
          <p:cNvSpPr/>
          <p:nvPr/>
        </p:nvSpPr>
        <p:spPr>
          <a:xfrm>
            <a:off x="609600" y="2133600"/>
            <a:ext cx="5334000" cy="3378200"/>
          </a:xfrm>
          <a:prstGeom prst="roundRect">
            <a:avLst>
              <a:gd name="adj" fmla="val 3759"/>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600" y="2082800"/>
            <a:ext cx="5334000" cy="3378200"/>
          </a:xfrm>
          <a:prstGeom prst="roundRect">
            <a:avLst>
              <a:gd name="adj" fmla="val 3759"/>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914400" y="2095500"/>
            <a:ext cx="4724400" cy="0"/>
          </a:xfrm>
          <a:prstGeom prst="line">
            <a:avLst/>
          </a:prstGeom>
          <a:ln w="38100">
            <a:solidFill>
              <a:srgbClr val="D1005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2362200"/>
            <a:ext cx="4724400" cy="213359"/>
          </a:xfrm>
          <a:prstGeom prst="rect">
            <a:avLst/>
          </a:prstGeom>
          <a:noFill/>
        </p:spPr>
        <p:txBody>
          <a:bodyPr wrap="none" lIns="0" rIns="0" tIns="0" bIns="0" anchor="t">
            <a:noAutofit/>
          </a:bodyPr>
          <a:lstStyle/>
          <a:p>
            <a:pPr algn="l">
              <a:lnSpc>
                <a:spcPts val="1380"/>
              </a:lnSpc>
              <a:spcBef>
                <a:spcPts val="0"/>
              </a:spcBef>
              <a:spcAft>
                <a:spcPts val="0"/>
              </a:spcAft>
            </a:pPr>
            <a:r>
              <a:rPr sz="1200" b="1">
                <a:solidFill>
                  <a:srgbClr val="B8C8D9"/>
                </a:solidFill>
                <a:latin typeface="Arial"/>
              </a:rPr>
              <a:t>DNS INCIDENT RESPONSE</a:t>
            </a:r>
          </a:p>
        </p:txBody>
      </p:sp>
      <p:sp>
        <p:nvSpPr>
          <p:cNvPr id="15" name="TextBox 14"/>
          <p:cNvSpPr txBox="1"/>
          <p:nvPr/>
        </p:nvSpPr>
        <p:spPr>
          <a:xfrm>
            <a:off x="876300" y="2641600"/>
            <a:ext cx="4762500" cy="1682750"/>
          </a:xfrm>
          <a:prstGeom prst="rect">
            <a:avLst/>
          </a:prstGeom>
          <a:noFill/>
        </p:spPr>
        <p:txBody>
          <a:bodyPr wrap="none" lIns="0" rIns="0" tIns="0" bIns="0" anchor="t">
            <a:noAutofit/>
          </a:bodyPr>
          <a:lstStyle/>
          <a:p>
            <a:pPr algn="l">
              <a:lnSpc>
                <a:spcPts val="12190"/>
              </a:lnSpc>
              <a:spcBef>
                <a:spcPts val="0"/>
              </a:spcBef>
              <a:spcAft>
                <a:spcPts val="0"/>
              </a:spcAft>
            </a:pPr>
            <a:r>
              <a:rPr sz="10600" b="1">
                <a:solidFill>
                  <a:srgbClr val="FFFFFF"/>
                </a:solidFill>
                <a:latin typeface="Arial"/>
              </a:rPr>
              <a:t>70%</a:t>
            </a:r>
          </a:p>
        </p:txBody>
      </p:sp>
      <p:sp>
        <p:nvSpPr>
          <p:cNvPr id="16" name="TextBox 15"/>
          <p:cNvSpPr txBox="1"/>
          <p:nvPr/>
        </p:nvSpPr>
        <p:spPr>
          <a:xfrm>
            <a:off x="939800" y="4330700"/>
            <a:ext cx="4673600" cy="417830"/>
          </a:xfrm>
          <a:prstGeom prst="rect">
            <a:avLst/>
          </a:prstGeom>
          <a:noFill/>
        </p:spPr>
        <p:txBody>
          <a:bodyPr wrap="none" lIns="0" rIns="0" tIns="0" bIns="0" anchor="t">
            <a:noAutofit/>
          </a:bodyPr>
          <a:lstStyle/>
          <a:p>
            <a:pPr algn="l">
              <a:lnSpc>
                <a:spcPts val="2990"/>
              </a:lnSpc>
              <a:spcBef>
                <a:spcPts val="0"/>
              </a:spcBef>
              <a:spcAft>
                <a:spcPts val="0"/>
              </a:spcAft>
            </a:pPr>
            <a:r>
              <a:rPr sz="2600" b="1">
                <a:solidFill>
                  <a:srgbClr val="FFFFFF"/>
                </a:solidFill>
                <a:latin typeface="Arial"/>
              </a:rPr>
              <a:t>shorter response times</a:t>
            </a:r>
          </a:p>
        </p:txBody>
      </p:sp>
      <p:sp>
        <p:nvSpPr>
          <p:cNvPr id="17" name="TextBox 16"/>
          <p:cNvSpPr txBox="1"/>
          <p:nvPr/>
        </p:nvSpPr>
        <p:spPr>
          <a:xfrm>
            <a:off x="939800" y="4826000"/>
            <a:ext cx="4673600" cy="344805"/>
          </a:xfrm>
          <a:prstGeom prst="rect">
            <a:avLst/>
          </a:prstGeom>
          <a:noFill/>
        </p:spPr>
        <p:txBody>
          <a:bodyPr wrap="none" lIns="0" rIns="0" tIns="0" bIns="0" anchor="t">
            <a:noAutofit/>
          </a:bodyPr>
          <a:lstStyle/>
          <a:p>
            <a:pPr algn="l">
              <a:lnSpc>
                <a:spcPts val="2415"/>
              </a:lnSpc>
              <a:spcBef>
                <a:spcPts val="0"/>
              </a:spcBef>
              <a:spcAft>
                <a:spcPts val="0"/>
              </a:spcAft>
            </a:pPr>
            <a:r>
              <a:rPr sz="2100" b="0">
                <a:solidFill>
                  <a:srgbClr val="B8C8D9"/>
                </a:solidFill>
                <a:latin typeface="Arial"/>
              </a:rPr>
              <a:t>for DNS-related incidents</a:t>
            </a:r>
          </a:p>
        </p:txBody>
      </p:sp>
      <p:sp>
        <p:nvSpPr>
          <p:cNvPr id="18" name="Rounded Rectangle 17"/>
          <p:cNvSpPr/>
          <p:nvPr/>
        </p:nvSpPr>
        <p:spPr>
          <a:xfrm>
            <a:off x="6248400" y="2133600"/>
            <a:ext cx="5334000" cy="1524000"/>
          </a:xfrm>
          <a:prstGeom prst="roundRect">
            <a:avLst>
              <a:gd name="adj" fmla="val 8333"/>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48400" y="2082800"/>
            <a:ext cx="5334000" cy="1524000"/>
          </a:xfrm>
          <a:prstGeom prst="roundRect">
            <a:avLst>
              <a:gd name="adj" fmla="val 8333"/>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7800" y="2209800"/>
            <a:ext cx="1016000" cy="1047750"/>
          </a:xfrm>
          <a:prstGeom prst="rect">
            <a:avLst/>
          </a:prstGeom>
          <a:noFill/>
        </p:spPr>
        <p:txBody>
          <a:bodyPr wrap="none" lIns="0" rIns="0" tIns="0" bIns="0" anchor="t">
            <a:noAutofit/>
          </a:bodyPr>
          <a:lstStyle/>
          <a:p>
            <a:pPr algn="l">
              <a:lnSpc>
                <a:spcPts val="7589"/>
              </a:lnSpc>
              <a:spcBef>
                <a:spcPts val="0"/>
              </a:spcBef>
              <a:spcAft>
                <a:spcPts val="0"/>
              </a:spcAft>
            </a:pPr>
            <a:r>
              <a:rPr sz="6600" b="1">
                <a:solidFill>
                  <a:srgbClr val="2762C8"/>
                </a:solidFill>
                <a:latin typeface="Arial"/>
              </a:rPr>
              <a:t>5</a:t>
            </a:r>
          </a:p>
        </p:txBody>
      </p:sp>
      <p:sp>
        <p:nvSpPr>
          <p:cNvPr id="21" name="TextBox 20"/>
          <p:cNvSpPr txBox="1"/>
          <p:nvPr/>
        </p:nvSpPr>
        <p:spPr>
          <a:xfrm>
            <a:off x="7721600" y="2336800"/>
            <a:ext cx="3556000" cy="461644"/>
          </a:xfrm>
          <a:prstGeom prst="rect">
            <a:avLst/>
          </a:prstGeom>
          <a:noFill/>
        </p:spPr>
        <p:txBody>
          <a:bodyPr wrap="none" lIns="0" rIns="0" tIns="0" bIns="0" anchor="t">
            <a:noAutofit/>
          </a:bodyPr>
          <a:lstStyle/>
          <a:p>
            <a:pPr algn="l">
              <a:lnSpc>
                <a:spcPts val="3334"/>
              </a:lnSpc>
              <a:spcBef>
                <a:spcPts val="0"/>
              </a:spcBef>
              <a:spcAft>
                <a:spcPts val="0"/>
              </a:spcAft>
            </a:pPr>
            <a:r>
              <a:rPr sz="2900" b="1">
                <a:solidFill>
                  <a:srgbClr val="142338"/>
                </a:solidFill>
                <a:latin typeface="Arial"/>
              </a:rPr>
              <a:t>regions</a:t>
            </a:r>
          </a:p>
        </p:txBody>
      </p:sp>
      <p:sp>
        <p:nvSpPr>
          <p:cNvPr id="22" name="TextBox 21"/>
          <p:cNvSpPr txBox="1"/>
          <p:nvPr/>
        </p:nvSpPr>
        <p:spPr>
          <a:xfrm>
            <a:off x="7721600" y="2857500"/>
            <a:ext cx="3556000" cy="556260"/>
          </a:xfrm>
          <a:prstGeom prst="rect">
            <a:avLst/>
          </a:prstGeom>
          <a:noFill/>
        </p:spPr>
        <p:txBody>
          <a:bodyPr wrap="none" lIns="0" rIns="0" tIns="0" bIns="0" anchor="t">
            <a:noAutofit/>
          </a:bodyPr>
          <a:lstStyle/>
          <a:p>
            <a:pPr algn="l">
              <a:lnSpc>
                <a:spcPts val="2039"/>
              </a:lnSpc>
              <a:spcBef>
                <a:spcPts val="0"/>
              </a:spcBef>
              <a:spcAft>
                <a:spcPts val="0"/>
              </a:spcAft>
            </a:pPr>
            <a:r>
              <a:rPr sz="1700" b="0">
                <a:solidFill>
                  <a:srgbClr val="5D6F82"/>
                </a:solidFill>
                <a:latin typeface="Arial"/>
              </a:rPr>
              <a:t>Two cloud providers</a:t>
            </a:r>
          </a:p>
          <a:p>
            <a:pPr algn="l">
              <a:lnSpc>
                <a:spcPts val="2039"/>
              </a:lnSpc>
              <a:spcBef>
                <a:spcPts val="0"/>
              </a:spcBef>
              <a:spcAft>
                <a:spcPts val="0"/>
              </a:spcAft>
            </a:pPr>
            <a:r>
              <a:rPr sz="1700" b="0">
                <a:solidFill>
                  <a:srgbClr val="5D6F82"/>
                </a:solidFill>
                <a:latin typeface="Arial"/>
              </a:rPr>
              <a:t>+ on-premises</a:t>
            </a:r>
          </a:p>
        </p:txBody>
      </p:sp>
      <p:cxnSp>
        <p:nvCxnSpPr>
          <p:cNvPr id="23" name="Connector 22"/>
          <p:cNvCxnSpPr/>
          <p:nvPr/>
        </p:nvCxnSpPr>
        <p:spPr>
          <a:xfrm>
            <a:off x="6642100" y="3403600"/>
            <a:ext cx="812800" cy="0"/>
          </a:xfrm>
          <a:prstGeom prst="line">
            <a:avLst/>
          </a:prstGeom>
          <a:ln w="19050">
            <a:solidFill>
              <a:srgbClr val="DAE2EA"/>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5976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8008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0040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2072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10450" y="3359150"/>
            <a:ext cx="88900" cy="88900"/>
          </a:xfrm>
          <a:prstGeom prst="ellipse">
            <a:avLst/>
          </a:prstGeom>
          <a:solidFill>
            <a:srgbClr val="2762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8400" y="3886200"/>
            <a:ext cx="5334000" cy="1625600"/>
          </a:xfrm>
          <a:prstGeom prst="roundRect">
            <a:avLst>
              <a:gd name="adj" fmla="val 7812"/>
            </a:avLst>
          </a:prstGeom>
          <a:solidFill>
            <a:srgbClr val="E7EC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48400" y="3835400"/>
            <a:ext cx="5334000" cy="1625600"/>
          </a:xfrm>
          <a:prstGeom prst="roundRect">
            <a:avLst>
              <a:gd name="adj" fmla="val 7812"/>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53200" y="4127500"/>
            <a:ext cx="609600" cy="609600"/>
          </a:xfrm>
          <a:prstGeom prst="roundRect">
            <a:avLst>
              <a:gd name="adj" fmla="val 20833"/>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67500" y="4241800"/>
            <a:ext cx="381000" cy="381000"/>
          </a:xfrm>
          <a:prstGeom prst="ellipse">
            <a:avLst/>
          </a:prstGeom>
          <a:solidFill>
            <a:srgbClr val="E8F4F3"/>
          </a:solidFill>
          <a:ln w="2159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6756400" y="4432300"/>
            <a:ext cx="76200" cy="762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6832600" y="4343400"/>
            <a:ext cx="139700" cy="165100"/>
          </a:xfrm>
          <a:prstGeom prst="line">
            <a:avLst/>
          </a:prstGeom>
          <a:ln w="30480">
            <a:solidFill>
              <a:srgbClr val="087F8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16800" y="4089400"/>
            <a:ext cx="3860800" cy="432434"/>
          </a:xfrm>
          <a:prstGeom prst="rect">
            <a:avLst/>
          </a:prstGeom>
          <a:noFill/>
        </p:spPr>
        <p:txBody>
          <a:bodyPr wrap="none" lIns="0" rIns="0" tIns="0" bIns="0" anchor="t">
            <a:noAutofit/>
          </a:bodyPr>
          <a:lstStyle/>
          <a:p>
            <a:pPr algn="l">
              <a:lnSpc>
                <a:spcPts val="3104"/>
              </a:lnSpc>
              <a:spcBef>
                <a:spcPts val="0"/>
              </a:spcBef>
              <a:spcAft>
                <a:spcPts val="0"/>
              </a:spcAft>
            </a:pPr>
            <a:r>
              <a:rPr sz="2700" b="1">
                <a:solidFill>
                  <a:srgbClr val="087F85"/>
                </a:solidFill>
                <a:latin typeface="Arial"/>
              </a:rPr>
              <a:t>Zero downtime</a:t>
            </a:r>
          </a:p>
        </p:txBody>
      </p:sp>
      <p:sp>
        <p:nvSpPr>
          <p:cNvPr id="36" name="TextBox 35"/>
          <p:cNvSpPr txBox="1"/>
          <p:nvPr/>
        </p:nvSpPr>
        <p:spPr>
          <a:xfrm>
            <a:off x="7416800" y="4686300"/>
            <a:ext cx="3860800" cy="617220"/>
          </a:xfrm>
          <a:prstGeom prst="rect">
            <a:avLst/>
          </a:prstGeom>
          <a:noFill/>
        </p:spPr>
        <p:txBody>
          <a:bodyPr wrap="none" lIns="0" rIns="0" tIns="0" bIns="0" anchor="t">
            <a:noAutofit/>
          </a:bodyPr>
          <a:lstStyle/>
          <a:p>
            <a:pPr algn="l">
              <a:lnSpc>
                <a:spcPts val="2280"/>
              </a:lnSpc>
              <a:spcBef>
                <a:spcPts val="0"/>
              </a:spcBef>
              <a:spcAft>
                <a:spcPts val="0"/>
              </a:spcAft>
            </a:pPr>
            <a:r>
              <a:rPr sz="1900" b="0">
                <a:solidFill>
                  <a:srgbClr val="5D6F82"/>
                </a:solidFill>
                <a:latin typeface="Arial"/>
              </a:rPr>
              <a:t>Reported during regional</a:t>
            </a:r>
          </a:p>
          <a:p>
            <a:pPr algn="l">
              <a:lnSpc>
                <a:spcPts val="2280"/>
              </a:lnSpc>
              <a:spcBef>
                <a:spcPts val="0"/>
              </a:spcBef>
              <a:spcAft>
                <a:spcPts val="0"/>
              </a:spcAft>
            </a:pPr>
            <a:r>
              <a:rPr sz="1900" b="0">
                <a:solidFill>
                  <a:srgbClr val="5D6F82"/>
                </a:solidFill>
                <a:latin typeface="Arial"/>
              </a:rPr>
              <a:t>failover tests</a:t>
            </a:r>
          </a:p>
        </p:txBody>
      </p:sp>
      <p:sp>
        <p:nvSpPr>
          <p:cNvPr id="37" name="TextBox 36"/>
          <p:cNvSpPr txBox="1"/>
          <p:nvPr/>
        </p:nvSpPr>
        <p:spPr>
          <a:xfrm>
            <a:off x="609600" y="5613400"/>
            <a:ext cx="5461000" cy="227965"/>
          </a:xfrm>
          <a:prstGeom prst="rect">
            <a:avLst/>
          </a:prstGeom>
          <a:noFill/>
        </p:spPr>
        <p:txBody>
          <a:bodyPr wrap="none" lIns="0" rIns="0" tIns="0" bIns="0" anchor="t">
            <a:noAutofit/>
          </a:bodyPr>
          <a:lstStyle/>
          <a:p>
            <a:pPr algn="l">
              <a:lnSpc>
                <a:spcPts val="1495"/>
              </a:lnSpc>
              <a:spcBef>
                <a:spcPts val="0"/>
              </a:spcBef>
              <a:spcAft>
                <a:spcPts val="0"/>
              </a:spcAft>
            </a:pPr>
            <a:r>
              <a:rPr sz="1300" b="0">
                <a:solidFill>
                  <a:srgbClr val="5D6F82"/>
                </a:solidFill>
                <a:latin typeface="Arial"/>
              </a:rPr>
              <a:t>CNCF case study · 16 September 2025</a:t>
            </a:r>
          </a:p>
        </p:txBody>
      </p:sp>
      <p:sp>
        <p:nvSpPr>
          <p:cNvPr id="38" name="TextBox 37"/>
          <p:cNvSpPr txBox="1"/>
          <p:nvPr/>
        </p:nvSpPr>
        <p:spPr>
          <a:xfrm>
            <a:off x="6248400" y="5613400"/>
            <a:ext cx="53340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2762C8"/>
                </a:solidFill>
                <a:latin typeface="Arial"/>
              </a:rPr>
              <a:t>cncf.io/case-studies/millennium-bcp</a:t>
            </a:r>
          </a:p>
        </p:txBody>
      </p:sp>
      <p:sp>
        <p:nvSpPr>
          <p:cNvPr id="39" name="Rounded Rectangle 38"/>
          <p:cNvSpPr/>
          <p:nvPr/>
        </p:nvSpPr>
        <p:spPr>
          <a:xfrm>
            <a:off x="609600" y="5892800"/>
            <a:ext cx="10972800" cy="457200"/>
          </a:xfrm>
          <a:prstGeom prst="roundRect">
            <a:avLst>
              <a:gd name="adj" fmla="val 13888"/>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7400" y="5969000"/>
            <a:ext cx="10617200" cy="333375"/>
          </a:xfrm>
          <a:prstGeom prst="rect">
            <a:avLst/>
          </a:prstGeom>
          <a:noFill/>
        </p:spPr>
        <p:txBody>
          <a:bodyPr wrap="none" lIns="0" rIns="0" tIns="0" bIns="0" anchor="t">
            <a:noAutofit/>
          </a:bodyPr>
          <a:lstStyle/>
          <a:p>
            <a:pPr algn="ctr">
              <a:lnSpc>
                <a:spcPts val="2100"/>
              </a:lnSpc>
              <a:spcBef>
                <a:spcPts val="0"/>
              </a:spcBef>
              <a:spcAft>
                <a:spcPts val="0"/>
              </a:spcAft>
            </a:pPr>
            <a:r>
              <a:rPr sz="2100" b="1">
                <a:solidFill>
                  <a:srgbClr val="142338"/>
                </a:solidFill>
                <a:latin typeface="Arial"/>
              </a:rPr>
              <a:t>Published results from Millennium bcp’s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79400"/>
            <a:ext cx="9144000" cy="184150"/>
          </a:xfrm>
          <a:prstGeom prst="rect">
            <a:avLst/>
          </a:prstGeom>
          <a:noFill/>
        </p:spPr>
        <p:txBody>
          <a:bodyPr wrap="none" lIns="0" rIns="0" tIns="0" bIns="0" anchor="t">
            <a:noAutofit/>
          </a:bodyPr>
          <a:lstStyle/>
          <a:p>
            <a:pPr algn="l">
              <a:lnSpc>
                <a:spcPts val="1150"/>
              </a:lnSpc>
              <a:spcBef>
                <a:spcPts val="0"/>
              </a:spcBef>
              <a:spcAft>
                <a:spcPts val="0"/>
              </a:spcAft>
            </a:pPr>
            <a:r>
              <a:rPr sz="1000" b="1">
                <a:solidFill>
                  <a:srgbClr val="CF0035"/>
                </a:solidFill>
                <a:latin typeface="Arial"/>
              </a:rPr>
              <a:t>JOIN THE COMMUNITY</a:t>
            </a:r>
          </a:p>
        </p:txBody>
      </p:sp>
      <p:sp>
        <p:nvSpPr>
          <p:cNvPr id="4" name="TextBox 3"/>
          <p:cNvSpPr txBox="1"/>
          <p:nvPr/>
        </p:nvSpPr>
        <p:spPr>
          <a:xfrm>
            <a:off x="10693400" y="279400"/>
            <a:ext cx="889000" cy="184150"/>
          </a:xfrm>
          <a:prstGeom prst="rect">
            <a:avLst/>
          </a:prstGeom>
          <a:noFill/>
        </p:spPr>
        <p:txBody>
          <a:bodyPr wrap="none" lIns="0" rIns="0" tIns="0" bIns="0" anchor="t">
            <a:noAutofit/>
          </a:bodyPr>
          <a:lstStyle/>
          <a:p>
            <a:pPr algn="r">
              <a:lnSpc>
                <a:spcPts val="1150"/>
              </a:lnSpc>
              <a:spcBef>
                <a:spcPts val="0"/>
              </a:spcBef>
              <a:spcAft>
                <a:spcPts val="0"/>
              </a:spcAft>
            </a:pPr>
            <a:r>
              <a:rPr sz="1000" b="0">
                <a:solidFill>
                  <a:srgbClr val="5D6F82"/>
                </a:solidFill>
                <a:latin typeface="Arial"/>
              </a:rPr>
              <a:t>26 / 26</a:t>
            </a:r>
          </a:p>
        </p:txBody>
      </p:sp>
      <p:sp>
        <p:nvSpPr>
          <p:cNvPr id="5" name="TextBox 4"/>
          <p:cNvSpPr txBox="1"/>
          <p:nvPr/>
        </p:nvSpPr>
        <p:spPr>
          <a:xfrm>
            <a:off x="609600" y="787400"/>
            <a:ext cx="10972800" cy="571500"/>
          </a:xfrm>
          <a:prstGeom prst="rect">
            <a:avLst/>
          </a:prstGeom>
          <a:noFill/>
        </p:spPr>
        <p:txBody>
          <a:bodyPr wrap="none" lIns="0" rIns="0" tIns="0" bIns="0" anchor="t">
            <a:noAutofit/>
          </a:bodyPr>
          <a:lstStyle/>
          <a:p>
            <a:pPr algn="l">
              <a:lnSpc>
                <a:spcPts val="3296"/>
              </a:lnSpc>
              <a:spcBef>
                <a:spcPts val="0"/>
              </a:spcBef>
              <a:spcAft>
                <a:spcPts val="0"/>
              </a:spcAft>
            </a:pPr>
            <a:r>
              <a:rPr sz="3200" b="1">
                <a:solidFill>
                  <a:srgbClr val="142338"/>
                </a:solidFill>
                <a:latin typeface="Arial"/>
              </a:rPr>
              <a:t>Questions?</a:t>
            </a:r>
          </a:p>
        </p:txBody>
      </p:sp>
      <p:sp>
        <p:nvSpPr>
          <p:cNvPr id="6" name="TextBox 5"/>
          <p:cNvSpPr txBox="1"/>
          <p:nvPr/>
        </p:nvSpPr>
        <p:spPr>
          <a:xfrm>
            <a:off x="622300" y="1460500"/>
            <a:ext cx="10934700" cy="300990"/>
          </a:xfrm>
          <a:prstGeom prst="rect">
            <a:avLst/>
          </a:prstGeom>
          <a:noFill/>
        </p:spPr>
        <p:txBody>
          <a:bodyPr wrap="none" lIns="0" rIns="0" tIns="0" bIns="0" anchor="t">
            <a:noAutofit/>
          </a:bodyPr>
          <a:lstStyle/>
          <a:p>
            <a:pPr algn="l">
              <a:lnSpc>
                <a:spcPts val="2070"/>
              </a:lnSpc>
              <a:spcBef>
                <a:spcPts val="0"/>
              </a:spcBef>
              <a:spcAft>
                <a:spcPts val="0"/>
              </a:spcAft>
            </a:pPr>
            <a:r>
              <a:rPr sz="1800" b="0">
                <a:solidFill>
                  <a:srgbClr val="5D6F82"/>
                </a:solidFill>
                <a:latin typeface="Arial"/>
              </a:rPr>
              <a:t>Try k8gb, meet the maintainers, share your deployment.</a:t>
            </a:r>
          </a:p>
        </p:txBody>
      </p:sp>
      <p:cxnSp>
        <p:nvCxnSpPr>
          <p:cNvPr id="7" name="Connector 6"/>
          <p:cNvCxnSpPr/>
          <p:nvPr/>
        </p:nvCxnSpPr>
        <p:spPr>
          <a:xfrm>
            <a:off x="609600" y="6426200"/>
            <a:ext cx="10972800" cy="0"/>
          </a:xfrm>
          <a:prstGeom prst="line">
            <a:avLst/>
          </a:prstGeom>
          <a:ln w="8890">
            <a:solidFill>
              <a:srgbClr val="DAE2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09600" y="6553200"/>
            <a:ext cx="4318000" cy="169545"/>
          </a:xfrm>
          <a:prstGeom prst="rect">
            <a:avLst/>
          </a:prstGeom>
          <a:noFill/>
        </p:spPr>
        <p:txBody>
          <a:bodyPr wrap="none" lIns="0" rIns="0" tIns="0" bIns="0" anchor="t">
            <a:noAutofit/>
          </a:bodyPr>
          <a:lstStyle/>
          <a:p>
            <a:pPr algn="l">
              <a:lnSpc>
                <a:spcPts val="1035"/>
              </a:lnSpc>
              <a:spcBef>
                <a:spcPts val="0"/>
              </a:spcBef>
              <a:spcAft>
                <a:spcPts val="0"/>
              </a:spcAft>
            </a:pPr>
            <a:r>
              <a:rPr sz="900" b="1">
                <a:solidFill>
                  <a:srgbClr val="5D6F82"/>
                </a:solidFill>
                <a:latin typeface="Arial"/>
              </a:rPr>
              <a:t>SOVEREIGN CLOUD DAYS 2026</a:t>
            </a:r>
          </a:p>
        </p:txBody>
      </p:sp>
      <p:sp>
        <p:nvSpPr>
          <p:cNvPr id="9" name="TextBox 8"/>
          <p:cNvSpPr txBox="1"/>
          <p:nvPr/>
        </p:nvSpPr>
        <p:spPr>
          <a:xfrm>
            <a:off x="8255000" y="6553200"/>
            <a:ext cx="3327400" cy="169545"/>
          </a:xfrm>
          <a:prstGeom prst="rect">
            <a:avLst/>
          </a:prstGeom>
          <a:noFill/>
        </p:spPr>
        <p:txBody>
          <a:bodyPr wrap="none" lIns="0" rIns="0" tIns="0" bIns="0" anchor="t">
            <a:noAutofit/>
          </a:bodyPr>
          <a:lstStyle/>
          <a:p>
            <a:pPr algn="r">
              <a:lnSpc>
                <a:spcPts val="1035"/>
              </a:lnSpc>
              <a:spcBef>
                <a:spcPts val="0"/>
              </a:spcBef>
              <a:spcAft>
                <a:spcPts val="0"/>
              </a:spcAft>
            </a:pPr>
            <a:r>
              <a:rPr sz="900" b="0">
                <a:solidFill>
                  <a:srgbClr val="5D6F82"/>
                </a:solidFill>
                <a:latin typeface="Arial"/>
              </a:rPr>
              <a:t>YURY TSAREV  /  K8GB</a:t>
            </a:r>
          </a:p>
        </p:txBody>
      </p:sp>
      <p:sp>
        <p:nvSpPr>
          <p:cNvPr id="10" name="Rounded Rectangle 9"/>
          <p:cNvSpPr/>
          <p:nvPr/>
        </p:nvSpPr>
        <p:spPr>
          <a:xfrm>
            <a:off x="609600" y="2082800"/>
            <a:ext cx="3556000" cy="4165600"/>
          </a:xfrm>
          <a:prstGeom prst="roundRect">
            <a:avLst>
              <a:gd name="adj" fmla="val 3571"/>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2"/>
          <a:stretch>
            <a:fillRect/>
          </a:stretch>
        </p:blipFill>
        <p:spPr>
          <a:xfrm>
            <a:off x="863600" y="2291172"/>
            <a:ext cx="431800" cy="421455"/>
          </a:xfrm>
          <a:prstGeom prst="rect">
            <a:avLst/>
          </a:prstGeom>
        </p:spPr>
      </p:pic>
      <p:sp>
        <p:nvSpPr>
          <p:cNvPr id="12" name="TextBox 11"/>
          <p:cNvSpPr txBox="1"/>
          <p:nvPr/>
        </p:nvSpPr>
        <p:spPr>
          <a:xfrm>
            <a:off x="1460500" y="2336800"/>
            <a:ext cx="2451100" cy="388620"/>
          </a:xfrm>
          <a:prstGeom prst="rect">
            <a:avLst/>
          </a:prstGeom>
          <a:noFill/>
        </p:spPr>
        <p:txBody>
          <a:bodyPr wrap="none" lIns="0" rIns="0" tIns="0" bIns="0" anchor="t">
            <a:noAutofit/>
          </a:bodyPr>
          <a:lstStyle/>
          <a:p>
            <a:pPr algn="l">
              <a:lnSpc>
                <a:spcPts val="2760"/>
              </a:lnSpc>
              <a:spcBef>
                <a:spcPts val="0"/>
              </a:spcBef>
              <a:spcAft>
                <a:spcPts val="0"/>
              </a:spcAft>
            </a:pPr>
            <a:r>
              <a:rPr sz="2400" b="1">
                <a:solidFill>
                  <a:srgbClr val="142338"/>
                </a:solidFill>
                <a:latin typeface="Arial"/>
              </a:rPr>
              <a:t>Try k8gb</a:t>
            </a:r>
          </a:p>
        </p:txBody>
      </p:sp>
      <p:pic>
        <p:nvPicPr>
          <p:cNvPr id="13" name="Picture 12" descr="image.png"/>
          <p:cNvPicPr>
            <a:picLocks noChangeAspect="1"/>
          </p:cNvPicPr>
          <p:nvPr/>
        </p:nvPicPr>
        <p:blipFill>
          <a:blip r:embed="rId3"/>
          <a:stretch>
            <a:fillRect/>
          </a:stretch>
        </p:blipFill>
        <p:spPr>
          <a:xfrm>
            <a:off x="889000" y="2857500"/>
            <a:ext cx="2997200" cy="2997200"/>
          </a:xfrm>
          <a:prstGeom prst="rect">
            <a:avLst/>
          </a:prstGeom>
        </p:spPr>
      </p:pic>
      <p:sp>
        <p:nvSpPr>
          <p:cNvPr id="14" name="TextBox 13"/>
          <p:cNvSpPr txBox="1"/>
          <p:nvPr/>
        </p:nvSpPr>
        <p:spPr>
          <a:xfrm>
            <a:off x="863600" y="5918200"/>
            <a:ext cx="3048000" cy="300990"/>
          </a:xfrm>
          <a:prstGeom prst="rect">
            <a:avLst/>
          </a:prstGeom>
          <a:noFill/>
        </p:spPr>
        <p:txBody>
          <a:bodyPr wrap="none" lIns="0" rIns="0" tIns="0" bIns="0" anchor="t">
            <a:noAutofit/>
          </a:bodyPr>
          <a:lstStyle/>
          <a:p>
            <a:pPr algn="ctr">
              <a:lnSpc>
                <a:spcPts val="2070"/>
              </a:lnSpc>
              <a:spcBef>
                <a:spcPts val="0"/>
              </a:spcBef>
              <a:spcAft>
                <a:spcPts val="0"/>
              </a:spcAft>
            </a:pPr>
            <a:r>
              <a:rPr sz="1800" b="1">
                <a:solidFill>
                  <a:srgbClr val="2762C8"/>
                </a:solidFill>
                <a:latin typeface="Arial"/>
                <a:hlinkClick r:id="rId4"/>
              </a:rPr>
              <a:t>k8gb.io</a:t>
            </a:r>
          </a:p>
        </p:txBody>
      </p:sp>
      <p:sp>
        <p:nvSpPr>
          <p:cNvPr id="15" name="Rounded Rectangle 14"/>
          <p:cNvSpPr/>
          <p:nvPr/>
        </p:nvSpPr>
        <p:spPr>
          <a:xfrm>
            <a:off x="4470400" y="20828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86300" y="2298700"/>
            <a:ext cx="482600" cy="482600"/>
          </a:xfrm>
          <a:prstGeom prst="roundRect">
            <a:avLst>
              <a:gd name="adj" fmla="val 21052"/>
            </a:avLst>
          </a:prstGeom>
          <a:solidFill>
            <a:srgbClr val="EA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0400" y="31242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86300" y="3340100"/>
            <a:ext cx="482600" cy="482600"/>
          </a:xfrm>
          <a:prstGeom prst="roundRect">
            <a:avLst>
              <a:gd name="adj" fmla="val 21052"/>
            </a:avLst>
          </a:prstGeom>
          <a:solidFill>
            <a:srgbClr val="E8F4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470400" y="4165600"/>
            <a:ext cx="7112000" cy="914400"/>
          </a:xfrm>
          <a:prstGeom prst="roundRect">
            <a:avLst>
              <a:gd name="adj" fmla="val 12500"/>
            </a:avLst>
          </a:prstGeom>
          <a:solidFill>
            <a:srgbClr val="FFFFFF"/>
          </a:solidFill>
          <a:ln w="12700">
            <a:solidFill>
              <a:srgbClr val="DAE2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86300" y="4381500"/>
            <a:ext cx="482600" cy="482600"/>
          </a:xfrm>
          <a:prstGeom prst="roundRect">
            <a:avLst>
              <a:gd name="adj" fmla="val 21052"/>
            </a:avLst>
          </a:prstGeom>
          <a:solidFill>
            <a:srgbClr val="FB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4927600" y="2374900"/>
            <a:ext cx="42549"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970149"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4996446"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99644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4927600" y="2612390"/>
            <a:ext cx="97043"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4830556" y="2612390"/>
            <a:ext cx="97044" cy="6117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4830556" y="2562369"/>
            <a:ext cx="28197" cy="111199"/>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4770580" y="2488981"/>
            <a:ext cx="88173" cy="73388"/>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770580" y="2481435"/>
            <a:ext cx="114470" cy="7546"/>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4885050" y="2374900"/>
            <a:ext cx="42550" cy="106535"/>
          </a:xfrm>
          <a:prstGeom prst="line">
            <a:avLst/>
          </a:prstGeom>
          <a:ln w="19050">
            <a:solidFill>
              <a:srgbClr val="2762C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384800" y="22225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2762C8"/>
                </a:solidFill>
                <a:latin typeface="Arial"/>
              </a:rPr>
              <a:t>STAR &amp; CONTRIBUTE</a:t>
            </a:r>
          </a:p>
        </p:txBody>
      </p:sp>
      <p:sp>
        <p:nvSpPr>
          <p:cNvPr id="32" name="TextBox 31"/>
          <p:cNvSpPr txBox="1"/>
          <p:nvPr/>
        </p:nvSpPr>
        <p:spPr>
          <a:xfrm>
            <a:off x="5384800" y="2527300"/>
            <a:ext cx="5943600" cy="359409"/>
          </a:xfrm>
          <a:prstGeom prst="rect">
            <a:avLst/>
          </a:prstGeom>
          <a:noFill/>
        </p:spPr>
        <p:txBody>
          <a:bodyPr wrap="none" lIns="0" rIns="0" tIns="0" bIns="0" anchor="t">
            <a:noAutofit/>
          </a:bodyPr>
          <a:lstStyle/>
          <a:p>
            <a:pPr algn="l">
              <a:lnSpc>
                <a:spcPts val="2529"/>
              </a:lnSpc>
              <a:spcBef>
                <a:spcPts val="0"/>
              </a:spcBef>
              <a:spcAft>
                <a:spcPts val="0"/>
              </a:spcAft>
            </a:pPr>
            <a:r>
              <a:rPr sz="2200" b="1">
                <a:solidFill>
                  <a:srgbClr val="142338"/>
                </a:solidFill>
                <a:latin typeface="Arial"/>
                <a:hlinkClick r:id="rId5"/>
              </a:rPr>
              <a:t>github.com/k8gb-io/k8gb</a:t>
            </a:r>
          </a:p>
        </p:txBody>
      </p:sp>
      <p:sp>
        <p:nvSpPr>
          <p:cNvPr id="33" name="Rounded Rectangle 32"/>
          <p:cNvSpPr/>
          <p:nvPr/>
        </p:nvSpPr>
        <p:spPr>
          <a:xfrm>
            <a:off x="4775200" y="3454400"/>
            <a:ext cx="304800" cy="190500"/>
          </a:xfrm>
          <a:prstGeom prst="roundRect">
            <a:avLst>
              <a:gd name="adj" fmla="val 26666"/>
            </a:avLst>
          </a:prstGeom>
          <a:solidFill>
            <a:srgbClr val="E8F4F3"/>
          </a:solidFill>
          <a:ln w="17780">
            <a:solidFill>
              <a:srgbClr val="087F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838700" y="3644900"/>
            <a:ext cx="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838700" y="3644900"/>
            <a:ext cx="88900" cy="63500"/>
          </a:xfrm>
          <a:prstGeom prst="line">
            <a:avLst/>
          </a:prstGeom>
          <a:ln w="17780">
            <a:solidFill>
              <a:srgbClr val="087F85"/>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8374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9136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989830" y="3535679"/>
            <a:ext cx="27940" cy="27940"/>
          </a:xfrm>
          <a:prstGeom prst="ellipse">
            <a:avLst/>
          </a:prstGeom>
          <a:solidFill>
            <a:srgbClr val="087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84800" y="32639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087F85"/>
                </a:solidFill>
                <a:latin typeface="Arial"/>
              </a:rPr>
              <a:t>JOIN THE CONVERSATION</a:t>
            </a:r>
          </a:p>
        </p:txBody>
      </p:sp>
      <p:sp>
        <p:nvSpPr>
          <p:cNvPr id="40" name="TextBox 39"/>
          <p:cNvSpPr txBox="1"/>
          <p:nvPr/>
        </p:nvSpPr>
        <p:spPr>
          <a:xfrm>
            <a:off x="5384800" y="3568700"/>
            <a:ext cx="32004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6"/>
              </a:rPr>
              <a:t>#k8gb · CNCF Slack</a:t>
            </a:r>
          </a:p>
        </p:txBody>
      </p:sp>
      <p:sp>
        <p:nvSpPr>
          <p:cNvPr id="41" name="TextBox 40"/>
          <p:cNvSpPr txBox="1"/>
          <p:nvPr/>
        </p:nvSpPr>
        <p:spPr>
          <a:xfrm>
            <a:off x="8610600" y="3594100"/>
            <a:ext cx="2717800" cy="271780"/>
          </a:xfrm>
          <a:prstGeom prst="rect">
            <a:avLst/>
          </a:prstGeom>
          <a:noFill/>
        </p:spPr>
        <p:txBody>
          <a:bodyPr wrap="none" lIns="0" rIns="0" tIns="0" bIns="0" anchor="t">
            <a:noAutofit/>
          </a:bodyPr>
          <a:lstStyle/>
          <a:p>
            <a:pPr algn="l">
              <a:lnSpc>
                <a:spcPts val="1839"/>
              </a:lnSpc>
              <a:spcBef>
                <a:spcPts val="0"/>
              </a:spcBef>
              <a:spcAft>
                <a:spcPts val="0"/>
              </a:spcAft>
            </a:pPr>
            <a:r>
              <a:rPr sz="1600" b="1">
                <a:solidFill>
                  <a:srgbClr val="087F85"/>
                </a:solidFill>
                <a:latin typeface="Arial"/>
                <a:hlinkClick r:id="rId7"/>
              </a:rPr>
              <a:t>Community meetings</a:t>
            </a:r>
          </a:p>
        </p:txBody>
      </p:sp>
      <p:sp>
        <p:nvSpPr>
          <p:cNvPr id="42" name="Rounded Rectangle 41"/>
          <p:cNvSpPr/>
          <p:nvPr/>
        </p:nvSpPr>
        <p:spPr>
          <a:xfrm>
            <a:off x="4813300" y="4457700"/>
            <a:ext cx="215900" cy="292100"/>
          </a:xfrm>
          <a:prstGeom prst="roundRect">
            <a:avLst>
              <a:gd name="adj" fmla="val 11764"/>
            </a:avLst>
          </a:prstGeom>
          <a:solidFill>
            <a:srgbClr val="FBE9EE"/>
          </a:solidFill>
          <a:ln w="16510">
            <a:solidFill>
              <a:srgbClr val="CF0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a:off x="4864100" y="45339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864100" y="4584700"/>
            <a:ext cx="114300" cy="0"/>
          </a:xfrm>
          <a:prstGeom prst="line">
            <a:avLst/>
          </a:prstGeom>
          <a:ln w="1397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041900" y="4648200"/>
            <a:ext cx="0" cy="15240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5700" y="4724400"/>
            <a:ext cx="152400" cy="0"/>
          </a:xfrm>
          <a:prstGeom prst="line">
            <a:avLst/>
          </a:prstGeom>
          <a:ln w="21590">
            <a:solidFill>
              <a:srgbClr val="CF0035"/>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384800" y="4305300"/>
            <a:ext cx="5943600" cy="198754"/>
          </a:xfrm>
          <a:prstGeom prst="rect">
            <a:avLst/>
          </a:prstGeom>
          <a:noFill/>
        </p:spPr>
        <p:txBody>
          <a:bodyPr wrap="none" lIns="0" rIns="0" tIns="0" bIns="0" anchor="t">
            <a:noAutofit/>
          </a:bodyPr>
          <a:lstStyle/>
          <a:p>
            <a:pPr algn="l">
              <a:lnSpc>
                <a:spcPts val="1264"/>
              </a:lnSpc>
              <a:spcBef>
                <a:spcPts val="0"/>
              </a:spcBef>
              <a:spcAft>
                <a:spcPts val="0"/>
              </a:spcAft>
            </a:pPr>
            <a:r>
              <a:rPr sz="1100" b="1">
                <a:solidFill>
                  <a:srgbClr val="CF0035"/>
                </a:solidFill>
                <a:latin typeface="Arial"/>
              </a:rPr>
              <a:t>SHARE YOUR DEPLOYMENT</a:t>
            </a:r>
          </a:p>
        </p:txBody>
      </p:sp>
      <p:sp>
        <p:nvSpPr>
          <p:cNvPr id="48" name="TextBox 47"/>
          <p:cNvSpPr txBox="1"/>
          <p:nvPr/>
        </p:nvSpPr>
        <p:spPr>
          <a:xfrm>
            <a:off x="5384800" y="4610100"/>
            <a:ext cx="5943600" cy="315595"/>
          </a:xfrm>
          <a:prstGeom prst="rect">
            <a:avLst/>
          </a:prstGeom>
          <a:noFill/>
        </p:spPr>
        <p:txBody>
          <a:bodyPr wrap="none" lIns="0" rIns="0" tIns="0" bIns="0" anchor="t">
            <a:noAutofit/>
          </a:bodyPr>
          <a:lstStyle/>
          <a:p>
            <a:pPr algn="l">
              <a:lnSpc>
                <a:spcPts val="2185"/>
              </a:lnSpc>
              <a:spcBef>
                <a:spcPts val="0"/>
              </a:spcBef>
              <a:spcAft>
                <a:spcPts val="0"/>
              </a:spcAft>
            </a:pPr>
            <a:r>
              <a:rPr sz="1900" b="1">
                <a:solidFill>
                  <a:srgbClr val="142338"/>
                </a:solidFill>
                <a:latin typeface="Arial"/>
                <a:hlinkClick r:id="rId8"/>
              </a:rPr>
              <a:t>Add your organization to ADOPTERS.md</a:t>
            </a:r>
          </a:p>
        </p:txBody>
      </p:sp>
      <p:sp>
        <p:nvSpPr>
          <p:cNvPr id="49" name="Rounded Rectangle 48"/>
          <p:cNvSpPr/>
          <p:nvPr/>
        </p:nvSpPr>
        <p:spPr>
          <a:xfrm>
            <a:off x="4470400" y="5283200"/>
            <a:ext cx="7112000" cy="965200"/>
          </a:xfrm>
          <a:prstGeom prst="roundRect">
            <a:avLst>
              <a:gd name="adj" fmla="val 11842"/>
            </a:avLst>
          </a:prstGeom>
          <a:solidFill>
            <a:srgbClr val="1423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724400" y="5422900"/>
            <a:ext cx="2603500" cy="374015"/>
          </a:xfrm>
          <a:prstGeom prst="rect">
            <a:avLst/>
          </a:prstGeom>
          <a:noFill/>
        </p:spPr>
        <p:txBody>
          <a:bodyPr wrap="none" lIns="0" rIns="0" tIns="0" bIns="0" anchor="t">
            <a:noAutofit/>
          </a:bodyPr>
          <a:lstStyle/>
          <a:p>
            <a:pPr algn="l">
              <a:lnSpc>
                <a:spcPts val="2645"/>
              </a:lnSpc>
              <a:spcBef>
                <a:spcPts val="0"/>
              </a:spcBef>
              <a:spcAft>
                <a:spcPts val="0"/>
              </a:spcAft>
            </a:pPr>
            <a:r>
              <a:rPr sz="2300" b="1">
                <a:solidFill>
                  <a:srgbClr val="FFFFFF"/>
                </a:solidFill>
                <a:latin typeface="Arial"/>
              </a:rPr>
              <a:t>Yury Tsarev</a:t>
            </a:r>
          </a:p>
        </p:txBody>
      </p:sp>
      <p:sp>
        <p:nvSpPr>
          <p:cNvPr id="51" name="TextBox 50"/>
          <p:cNvSpPr txBox="1"/>
          <p:nvPr/>
        </p:nvSpPr>
        <p:spPr>
          <a:xfrm>
            <a:off x="7404100" y="5511800"/>
            <a:ext cx="3911600" cy="227965"/>
          </a:xfrm>
          <a:prstGeom prst="rect">
            <a:avLst/>
          </a:prstGeom>
          <a:noFill/>
        </p:spPr>
        <p:txBody>
          <a:bodyPr wrap="none" lIns="0" rIns="0" tIns="0" bIns="0" anchor="t">
            <a:noAutofit/>
          </a:bodyPr>
          <a:lstStyle/>
          <a:p>
            <a:pPr algn="r">
              <a:lnSpc>
                <a:spcPts val="1495"/>
              </a:lnSpc>
              <a:spcBef>
                <a:spcPts val="0"/>
              </a:spcBef>
              <a:spcAft>
                <a:spcPts val="0"/>
              </a:spcAft>
            </a:pPr>
            <a:r>
              <a:rPr sz="1300" b="0">
                <a:solidFill>
                  <a:srgbClr val="B8C8D9"/>
                </a:solidFill>
                <a:latin typeface="Arial"/>
              </a:rPr>
              <a:t>Creator &amp; Project Lead · k8gb</a:t>
            </a:r>
          </a:p>
        </p:txBody>
      </p:sp>
      <p:sp>
        <p:nvSpPr>
          <p:cNvPr id="52" name="TextBox 51"/>
          <p:cNvSpPr txBox="1"/>
          <p:nvPr/>
        </p:nvSpPr>
        <p:spPr>
          <a:xfrm>
            <a:off x="4724400" y="5854700"/>
            <a:ext cx="6604000" cy="300990"/>
          </a:xfrm>
          <a:prstGeom prst="rect">
            <a:avLst/>
          </a:prstGeom>
          <a:noFill/>
        </p:spPr>
        <p:txBody>
          <a:bodyPr wrap="none" lIns="0" rIns="0" tIns="0" bIns="0" anchor="t">
            <a:noAutofit/>
          </a:bodyPr>
          <a:lstStyle/>
          <a:p>
            <a:pPr algn="l">
              <a:lnSpc>
                <a:spcPts val="2070"/>
              </a:lnSpc>
              <a:spcBef>
                <a:spcPts val="0"/>
              </a:spcBef>
              <a:spcAft>
                <a:spcPts val="0"/>
              </a:spcAft>
            </a:pPr>
            <a:r>
              <a:rPr sz="1800" b="1">
                <a:solidFill>
                  <a:srgbClr val="83ADFF"/>
                </a:solidFill>
                <a:latin typeface="Arial"/>
                <a:hlinkClick r:id="rId9"/>
              </a:rPr>
              <a:t>linkedin.com/in/yurytsarev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Controls the Failover?</dc:title>
  <dc:subject>Sovereign Global Traffic Management with Kubernetes</dc:subject>
  <dc:creator>Yury Tsarev</dc:creator>
  <cp:keywords>k8gb, sovereignty, DNS, failover, Sovereign Cloud Days 2026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