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0–0.5 minutes elapsed.</a:t>
            </a:r>
          </a:p>
          <a:p/>
          <a:p>
            <a:r>
              <a:t>Open with one question: when a cluster disappears, who controls the next connection? Introduce yourself as k8gb creator and project lead. Set the route: first the product and a working local demo, then the operational cases to test. Reach Questions at minute 28; reserve seven minutes for discussion.</a:t>
            </a:r>
          </a:p>
          <a:p/>
          <a:p>
            <a:r>
              <a:t>SOURCE CHECK</a:t>
            </a:r>
          </a:p>
          <a:p>
            <a:r>
              <a:t>Local k8gb checkout: 330d33335981b9716bc8ca245660d90893eae272</a:t>
            </a:r>
          </a:p>
          <a:p>
            <a:r>
              <a:t>https://www.sovereign-cloud-days.eu/event/sovereign-cloud-days-2026-1/track/who-controls-the-failover-sovereign-global-traffic-management-with-kubernetes-63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0.5–1.75 minutes elapsed.</a:t>
            </a:r>
          </a:p>
          <a:p/>
          <a:p>
            <a:r>
              <a:t>Use this single progression: replicas across workers address node loss; a cluster spread across availability zones addresses a wider failure domain; independent clusters need traffic steering for the same hostname. Point to one failed member at each level, then ask who sends the next request to a surviving cluster. Keep the explanation at the reachability level.</a:t>
            </a:r>
          </a:p>
          <a:p/>
          <a:p>
            <a:r>
              <a:t>SOURCE CHECK</a:t>
            </a:r>
          </a:p>
          <a:p>
            <a:r>
              <a:t>Local k8gb checkout: 330d33335981b9716bc8ca245660d90893eae272</a:t>
            </a:r>
          </a:p>
          <a:p>
            <a:r>
              <a:t>https://kubernetes.io/docs/concepts/scheduling-eviction/topology-spread-constraints/</a:t>
            </a:r>
          </a:p>
          <a:p>
            <a:r>
              <a:t>https://kubernetes.io/docs/concepts/services-networking/service/</a:t>
            </a:r>
          </a:p>
          <a:p>
            <a:r>
              <a:t>https://kubernetes.io/docs/concepts/workloads/controllers/deployment/</a:t>
            </a:r>
          </a:p>
          <a:p>
            <a:r>
              <a:t>https://kubernetes.io/docs/setup/best-practices/multiple-zones/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1.75–2.75 minutes elapsed.</a:t>
            </a:r>
          </a:p>
          <a:p/>
          <a:p>
            <a:r>
              <a:t>k8gb is Kubernetes-native, decentralized, and declarative. Each participating cluster has its own controller and authoritative DNS. There is no dedicated central management cluster. Mention two or more clusters and that the two-cluster drawings are examples; this is not a tested unlimited-scale claim. Readiness and the Gslb strategy determine eligible application targets. Move directly to the production origins.</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https://github.com/k8gb-io/k8gb/blob/330d33335981b9716bc8ca245660d90893eae272/docs/resource_ref.md</a:t>
            </a:r>
          </a:p>
          <a:p>
            <a:r>
              <a:t>https://github.com/k8gb-io/k8gb/blob/330d33335981b9716bc8ca245660d90893eae272/docs/dynamic_geotags.md</a:t>
            </a:r>
          </a:p>
          <a:p>
            <a:r>
              <a:t>https://github.com/k8gb-io/k8gb/blob/330d33335981b9716bc8ca245660d90893eae272/api/v1beta1io/zonedelegation_types.go</a:t>
            </a:r>
          </a:p>
          <a:p>
            <a:r>
              <a:t>https://github.com/k8gb-io/k8gb/blob/330d33335981b9716bc8ca245660d90893eae272/controllers/resolver/config.go</a:t>
            </a:r>
          </a:p>
          <a:p>
            <a:r>
              <a:t>https://www.cncf.io/projects/k8gb/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2.75–3.25 minutes elapsed.</a:t>
            </a:r>
          </a:p>
          <a:p/>
          <a:p>
            <a:r>
              <a:t>Thirty-second history: originated at Absa for real production needs across on-prem datacenters and later hybrid deployments; CNCF Sandbox in 2021; adoption beyond Absa; Incubating in July 2026. The timeline is context, not a separate project-history talk.</a:t>
            </a:r>
          </a:p>
          <a:p/>
          <a:p>
            <a:r>
              <a:t>SOURCE CHECK</a:t>
            </a:r>
          </a:p>
          <a:p>
            <a:r>
              <a:t>Local k8gb checkout: 330d33335981b9716bc8ca245660d90893eae272</a:t>
            </a:r>
          </a:p>
          <a:p>
            <a:r>
              <a:t>https://github.com/k8gb-io/k8gb/blob/330d33335981b9716bc8ca245660d90893eae272/README.md#motivation-and-architecture</a:t>
            </a:r>
          </a:p>
          <a:p>
            <a:r>
              <a:t>https://github.com/k8gb-io/k8gb/blob/330d33335981b9716bc8ca245660d90893eae272/ADOPTERS.md</a:t>
            </a:r>
          </a:p>
          <a:p>
            <a:r>
              <a:t>https://www.cncf.io/projects/k8gb/</a:t>
            </a:r>
          </a:p>
          <a:p>
            <a:r>
              <a:t>https://www.cncf.io/announcements/2026/08/05/k8gb-becomes-a-cncf-incubating-project/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3.25–4 minutes elapsed.</a:t>
            </a:r>
          </a:p>
          <a:p/>
          <a:p>
            <a:r>
              <a:t>Use one production example to establish adoption. Millennium bcp reports five regions across two cloud providers and on-premises, shorter DNS incident response, and zero downtime in the reported regional failover tests. These are the case study’s reported results for that deployment. Keep to the three displayed facts and move to the architecture.</a:t>
            </a:r>
          </a:p>
          <a:p/>
          <a:p>
            <a:r>
              <a:t>SOURCE CHECK</a:t>
            </a:r>
          </a:p>
          <a:p>
            <a:r>
              <a:t>Local k8gb checkout: 330d33335981b9716bc8ca245660d90893eae272</a:t>
            </a:r>
          </a:p>
          <a:p>
            <a:r>
              <a:t>https://www.cncf.io/case-studies/millennium-bcp/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4–5.25 minutes elapsed.</a:t>
            </a:r>
          </a:p>
          <a:p/>
          <a:p>
            <a:r>
              <a:t>Spend 75 seconds on the main architecture diagram. Each cluster runs the application plus the same three DNS components. Point to the application strip: Gateway or Ingress forwards to a Service and its Pods. Kubernetes reflects Pod readiness in EndpointSlices; k8gb consumes these ready endpoints together with the Gslb strategy. The dashed upward arrow carries that readiness signal, while real application requests stay on the workload path. CoreDNS serves application-zone answers and ExternalDNS updates parent delegation. The parent directs resolvers to the cluster authorities. Peer health is learned by querying peer CoreDNS; the controllers do not elect a central leader. Two of N clusters are shown. Use the next slide for the three component roles and the request-path slide for the client lookup. Detailed delegation and reconciliation diagrams remain in the appendix.</a:t>
            </a:r>
          </a:p>
          <a:p/>
          <a:p>
            <a:r>
              <a:t>SOURCE CHECK</a:t>
            </a:r>
          </a:p>
          <a:p>
            <a:r>
              <a:t>Local k8gb checkout: 330d33335981b9716bc8ca245660d90893eae272</a:t>
            </a:r>
          </a:p>
          <a:p>
            <a:r>
              <a:t>https://github.com/k8gb-io/k8gb/blob/330d33335981b9716bc8ca245660d90893eae272/controllers/zones/authoritative.go</a:t>
            </a:r>
          </a:p>
          <a:p>
            <a:r>
              <a:t>https://github.com/k8gb-io/k8gb/blob/330d33335981b9716bc8ca245660d90893eae272/controllers/providers/k8gbendpoint/applicationDNSEndpoint.go</a:t>
            </a:r>
          </a:p>
          <a:p>
            <a:r>
              <a:t>https://github.com/k8gb-io/k8gb/blob/330d33335981b9716bc8ca245660d90893eae272/controllers/providers/dns/external.go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5.25–6 minutes elapsed.</a:t>
            </a:r>
          </a:p>
          <a:p/>
          <a:p>
            <a:r>
              <a:t>Spend 45 seconds on the three roles shown in the preceding diagram: k8gb combines readiness and the Gslb strategy to select eligible targets; CoreDNS serves authoritative answers for the delegated application zone; ExternalDNS updates parent delegation from the delegation resources. ExternalDNS does not run on every application DNS query. This describes the ExternalDNS provider path; other provider integrations differ. Move straight to the client request path.</a:t>
            </a:r>
          </a:p>
          <a:p/>
          <a:p>
            <a:r>
              <a:t>SOURCE CHECK</a:t>
            </a:r>
          </a:p>
          <a:p>
            <a:r>
              <a:t>Local k8gb checkout: 330d33335981b9716bc8ca245660d90893eae272</a:t>
            </a:r>
          </a:p>
          <a:p>
            <a:r>
              <a:t>https://github.com/k8gb-io/k8gb/blob/330d33335981b9716bc8ca245660d90893eae272/controllers/providers/dns/external.go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6–7.25 minutes elapsed.</a:t>
            </a:r>
          </a:p>
          <a:p/>
          <a:p>
            <a:r>
              <a:t>Walk the DNS lookup once: client, recursive resolver, authoritative CoreDNS, returned application address. Then point to the separate application connection through Gateway or Ingress. DNS is outside the application data path, so k8gb steers new connections without proxying application traffic. Save the cache-delay discussion for immediately after the demo.</a:t>
            </a:r>
          </a:p>
          <a:p/>
          <a:p>
            <a:r>
              <a:t>SOURCE CHECK</a:t>
            </a:r>
          </a:p>
          <a:p>
            <a:r>
              <a:t>Local k8gb checkout: 330d33335981b9716bc8ca245660d90893eae272</a:t>
            </a:r>
          </a:p>
          <a:p>
            <a:r>
              <a:t>https://github.com/k8gb-io/k8gb/blob/330d33335981b9716bc8ca245660d90893eae272/docs/intro.md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7.25–8.5 minutes elapsed.</a:t>
            </a:r>
          </a:p>
          <a:p/>
          <a:p>
            <a:r>
              <a:t>Failover prefers a primary cluster and returns to it when ready again; this is the demo strategy. Introduce the other modes in one sentence each: round robin uses healthy clusters, weights express relative preference, GeoIP uses client subnet information. Keep the displayed DNS-level qualifications brief. Do not pre-explain the three failover states; the audience will see them in the demo.</a:t>
            </a:r>
          </a:p>
          <a:p/>
          <a:p>
            <a:r>
              <a:t>SOURCE CHECK</a:t>
            </a:r>
          </a:p>
          <a:p>
            <a:r>
              <a:t>Local k8gb checkout: 330d33335981b9716bc8ca245660d90893eae272</a:t>
            </a:r>
          </a:p>
          <a:p>
            <a:r>
              <a:t>https://github.com/k8gb-io/k8gb/blob/330d33335981b9716bc8ca245660d90893eae272/docs/strategy.md</a:t>
            </a:r>
          </a:p>
          <a:p>
            <a:r>
              <a:t>https://github.com/k8gb-io/k8gb/blob/330d33335981b9716bc8ca245660d90893eae272/docs/wrr_caveats.md</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8.5–9.75 minutes elapsed.</a:t>
            </a:r>
          </a:p>
          <a:p/>
          <a:p>
            <a:r>
              <a:t>Show the familiar apiVersion, kind, metadata and spec: Gslb is a standard Kubernetes custom resource. primaryGeoTag: eu selects the cluster tagged eu, called Cluster A in the demo; Cluster B is us. The same steering configuration is deployed per cluster. The slide uses HTTPRoute; the local demo uses Ingress with the same failover strategy. The route and delegated zone are already prepared for the demo.</a:t>
            </a:r>
          </a:p>
          <a:p/>
          <a:p>
            <a:r>
              <a:t>SOURCE CHECK</a:t>
            </a:r>
          </a:p>
          <a:p>
            <a:r>
              <a:t>Local k8gb checkout: 330d33335981b9716bc8ca245660d90893eae272</a:t>
            </a:r>
          </a:p>
          <a:p>
            <a:r>
              <a:t>https://github.com/k8gb-io/k8gb/blob/330d33335981b9716bc8ca245660d90893eae272/api/v1beta1io/gslb_types.go</a:t>
            </a:r>
          </a:p>
          <a:p>
            <a:r>
              <a:t>https://github.com/k8gb-io/k8gb/blob/330d33335981b9716bc8ca245660d90893eae272/docs/resource_ref.md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9.75–11 minutes elapsed.</a:t>
            </a:r>
          </a:p>
          <a:p/>
          <a:p>
            <a:r>
              <a:t>Spend 75 seconds on integration breadth. k8gb runs on conformant Kubernetes in on-prem, cloud and hybrid setups. The four native resource integrations are Gateway API, Ingress, Istio VirtualService, and LoadBalancer Service; Gateway API is recommended for new deployments. Point to the documented DNS providers rather than reading every logo. RFC 2136 covers BIND9 and Windows DNS, using TSIG or GSS-TSIG as appropriate. ExternalDNS handles configured provider APIs and RFC 2136; Infoblox also has a dedicated integration. Your team chooses the parent authority while the Gslb traffic strategy and application-zone CoreDNS layer remain the same. Provider changes still require configuration and delegation planning. The local demo uses Ingress and BIND9. Move directly to the topology choices.</a:t>
            </a:r>
          </a:p>
          <a:p/>
          <a:p>
            <a:r>
              <a:t>SOURCE CHECK</a:t>
            </a:r>
          </a:p>
          <a:p>
            <a:r>
              <a:t>Local k8gb checkout: 330d33335981b9716bc8ca245660d90893eae272</a:t>
            </a:r>
          </a:p>
          <a:p>
            <a:r>
              <a:t>https://github.com/k8gb-io/k8gb/blob/330d33335981b9716bc8ca245660d90893eae272/README.md</a:t>
            </a:r>
          </a:p>
          <a:p>
            <a:r>
              <a:t>https://github.com/k8gb-io/k8gb/blob/330d33335981b9716bc8ca245660d90893eae272/docs/resource_ref.md</a:t>
            </a:r>
          </a:p>
          <a:p>
            <a:r>
              <a:t>https://github.com/k8gb-io/k8gb/blob/330d33335981b9716bc8ca245660d90893eae272/docs/tutorials.md</a:t>
            </a:r>
          </a:p>
          <a:p>
            <a:r>
              <a:t>https://github.com/k8gb-io/k8gb/blob/330d33335981b9716bc8ca245660d90893eae272/docs/provider_rfc2136.md</a:t>
            </a:r>
          </a:p>
          <a:p>
            <a:r>
              <a:t>https://github.com/k8gb-io/k8gb/blob/330d33335981b9716bc8ca245660d90893eae272/docs/lbservice-integration.md</a:t>
            </a:r>
          </a:p>
          <a:p>
            <a:r>
              <a:t>https://www.k8gb.io/master/resource_ref/</a:t>
            </a:r>
          </a:p>
          <a:p>
            <a:r>
              <a:t>https://www.k8gb.io/master/tutorials/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11–12 minutes elapsed.</a:t>
            </a:r>
          </a:p>
          <a:p/>
          <a:p>
            <a:r>
              <a:t>Connect geotags to the audience’s topology. A tag identifies a participating k8gb cluster; it can represent a region, datacenter, rack, server, or another boundary. Rack or server examples still mean independent Kubernetes clusters, including single-node clusters. Our demo names them A/eu and B/us. End the capability section here and switch to the local setup at minute 12.</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https://github.com/k8gb-io/k8gb/blob/330d33335981b9716bc8ca245660d90893eae272/docs/dynamic_geotags.md</a:t>
            </a:r>
          </a:p>
          <a:p>
            <a:r>
              <a:t>https://github.com/k8gb-io/k8gb/blob/330d33335981b9716bc8ca245660d90893eae272/controllers/resolver/config.go</a:t>
            </a:r>
          </a:p>
          <a:p>
            <a:r>
              <a:t>https://github.com/k8gb-io/k8gb/blob/330d33335981b9716bc8ca245660d90893eae272/controllers/resolver/config_validations.go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6 minutes.</a:t>
            </a:r>
          </a:p>
          <a:p/>
          <a:p>
            <a:r>
              <a:t>RUN OF SHOW: 12–18 minutes elapsed.</a:t>
            </a:r>
          </a:p>
          <a:p/>
          <a:p>
            <a:r>
              <a:t>SIX MINUTES INCLUDING INTRODUCTION. Spend about 45 seconds on this diagram: local BIND9 is the parent authority; A/eu is primary, B/us is secondary; the CLI observes DNS, the resolver, and actual HTTP identity. Then switch to the terminal. Show the Gslb failover strategy, compare both authoritative answers, remove A’s ready application endpoints, observe HTTP from B, restore the captured original replica count, and verify A again. Keep notes short and let the traffic pane show readiness and cache lag. Do not explain each Kubernetes object field or inspect unrelated internals. The operation is application endpoint loss, while DNS remains available. Launch the prepared presentation with ./demo/demo.sh up; the isolated recorded fallback is ./demo/demo.sh offline and is explicitly labelled recorded replay. This setup uses Ingress. Finish and restore A by minute 18. Return directly to the timing slide with: We have seen application failover and recovery. Now let us examine what changes when observations disagree or readiness gives the wrong signal.</a:t>
            </a:r>
          </a:p>
          <a:p/>
          <a:p>
            <a:r>
              <a:t>SOURCE CHECK</a:t>
            </a:r>
          </a:p>
          <a:p>
            <a:r>
              <a:t>Local k8gb checkout: 330d33335981b9716bc8ca245660d90893eae272</a:t>
            </a:r>
          </a:p>
          <a:p>
            <a:r>
              <a:t>https://github.com/k8gb-io/k8gb/blob/330d33335981b9716bc8ca245660d90893eae272/hack/demo-failover.sh</a:t>
            </a:r>
          </a:p>
          <a:p>
            <a:r>
              <a:t>https://github.com/k8gb-io/k8gb/blob/330d33335981b9716bc8ca245660d90893eae272/k3d/test-gslb1.yaml</a:t>
            </a:r>
          </a:p>
          <a:p>
            <a:r>
              <a:t>https://github.com/k8gb-io/k8gb/blob/330d33335981b9716bc8ca245660d90893eae272/k3d/test-gslb2.yaml</a:t>
            </a:r>
          </a:p>
          <a:p>
            <a:r>
              <a:t>https://github.com/k8gb-io/k8gb/blob/330d33335981b9716bc8ca245660d90893eae272/k3d/edge-dns.yaml</a:t>
            </a:r>
          </a:p>
          <a:p>
            <a:r>
              <a:t>https://github.com/k8gb-io/k8gb/blob/330d33335981b9716bc8ca245660d90893eae272/deploy/edge/deployment.yaml</a:t>
            </a:r>
          </a:p>
          <a:p>
            <a:r>
              <a:t>https://github.com/k8gb-io/k8gb/blob/330d33335981b9716bc8ca245660d90893eae272/deploy/edge/zone.yaml</a:t>
            </a:r>
          </a:p>
          <a:p>
            <a:r>
              <a:t>https://github.com/k8gb-io/k8gb/blob/330d33335981b9716bc8ca245660d90893eae272/deploy/gslb/k8gb.absa.oss_v1beta1_gslb_cr_failover_ingress_ref.yaml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18–19.5 minutes elapsed.</a:t>
            </a:r>
          </a:p>
          <a:p/>
          <a:p>
            <a:r>
              <a:t>Start Part 2 with what the audience just saw: readiness changes, controllers reconcile, authorities publish, resolvers refresh, clients retry. These moments are distinct. Existing connections do not migrate when DNS changes; reconnect and session behavior need testing with the actual application. Measure the return of successful requests, not only a controller update. Spend 90 seconds; detailed timer arithmetic belongs in questions.</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https://github.com/k8gb-io/k8gb/blob/330d33335981b9716bc8ca245660d90893eae272/controllers/zone_delegation_reconciliation.go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19.5–21.5 minutes elapsed.</a:t>
            </a:r>
          </a:p>
          <a:p/>
          <a:p>
            <a:r>
              <a:t>Use this single slide for application readiness and data safety. Kubernetes runs readinessProbe checks and reflects Pod readiness in EndpointSlices; k8gb consumes that state when selecting targets. The lower example is illustrative: GET /healthz returns 200 while a real payment write fails because the database is read-only. The application must define readiness around the operation it needs to serve. k8gb steers traffic; replication, safe writer ownership and fencing remain application responsibilities. State this once, using the example, then move on. Probe details and Any/All service aggregation can be discussed in questions; a readiness probe does not itself repair the database or guarantee every request.</a:t>
            </a:r>
          </a:p>
          <a:p/>
          <a:p>
            <a:r>
              <a:t>SOURCE CHECK</a:t>
            </a:r>
          </a:p>
          <a:p>
            <a:r>
              <a:t>Local k8gb checkout: 330d33335981b9716bc8ca245660d90893eae272</a:t>
            </a:r>
          </a:p>
          <a:p>
            <a:r>
              <a:t>https://github.com/k8gb-io/k8gb/blob/330d33335981b9716bc8ca245660d90893eae272/controllers/runtime_shared.go</a:t>
            </a:r>
          </a:p>
          <a:p>
            <a:r>
              <a:t>https://github.com/k8gb-io/k8gb/blob/330d33335981b9716bc8ca245660d90893eae272/api/v1beta1io/gslb_types.go</a:t>
            </a:r>
          </a:p>
          <a:p>
            <a:r>
              <a:t>https://github.com/k8gb-io/k8gb/blob/330d33335981b9716bc8ca245660d90893eae272/controllers/providers/k8gbendpoint/applicationDNSEndpoint.go</a:t>
            </a:r>
          </a:p>
          <a:p>
            <a:r>
              <a:t>https://kubernetes.io/docs/concepts/workloads/pods/probes/#readiness-probe</a:t>
            </a:r>
          </a:p>
          <a:p>
            <a:r>
              <a:t>https://kubernetes.io/docs/concepts/services-networking/endpoint-slices/#conditions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21.5–23.5 minutes elapsed.</a:t>
            </a:r>
          </a:p>
          <a:p/>
          <a:p>
            <a:r>
              <a:t>Now change the failure condition: both applications are ready and clients can reach both authorities, but B cannot obtain A’s peer-health answer. A can continue returning A while B returns B. The illustration shows a possible divergent state, not a claim that every partition has identical behavior. A failed observation is not proof that the remote application is down. Compare this with the clean workload failover the demo showed. Transition directly to how we observe the disagreement.</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23.5–24.75 minutes elapsed.</a:t>
            </a:r>
          </a:p>
          <a:p/>
          <a:p>
            <a:r>
              <a:t>Query the same application name against each authority. Then compare what the recursive cache returns and test a real request. Correlate readiness, controller errors and application results. The metric example shows why three healthy IPs can belong to one cluster; do not spend time deriving the metric. This is the practical response to the partition diagram, not a separate monitoring-tool tour.</a:t>
            </a:r>
          </a:p>
          <a:p/>
          <a:p>
            <a:r>
              <a:t>SOURCE CHECK</a:t>
            </a:r>
          </a:p>
          <a:p>
            <a:r>
              <a:t>Local k8gb checkout: 330d33335981b9716bc8ca245660d90893eae272</a:t>
            </a:r>
          </a:p>
          <a:p>
            <a:r>
              <a:t>https://github.com/k8gb-io/k8gb/blob/330d33335981b9716bc8ca245660d90893eae272/controllers/providers/metrics/prometheus.go</a:t>
            </a:r>
          </a:p>
          <a:p>
            <a:r>
              <a:t>https://github.com/k8gb-io/k8gb/blob/330d33335981b9716bc8ca245660d90893eae272/controllers/runtime_shared.go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24.75–26 minutes elapsed.</a:t>
            </a:r>
          </a:p>
          <a:p/>
          <a:p>
            <a:r>
              <a:t>Turn the hard parts into four specific tests: remove ready application endpoints, lose a whole cluster, interrupt a peer-health lookup, and restore the primary. Verify authoritative answers, resolver behavior and successful real requests for each test. Automate the sequence and measure recovery. We exercised the workload case; the remaining rows are the production test plan. Finish this section by minute 26.</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https://github.com/k8gb-io/k8gb/blob/330d33335981b9716bc8ca245660d90893eae272/controllers/runtime_shared.go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26–27 minutes elapsed.</a:t>
            </a:r>
          </a:p>
          <a:p/>
          <a:p>
            <a:r>
              <a:t>Close with configure, verify, test. k8gb automatically reconciles traffic failover and failback; the team automates end-to-end tests of that behavior. Version the Gslb manifest; choose and own the delegated DNS path; use multiple observable authorities; make readiness describe the real operation; verify client-visible requests; automate failure and recovery tests. These absorb the separate operational checklist. Return to the title: control comes from choosing the configuration, seeing the result, and repeatedly testing recovery. Do not reopen the data discussion or recap every slide. Finish at minute 27 and move to the community invitation.</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27–28 minutes elapsed.</a:t>
            </a:r>
          </a:p>
          <a:p/>
          <a:p>
            <a:r>
              <a:t>Spend one minute on the people behind the project. k8gb is CNCF Incubating, with seven public adopters, seven maintainers and 1,335 GitHub stars, checked on 23 October 2026. Mention the breadth of public users without reading every name. The adopter list is voluntary and is not the total installation count. Star count indicates interest, not reliability. Invite the audience to a community meeting; dates and local time are in the linked calendar. Transition to Questions at minute 28.</a:t>
            </a:r>
          </a:p>
          <a:p/>
          <a:p>
            <a:r>
              <a:t>SOURCE CHECK</a:t>
            </a:r>
          </a:p>
          <a:p>
            <a:r>
              <a:t>Local k8gb checkout: 330d33335981b9716bc8ca245660d90893eae272</a:t>
            </a:r>
          </a:p>
          <a:p>
            <a:r>
              <a:t>https://www.cncf.io/projects/k8gb/</a:t>
            </a:r>
          </a:p>
          <a:p>
            <a:r>
              <a:t>https://github.com/k8gb-io/k8gb/blob/330d33335981b9716bc8ca245660d90893eae272/ADOPTERS.md</a:t>
            </a:r>
          </a:p>
          <a:p>
            <a:r>
              <a:t>https://github.com/k8gb-io/k8gb/blob/330d33335981b9716bc8ca245660d90893eae272/CODEOWNERS</a:t>
            </a:r>
          </a:p>
          <a:p>
            <a:r>
              <a:t>https://github.com/k8gb-io/k8gb/blob/330d33335981b9716bc8ca245660d90893eae272/GOVERNANCE.md</a:t>
            </a:r>
          </a:p>
          <a:p>
            <a:r>
              <a:t>https://github.com/k8gb-io/k8gb/blob/330d33335981b9716bc8ca245660d90893eae272/CONTRIBUTING.md</a:t>
            </a:r>
          </a:p>
          <a:p>
            <a:r>
              <a:t>https://api.github.com/repos/k8gb-io/k8gb</a:t>
            </a:r>
          </a:p>
          <a:p>
            <a:r>
              <a:t>https://zoom-lfx.platform.linuxfoundation.org/meetings/k8gb?view=month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7 minutes.</a:t>
            </a:r>
          </a:p>
          <a:p/>
          <a:p>
            <a:r>
              <a:t>RUN OF SHOW: 28–35 minutes elapsed.</a:t>
            </a:r>
          </a:p>
          <a:p/>
          <a:p>
            <a:r>
              <a:t>Reserve seven minutes for questions, from minute 28 to minute 35. Leave the QR code, GitHub, Slack, community-calendar, adopters and LinkedIn links visible. Hidden appendix slides follow: A1 reconciliation (physical slide 22), A2 delegation (23), A3 normal state (24), A4 failover (25), A5 failback (26), A6 availability responsibilities (27). Jump to one only when relevant to a question; hidden slides are skipped in the normal PowerPoint slideshow.</a:t>
            </a:r>
          </a:p>
          <a:p/>
          <a:p>
            <a:r>
              <a:t>SOURCE CHECK</a:t>
            </a:r>
          </a:p>
          <a:p>
            <a:r>
              <a:t>Local k8gb checkout: 330d33335981b9716bc8ca245660d90893eae272</a:t>
            </a:r>
          </a:p>
          <a:p>
            <a:r>
              <a:t>https://www.sovereign-cloud-days.eu/event/sovereign-cloud-days-2026-1/track/who-controls-the-failover-sovereign-global-traffic-management-with-kubernetes-63</a:t>
            </a:r>
          </a:p>
          <a:p>
            <a:r>
              <a:t>https://www.k8gb.io/</a:t>
            </a:r>
          </a:p>
          <a:p>
            <a:r>
              <a:t>https://github.com/k8gb-io/k8gb</a:t>
            </a:r>
          </a:p>
          <a:p>
            <a:r>
              <a:t>https://cloud-native.slack.com/archives/C021P656HGB</a:t>
            </a:r>
          </a:p>
          <a:p>
            <a:r>
              <a:t>https://zoom-lfx.platform.linuxfoundation.org/meetings/k8gb?view=month</a:t>
            </a:r>
          </a:p>
          <a:p>
            <a:r>
              <a:t>https://github.com/k8gb-io/k8gb/blob/330d33335981b9716bc8ca245660d90893eae272/ADOPTERS.md</a:t>
            </a:r>
          </a:p>
          <a:p>
            <a:r>
              <a:t>https://github.com/k8gb-io/k8gb/blob/330d33335981b9716bc8ca245660d90893eae272/CONTRIBUTING.md</a:t>
            </a:r>
          </a:p>
          <a:p>
            <a:r>
              <a:t>https://www.linkedin.com/in/yurytsarev/</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This is a deliberately simplified view of the local checkout at 330d3333. ZoneDelegation manages zone configuration and DNS-server membership, including status.dnsServers. Gslb reconciliation evaluates Service EndpointSlices and uses those peer addresses for health queries. It writes the application DNSEndpoint consumed by CoreDNS. Therefore an edge-DNS interruption must be analysed separately from a failed peer-health query; an edge failure does not by itself prove immediate loss of all cached peer addresses. The chart has separate Gslb and ZoneDelegation reconciliation intervals. Do not present a single exact failover timer. This diagram shows the ExternalDNS provider path: ZoneDelegation reconciliation writes a delegation DNSEndpoint with NS and nameserver-address records. ExternalDNS consumes that resource and updates the parent DNS. A separate branch updates the CoreDNS zone ConfigMap. The lower DNSEndpoint contains application targets and is consumed by CoreDNS, not by ExternalDNS for parent delegation. The two CoreDNS boxes show two roles of the same per-cluster service. The title counts the two k8gb loops; ExternalDNS has its own reconciliation.</a:t>
            </a:r>
          </a:p>
          <a:p/>
          <a:p>
            <a:r>
              <a:t>SOURCE CHECK</a:t>
            </a:r>
          </a:p>
          <a:p>
            <a:r>
              <a:t>Local k8gb checkout: 330d33335981b9716bc8ca245660d90893eae272</a:t>
            </a:r>
          </a:p>
          <a:p>
            <a:r>
              <a:t>https://github.com/k8gb-io/k8gb/blob/330d33335981b9716bc8ca245660d90893eae272/controllers/zone_delegation_reconciliation.go</a:t>
            </a:r>
          </a:p>
          <a:p>
            <a:r>
              <a:t>https://github.com/k8gb-io/k8gb/blob/330d33335981b9716bc8ca245660d90893eae272/controllers/zones/zone_service.go</a:t>
            </a:r>
          </a:p>
          <a:p>
            <a:r>
              <a:t>https://github.com/k8gb-io/k8gb/blob/330d33335981b9716bc8ca245660d90893eae272/controllers/zones/authoritative.go</a:t>
            </a:r>
          </a:p>
          <a:p>
            <a:r>
              <a:t>https://github.com/k8gb-io/k8gb/blob/330d33335981b9716bc8ca245660d90893eae272/controllers/runtime_shared.go</a:t>
            </a:r>
          </a:p>
          <a:p>
            <a:r>
              <a:t>https://github.com/k8gb-io/k8gb/blob/330d33335981b9716bc8ca245660d90893eae272/controllers/providers/dns/external.go</a:t>
            </a:r>
          </a:p>
          <a:p>
            <a:r>
              <a:t>https://github.com/k8gb-io/k8gb/blob/330d33335981b9716bc8ca245660d90893eae272/controllers/providers/k8gbendpoint/delegationDNSEndpoint.go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The parent zone publishes NS records for the delegated application subzone, plus the address records required by the chosen naming arrangement. Glue is specifically required for in-bailiwick nameserver names; do not use glue to mean every address record universally. The recursive resolver follows that delegation to a reachable CoreDNS authority. CoreDNS answers application A records. Redundant authority, public DNS reachability and recovery credentials remain production responsibilities. k8gb does not take ownership of the registrar or parent zone. The ns-a and ns-b labels abbreviate illustrative nameserver hostnames. Both cluster authorities serve the same delegated zone. The arrows represent delegation and a DNS answer, not application packets or a proxy hop through the parent DNS.</a:t>
            </a:r>
          </a:p>
          <a:p/>
          <a:p>
            <a:r>
              <a:t>SOURCE CHECK</a:t>
            </a:r>
          </a:p>
          <a:p>
            <a:r>
              <a:t>Local k8gb checkout: 330d33335981b9716bc8ca245660d90893eae272</a:t>
            </a:r>
          </a:p>
          <a:p>
            <a:r>
              <a:t>https://github.com/k8gb-io/k8gb/blob/330d33335981b9716bc8ca245660d90893eae272/controllers/providers/k8gbendpoint/delegationDNSEndpoint.go</a:t>
            </a:r>
          </a:p>
          <a:p>
            <a:r>
              <a:t>https://github.com/k8gb-io/k8gb/blob/330d33335981b9716bc8ca245660d90893eae272/docs/exposing_dns.md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Both applications are ready. Both clusters run independent k8gb and CoreDNS instances. With complete peer visibility, each authority publishes the primary application addresses. There is no active DNS-master election between the clusters. Passive describes application target selection in this strategy, not a powered-off controller or authority.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This is application failure, not loss of the entire cluster. A’s CoreDNS remains reachable while its workload has no ready endpoints. After reconciliation, A can publish B’s healthy targets, and B no longer finds healthy primary targets. Existing connections are not migrated and cached A answers may persist. If the whole primary cluster is lost, the surviving authority must also remain reachable by resolvers.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The code automatically prefers a healthy primary again. There is no implied built-in manual failback approval gate. If the application is not safe to receive traffic yet, its readiness and operational controls must prevent premature eligibility. Database leadership, replication consistency, fencing and session continuity belong to the application recovery design.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If a Service has no ready endpoints, k8gb can exclude the local application target. A surviving cluster can serve new resolutions when its authority, application and required network paths remain available. This does not replicate data, fence a former database writer, or restore client sessions. Explicitly assign those responsibilities to the application recovery design. Read the left panel as two examples of DNS responses after observation and reconciliation, not as guaranteed instantaneous recovery or cluster restoration. The data and session responsibilities on the right require their own design and validation.</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jp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cncf.io/projects/k8gb/" TargetMode="External"/><Relationship Id="rId4" Type="http://schemas.openxmlformats.org/officeDocument/2006/relationships/hyperlink" Target="https://github.com/k8gb-io/k8gb/blob/master/ADOPTERS.md" TargetMode="External"/><Relationship Id="rId5" Type="http://schemas.openxmlformats.org/officeDocument/2006/relationships/hyperlink" Target="https://github.com/k8gb-io/k8gb/blob/master/CODEOWNERS" TargetMode="External"/><Relationship Id="rId6" Type="http://schemas.openxmlformats.org/officeDocument/2006/relationships/hyperlink" Target="https://github.com/k8gb-io/k8gb" TargetMode="External"/><Relationship Id="rId7" Type="http://schemas.openxmlformats.org/officeDocument/2006/relationships/hyperlink" Target="https://zoom-lfx.platform.linuxfoundation.org/meetings/k8gb?view=month" TargetMode="Externa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hyperlink" Target="https://www.k8gb.io/" TargetMode="External"/><Relationship Id="rId5" Type="http://schemas.openxmlformats.org/officeDocument/2006/relationships/hyperlink" Target="https://github.com/k8gb-io/k8gb" TargetMode="External"/><Relationship Id="rId6" Type="http://schemas.openxmlformats.org/officeDocument/2006/relationships/hyperlink" Target="https://cloud-native.slack.com/archives/C021P656HGB" TargetMode="External"/><Relationship Id="rId7" Type="http://schemas.openxmlformats.org/officeDocument/2006/relationships/hyperlink" Target="https://zoom-lfx.platform.linuxfoundation.org/meetings/k8gb?view=month" TargetMode="External"/><Relationship Id="rId8" Type="http://schemas.openxmlformats.org/officeDocument/2006/relationships/hyperlink" Target="https://github.com/k8gb-io/k8gb/blob/master/ADOPTERS.md" TargetMode="External"/><Relationship Id="rId9" Type="http://schemas.openxmlformats.org/officeDocument/2006/relationships/hyperlink" Target="https://www.linkedin.com/in/yurytsarev/" TargetMode="Externa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SOVEREIGN GLOBAL TRAFFIC MANAGEMENT</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01 / 21</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206500"/>
            <a:ext cx="7874000" cy="1531620"/>
          </a:xfrm>
          <a:prstGeom prst="rect">
            <a:avLst/>
          </a:prstGeom>
          <a:noFill/>
        </p:spPr>
        <p:txBody>
          <a:bodyPr wrap="none" lIns="0" rIns="0" tIns="0" bIns="0" anchor="t">
            <a:noAutofit/>
          </a:bodyPr>
          <a:lstStyle/>
          <a:p>
            <a:pPr algn="l">
              <a:lnSpc>
                <a:spcPts val="5880"/>
              </a:lnSpc>
              <a:spcBef>
                <a:spcPts val="0"/>
              </a:spcBef>
              <a:spcAft>
                <a:spcPts val="0"/>
              </a:spcAft>
            </a:pPr>
            <a:r>
              <a:rPr sz="5600" b="1">
                <a:solidFill>
                  <a:srgbClr val="FFFFFF"/>
                </a:solidFill>
                <a:latin typeface="Arial"/>
              </a:rPr>
              <a:t>Who controls</a:t>
            </a:r>
          </a:p>
          <a:p>
            <a:pPr algn="l">
              <a:lnSpc>
                <a:spcPts val="5880"/>
              </a:lnSpc>
              <a:spcBef>
                <a:spcPts val="0"/>
              </a:spcBef>
              <a:spcAft>
                <a:spcPts val="0"/>
              </a:spcAft>
            </a:pPr>
            <a:r>
              <a:rPr sz="5600" b="1">
                <a:solidFill>
                  <a:srgbClr val="FFFFFF"/>
                </a:solidFill>
                <a:latin typeface="Arial"/>
              </a:rPr>
              <a:t>the failover?</a:t>
            </a:r>
          </a:p>
        </p:txBody>
      </p:sp>
      <p:sp>
        <p:nvSpPr>
          <p:cNvPr id="9" name="TextBox 8"/>
          <p:cNvSpPr txBox="1"/>
          <p:nvPr/>
        </p:nvSpPr>
        <p:spPr>
          <a:xfrm>
            <a:off x="647700" y="3162300"/>
            <a:ext cx="8001000" cy="843788"/>
          </a:xfrm>
          <a:prstGeom prst="rect">
            <a:avLst/>
          </a:prstGeom>
          <a:noFill/>
        </p:spPr>
        <p:txBody>
          <a:bodyPr wrap="none" lIns="0" rIns="0" tIns="0" bIns="0" anchor="t">
            <a:noAutofit/>
          </a:bodyPr>
          <a:lstStyle/>
          <a:p>
            <a:pPr algn="l">
              <a:lnSpc>
                <a:spcPts val="3172"/>
              </a:lnSpc>
              <a:spcBef>
                <a:spcPts val="0"/>
              </a:spcBef>
              <a:spcAft>
                <a:spcPts val="0"/>
              </a:spcAft>
            </a:pPr>
            <a:r>
              <a:rPr sz="2600" b="0">
                <a:solidFill>
                  <a:srgbClr val="B8C8D9"/>
                </a:solidFill>
                <a:latin typeface="Arial"/>
              </a:rPr>
              <a:t>Sovereign global traffic management</a:t>
            </a:r>
          </a:p>
          <a:p>
            <a:pPr algn="l">
              <a:lnSpc>
                <a:spcPts val="3172"/>
              </a:lnSpc>
              <a:spcBef>
                <a:spcPts val="0"/>
              </a:spcBef>
              <a:spcAft>
                <a:spcPts val="0"/>
              </a:spcAft>
            </a:pPr>
            <a:r>
              <a:rPr sz="2600" b="0">
                <a:solidFill>
                  <a:srgbClr val="B8C8D9"/>
                </a:solidFill>
                <a:latin typeface="Arial"/>
              </a:rPr>
              <a:t>with Kubernetes</a:t>
            </a:r>
          </a:p>
        </p:txBody>
      </p:sp>
      <p:pic>
        <p:nvPicPr>
          <p:cNvPr id="10" name="Picture 9" descr="image.png"/>
          <p:cNvPicPr>
            <a:picLocks noChangeAspect="1"/>
          </p:cNvPicPr>
          <p:nvPr/>
        </p:nvPicPr>
        <p:blipFill>
          <a:blip r:embed="rId2"/>
          <a:stretch>
            <a:fillRect/>
          </a:stretch>
        </p:blipFill>
        <p:spPr>
          <a:xfrm>
            <a:off x="9486900" y="1333500"/>
            <a:ext cx="1841500" cy="1841500"/>
          </a:xfrm>
          <a:prstGeom prst="rect">
            <a:avLst/>
          </a:prstGeom>
        </p:spPr>
      </p:pic>
      <p:cxnSp>
        <p:nvCxnSpPr>
          <p:cNvPr id="11" name="Connector 10"/>
          <p:cNvCxnSpPr/>
          <p:nvPr/>
        </p:nvCxnSpPr>
        <p:spPr>
          <a:xfrm>
            <a:off x="660400" y="4470400"/>
            <a:ext cx="108712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98500" y="4864100"/>
            <a:ext cx="127000" cy="1270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0600" y="4737100"/>
            <a:ext cx="317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TRAFFIC MANAGEMENT</a:t>
            </a:r>
          </a:p>
        </p:txBody>
      </p:sp>
      <p:sp>
        <p:nvSpPr>
          <p:cNvPr id="14" name="Oval 13"/>
          <p:cNvSpPr/>
          <p:nvPr/>
        </p:nvSpPr>
        <p:spPr>
          <a:xfrm>
            <a:off x="4889500" y="4864100"/>
            <a:ext cx="127000" cy="1270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1600" y="4737100"/>
            <a:ext cx="2159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DNS STEERING</a:t>
            </a:r>
          </a:p>
        </p:txBody>
      </p:sp>
      <p:sp>
        <p:nvSpPr>
          <p:cNvPr id="16" name="Oval 15"/>
          <p:cNvSpPr/>
          <p:nvPr/>
        </p:nvSpPr>
        <p:spPr>
          <a:xfrm>
            <a:off x="7785100" y="4864100"/>
            <a:ext cx="127000" cy="1270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77200" y="4737100"/>
            <a:ext cx="35052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MULTI-REGION RESILIENCE</a:t>
            </a:r>
          </a:p>
        </p:txBody>
      </p:sp>
      <p:sp>
        <p:nvSpPr>
          <p:cNvPr id="18" name="TextBox 17"/>
          <p:cNvSpPr txBox="1"/>
          <p:nvPr/>
        </p:nvSpPr>
        <p:spPr>
          <a:xfrm>
            <a:off x="660400" y="5524500"/>
            <a:ext cx="10414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FFFFFF"/>
                </a:solidFill>
                <a:latin typeface="Arial"/>
              </a:rPr>
              <a:t>Yury Tsarev  ·  Creator &amp; Project Lead, k8gb</a:t>
            </a:r>
          </a:p>
        </p:txBody>
      </p:sp>
      <p:sp>
        <p:nvSpPr>
          <p:cNvPr id="19" name="TextBox 18"/>
          <p:cNvSpPr txBox="1"/>
          <p:nvPr/>
        </p:nvSpPr>
        <p:spPr>
          <a:xfrm>
            <a:off x="660400" y="5943600"/>
            <a:ext cx="1041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24 October 2026  ·  Saarbrücken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REACHABILITY PROBLEM</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02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node resilience to cluster failover</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Spread replicas, then widen the failure boundary.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38200" y="2171700"/>
            <a:ext cx="2946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382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2762C8"/>
                </a:solidFill>
                <a:latin typeface="Arial"/>
              </a:rPr>
              <a:t>01</a:t>
            </a:r>
          </a:p>
        </p:txBody>
      </p:sp>
      <p:sp>
        <p:nvSpPr>
          <p:cNvPr id="13" name="TextBox 12"/>
          <p:cNvSpPr txBox="1"/>
          <p:nvPr/>
        </p:nvSpPr>
        <p:spPr>
          <a:xfrm>
            <a:off x="13081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NODES</a:t>
            </a:r>
          </a:p>
        </p:txBody>
      </p:sp>
      <p:sp>
        <p:nvSpPr>
          <p:cNvPr id="14" name="TextBox 13"/>
          <p:cNvSpPr txBox="1"/>
          <p:nvPr/>
        </p:nvSpPr>
        <p:spPr>
          <a:xfrm>
            <a:off x="8382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15" name="Rounded Rectangle 14"/>
          <p:cNvSpPr/>
          <p:nvPr/>
        </p:nvSpPr>
        <p:spPr>
          <a:xfrm>
            <a:off x="838200" y="3327400"/>
            <a:ext cx="863600" cy="850900"/>
          </a:xfrm>
          <a:prstGeom prst="roundRect">
            <a:avLst>
              <a:gd name="adj" fmla="val 746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63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CF0035"/>
                </a:solidFill>
                <a:latin typeface="Arial"/>
              </a:rPr>
              <a:t>NODE 1</a:t>
            </a:r>
          </a:p>
        </p:txBody>
      </p:sp>
      <p:sp>
        <p:nvSpPr>
          <p:cNvPr id="17" name="Rounded Rectangle 16"/>
          <p:cNvSpPr/>
          <p:nvPr/>
        </p:nvSpPr>
        <p:spPr>
          <a:xfrm>
            <a:off x="990600" y="3708400"/>
            <a:ext cx="558800" cy="279400"/>
          </a:xfrm>
          <a:prstGeom prst="roundRect">
            <a:avLst>
              <a:gd name="adj" fmla="val 13636"/>
            </a:avLst>
          </a:prstGeom>
          <a:solidFill>
            <a:srgbClr val="FFFFFF"/>
          </a:solidFill>
          <a:ln w="127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87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Pod</a:t>
            </a:r>
          </a:p>
        </p:txBody>
      </p:sp>
      <p:sp>
        <p:nvSpPr>
          <p:cNvPr id="19" name="Oval 18"/>
          <p:cNvSpPr/>
          <p:nvPr/>
        </p:nvSpPr>
        <p:spPr>
          <a:xfrm>
            <a:off x="1422400" y="31877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8415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796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2</a:t>
            </a:r>
          </a:p>
        </p:txBody>
      </p:sp>
      <p:sp>
        <p:nvSpPr>
          <p:cNvPr id="24" name="Rounded Rectangle 23"/>
          <p:cNvSpPr/>
          <p:nvPr/>
        </p:nvSpPr>
        <p:spPr>
          <a:xfrm>
            <a:off x="19939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0320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26" name="Oval 25"/>
          <p:cNvSpPr/>
          <p:nvPr/>
        </p:nvSpPr>
        <p:spPr>
          <a:xfrm>
            <a:off x="24257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24765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5273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28448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29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3</a:t>
            </a:r>
          </a:p>
        </p:txBody>
      </p:sp>
      <p:sp>
        <p:nvSpPr>
          <p:cNvPr id="31" name="Rounded Rectangle 30"/>
          <p:cNvSpPr/>
          <p:nvPr/>
        </p:nvSpPr>
        <p:spPr>
          <a:xfrm>
            <a:off x="29972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353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33" name="Oval 32"/>
          <p:cNvSpPr/>
          <p:nvPr/>
        </p:nvSpPr>
        <p:spPr>
          <a:xfrm>
            <a:off x="34290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4798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306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382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Spread replicas</a:t>
            </a:r>
          </a:p>
        </p:txBody>
      </p:sp>
      <p:sp>
        <p:nvSpPr>
          <p:cNvPr id="37" name="TextBox 36"/>
          <p:cNvSpPr txBox="1"/>
          <p:nvPr/>
        </p:nvSpPr>
        <p:spPr>
          <a:xfrm>
            <a:off x="8382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worker failure.</a:t>
            </a:r>
          </a:p>
        </p:txBody>
      </p:sp>
      <p:sp>
        <p:nvSpPr>
          <p:cNvPr id="38" name="Rounded Rectangle 37"/>
          <p:cNvSpPr/>
          <p:nvPr/>
        </p:nvSpPr>
        <p:spPr>
          <a:xfrm>
            <a:off x="43942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4622800" y="2171700"/>
            <a:ext cx="2946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6228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087F85"/>
                </a:solidFill>
                <a:latin typeface="Arial"/>
              </a:rPr>
              <a:t>02</a:t>
            </a:r>
          </a:p>
        </p:txBody>
      </p:sp>
      <p:sp>
        <p:nvSpPr>
          <p:cNvPr id="41" name="TextBox 40"/>
          <p:cNvSpPr txBox="1"/>
          <p:nvPr/>
        </p:nvSpPr>
        <p:spPr>
          <a:xfrm>
            <a:off x="50927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AVAILABILITY ZONES</a:t>
            </a:r>
          </a:p>
        </p:txBody>
      </p:sp>
      <p:sp>
        <p:nvSpPr>
          <p:cNvPr id="42" name="TextBox 41"/>
          <p:cNvSpPr txBox="1"/>
          <p:nvPr/>
        </p:nvSpPr>
        <p:spPr>
          <a:xfrm>
            <a:off x="46228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43" name="Rounded Rectangle 42"/>
          <p:cNvSpPr/>
          <p:nvPr/>
        </p:nvSpPr>
        <p:spPr>
          <a:xfrm>
            <a:off x="46228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736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AZ 1</a:t>
            </a:r>
          </a:p>
        </p:txBody>
      </p:sp>
      <p:sp>
        <p:nvSpPr>
          <p:cNvPr id="45" name="Rounded Rectangle 44"/>
          <p:cNvSpPr/>
          <p:nvPr/>
        </p:nvSpPr>
        <p:spPr>
          <a:xfrm>
            <a:off x="4762500" y="36830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879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7" name="Rounded Rectangle 46"/>
          <p:cNvSpPr/>
          <p:nvPr/>
        </p:nvSpPr>
        <p:spPr>
          <a:xfrm>
            <a:off x="4762500" y="39497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879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9" name="Oval 48"/>
          <p:cNvSpPr/>
          <p:nvPr/>
        </p:nvSpPr>
        <p:spPr>
          <a:xfrm>
            <a:off x="52070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6261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69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2</a:t>
            </a:r>
          </a:p>
        </p:txBody>
      </p:sp>
      <p:sp>
        <p:nvSpPr>
          <p:cNvPr id="54" name="Rounded Rectangle 53"/>
          <p:cNvSpPr/>
          <p:nvPr/>
        </p:nvSpPr>
        <p:spPr>
          <a:xfrm>
            <a:off x="57658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7912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6" name="Rounded Rectangle 55"/>
          <p:cNvSpPr/>
          <p:nvPr/>
        </p:nvSpPr>
        <p:spPr>
          <a:xfrm>
            <a:off x="57658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7912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8" name="Oval 57"/>
          <p:cNvSpPr/>
          <p:nvPr/>
        </p:nvSpPr>
        <p:spPr>
          <a:xfrm>
            <a:off x="62103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62611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3119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66294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6802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3</a:t>
            </a:r>
          </a:p>
        </p:txBody>
      </p:sp>
      <p:sp>
        <p:nvSpPr>
          <p:cNvPr id="63" name="Rounded Rectangle 62"/>
          <p:cNvSpPr/>
          <p:nvPr/>
        </p:nvSpPr>
        <p:spPr>
          <a:xfrm>
            <a:off x="67691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7945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5" name="Rounded Rectangle 64"/>
          <p:cNvSpPr/>
          <p:nvPr/>
        </p:nvSpPr>
        <p:spPr>
          <a:xfrm>
            <a:off x="67691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7945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7" name="Oval 66"/>
          <p:cNvSpPr/>
          <p:nvPr/>
        </p:nvSpPr>
        <p:spPr>
          <a:xfrm>
            <a:off x="72136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Connector 67"/>
          <p:cNvCxnSpPr/>
          <p:nvPr/>
        </p:nvCxnSpPr>
        <p:spPr>
          <a:xfrm>
            <a:off x="72644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73152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46228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Spread across zones</a:t>
            </a:r>
          </a:p>
        </p:txBody>
      </p:sp>
      <p:sp>
        <p:nvSpPr>
          <p:cNvPr id="71" name="TextBox 70"/>
          <p:cNvSpPr txBox="1"/>
          <p:nvPr/>
        </p:nvSpPr>
        <p:spPr>
          <a:xfrm>
            <a:off x="46228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zone failure.</a:t>
            </a:r>
          </a:p>
        </p:txBody>
      </p:sp>
      <p:sp>
        <p:nvSpPr>
          <p:cNvPr id="72" name="Rounded Rectangle 71"/>
          <p:cNvSpPr/>
          <p:nvPr/>
        </p:nvSpPr>
        <p:spPr>
          <a:xfrm>
            <a:off x="81788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8407400" y="2171700"/>
            <a:ext cx="2946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4074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03</a:t>
            </a:r>
          </a:p>
        </p:txBody>
      </p:sp>
      <p:sp>
        <p:nvSpPr>
          <p:cNvPr id="75" name="TextBox 74"/>
          <p:cNvSpPr txBox="1"/>
          <p:nvPr/>
        </p:nvSpPr>
        <p:spPr>
          <a:xfrm>
            <a:off x="88773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CLUSTERS</a:t>
            </a:r>
          </a:p>
        </p:txBody>
      </p:sp>
      <p:sp>
        <p:nvSpPr>
          <p:cNvPr id="76" name="TextBox 75"/>
          <p:cNvSpPr txBox="1"/>
          <p:nvPr/>
        </p:nvSpPr>
        <p:spPr>
          <a:xfrm>
            <a:off x="84074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Independent clusters</a:t>
            </a:r>
          </a:p>
        </p:txBody>
      </p:sp>
      <p:sp>
        <p:nvSpPr>
          <p:cNvPr id="77" name="Rounded Rectangle 76"/>
          <p:cNvSpPr/>
          <p:nvPr/>
        </p:nvSpPr>
        <p:spPr>
          <a:xfrm>
            <a:off x="84074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8" name="Picture 77" descr="image.png"/>
          <p:cNvPicPr>
            <a:picLocks noChangeAspect="1"/>
          </p:cNvPicPr>
          <p:nvPr/>
        </p:nvPicPr>
        <p:blipFill>
          <a:blip r:embed="rId2"/>
          <a:stretch>
            <a:fillRect/>
          </a:stretch>
        </p:blipFill>
        <p:spPr>
          <a:xfrm>
            <a:off x="8648700" y="3365500"/>
            <a:ext cx="381000" cy="381000"/>
          </a:xfrm>
          <a:prstGeom prst="rect">
            <a:avLst/>
          </a:prstGeom>
        </p:spPr>
      </p:pic>
      <p:sp>
        <p:nvSpPr>
          <p:cNvPr id="79" name="TextBox 78"/>
          <p:cNvSpPr txBox="1"/>
          <p:nvPr/>
        </p:nvSpPr>
        <p:spPr>
          <a:xfrm>
            <a:off x="85344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A</a:t>
            </a:r>
          </a:p>
        </p:txBody>
      </p:sp>
      <p:sp>
        <p:nvSpPr>
          <p:cNvPr id="80" name="Oval 79"/>
          <p:cNvSpPr/>
          <p:nvPr/>
        </p:nvSpPr>
        <p:spPr>
          <a:xfrm>
            <a:off x="89916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94107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4" name="Picture 83" descr="image.png"/>
          <p:cNvPicPr>
            <a:picLocks noChangeAspect="1"/>
          </p:cNvPicPr>
          <p:nvPr/>
        </p:nvPicPr>
        <p:blipFill>
          <a:blip r:embed="rId2"/>
          <a:stretch>
            <a:fillRect/>
          </a:stretch>
        </p:blipFill>
        <p:spPr>
          <a:xfrm>
            <a:off x="9652000" y="3365500"/>
            <a:ext cx="381000" cy="381000"/>
          </a:xfrm>
          <a:prstGeom prst="rect">
            <a:avLst/>
          </a:prstGeom>
        </p:spPr>
      </p:pic>
      <p:sp>
        <p:nvSpPr>
          <p:cNvPr id="85" name="TextBox 84"/>
          <p:cNvSpPr txBox="1"/>
          <p:nvPr/>
        </p:nvSpPr>
        <p:spPr>
          <a:xfrm>
            <a:off x="95377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B</a:t>
            </a:r>
          </a:p>
        </p:txBody>
      </p:sp>
      <p:sp>
        <p:nvSpPr>
          <p:cNvPr id="86" name="Oval 85"/>
          <p:cNvSpPr/>
          <p:nvPr/>
        </p:nvSpPr>
        <p:spPr>
          <a:xfrm>
            <a:off x="99949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0457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00965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104140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image.png"/>
          <p:cNvPicPr>
            <a:picLocks noChangeAspect="1"/>
          </p:cNvPicPr>
          <p:nvPr/>
        </p:nvPicPr>
        <p:blipFill>
          <a:blip r:embed="rId2"/>
          <a:stretch>
            <a:fillRect/>
          </a:stretch>
        </p:blipFill>
        <p:spPr>
          <a:xfrm>
            <a:off x="10655300" y="3365500"/>
            <a:ext cx="381000" cy="381000"/>
          </a:xfrm>
          <a:prstGeom prst="rect">
            <a:avLst/>
          </a:prstGeom>
        </p:spPr>
      </p:pic>
      <p:sp>
        <p:nvSpPr>
          <p:cNvPr id="91" name="TextBox 90"/>
          <p:cNvSpPr txBox="1"/>
          <p:nvPr/>
        </p:nvSpPr>
        <p:spPr>
          <a:xfrm>
            <a:off x="105410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C</a:t>
            </a:r>
          </a:p>
        </p:txBody>
      </p:sp>
      <p:sp>
        <p:nvSpPr>
          <p:cNvPr id="92" name="Oval 91"/>
          <p:cNvSpPr/>
          <p:nvPr/>
        </p:nvSpPr>
        <p:spPr>
          <a:xfrm>
            <a:off x="109982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10490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0998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84074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CF0035"/>
                </a:solidFill>
                <a:latin typeface="Arial"/>
              </a:rPr>
              <a:t>Steer across clusters</a:t>
            </a:r>
          </a:p>
        </p:txBody>
      </p:sp>
      <p:sp>
        <p:nvSpPr>
          <p:cNvPr id="96" name="TextBox 95"/>
          <p:cNvSpPr txBox="1"/>
          <p:nvPr/>
        </p:nvSpPr>
        <p:spPr>
          <a:xfrm>
            <a:off x="84074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Keep one application hostname.</a:t>
            </a:r>
          </a:p>
        </p:txBody>
      </p:sp>
      <p:cxnSp>
        <p:nvCxnSpPr>
          <p:cNvPr id="97" name="Connector 96"/>
          <p:cNvCxnSpPr/>
          <p:nvPr/>
        </p:nvCxnSpPr>
        <p:spPr>
          <a:xfrm>
            <a:off x="41148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78994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Rounded Rectangle 9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When an entire cluster is unavailable, who steers the next request?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1 · WHAT K8GB ENABLES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03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k8gb in one minute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Two or more clusters. No fixed cluster-count limit in k8gb.</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939800" y="2324100"/>
            <a:ext cx="2286000" cy="2286000"/>
          </a:xfrm>
          <a:prstGeom prst="rect">
            <a:avLst/>
          </a:prstGeom>
        </p:spPr>
      </p:pic>
      <p:sp>
        <p:nvSpPr>
          <p:cNvPr id="11" name="Rounded Rectangle 10"/>
          <p:cNvSpPr/>
          <p:nvPr/>
        </p:nvSpPr>
        <p:spPr>
          <a:xfrm>
            <a:off x="800100" y="4978400"/>
            <a:ext cx="2565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 y="5029200"/>
            <a:ext cx="2438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CNCF INCUBATING</a:t>
            </a:r>
          </a:p>
        </p:txBody>
      </p:sp>
      <p:sp>
        <p:nvSpPr>
          <p:cNvPr id="13" name="TextBox 12"/>
          <p:cNvSpPr txBox="1"/>
          <p:nvPr/>
        </p:nvSpPr>
        <p:spPr>
          <a:xfrm>
            <a:off x="4152900" y="21971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Kubernetes-native</a:t>
            </a:r>
          </a:p>
        </p:txBody>
      </p:sp>
      <p:sp>
        <p:nvSpPr>
          <p:cNvPr id="14" name="TextBox 13"/>
          <p:cNvSpPr txBox="1"/>
          <p:nvPr/>
        </p:nvSpPr>
        <p:spPr>
          <a:xfrm>
            <a:off x="4152900" y="26797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Readiness becomes DNS eligibility.</a:t>
            </a:r>
          </a:p>
        </p:txBody>
      </p:sp>
      <p:sp>
        <p:nvSpPr>
          <p:cNvPr id="15" name="TextBox 14"/>
          <p:cNvSpPr txBox="1"/>
          <p:nvPr/>
        </p:nvSpPr>
        <p:spPr>
          <a:xfrm>
            <a:off x="4152900" y="33528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Decentralized</a:t>
            </a:r>
          </a:p>
        </p:txBody>
      </p:sp>
      <p:sp>
        <p:nvSpPr>
          <p:cNvPr id="16" name="TextBox 15"/>
          <p:cNvSpPr txBox="1"/>
          <p:nvPr/>
        </p:nvSpPr>
        <p:spPr>
          <a:xfrm>
            <a:off x="4152900" y="38354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A control loop at each participating cluster.</a:t>
            </a:r>
          </a:p>
        </p:txBody>
      </p:sp>
      <p:sp>
        <p:nvSpPr>
          <p:cNvPr id="17" name="TextBox 16"/>
          <p:cNvSpPr txBox="1"/>
          <p:nvPr/>
        </p:nvSpPr>
        <p:spPr>
          <a:xfrm>
            <a:off x="4152900" y="45085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Declarative</a:t>
            </a:r>
          </a:p>
        </p:txBody>
      </p:sp>
      <p:sp>
        <p:nvSpPr>
          <p:cNvPr id="18" name="TextBox 17"/>
          <p:cNvSpPr txBox="1"/>
          <p:nvPr/>
        </p:nvSpPr>
        <p:spPr>
          <a:xfrm>
            <a:off x="4152900" y="49911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Review traffic steering in Git.</a:t>
            </a:r>
          </a:p>
        </p:txBody>
      </p:sp>
      <p:sp>
        <p:nvSpPr>
          <p:cNvPr id="19" name="Rounded Rectangle 1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Global application resilience across Kubernetes clusters.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 BRIEF HISTORY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04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Absa production to CNCF incubation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An operational need grew into a community project.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66900" y="2641600"/>
            <a:ext cx="84582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96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PRODUCTION ORIGINS</a:t>
            </a:r>
          </a:p>
        </p:txBody>
      </p:sp>
      <p:sp>
        <p:nvSpPr>
          <p:cNvPr id="12" name="Oval 11"/>
          <p:cNvSpPr/>
          <p:nvPr/>
        </p:nvSpPr>
        <p:spPr>
          <a:xfrm>
            <a:off x="17399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161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96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96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8382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82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7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65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5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65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181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219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19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19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79500" y="3454400"/>
            <a:ext cx="101600" cy="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382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Born at</a:t>
            </a:r>
          </a:p>
          <a:p>
            <a:pPr algn="l">
              <a:lnSpc>
                <a:spcPts val="2484"/>
              </a:lnSpc>
              <a:spcBef>
                <a:spcPts val="0"/>
              </a:spcBef>
              <a:spcAft>
                <a:spcPts val="0"/>
              </a:spcAft>
            </a:pPr>
            <a:r>
              <a:rPr sz="2300" b="1">
                <a:solidFill>
                  <a:srgbClr val="142338"/>
                </a:solidFill>
                <a:latin typeface="Arial"/>
              </a:rPr>
              <a:t>Absa</a:t>
            </a:r>
          </a:p>
        </p:txBody>
      </p:sp>
      <p:sp>
        <p:nvSpPr>
          <p:cNvPr id="28" name="TextBox 27"/>
          <p:cNvSpPr txBox="1"/>
          <p:nvPr/>
        </p:nvSpPr>
        <p:spPr>
          <a:xfrm>
            <a:off x="8382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Multiple on-prem</a:t>
            </a:r>
          </a:p>
          <a:p>
            <a:pPr algn="l">
              <a:lnSpc>
                <a:spcPts val="1920"/>
              </a:lnSpc>
              <a:spcBef>
                <a:spcPts val="0"/>
              </a:spcBef>
              <a:spcAft>
                <a:spcPts val="0"/>
              </a:spcAft>
            </a:pPr>
            <a:r>
              <a:rPr sz="1600" b="0">
                <a:solidFill>
                  <a:srgbClr val="5D6F82"/>
                </a:solidFill>
                <a:latin typeface="Arial"/>
              </a:rPr>
              <a:t>datacenters, then</a:t>
            </a:r>
          </a:p>
          <a:p>
            <a:pPr algn="l">
              <a:lnSpc>
                <a:spcPts val="1920"/>
              </a:lnSpc>
              <a:spcBef>
                <a:spcPts val="0"/>
              </a:spcBef>
              <a:spcAft>
                <a:spcPts val="0"/>
              </a:spcAft>
            </a:pPr>
            <a:r>
              <a:rPr sz="1600" b="0">
                <a:solidFill>
                  <a:srgbClr val="5D6F82"/>
                </a:solidFill>
                <a:latin typeface="Arial"/>
              </a:rPr>
              <a:t>hybrid deployments</a:t>
            </a:r>
          </a:p>
        </p:txBody>
      </p:sp>
      <p:sp>
        <p:nvSpPr>
          <p:cNvPr id="29" name="TextBox 28"/>
          <p:cNvSpPr txBox="1"/>
          <p:nvPr/>
        </p:nvSpPr>
        <p:spPr>
          <a:xfrm>
            <a:off x="34290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30 MAR 2021</a:t>
            </a:r>
          </a:p>
        </p:txBody>
      </p:sp>
      <p:sp>
        <p:nvSpPr>
          <p:cNvPr id="30" name="Oval 29"/>
          <p:cNvSpPr/>
          <p:nvPr/>
        </p:nvSpPr>
        <p:spPr>
          <a:xfrm>
            <a:off x="4559300" y="2514600"/>
            <a:ext cx="254000" cy="254000"/>
          </a:xfrm>
          <a:prstGeom prst="ellipse">
            <a:avLst/>
          </a:prstGeom>
          <a:solidFill>
            <a:srgbClr val="F8FAFC"/>
          </a:solidFill>
          <a:ln w="2540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635500" y="2590800"/>
            <a:ext cx="101600" cy="1016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4290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34290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657600" y="2997200"/>
            <a:ext cx="20574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657600" y="3187700"/>
            <a:ext cx="558800" cy="558800"/>
          </a:xfrm>
          <a:prstGeom prst="roundRect">
            <a:avLst>
              <a:gd name="adj" fmla="val 204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3810000" y="3314700"/>
            <a:ext cx="0" cy="2667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810000" y="3581400"/>
            <a:ext cx="254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064000" y="3327400"/>
            <a:ext cx="0" cy="2540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3765550" y="32702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765550" y="3536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019550" y="3282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CNCF</a:t>
            </a:r>
          </a:p>
          <a:p>
            <a:pPr algn="l">
              <a:lnSpc>
                <a:spcPts val="2484"/>
              </a:lnSpc>
              <a:spcBef>
                <a:spcPts val="0"/>
              </a:spcBef>
              <a:spcAft>
                <a:spcPts val="0"/>
              </a:spcAft>
            </a:pPr>
            <a:r>
              <a:rPr sz="2300" b="1">
                <a:solidFill>
                  <a:srgbClr val="142338"/>
                </a:solidFill>
                <a:latin typeface="Arial"/>
              </a:rPr>
              <a:t>Sandbox</a:t>
            </a:r>
          </a:p>
        </p:txBody>
      </p:sp>
      <p:sp>
        <p:nvSpPr>
          <p:cNvPr id="43" name="TextBox 42"/>
          <p:cNvSpPr txBox="1"/>
          <p:nvPr/>
        </p:nvSpPr>
        <p:spPr>
          <a:xfrm>
            <a:off x="36576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Contributed to the</a:t>
            </a:r>
          </a:p>
          <a:p>
            <a:pPr algn="l">
              <a:lnSpc>
                <a:spcPts val="1920"/>
              </a:lnSpc>
              <a:spcBef>
                <a:spcPts val="0"/>
              </a:spcBef>
              <a:spcAft>
                <a:spcPts val="0"/>
              </a:spcAft>
            </a:pPr>
            <a:r>
              <a:rPr sz="1600" b="0">
                <a:solidFill>
                  <a:srgbClr val="5D6F82"/>
                </a:solidFill>
                <a:latin typeface="Arial"/>
              </a:rPr>
              <a:t>cloud native</a:t>
            </a:r>
          </a:p>
          <a:p>
            <a:pPr algn="l">
              <a:lnSpc>
                <a:spcPts val="1920"/>
              </a:lnSpc>
              <a:spcBef>
                <a:spcPts val="0"/>
              </a:spcBef>
              <a:spcAft>
                <a:spcPts val="0"/>
              </a:spcAft>
            </a:pPr>
            <a:r>
              <a:rPr sz="1600" b="0">
                <a:solidFill>
                  <a:srgbClr val="5D6F82"/>
                </a:solidFill>
                <a:latin typeface="Arial"/>
              </a:rPr>
              <a:t>community</a:t>
            </a:r>
          </a:p>
        </p:txBody>
      </p:sp>
      <p:sp>
        <p:nvSpPr>
          <p:cNvPr id="44" name="TextBox 43"/>
          <p:cNvSpPr txBox="1"/>
          <p:nvPr/>
        </p:nvSpPr>
        <p:spPr>
          <a:xfrm>
            <a:off x="62484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PUBLIC ADOPTION</a:t>
            </a:r>
          </a:p>
        </p:txBody>
      </p:sp>
      <p:sp>
        <p:nvSpPr>
          <p:cNvPr id="45" name="Oval 44"/>
          <p:cNvSpPr/>
          <p:nvPr/>
        </p:nvSpPr>
        <p:spPr>
          <a:xfrm>
            <a:off x="73787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4549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484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484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64770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64770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572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5532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851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8326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6711950" y="32575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692900" y="33782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770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Beyond</a:t>
            </a:r>
          </a:p>
          <a:p>
            <a:pPr algn="l">
              <a:lnSpc>
                <a:spcPts val="2484"/>
              </a:lnSpc>
              <a:spcBef>
                <a:spcPts val="0"/>
              </a:spcBef>
              <a:spcAft>
                <a:spcPts val="0"/>
              </a:spcAft>
            </a:pPr>
            <a:r>
              <a:rPr sz="2300" b="1">
                <a:solidFill>
                  <a:srgbClr val="142338"/>
                </a:solidFill>
                <a:latin typeface="Arial"/>
              </a:rPr>
              <a:t>Absa</a:t>
            </a:r>
          </a:p>
        </p:txBody>
      </p:sp>
      <p:sp>
        <p:nvSpPr>
          <p:cNvPr id="58" name="TextBox 57"/>
          <p:cNvSpPr txBox="1"/>
          <p:nvPr/>
        </p:nvSpPr>
        <p:spPr>
          <a:xfrm>
            <a:off x="64770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Millennium bcp</a:t>
            </a:r>
          </a:p>
          <a:p>
            <a:pPr algn="l">
              <a:lnSpc>
                <a:spcPts val="1920"/>
              </a:lnSpc>
              <a:spcBef>
                <a:spcPts val="0"/>
              </a:spcBef>
              <a:spcAft>
                <a:spcPts val="0"/>
              </a:spcAft>
            </a:pPr>
            <a:r>
              <a:rPr sz="1600" b="0">
                <a:solidFill>
                  <a:srgbClr val="5D6F82"/>
                </a:solidFill>
                <a:latin typeface="Arial"/>
              </a:rPr>
              <a:t>Open Systems</a:t>
            </a:r>
          </a:p>
          <a:p>
            <a:pPr algn="l">
              <a:lnSpc>
                <a:spcPts val="1920"/>
              </a:lnSpc>
              <a:spcBef>
                <a:spcPts val="0"/>
              </a:spcBef>
              <a:spcAft>
                <a:spcPts val="0"/>
              </a:spcAft>
            </a:pPr>
            <a:r>
              <a:rPr sz="1600" b="0">
                <a:solidFill>
                  <a:srgbClr val="5D6F82"/>
                </a:solidFill>
                <a:latin typeface="Arial"/>
              </a:rPr>
              <a:t>PagBank</a:t>
            </a:r>
          </a:p>
        </p:txBody>
      </p:sp>
      <p:sp>
        <p:nvSpPr>
          <p:cNvPr id="59" name="TextBox 58"/>
          <p:cNvSpPr txBox="1"/>
          <p:nvPr/>
        </p:nvSpPr>
        <p:spPr>
          <a:xfrm>
            <a:off x="90678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18 JUL 2026</a:t>
            </a:r>
          </a:p>
        </p:txBody>
      </p:sp>
      <p:sp>
        <p:nvSpPr>
          <p:cNvPr id="60" name="Oval 59"/>
          <p:cNvSpPr/>
          <p:nvPr/>
        </p:nvSpPr>
        <p:spPr>
          <a:xfrm>
            <a:off x="10198100" y="2514600"/>
            <a:ext cx="254000" cy="254000"/>
          </a:xfrm>
          <a:prstGeom prst="ellipse">
            <a:avLst/>
          </a:prstGeom>
          <a:solidFill>
            <a:srgbClr val="F8FAFC"/>
          </a:solidFill>
          <a:ln w="254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274300" y="2590800"/>
            <a:ext cx="101600" cy="101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90678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9067800" y="2984500"/>
            <a:ext cx="2514600" cy="2552700"/>
          </a:xfrm>
          <a:prstGeom prst="roundRect">
            <a:avLst>
              <a:gd name="adj" fmla="val 4545"/>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9296400" y="2997200"/>
            <a:ext cx="20574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pic>
        <p:nvPicPr>
          <p:cNvPr id="65" name="Picture 64" descr="image.png"/>
          <p:cNvPicPr>
            <a:picLocks noChangeAspect="1"/>
          </p:cNvPicPr>
          <p:nvPr/>
        </p:nvPicPr>
        <p:blipFill>
          <a:blip r:embed="rId2"/>
          <a:stretch>
            <a:fillRect/>
          </a:stretch>
        </p:blipFill>
        <p:spPr>
          <a:xfrm>
            <a:off x="9296400" y="3181693"/>
            <a:ext cx="558800" cy="545413"/>
          </a:xfrm>
          <a:prstGeom prst="rect">
            <a:avLst/>
          </a:prstGeom>
        </p:spPr>
      </p:pic>
      <p:sp>
        <p:nvSpPr>
          <p:cNvPr id="66" name="TextBox 65"/>
          <p:cNvSpPr txBox="1"/>
          <p:nvPr/>
        </p:nvSpPr>
        <p:spPr>
          <a:xfrm>
            <a:off x="92964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FFFFFF"/>
                </a:solidFill>
                <a:latin typeface="Arial"/>
              </a:rPr>
              <a:t>CNCF</a:t>
            </a:r>
          </a:p>
          <a:p>
            <a:pPr algn="l">
              <a:lnSpc>
                <a:spcPts val="2484"/>
              </a:lnSpc>
              <a:spcBef>
                <a:spcPts val="0"/>
              </a:spcBef>
              <a:spcAft>
                <a:spcPts val="0"/>
              </a:spcAft>
            </a:pPr>
            <a:r>
              <a:rPr sz="2300" b="1">
                <a:solidFill>
                  <a:srgbClr val="FFFFFF"/>
                </a:solidFill>
                <a:latin typeface="Arial"/>
              </a:rPr>
              <a:t>Incubating</a:t>
            </a:r>
          </a:p>
        </p:txBody>
      </p:sp>
      <p:sp>
        <p:nvSpPr>
          <p:cNvPr id="67" name="TextBox 66"/>
          <p:cNvSpPr txBox="1"/>
          <p:nvPr/>
        </p:nvSpPr>
        <p:spPr>
          <a:xfrm>
            <a:off x="92964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B8C8D9"/>
                </a:solidFill>
                <a:latin typeface="Arial"/>
              </a:rPr>
              <a:t>A new milestone</a:t>
            </a:r>
          </a:p>
          <a:p>
            <a:pPr algn="l">
              <a:lnSpc>
                <a:spcPts val="1920"/>
              </a:lnSpc>
              <a:spcBef>
                <a:spcPts val="0"/>
              </a:spcBef>
              <a:spcAft>
                <a:spcPts val="0"/>
              </a:spcAft>
            </a:pPr>
            <a:r>
              <a:rPr sz="1600" b="0">
                <a:solidFill>
                  <a:srgbClr val="B8C8D9"/>
                </a:solidFill>
                <a:latin typeface="Arial"/>
              </a:rPr>
              <a:t>for the project</a:t>
            </a:r>
          </a:p>
          <a:p>
            <a:pPr algn="l">
              <a:lnSpc>
                <a:spcPts val="1920"/>
              </a:lnSpc>
              <a:spcBef>
                <a:spcPts val="0"/>
              </a:spcBef>
              <a:spcAft>
                <a:spcPts val="0"/>
              </a:spcAft>
            </a:pPr>
            <a:r>
              <a:rPr sz="1600" b="0">
                <a:solidFill>
                  <a:srgbClr val="B8C8D9"/>
                </a:solidFill>
                <a:latin typeface="Arial"/>
              </a:rPr>
              <a:t>and its community</a:t>
            </a:r>
          </a:p>
        </p:txBody>
      </p:sp>
      <p:sp>
        <p:nvSpPr>
          <p:cNvPr id="68" name="Rounded Rectangle 67"/>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Born from a production problem. Built with the community.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REAL-WORLD ADOPTION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05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Resilience in production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Millennium bcp · Results reported in a CNCF case study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8915400" y="762746"/>
            <a:ext cx="2667000" cy="874806"/>
          </a:xfrm>
          <a:prstGeom prst="rect">
            <a:avLst/>
          </a:prstGeom>
        </p:spPr>
      </p:pic>
      <p:sp>
        <p:nvSpPr>
          <p:cNvPr id="11" name="Rounded Rectangle 10"/>
          <p:cNvSpPr/>
          <p:nvPr/>
        </p:nvSpPr>
        <p:spPr>
          <a:xfrm>
            <a:off x="609600" y="2133600"/>
            <a:ext cx="5334000" cy="3378200"/>
          </a:xfrm>
          <a:prstGeom prst="roundRect">
            <a:avLst>
              <a:gd name="adj" fmla="val 375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082800"/>
            <a:ext cx="5334000" cy="3378200"/>
          </a:xfrm>
          <a:prstGeom prst="roundRect">
            <a:avLst>
              <a:gd name="adj" fmla="val 375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914400" y="2095500"/>
            <a:ext cx="4724400" cy="0"/>
          </a:xfrm>
          <a:prstGeom prst="line">
            <a:avLst/>
          </a:prstGeom>
          <a:ln w="38100">
            <a:solidFill>
              <a:srgbClr val="D1005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2362200"/>
            <a:ext cx="4724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DNS INCIDENT RESPONSE</a:t>
            </a:r>
          </a:p>
        </p:txBody>
      </p:sp>
      <p:sp>
        <p:nvSpPr>
          <p:cNvPr id="15" name="TextBox 14"/>
          <p:cNvSpPr txBox="1"/>
          <p:nvPr/>
        </p:nvSpPr>
        <p:spPr>
          <a:xfrm>
            <a:off x="876300" y="2641600"/>
            <a:ext cx="4762500" cy="1682750"/>
          </a:xfrm>
          <a:prstGeom prst="rect">
            <a:avLst/>
          </a:prstGeom>
          <a:noFill/>
        </p:spPr>
        <p:txBody>
          <a:bodyPr wrap="none" lIns="0" rIns="0" tIns="0" bIns="0" anchor="t">
            <a:noAutofit/>
          </a:bodyPr>
          <a:lstStyle/>
          <a:p>
            <a:pPr algn="l">
              <a:lnSpc>
                <a:spcPts val="12190"/>
              </a:lnSpc>
              <a:spcBef>
                <a:spcPts val="0"/>
              </a:spcBef>
              <a:spcAft>
                <a:spcPts val="0"/>
              </a:spcAft>
            </a:pPr>
            <a:r>
              <a:rPr sz="10600" b="1">
                <a:solidFill>
                  <a:srgbClr val="FFFFFF"/>
                </a:solidFill>
                <a:latin typeface="Arial"/>
              </a:rPr>
              <a:t>70%</a:t>
            </a:r>
          </a:p>
        </p:txBody>
      </p:sp>
      <p:sp>
        <p:nvSpPr>
          <p:cNvPr id="16" name="TextBox 15"/>
          <p:cNvSpPr txBox="1"/>
          <p:nvPr/>
        </p:nvSpPr>
        <p:spPr>
          <a:xfrm>
            <a:off x="939800" y="4330700"/>
            <a:ext cx="46736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shorter response times</a:t>
            </a:r>
          </a:p>
        </p:txBody>
      </p:sp>
      <p:sp>
        <p:nvSpPr>
          <p:cNvPr id="17" name="TextBox 16"/>
          <p:cNvSpPr txBox="1"/>
          <p:nvPr/>
        </p:nvSpPr>
        <p:spPr>
          <a:xfrm>
            <a:off x="939800" y="4826000"/>
            <a:ext cx="46736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B8C8D9"/>
                </a:solidFill>
                <a:latin typeface="Arial"/>
              </a:rPr>
              <a:t>for DNS-related incidents</a:t>
            </a:r>
          </a:p>
        </p:txBody>
      </p:sp>
      <p:sp>
        <p:nvSpPr>
          <p:cNvPr id="18" name="Rounded Rectangle 17"/>
          <p:cNvSpPr/>
          <p:nvPr/>
        </p:nvSpPr>
        <p:spPr>
          <a:xfrm>
            <a:off x="6248400" y="2133600"/>
            <a:ext cx="5334000" cy="1524000"/>
          </a:xfrm>
          <a:prstGeom prst="roundRect">
            <a:avLst>
              <a:gd name="adj" fmla="val 8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8400" y="2082800"/>
            <a:ext cx="5334000" cy="1524000"/>
          </a:xfrm>
          <a:prstGeom prst="roundRect">
            <a:avLst>
              <a:gd name="adj" fmla="val 8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7800" y="2209800"/>
            <a:ext cx="1016000" cy="1047750"/>
          </a:xfrm>
          <a:prstGeom prst="rect">
            <a:avLst/>
          </a:prstGeom>
          <a:noFill/>
        </p:spPr>
        <p:txBody>
          <a:bodyPr wrap="none" lIns="0" rIns="0" tIns="0" bIns="0" anchor="t">
            <a:noAutofit/>
          </a:bodyPr>
          <a:lstStyle/>
          <a:p>
            <a:pPr algn="l">
              <a:lnSpc>
                <a:spcPts val="7589"/>
              </a:lnSpc>
              <a:spcBef>
                <a:spcPts val="0"/>
              </a:spcBef>
              <a:spcAft>
                <a:spcPts val="0"/>
              </a:spcAft>
            </a:pPr>
            <a:r>
              <a:rPr sz="6600" b="1">
                <a:solidFill>
                  <a:srgbClr val="2762C8"/>
                </a:solidFill>
                <a:latin typeface="Arial"/>
              </a:rPr>
              <a:t>5</a:t>
            </a:r>
          </a:p>
        </p:txBody>
      </p:sp>
      <p:sp>
        <p:nvSpPr>
          <p:cNvPr id="21" name="TextBox 20"/>
          <p:cNvSpPr txBox="1"/>
          <p:nvPr/>
        </p:nvSpPr>
        <p:spPr>
          <a:xfrm>
            <a:off x="7721600" y="2336800"/>
            <a:ext cx="3556000" cy="461644"/>
          </a:xfrm>
          <a:prstGeom prst="rect">
            <a:avLst/>
          </a:prstGeom>
          <a:noFill/>
        </p:spPr>
        <p:txBody>
          <a:bodyPr wrap="none" lIns="0" rIns="0" tIns="0" bIns="0" anchor="t">
            <a:noAutofit/>
          </a:bodyPr>
          <a:lstStyle/>
          <a:p>
            <a:pPr algn="l">
              <a:lnSpc>
                <a:spcPts val="3334"/>
              </a:lnSpc>
              <a:spcBef>
                <a:spcPts val="0"/>
              </a:spcBef>
              <a:spcAft>
                <a:spcPts val="0"/>
              </a:spcAft>
            </a:pPr>
            <a:r>
              <a:rPr sz="2900" b="1">
                <a:solidFill>
                  <a:srgbClr val="142338"/>
                </a:solidFill>
                <a:latin typeface="Arial"/>
              </a:rPr>
              <a:t>regions</a:t>
            </a:r>
          </a:p>
        </p:txBody>
      </p:sp>
      <p:sp>
        <p:nvSpPr>
          <p:cNvPr id="22" name="TextBox 21"/>
          <p:cNvSpPr txBox="1"/>
          <p:nvPr/>
        </p:nvSpPr>
        <p:spPr>
          <a:xfrm>
            <a:off x="7721600" y="2857500"/>
            <a:ext cx="3556000" cy="556260"/>
          </a:xfrm>
          <a:prstGeom prst="rect">
            <a:avLst/>
          </a:prstGeom>
          <a:noFill/>
        </p:spPr>
        <p:txBody>
          <a:bodyPr wrap="none" lIns="0" rIns="0" tIns="0" bIns="0" anchor="t">
            <a:noAutofit/>
          </a:bodyPr>
          <a:lstStyle/>
          <a:p>
            <a:pPr algn="l">
              <a:lnSpc>
                <a:spcPts val="2039"/>
              </a:lnSpc>
              <a:spcBef>
                <a:spcPts val="0"/>
              </a:spcBef>
              <a:spcAft>
                <a:spcPts val="0"/>
              </a:spcAft>
            </a:pPr>
            <a:r>
              <a:rPr sz="1700" b="0">
                <a:solidFill>
                  <a:srgbClr val="5D6F82"/>
                </a:solidFill>
                <a:latin typeface="Arial"/>
              </a:rPr>
              <a:t>Two cloud providers</a:t>
            </a:r>
          </a:p>
          <a:p>
            <a:pPr algn="l">
              <a:lnSpc>
                <a:spcPts val="2039"/>
              </a:lnSpc>
              <a:spcBef>
                <a:spcPts val="0"/>
              </a:spcBef>
              <a:spcAft>
                <a:spcPts val="0"/>
              </a:spcAft>
            </a:pPr>
            <a:r>
              <a:rPr sz="1700" b="0">
                <a:solidFill>
                  <a:srgbClr val="5D6F82"/>
                </a:solidFill>
                <a:latin typeface="Arial"/>
              </a:rPr>
              <a:t>+ on-premises</a:t>
            </a:r>
          </a:p>
        </p:txBody>
      </p:sp>
      <p:cxnSp>
        <p:nvCxnSpPr>
          <p:cNvPr id="23" name="Connector 22"/>
          <p:cNvCxnSpPr/>
          <p:nvPr/>
        </p:nvCxnSpPr>
        <p:spPr>
          <a:xfrm>
            <a:off x="6642100" y="3403600"/>
            <a:ext cx="812800" cy="0"/>
          </a:xfrm>
          <a:prstGeom prst="line">
            <a:avLst/>
          </a:prstGeom>
          <a:ln w="1905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597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008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0040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207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104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8400" y="3886200"/>
            <a:ext cx="5334000" cy="1625600"/>
          </a:xfrm>
          <a:prstGeom prst="roundRect">
            <a:avLst>
              <a:gd name="adj" fmla="val 781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8400" y="3835400"/>
            <a:ext cx="5334000" cy="1625600"/>
          </a:xfrm>
          <a:prstGeom prst="roundRect">
            <a:avLst>
              <a:gd name="adj" fmla="val 781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53200" y="4127500"/>
            <a:ext cx="609600" cy="609600"/>
          </a:xfrm>
          <a:prstGeom prst="roundRect">
            <a:avLst>
              <a:gd name="adj" fmla="val 208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667500" y="4241800"/>
            <a:ext cx="381000" cy="3810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6756400" y="4432300"/>
            <a:ext cx="76200" cy="762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832600" y="4343400"/>
            <a:ext cx="139700" cy="1651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416800" y="4089400"/>
            <a:ext cx="3860800" cy="432434"/>
          </a:xfrm>
          <a:prstGeom prst="rect">
            <a:avLst/>
          </a:prstGeom>
          <a:noFill/>
        </p:spPr>
        <p:txBody>
          <a:bodyPr wrap="none" lIns="0" rIns="0" tIns="0" bIns="0" anchor="t">
            <a:noAutofit/>
          </a:bodyPr>
          <a:lstStyle/>
          <a:p>
            <a:pPr algn="l">
              <a:lnSpc>
                <a:spcPts val="3104"/>
              </a:lnSpc>
              <a:spcBef>
                <a:spcPts val="0"/>
              </a:spcBef>
              <a:spcAft>
                <a:spcPts val="0"/>
              </a:spcAft>
            </a:pPr>
            <a:r>
              <a:rPr sz="2700" b="1">
                <a:solidFill>
                  <a:srgbClr val="087F85"/>
                </a:solidFill>
                <a:latin typeface="Arial"/>
              </a:rPr>
              <a:t>Zero downtime</a:t>
            </a:r>
          </a:p>
        </p:txBody>
      </p:sp>
      <p:sp>
        <p:nvSpPr>
          <p:cNvPr id="36" name="TextBox 35"/>
          <p:cNvSpPr txBox="1"/>
          <p:nvPr/>
        </p:nvSpPr>
        <p:spPr>
          <a:xfrm>
            <a:off x="7416800" y="4686300"/>
            <a:ext cx="3860800" cy="617220"/>
          </a:xfrm>
          <a:prstGeom prst="rect">
            <a:avLst/>
          </a:prstGeom>
          <a:noFill/>
        </p:spPr>
        <p:txBody>
          <a:bodyPr wrap="none" lIns="0" rIns="0" tIns="0" bIns="0" anchor="t">
            <a:noAutofit/>
          </a:bodyPr>
          <a:lstStyle/>
          <a:p>
            <a:pPr algn="l">
              <a:lnSpc>
                <a:spcPts val="2280"/>
              </a:lnSpc>
              <a:spcBef>
                <a:spcPts val="0"/>
              </a:spcBef>
              <a:spcAft>
                <a:spcPts val="0"/>
              </a:spcAft>
            </a:pPr>
            <a:r>
              <a:rPr sz="1900" b="0">
                <a:solidFill>
                  <a:srgbClr val="5D6F82"/>
                </a:solidFill>
                <a:latin typeface="Arial"/>
              </a:rPr>
              <a:t>Reported during regional</a:t>
            </a:r>
          </a:p>
          <a:p>
            <a:pPr algn="l">
              <a:lnSpc>
                <a:spcPts val="2280"/>
              </a:lnSpc>
              <a:spcBef>
                <a:spcPts val="0"/>
              </a:spcBef>
              <a:spcAft>
                <a:spcPts val="0"/>
              </a:spcAft>
            </a:pPr>
            <a:r>
              <a:rPr sz="1900" b="0">
                <a:solidFill>
                  <a:srgbClr val="5D6F82"/>
                </a:solidFill>
                <a:latin typeface="Arial"/>
              </a:rPr>
              <a:t>failover tests</a:t>
            </a:r>
          </a:p>
        </p:txBody>
      </p:sp>
      <p:sp>
        <p:nvSpPr>
          <p:cNvPr id="37" name="TextBox 36"/>
          <p:cNvSpPr txBox="1"/>
          <p:nvPr/>
        </p:nvSpPr>
        <p:spPr>
          <a:xfrm>
            <a:off x="609600" y="5613400"/>
            <a:ext cx="54610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CNCF case study · 16 September 2025</a:t>
            </a:r>
          </a:p>
        </p:txBody>
      </p:sp>
      <p:sp>
        <p:nvSpPr>
          <p:cNvPr id="38" name="TextBox 37"/>
          <p:cNvSpPr txBox="1"/>
          <p:nvPr/>
        </p:nvSpPr>
        <p:spPr>
          <a:xfrm>
            <a:off x="6248400" y="5613400"/>
            <a:ext cx="5334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2762C8"/>
                </a:solidFill>
                <a:latin typeface="Arial"/>
              </a:rPr>
              <a:t>cncf.io/case-studies/millennium-bcp</a:t>
            </a:r>
          </a:p>
        </p:txBody>
      </p:sp>
      <p:sp>
        <p:nvSpPr>
          <p:cNvPr id="39" name="Rounded Rectangle 38"/>
          <p:cNvSpPr/>
          <p:nvPr/>
        </p:nvSpPr>
        <p:spPr>
          <a:xfrm>
            <a:off x="609600" y="58928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7400" y="59690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Published results from Millennium bcp’s deployment.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REFERENCE ARCHITECTURE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06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Independent clusters, shared DNS contract</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3568700" y="1562100"/>
            <a:ext cx="5054600" cy="698500"/>
          </a:xfrm>
          <a:prstGeom prst="roundRect">
            <a:avLst>
              <a:gd name="adj" fmla="val 1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59200" y="1638300"/>
            <a:ext cx="46736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Parent DNS  ·  example.com</a:t>
            </a:r>
          </a:p>
        </p:txBody>
      </p:sp>
      <p:sp>
        <p:nvSpPr>
          <p:cNvPr id="11" name="TextBox 10"/>
          <p:cNvSpPr txBox="1"/>
          <p:nvPr/>
        </p:nvSpPr>
        <p:spPr>
          <a:xfrm>
            <a:off x="3759200" y="2006600"/>
            <a:ext cx="46736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B8C8D9"/>
                </a:solidFill>
                <a:latin typeface="Arial"/>
              </a:rPr>
              <a:t>NS + address updates</a:t>
            </a:r>
          </a:p>
        </p:txBody>
      </p:sp>
      <p:sp>
        <p:nvSpPr>
          <p:cNvPr id="12" name="Rounded Rectangle 11"/>
          <p:cNvSpPr/>
          <p:nvPr/>
        </p:nvSpPr>
        <p:spPr>
          <a:xfrm>
            <a:off x="9359900" y="1562100"/>
            <a:ext cx="2222500" cy="698500"/>
          </a:xfrm>
          <a:prstGeom prst="roundRect">
            <a:avLst>
              <a:gd name="adj" fmla="val 1272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12300" y="1689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2 OF N CLUSTERS</a:t>
            </a:r>
          </a:p>
        </p:txBody>
      </p:sp>
      <p:sp>
        <p:nvSpPr>
          <p:cNvPr id="14" name="TextBox 13"/>
          <p:cNvSpPr txBox="1"/>
          <p:nvPr/>
        </p:nvSpPr>
        <p:spPr>
          <a:xfrm>
            <a:off x="9512300" y="1943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Shown for clarity</a:t>
            </a:r>
          </a:p>
        </p:txBody>
      </p:sp>
      <p:sp>
        <p:nvSpPr>
          <p:cNvPr id="15" name="Rounded Rectangle 14"/>
          <p:cNvSpPr/>
          <p:nvPr/>
        </p:nvSpPr>
        <p:spPr>
          <a:xfrm>
            <a:off x="6096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9600" y="2476500"/>
            <a:ext cx="4902200" cy="406400"/>
          </a:xfrm>
          <a:prstGeom prst="rect">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74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2762C8"/>
                </a:solidFill>
                <a:latin typeface="Arial"/>
              </a:rPr>
              <a:t>CLUSTER A</a:t>
            </a:r>
          </a:p>
        </p:txBody>
      </p:sp>
      <p:sp>
        <p:nvSpPr>
          <p:cNvPr id="18" name="Rounded Rectangle 17"/>
          <p:cNvSpPr/>
          <p:nvPr/>
        </p:nvSpPr>
        <p:spPr>
          <a:xfrm>
            <a:off x="16764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1765460" y="2933700"/>
            <a:ext cx="507679" cy="508000"/>
          </a:xfrm>
          <a:prstGeom prst="rect">
            <a:avLst/>
          </a:prstGeom>
        </p:spPr>
      </p:pic>
      <p:sp>
        <p:nvSpPr>
          <p:cNvPr id="20" name="TextBox 19"/>
          <p:cNvSpPr txBox="1"/>
          <p:nvPr/>
        </p:nvSpPr>
        <p:spPr>
          <a:xfrm>
            <a:off x="23749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ExternalDNS</a:t>
            </a:r>
          </a:p>
        </p:txBody>
      </p:sp>
      <p:cxnSp>
        <p:nvCxnSpPr>
          <p:cNvPr id="21" name="Connector 20"/>
          <p:cNvCxnSpPr/>
          <p:nvPr/>
        </p:nvCxnSpPr>
        <p:spPr>
          <a:xfrm flipV="1">
            <a:off x="3060700" y="1917700"/>
            <a:ext cx="0" cy="101600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060700" y="1917700"/>
            <a:ext cx="508000" cy="0"/>
          </a:xfrm>
          <a:prstGeom prst="line">
            <a:avLst/>
          </a:prstGeom>
          <a:ln w="2286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82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24" name="Rounded Rectangle 23"/>
          <p:cNvSpPr/>
          <p:nvPr/>
        </p:nvSpPr>
        <p:spPr>
          <a:xfrm>
            <a:off x="8382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8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3"/>
          <a:stretch>
            <a:fillRect/>
          </a:stretch>
        </p:blipFill>
        <p:spPr>
          <a:xfrm>
            <a:off x="990600" y="3891067"/>
            <a:ext cx="406400" cy="396664"/>
          </a:xfrm>
          <a:prstGeom prst="rect">
            <a:avLst/>
          </a:prstGeom>
        </p:spPr>
      </p:pic>
      <p:sp>
        <p:nvSpPr>
          <p:cNvPr id="27" name="TextBox 26"/>
          <p:cNvSpPr txBox="1"/>
          <p:nvPr/>
        </p:nvSpPr>
        <p:spPr>
          <a:xfrm>
            <a:off x="15240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28" name="Rounded Rectangle 27"/>
          <p:cNvSpPr/>
          <p:nvPr/>
        </p:nvSpPr>
        <p:spPr>
          <a:xfrm>
            <a:off x="31242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4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mage.png"/>
          <p:cNvPicPr>
            <a:picLocks noChangeAspect="1"/>
          </p:cNvPicPr>
          <p:nvPr/>
        </p:nvPicPr>
        <p:blipFill>
          <a:blip r:embed="rId4"/>
          <a:stretch>
            <a:fillRect/>
          </a:stretch>
        </p:blipFill>
        <p:spPr>
          <a:xfrm>
            <a:off x="3276600" y="3886200"/>
            <a:ext cx="406400" cy="406400"/>
          </a:xfrm>
          <a:prstGeom prst="rect">
            <a:avLst/>
          </a:prstGeom>
        </p:spPr>
      </p:pic>
      <p:sp>
        <p:nvSpPr>
          <p:cNvPr id="31" name="TextBox 30"/>
          <p:cNvSpPr txBox="1"/>
          <p:nvPr/>
        </p:nvSpPr>
        <p:spPr>
          <a:xfrm>
            <a:off x="38100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32" name="Connector 31"/>
          <p:cNvCxnSpPr/>
          <p:nvPr/>
        </p:nvCxnSpPr>
        <p:spPr>
          <a:xfrm>
            <a:off x="2616200" y="4089400"/>
            <a:ext cx="5080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3368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34" name="TextBox 33"/>
          <p:cNvSpPr txBox="1"/>
          <p:nvPr/>
        </p:nvSpPr>
        <p:spPr>
          <a:xfrm>
            <a:off x="33782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35" name="Rounded Rectangle 34"/>
          <p:cNvSpPr/>
          <p:nvPr/>
        </p:nvSpPr>
        <p:spPr>
          <a:xfrm>
            <a:off x="838200" y="4686300"/>
            <a:ext cx="4445000" cy="609600"/>
          </a:xfrm>
          <a:prstGeom prst="roundRect">
            <a:avLst>
              <a:gd name="adj" fmla="val 125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06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2762C8"/>
                </a:solidFill>
                <a:latin typeface="Arial"/>
              </a:rPr>
              <a:t>APPLICATION</a:t>
            </a:r>
          </a:p>
        </p:txBody>
      </p:sp>
      <p:sp>
        <p:nvSpPr>
          <p:cNvPr id="37" name="Rounded Rectangle 36"/>
          <p:cNvSpPr/>
          <p:nvPr/>
        </p:nvSpPr>
        <p:spPr>
          <a:xfrm>
            <a:off x="9906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414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39" name="Connector 38"/>
          <p:cNvCxnSpPr/>
          <p:nvPr/>
        </p:nvCxnSpPr>
        <p:spPr>
          <a:xfrm>
            <a:off x="2463800" y="5080000"/>
            <a:ext cx="1905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26543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7051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42" name="Connector 41"/>
          <p:cNvCxnSpPr/>
          <p:nvPr/>
        </p:nvCxnSpPr>
        <p:spPr>
          <a:xfrm>
            <a:off x="3492500" y="5080000"/>
            <a:ext cx="2032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6957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8100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38354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39751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40005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41402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41656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3815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51" name="Connector 50"/>
          <p:cNvCxnSpPr/>
          <p:nvPr/>
        </p:nvCxnSpPr>
        <p:spPr>
          <a:xfrm flipV="1">
            <a:off x="1727200" y="4394200"/>
            <a:ext cx="0" cy="292100"/>
          </a:xfrm>
          <a:prstGeom prst="line">
            <a:avLst/>
          </a:prstGeom>
          <a:ln w="17780">
            <a:solidFill>
              <a:srgbClr val="2762C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19050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sp>
        <p:nvSpPr>
          <p:cNvPr id="53" name="Rounded Rectangle 52"/>
          <p:cNvSpPr/>
          <p:nvPr/>
        </p:nvSpPr>
        <p:spPr>
          <a:xfrm>
            <a:off x="66802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680200" y="2476500"/>
            <a:ext cx="4902200" cy="406400"/>
          </a:xfrm>
          <a:prstGeom prst="rect">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8580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rPr>
              <a:t>CLUSTER B</a:t>
            </a:r>
          </a:p>
        </p:txBody>
      </p:sp>
      <p:sp>
        <p:nvSpPr>
          <p:cNvPr id="56" name="Rounded Rectangle 55"/>
          <p:cNvSpPr/>
          <p:nvPr/>
        </p:nvSpPr>
        <p:spPr>
          <a:xfrm>
            <a:off x="77470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image.png"/>
          <p:cNvPicPr>
            <a:picLocks noChangeAspect="1"/>
          </p:cNvPicPr>
          <p:nvPr/>
        </p:nvPicPr>
        <p:blipFill>
          <a:blip r:embed="rId2"/>
          <a:stretch>
            <a:fillRect/>
          </a:stretch>
        </p:blipFill>
        <p:spPr>
          <a:xfrm>
            <a:off x="7836060" y="2933700"/>
            <a:ext cx="507679" cy="508000"/>
          </a:xfrm>
          <a:prstGeom prst="rect">
            <a:avLst/>
          </a:prstGeom>
        </p:spPr>
      </p:pic>
      <p:sp>
        <p:nvSpPr>
          <p:cNvPr id="58" name="TextBox 57"/>
          <p:cNvSpPr txBox="1"/>
          <p:nvPr/>
        </p:nvSpPr>
        <p:spPr>
          <a:xfrm>
            <a:off x="84455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ExternalDNS</a:t>
            </a:r>
          </a:p>
        </p:txBody>
      </p:sp>
      <p:cxnSp>
        <p:nvCxnSpPr>
          <p:cNvPr id="59" name="Connector 58"/>
          <p:cNvCxnSpPr/>
          <p:nvPr/>
        </p:nvCxnSpPr>
        <p:spPr>
          <a:xfrm flipV="1">
            <a:off x="9131300" y="1917700"/>
            <a:ext cx="0" cy="10160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8623300" y="1917700"/>
            <a:ext cx="508000" cy="0"/>
          </a:xfrm>
          <a:prstGeom prst="line">
            <a:avLst/>
          </a:prstGeom>
          <a:ln w="2286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9088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62" name="Rounded Rectangle 61"/>
          <p:cNvSpPr/>
          <p:nvPr/>
        </p:nvSpPr>
        <p:spPr>
          <a:xfrm>
            <a:off x="69088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908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image.png"/>
          <p:cNvPicPr>
            <a:picLocks noChangeAspect="1"/>
          </p:cNvPicPr>
          <p:nvPr/>
        </p:nvPicPr>
        <p:blipFill>
          <a:blip r:embed="rId3"/>
          <a:stretch>
            <a:fillRect/>
          </a:stretch>
        </p:blipFill>
        <p:spPr>
          <a:xfrm>
            <a:off x="7061200" y="3891067"/>
            <a:ext cx="406400" cy="396664"/>
          </a:xfrm>
          <a:prstGeom prst="rect">
            <a:avLst/>
          </a:prstGeom>
        </p:spPr>
      </p:pic>
      <p:sp>
        <p:nvSpPr>
          <p:cNvPr id="65" name="TextBox 64"/>
          <p:cNvSpPr txBox="1"/>
          <p:nvPr/>
        </p:nvSpPr>
        <p:spPr>
          <a:xfrm>
            <a:off x="75946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66" name="Rounded Rectangle 65"/>
          <p:cNvSpPr/>
          <p:nvPr/>
        </p:nvSpPr>
        <p:spPr>
          <a:xfrm>
            <a:off x="91948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194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8" name="Picture 67" descr="image.png"/>
          <p:cNvPicPr>
            <a:picLocks noChangeAspect="1"/>
          </p:cNvPicPr>
          <p:nvPr/>
        </p:nvPicPr>
        <p:blipFill>
          <a:blip r:embed="rId4"/>
          <a:stretch>
            <a:fillRect/>
          </a:stretch>
        </p:blipFill>
        <p:spPr>
          <a:xfrm>
            <a:off x="9347200" y="3886200"/>
            <a:ext cx="406400" cy="406400"/>
          </a:xfrm>
          <a:prstGeom prst="rect">
            <a:avLst/>
          </a:prstGeom>
        </p:spPr>
      </p:pic>
      <p:sp>
        <p:nvSpPr>
          <p:cNvPr id="69" name="TextBox 68"/>
          <p:cNvSpPr txBox="1"/>
          <p:nvPr/>
        </p:nvSpPr>
        <p:spPr>
          <a:xfrm>
            <a:off x="98806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70" name="Connector 69"/>
          <p:cNvCxnSpPr/>
          <p:nvPr/>
        </p:nvCxnSpPr>
        <p:spPr>
          <a:xfrm>
            <a:off x="8686800" y="4089400"/>
            <a:ext cx="5080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84074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72" name="TextBox 71"/>
          <p:cNvSpPr txBox="1"/>
          <p:nvPr/>
        </p:nvSpPr>
        <p:spPr>
          <a:xfrm>
            <a:off x="94488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73" name="Rounded Rectangle 72"/>
          <p:cNvSpPr/>
          <p:nvPr/>
        </p:nvSpPr>
        <p:spPr>
          <a:xfrm>
            <a:off x="6908800" y="4686300"/>
            <a:ext cx="4445000" cy="6096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0612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087F85"/>
                </a:solidFill>
                <a:latin typeface="Arial"/>
              </a:rPr>
              <a:t>APPLICATION</a:t>
            </a:r>
          </a:p>
        </p:txBody>
      </p:sp>
      <p:sp>
        <p:nvSpPr>
          <p:cNvPr id="75" name="Rounded Rectangle 74"/>
          <p:cNvSpPr/>
          <p:nvPr/>
        </p:nvSpPr>
        <p:spPr>
          <a:xfrm>
            <a:off x="70612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1120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77" name="Connector 76"/>
          <p:cNvCxnSpPr/>
          <p:nvPr/>
        </p:nvCxnSpPr>
        <p:spPr>
          <a:xfrm>
            <a:off x="8534400" y="5080000"/>
            <a:ext cx="1905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87249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7757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80" name="Connector 79"/>
          <p:cNvCxnSpPr/>
          <p:nvPr/>
        </p:nvCxnSpPr>
        <p:spPr>
          <a:xfrm>
            <a:off x="9563100" y="5080000"/>
            <a:ext cx="2032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1" name="Rounded Rectangle 80"/>
          <p:cNvSpPr/>
          <p:nvPr/>
        </p:nvSpPr>
        <p:spPr>
          <a:xfrm>
            <a:off x="97663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ed Rectangle 81"/>
          <p:cNvSpPr/>
          <p:nvPr/>
        </p:nvSpPr>
        <p:spPr>
          <a:xfrm>
            <a:off x="98806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Connector 82"/>
          <p:cNvCxnSpPr/>
          <p:nvPr/>
        </p:nvCxnSpPr>
        <p:spPr>
          <a:xfrm>
            <a:off x="99060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0457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5" name="Connector 84"/>
          <p:cNvCxnSpPr/>
          <p:nvPr/>
        </p:nvCxnSpPr>
        <p:spPr>
          <a:xfrm>
            <a:off x="100711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6" name="Rounded Rectangle 85"/>
          <p:cNvSpPr/>
          <p:nvPr/>
        </p:nvSpPr>
        <p:spPr>
          <a:xfrm>
            <a:off x="102108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2362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104521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89" name="Connector 88"/>
          <p:cNvCxnSpPr/>
          <p:nvPr/>
        </p:nvCxnSpPr>
        <p:spPr>
          <a:xfrm flipV="1">
            <a:off x="7797800" y="4394200"/>
            <a:ext cx="0" cy="292100"/>
          </a:xfrm>
          <a:prstGeom prst="line">
            <a:avLst/>
          </a:prstGeom>
          <a:ln w="1778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79756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cxnSp>
        <p:nvCxnSpPr>
          <p:cNvPr id="91" name="Connector 90"/>
          <p:cNvCxnSpPr/>
          <p:nvPr/>
        </p:nvCxnSpPr>
        <p:spPr>
          <a:xfrm flipH="1">
            <a:off x="431800" y="4089400"/>
            <a:ext cx="406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4318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431800" y="5562600"/>
            <a:ext cx="11328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7602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H="1">
            <a:off x="11353800" y="4089400"/>
            <a:ext cx="406400" cy="0"/>
          </a:xfrm>
          <a:prstGeom prst="line">
            <a:avLst/>
          </a:prstGeom>
          <a:ln w="22860">
            <a:solidFill>
              <a:srgbClr val="CF00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3175000" y="5664200"/>
            <a:ext cx="5842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CF0035"/>
                </a:solidFill>
                <a:latin typeface="Arial"/>
              </a:rPr>
              <a:t>Peer health is learned through DNS</a:t>
            </a:r>
          </a:p>
        </p:txBody>
      </p:sp>
      <p:sp>
        <p:nvSpPr>
          <p:cNvPr id="97" name="TextBox 96"/>
          <p:cNvSpPr txBox="1"/>
          <p:nvPr/>
        </p:nvSpPr>
        <p:spPr>
          <a:xfrm>
            <a:off x="609600" y="6083300"/>
            <a:ext cx="10972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One direction shown; each controller queries peer CoreDNS.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UNDER THE HOOD</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07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Three components. Three distinct jobs.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png"/>
          <p:cNvPicPr>
            <a:picLocks noChangeAspect="1"/>
          </p:cNvPicPr>
          <p:nvPr/>
        </p:nvPicPr>
        <p:blipFill>
          <a:blip r:embed="rId2"/>
          <a:stretch>
            <a:fillRect/>
          </a:stretch>
        </p:blipFill>
        <p:spPr>
          <a:xfrm>
            <a:off x="965200" y="2474752"/>
            <a:ext cx="914400" cy="892494"/>
          </a:xfrm>
          <a:prstGeom prst="rect">
            <a:avLst/>
          </a:prstGeom>
        </p:spPr>
      </p:pic>
      <p:sp>
        <p:nvSpPr>
          <p:cNvPr id="11" name="TextBox 10"/>
          <p:cNvSpPr txBox="1"/>
          <p:nvPr/>
        </p:nvSpPr>
        <p:spPr>
          <a:xfrm>
            <a:off x="863600"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k8gb controller</a:t>
            </a:r>
          </a:p>
        </p:txBody>
      </p:sp>
      <p:sp>
        <p:nvSpPr>
          <p:cNvPr id="12" name="TextBox 11"/>
          <p:cNvSpPr txBox="1"/>
          <p:nvPr/>
        </p:nvSpPr>
        <p:spPr>
          <a:xfrm>
            <a:off x="863600"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Readiness + strategy</a:t>
            </a:r>
          </a:p>
          <a:p>
            <a:pPr algn="l">
              <a:lnSpc>
                <a:spcPts val="2600"/>
              </a:lnSpc>
              <a:spcBef>
                <a:spcPts val="0"/>
              </a:spcBef>
              <a:spcAft>
                <a:spcPts val="0"/>
              </a:spcAft>
            </a:pPr>
            <a:r>
              <a:rPr sz="2000" b="0">
                <a:solidFill>
                  <a:srgbClr val="5D6F82"/>
                </a:solidFill>
                <a:latin typeface="Arial"/>
              </a:rPr>
              <a:t>→ eligible targets</a:t>
            </a:r>
          </a:p>
        </p:txBody>
      </p:sp>
      <p:sp>
        <p:nvSpPr>
          <p:cNvPr id="13" name="Rounded Rectangle 12"/>
          <p:cNvSpPr/>
          <p:nvPr/>
        </p:nvSpPr>
        <p:spPr>
          <a:xfrm>
            <a:off x="4334933"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4639733" y="2413000"/>
            <a:ext cx="1016000" cy="1016000"/>
          </a:xfrm>
          <a:prstGeom prst="rect">
            <a:avLst/>
          </a:prstGeom>
        </p:spPr>
      </p:pic>
      <p:sp>
        <p:nvSpPr>
          <p:cNvPr id="15" name="TextBox 14"/>
          <p:cNvSpPr txBox="1"/>
          <p:nvPr/>
        </p:nvSpPr>
        <p:spPr>
          <a:xfrm>
            <a:off x="4588933"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CoreDNS</a:t>
            </a:r>
          </a:p>
        </p:txBody>
      </p:sp>
      <p:sp>
        <p:nvSpPr>
          <p:cNvPr id="16" name="TextBox 15"/>
          <p:cNvSpPr txBox="1"/>
          <p:nvPr/>
        </p:nvSpPr>
        <p:spPr>
          <a:xfrm>
            <a:off x="4588933"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Delegated zone</a:t>
            </a:r>
          </a:p>
          <a:p>
            <a:pPr algn="l">
              <a:lnSpc>
                <a:spcPts val="2600"/>
              </a:lnSpc>
              <a:spcBef>
                <a:spcPts val="0"/>
              </a:spcBef>
              <a:spcAft>
                <a:spcPts val="0"/>
              </a:spcAft>
            </a:pPr>
            <a:r>
              <a:rPr sz="2000" b="0">
                <a:solidFill>
                  <a:srgbClr val="5D6F82"/>
                </a:solidFill>
                <a:latin typeface="Arial"/>
              </a:rPr>
              <a:t>→ DNS answers</a:t>
            </a:r>
          </a:p>
        </p:txBody>
      </p:sp>
      <p:sp>
        <p:nvSpPr>
          <p:cNvPr id="17" name="Rounded Rectangle 16"/>
          <p:cNvSpPr/>
          <p:nvPr/>
        </p:nvSpPr>
        <p:spPr>
          <a:xfrm>
            <a:off x="8060266"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4"/>
          <a:stretch>
            <a:fillRect/>
          </a:stretch>
        </p:blipFill>
        <p:spPr>
          <a:xfrm>
            <a:off x="8314618" y="2362200"/>
            <a:ext cx="1116895" cy="1117600"/>
          </a:xfrm>
          <a:prstGeom prst="rect">
            <a:avLst/>
          </a:prstGeom>
        </p:spPr>
      </p:pic>
      <p:sp>
        <p:nvSpPr>
          <p:cNvPr id="19" name="TextBox 18"/>
          <p:cNvSpPr txBox="1"/>
          <p:nvPr/>
        </p:nvSpPr>
        <p:spPr>
          <a:xfrm>
            <a:off x="8314266"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ExternalDNS</a:t>
            </a:r>
          </a:p>
        </p:txBody>
      </p:sp>
      <p:sp>
        <p:nvSpPr>
          <p:cNvPr id="20" name="TextBox 19"/>
          <p:cNvSpPr txBox="1"/>
          <p:nvPr/>
        </p:nvSpPr>
        <p:spPr>
          <a:xfrm>
            <a:off x="8314266"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Delegation state</a:t>
            </a:r>
          </a:p>
          <a:p>
            <a:pPr algn="l">
              <a:lnSpc>
                <a:spcPts val="2600"/>
              </a:lnSpc>
              <a:spcBef>
                <a:spcPts val="0"/>
              </a:spcBef>
              <a:spcAft>
                <a:spcPts val="0"/>
              </a:spcAft>
            </a:pPr>
            <a:r>
              <a:rPr sz="2000" b="0">
                <a:solidFill>
                  <a:srgbClr val="5D6F82"/>
                </a:solidFill>
                <a:latin typeface="Arial"/>
              </a:rPr>
              <a:t>→ parent DNS updates</a:t>
            </a:r>
          </a:p>
        </p:txBody>
      </p:sp>
      <p:sp>
        <p:nvSpPr>
          <p:cNvPr id="21" name="Rounded Rectangle 20"/>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Decide locally. Answer authoritatively. Delegate explicitly.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REQUEST PATH</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08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DNS selects an address. The client connects.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413000"/>
            <a:ext cx="2286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9600" y="2413000"/>
            <a:ext cx="50800" cy="965200"/>
          </a:xfrm>
          <a:prstGeom prst="rect">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2578100"/>
            <a:ext cx="1905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Client</a:t>
            </a:r>
          </a:p>
        </p:txBody>
      </p:sp>
      <p:sp>
        <p:nvSpPr>
          <p:cNvPr id="12" name="Rounded Rectangle 11"/>
          <p:cNvSpPr/>
          <p:nvPr/>
        </p:nvSpPr>
        <p:spPr>
          <a:xfrm>
            <a:off x="4635500" y="2413000"/>
            <a:ext cx="2667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6355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38700" y="2578100"/>
            <a:ext cx="2286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Resolver</a:t>
            </a:r>
          </a:p>
        </p:txBody>
      </p:sp>
      <p:sp>
        <p:nvSpPr>
          <p:cNvPr id="15" name="TextBox 14"/>
          <p:cNvSpPr txBox="1"/>
          <p:nvPr/>
        </p:nvSpPr>
        <p:spPr>
          <a:xfrm>
            <a:off x="4838700" y="2946400"/>
            <a:ext cx="2286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Caches answers</a:t>
            </a:r>
          </a:p>
        </p:txBody>
      </p:sp>
      <p:sp>
        <p:nvSpPr>
          <p:cNvPr id="16" name="Rounded Rectangle 15"/>
          <p:cNvSpPr/>
          <p:nvPr/>
        </p:nvSpPr>
        <p:spPr>
          <a:xfrm>
            <a:off x="9042400" y="2413000"/>
            <a:ext cx="2540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424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2"/>
          <a:stretch>
            <a:fillRect/>
          </a:stretch>
        </p:blipFill>
        <p:spPr>
          <a:xfrm>
            <a:off x="9194800" y="2616200"/>
            <a:ext cx="558800" cy="558800"/>
          </a:xfrm>
          <a:prstGeom prst="rect">
            <a:avLst/>
          </a:prstGeom>
        </p:spPr>
      </p:pic>
      <p:sp>
        <p:nvSpPr>
          <p:cNvPr id="19" name="TextBox 18"/>
          <p:cNvSpPr txBox="1"/>
          <p:nvPr/>
        </p:nvSpPr>
        <p:spPr>
          <a:xfrm>
            <a:off x="9880600" y="2578100"/>
            <a:ext cx="1524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20" name="TextBox 19"/>
          <p:cNvSpPr txBox="1"/>
          <p:nvPr/>
        </p:nvSpPr>
        <p:spPr>
          <a:xfrm>
            <a:off x="9880600" y="2946400"/>
            <a:ext cx="152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a:t>
            </a:r>
          </a:p>
        </p:txBody>
      </p:sp>
      <p:cxnSp>
        <p:nvCxnSpPr>
          <p:cNvPr id="21" name="Connector 20"/>
          <p:cNvCxnSpPr/>
          <p:nvPr/>
        </p:nvCxnSpPr>
        <p:spPr>
          <a:xfrm>
            <a:off x="28956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3025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3025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8956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9718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6" name="TextBox 25"/>
          <p:cNvSpPr txBox="1"/>
          <p:nvPr/>
        </p:nvSpPr>
        <p:spPr>
          <a:xfrm>
            <a:off x="73406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7" name="TextBox 26"/>
          <p:cNvSpPr txBox="1"/>
          <p:nvPr/>
        </p:nvSpPr>
        <p:spPr>
          <a:xfrm>
            <a:off x="29972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8" name="TextBox 27"/>
          <p:cNvSpPr txBox="1"/>
          <p:nvPr/>
        </p:nvSpPr>
        <p:spPr>
          <a:xfrm>
            <a:off x="73660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9" name="Rounded Rectangle 28"/>
          <p:cNvSpPr/>
          <p:nvPr/>
        </p:nvSpPr>
        <p:spPr>
          <a:xfrm>
            <a:off x="8648700" y="4445000"/>
            <a:ext cx="2933700" cy="990600"/>
          </a:xfrm>
          <a:prstGeom prst="roundRect">
            <a:avLst>
              <a:gd name="adj" fmla="val 89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48700" y="4445000"/>
            <a:ext cx="50800" cy="9906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51900" y="4610100"/>
            <a:ext cx="25527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Selected cluster</a:t>
            </a:r>
          </a:p>
        </p:txBody>
      </p:sp>
      <p:sp>
        <p:nvSpPr>
          <p:cNvPr id="32" name="TextBox 31"/>
          <p:cNvSpPr txBox="1"/>
          <p:nvPr/>
        </p:nvSpPr>
        <p:spPr>
          <a:xfrm>
            <a:off x="8851900" y="4978400"/>
            <a:ext cx="25527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Gateway / Ingress</a:t>
            </a:r>
          </a:p>
        </p:txBody>
      </p:sp>
      <p:cxnSp>
        <p:nvCxnSpPr>
          <p:cNvPr id="33" name="Connector 32"/>
          <p:cNvCxnSpPr/>
          <p:nvPr/>
        </p:nvCxnSpPr>
        <p:spPr>
          <a:xfrm>
            <a:off x="1752600" y="3378200"/>
            <a:ext cx="0" cy="1574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752600" y="4953000"/>
            <a:ext cx="6896100" cy="0"/>
          </a:xfrm>
          <a:prstGeom prst="line">
            <a:avLst/>
          </a:prstGeom>
          <a:ln w="3810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429000" y="4495800"/>
            <a:ext cx="4572000" cy="388620"/>
          </a:xfrm>
          <a:prstGeom prst="rect">
            <a:avLst/>
          </a:prstGeom>
          <a:noFill/>
        </p:spPr>
        <p:txBody>
          <a:bodyPr wrap="none" lIns="0" rIns="0" tIns="0" bIns="0" anchor="t">
            <a:noAutofit/>
          </a:bodyPr>
          <a:lstStyle/>
          <a:p>
            <a:pPr algn="ctr">
              <a:lnSpc>
                <a:spcPts val="2760"/>
              </a:lnSpc>
              <a:spcBef>
                <a:spcPts val="0"/>
              </a:spcBef>
              <a:spcAft>
                <a:spcPts val="0"/>
              </a:spcAft>
            </a:pPr>
            <a:r>
              <a:rPr sz="2400" b="1">
                <a:solidFill>
                  <a:srgbClr val="CF0035"/>
                </a:solidFill>
                <a:latin typeface="Arial"/>
              </a:rPr>
              <a:t>Application connection</a:t>
            </a:r>
          </a:p>
        </p:txBody>
      </p:sp>
      <p:sp>
        <p:nvSpPr>
          <p:cNvPr id="36" name="Rounded Rectangle 35"/>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DNS is outside the application data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TRAFFIC STEERING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09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Choose how eligible clusters are used</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Illustrative DNS selections across Kubernetes clusters.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55800"/>
            <a:ext cx="5334000" cy="1727200"/>
          </a:xfrm>
          <a:prstGeom prst="roundRect">
            <a:avLst>
              <a:gd name="adj" fmla="val 661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38200" y="1968500"/>
            <a:ext cx="1041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382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FAILOVER</a:t>
            </a:r>
          </a:p>
        </p:txBody>
      </p:sp>
      <p:sp>
        <p:nvSpPr>
          <p:cNvPr id="14" name="TextBox 13"/>
          <p:cNvSpPr txBox="1"/>
          <p:nvPr/>
        </p:nvSpPr>
        <p:spPr>
          <a:xfrm>
            <a:off x="8382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FFFFF"/>
                </a:solidFill>
                <a:latin typeface="Arial"/>
              </a:rPr>
              <a:t>Prefer primary</a:t>
            </a:r>
          </a:p>
        </p:txBody>
      </p:sp>
      <p:sp>
        <p:nvSpPr>
          <p:cNvPr id="15" name="TextBox 14"/>
          <p:cNvSpPr txBox="1"/>
          <p:nvPr/>
        </p:nvSpPr>
        <p:spPr>
          <a:xfrm>
            <a:off x="8382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Return to primary on recovery</a:t>
            </a:r>
          </a:p>
        </p:txBody>
      </p:sp>
      <p:sp>
        <p:nvSpPr>
          <p:cNvPr id="16" name="TextBox 15"/>
          <p:cNvSpPr txBox="1"/>
          <p:nvPr/>
        </p:nvSpPr>
        <p:spPr>
          <a:xfrm>
            <a:off x="37084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PRIMARY</a:t>
            </a:r>
          </a:p>
        </p:txBody>
      </p:sp>
      <p:sp>
        <p:nvSpPr>
          <p:cNvPr id="17" name="TextBox 16"/>
          <p:cNvSpPr txBox="1"/>
          <p:nvPr/>
        </p:nvSpPr>
        <p:spPr>
          <a:xfrm>
            <a:off x="49276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BACKUP</a:t>
            </a:r>
          </a:p>
        </p:txBody>
      </p:sp>
      <p:cxnSp>
        <p:nvCxnSpPr>
          <p:cNvPr id="18" name="Connector 17"/>
          <p:cNvCxnSpPr/>
          <p:nvPr/>
        </p:nvCxnSpPr>
        <p:spPr>
          <a:xfrm flipH="1" flipV="1">
            <a:off x="4127500" y="2717800"/>
            <a:ext cx="406400" cy="266700"/>
          </a:xfrm>
          <a:prstGeom prst="line">
            <a:avLst/>
          </a:prstGeom>
          <a:ln w="19050">
            <a:solidFill>
              <a:srgbClr val="F79BB0"/>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889500" y="2717800"/>
            <a:ext cx="457200" cy="266700"/>
          </a:xfrm>
          <a:prstGeom prst="line">
            <a:avLst/>
          </a:prstGeom>
          <a:ln w="317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810000" y="2273300"/>
            <a:ext cx="635000" cy="457200"/>
          </a:xfrm>
          <a:prstGeom prst="roundRect">
            <a:avLst>
              <a:gd name="adj" fmla="val 13888"/>
            </a:avLst>
          </a:prstGeom>
          <a:solidFill>
            <a:srgbClr val="FBE9EE"/>
          </a:solidFill>
          <a:ln w="12700">
            <a:solidFill>
              <a:srgbClr val="EAC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2"/>
          <a:stretch>
            <a:fillRect/>
          </a:stretch>
        </p:blipFill>
        <p:spPr>
          <a:xfrm>
            <a:off x="3860800" y="2362200"/>
            <a:ext cx="279400" cy="279400"/>
          </a:xfrm>
          <a:prstGeom prst="rect">
            <a:avLst/>
          </a:prstGeom>
        </p:spPr>
      </p:pic>
      <p:sp>
        <p:nvSpPr>
          <p:cNvPr id="22" name="TextBox 21"/>
          <p:cNvSpPr txBox="1"/>
          <p:nvPr/>
        </p:nvSpPr>
        <p:spPr>
          <a:xfrm>
            <a:off x="41529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23" name="Rounded Rectangle 22"/>
          <p:cNvSpPr/>
          <p:nvPr/>
        </p:nvSpPr>
        <p:spPr>
          <a:xfrm>
            <a:off x="5029200" y="22733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png"/>
          <p:cNvPicPr>
            <a:picLocks noChangeAspect="1"/>
          </p:cNvPicPr>
          <p:nvPr/>
        </p:nvPicPr>
        <p:blipFill>
          <a:blip r:embed="rId2"/>
          <a:stretch>
            <a:fillRect/>
          </a:stretch>
        </p:blipFill>
        <p:spPr>
          <a:xfrm>
            <a:off x="5080000" y="2362200"/>
            <a:ext cx="279400" cy="279400"/>
          </a:xfrm>
          <a:prstGeom prst="rect">
            <a:avLst/>
          </a:prstGeom>
        </p:spPr>
      </p:pic>
      <p:sp>
        <p:nvSpPr>
          <p:cNvPr id="25" name="TextBox 24"/>
          <p:cNvSpPr txBox="1"/>
          <p:nvPr/>
        </p:nvSpPr>
        <p:spPr>
          <a:xfrm>
            <a:off x="53721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26" name="Connector 25"/>
          <p:cNvCxnSpPr/>
          <p:nvPr/>
        </p:nvCxnSpPr>
        <p:spPr>
          <a:xfrm>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56100" y="2984500"/>
            <a:ext cx="711200" cy="279400"/>
          </a:xfrm>
          <a:prstGeom prst="roundRect">
            <a:avLst>
              <a:gd name="adj" fmla="val 2272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069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30" name="Rounded Rectangle 29"/>
          <p:cNvSpPr/>
          <p:nvPr/>
        </p:nvSpPr>
        <p:spPr>
          <a:xfrm>
            <a:off x="62484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48400" y="19558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6477000" y="19685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770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ROUND ROBIN</a:t>
            </a:r>
          </a:p>
        </p:txBody>
      </p:sp>
      <p:sp>
        <p:nvSpPr>
          <p:cNvPr id="34" name="TextBox 33"/>
          <p:cNvSpPr txBox="1"/>
          <p:nvPr/>
        </p:nvSpPr>
        <p:spPr>
          <a:xfrm>
            <a:off x="64770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Use healthy clusters</a:t>
            </a:r>
          </a:p>
        </p:txBody>
      </p:sp>
      <p:sp>
        <p:nvSpPr>
          <p:cNvPr id="35" name="TextBox 34"/>
          <p:cNvSpPr txBox="1"/>
          <p:nvPr/>
        </p:nvSpPr>
        <p:spPr>
          <a:xfrm>
            <a:off x="64770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Active / active DNS answers</a:t>
            </a:r>
          </a:p>
        </p:txBody>
      </p:sp>
      <p:cxnSp>
        <p:nvCxnSpPr>
          <p:cNvPr id="36" name="Connector 35"/>
          <p:cNvCxnSpPr/>
          <p:nvPr/>
        </p:nvCxnSpPr>
        <p:spPr>
          <a:xfrm flipH="1" flipV="1">
            <a:off x="9588500" y="2743200"/>
            <a:ext cx="7620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2710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2"/>
          <a:stretch>
            <a:fillRect/>
          </a:stretch>
        </p:blipFill>
        <p:spPr>
          <a:xfrm>
            <a:off x="9321800" y="2374900"/>
            <a:ext cx="279400" cy="279400"/>
          </a:xfrm>
          <a:prstGeom prst="rect">
            <a:avLst/>
          </a:prstGeom>
        </p:spPr>
      </p:pic>
      <p:sp>
        <p:nvSpPr>
          <p:cNvPr id="39" name="TextBox 38"/>
          <p:cNvSpPr txBox="1"/>
          <p:nvPr/>
        </p:nvSpPr>
        <p:spPr>
          <a:xfrm>
            <a:off x="96139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cxnSp>
        <p:nvCxnSpPr>
          <p:cNvPr id="40" name="Connector 39"/>
          <p:cNvCxnSpPr/>
          <p:nvPr/>
        </p:nvCxnSpPr>
        <p:spPr>
          <a:xfrm flipH="1" flipV="1">
            <a:off x="10325100" y="2743200"/>
            <a:ext cx="254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00076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2"/>
          <a:stretch>
            <a:fillRect/>
          </a:stretch>
        </p:blipFill>
        <p:spPr>
          <a:xfrm>
            <a:off x="10058400" y="2374900"/>
            <a:ext cx="279400" cy="279400"/>
          </a:xfrm>
          <a:prstGeom prst="rect">
            <a:avLst/>
          </a:prstGeom>
        </p:spPr>
      </p:pic>
      <p:sp>
        <p:nvSpPr>
          <p:cNvPr id="43" name="TextBox 42"/>
          <p:cNvSpPr txBox="1"/>
          <p:nvPr/>
        </p:nvSpPr>
        <p:spPr>
          <a:xfrm>
            <a:off x="103505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44" name="Connector 43"/>
          <p:cNvCxnSpPr/>
          <p:nvPr/>
        </p:nvCxnSpPr>
        <p:spPr>
          <a:xfrm flipV="1">
            <a:off x="10350500" y="2743200"/>
            <a:ext cx="7112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07442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2"/>
          <a:stretch>
            <a:fillRect/>
          </a:stretch>
        </p:blipFill>
        <p:spPr>
          <a:xfrm>
            <a:off x="10795000" y="2374900"/>
            <a:ext cx="279400" cy="279400"/>
          </a:xfrm>
          <a:prstGeom prst="rect">
            <a:avLst/>
          </a:prstGeom>
        </p:spPr>
      </p:pic>
      <p:sp>
        <p:nvSpPr>
          <p:cNvPr id="47" name="TextBox 46"/>
          <p:cNvSpPr txBox="1"/>
          <p:nvPr/>
        </p:nvSpPr>
        <p:spPr>
          <a:xfrm>
            <a:off x="110871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C</a:t>
            </a:r>
          </a:p>
        </p:txBody>
      </p:sp>
      <p:sp>
        <p:nvSpPr>
          <p:cNvPr id="48" name="Rounded Rectangle 47"/>
          <p:cNvSpPr/>
          <p:nvPr/>
        </p:nvSpPr>
        <p:spPr>
          <a:xfrm>
            <a:off x="9994900" y="29845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457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50" name="Rounded Rectangle 49"/>
          <p:cNvSpPr/>
          <p:nvPr/>
        </p:nvSpPr>
        <p:spPr>
          <a:xfrm>
            <a:off x="6096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096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a:off x="838200" y="3924300"/>
            <a:ext cx="1041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382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WEIGHTED ROUND ROBIN</a:t>
            </a:r>
          </a:p>
        </p:txBody>
      </p:sp>
      <p:sp>
        <p:nvSpPr>
          <p:cNvPr id="54" name="TextBox 53"/>
          <p:cNvSpPr txBox="1"/>
          <p:nvPr/>
        </p:nvSpPr>
        <p:spPr>
          <a:xfrm>
            <a:off x="8382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Express preference</a:t>
            </a:r>
          </a:p>
        </p:txBody>
      </p:sp>
      <p:sp>
        <p:nvSpPr>
          <p:cNvPr id="55" name="TextBox 54"/>
          <p:cNvSpPr txBox="1"/>
          <p:nvPr/>
        </p:nvSpPr>
        <p:spPr>
          <a:xfrm>
            <a:off x="8382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Request shares are approximate</a:t>
            </a:r>
          </a:p>
        </p:txBody>
      </p:sp>
      <p:cxnSp>
        <p:nvCxnSpPr>
          <p:cNvPr id="56" name="Connector 55"/>
          <p:cNvCxnSpPr/>
          <p:nvPr/>
        </p:nvCxnSpPr>
        <p:spPr>
          <a:xfrm flipH="1" flipV="1">
            <a:off x="3949700" y="4699000"/>
            <a:ext cx="762000" cy="2413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36322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image.png"/>
          <p:cNvPicPr>
            <a:picLocks noChangeAspect="1"/>
          </p:cNvPicPr>
          <p:nvPr/>
        </p:nvPicPr>
        <p:blipFill>
          <a:blip r:embed="rId2"/>
          <a:stretch>
            <a:fillRect/>
          </a:stretch>
        </p:blipFill>
        <p:spPr>
          <a:xfrm>
            <a:off x="3683000" y="4330700"/>
            <a:ext cx="279400" cy="279400"/>
          </a:xfrm>
          <a:prstGeom prst="rect">
            <a:avLst/>
          </a:prstGeom>
        </p:spPr>
      </p:pic>
      <p:sp>
        <p:nvSpPr>
          <p:cNvPr id="59" name="TextBox 58"/>
          <p:cNvSpPr txBox="1"/>
          <p:nvPr/>
        </p:nvSpPr>
        <p:spPr>
          <a:xfrm>
            <a:off x="39751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w=2</a:t>
            </a:r>
          </a:p>
        </p:txBody>
      </p:sp>
      <p:cxnSp>
        <p:nvCxnSpPr>
          <p:cNvPr id="60" name="Connector 59"/>
          <p:cNvCxnSpPr/>
          <p:nvPr/>
        </p:nvCxnSpPr>
        <p:spPr>
          <a:xfrm flipH="1" flipV="1">
            <a:off x="4686300" y="4699000"/>
            <a:ext cx="25400" cy="241300"/>
          </a:xfrm>
          <a:prstGeom prst="line">
            <a:avLst/>
          </a:prstGeom>
          <a:ln w="381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43688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61" descr="image.png"/>
          <p:cNvPicPr>
            <a:picLocks noChangeAspect="1"/>
          </p:cNvPicPr>
          <p:nvPr/>
        </p:nvPicPr>
        <p:blipFill>
          <a:blip r:embed="rId2"/>
          <a:stretch>
            <a:fillRect/>
          </a:stretch>
        </p:blipFill>
        <p:spPr>
          <a:xfrm>
            <a:off x="4419600" y="4330700"/>
            <a:ext cx="279400" cy="279400"/>
          </a:xfrm>
          <a:prstGeom prst="rect">
            <a:avLst/>
          </a:prstGeom>
        </p:spPr>
      </p:pic>
      <p:sp>
        <p:nvSpPr>
          <p:cNvPr id="63" name="TextBox 62"/>
          <p:cNvSpPr txBox="1"/>
          <p:nvPr/>
        </p:nvSpPr>
        <p:spPr>
          <a:xfrm>
            <a:off x="47117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w=3</a:t>
            </a:r>
          </a:p>
        </p:txBody>
      </p:sp>
      <p:cxnSp>
        <p:nvCxnSpPr>
          <p:cNvPr id="64" name="Connector 63"/>
          <p:cNvCxnSpPr/>
          <p:nvPr/>
        </p:nvCxnSpPr>
        <p:spPr>
          <a:xfrm flipV="1">
            <a:off x="4711700" y="4699000"/>
            <a:ext cx="711200" cy="241300"/>
          </a:xfrm>
          <a:prstGeom prst="line">
            <a:avLst/>
          </a:prstGeom>
          <a:ln w="635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1054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image.png"/>
          <p:cNvPicPr>
            <a:picLocks noChangeAspect="1"/>
          </p:cNvPicPr>
          <p:nvPr/>
        </p:nvPicPr>
        <p:blipFill>
          <a:blip r:embed="rId2"/>
          <a:stretch>
            <a:fillRect/>
          </a:stretch>
        </p:blipFill>
        <p:spPr>
          <a:xfrm>
            <a:off x="5156200" y="4330700"/>
            <a:ext cx="279400" cy="279400"/>
          </a:xfrm>
          <a:prstGeom prst="rect">
            <a:avLst/>
          </a:prstGeom>
        </p:spPr>
      </p:pic>
      <p:sp>
        <p:nvSpPr>
          <p:cNvPr id="67" name="TextBox 66"/>
          <p:cNvSpPr txBox="1"/>
          <p:nvPr/>
        </p:nvSpPr>
        <p:spPr>
          <a:xfrm>
            <a:off x="54483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w=5</a:t>
            </a:r>
          </a:p>
        </p:txBody>
      </p:sp>
      <p:sp>
        <p:nvSpPr>
          <p:cNvPr id="68" name="TextBox 67"/>
          <p:cNvSpPr txBox="1"/>
          <p:nvPr/>
        </p:nvSpPr>
        <p:spPr>
          <a:xfrm>
            <a:off x="3632200" y="4025900"/>
            <a:ext cx="210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5D6F82"/>
                </a:solidFill>
                <a:latin typeface="Arial"/>
              </a:rPr>
              <a:t>RELATIVE WEIGHTS</a:t>
            </a:r>
          </a:p>
        </p:txBody>
      </p:sp>
      <p:sp>
        <p:nvSpPr>
          <p:cNvPr id="69" name="Rounded Rectangle 68"/>
          <p:cNvSpPr/>
          <p:nvPr/>
        </p:nvSpPr>
        <p:spPr>
          <a:xfrm>
            <a:off x="4356100" y="49403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406900" y="49911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71" name="Rounded Rectangle 70"/>
          <p:cNvSpPr/>
          <p:nvPr/>
        </p:nvSpPr>
        <p:spPr>
          <a:xfrm>
            <a:off x="62484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62484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6477000" y="39243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64770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GEOIP</a:t>
            </a:r>
          </a:p>
        </p:txBody>
      </p:sp>
      <p:sp>
        <p:nvSpPr>
          <p:cNvPr id="75" name="TextBox 74"/>
          <p:cNvSpPr txBox="1"/>
          <p:nvPr/>
        </p:nvSpPr>
        <p:spPr>
          <a:xfrm>
            <a:off x="64770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Map client subnets</a:t>
            </a:r>
          </a:p>
        </p:txBody>
      </p:sp>
      <p:sp>
        <p:nvSpPr>
          <p:cNvPr id="76" name="TextBox 75"/>
          <p:cNvSpPr txBox="1"/>
          <p:nvPr/>
        </p:nvSpPr>
        <p:spPr>
          <a:xfrm>
            <a:off x="64770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Needs GeoIP data + ECS</a:t>
            </a:r>
          </a:p>
        </p:txBody>
      </p:sp>
      <p:cxnSp>
        <p:nvCxnSpPr>
          <p:cNvPr id="77" name="Connector 76"/>
          <p:cNvCxnSpPr/>
          <p:nvPr/>
        </p:nvCxnSpPr>
        <p:spPr>
          <a:xfrm flipV="1">
            <a:off x="9728200" y="4699000"/>
            <a:ext cx="0" cy="2286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94107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image.png"/>
          <p:cNvPicPr>
            <a:picLocks noChangeAspect="1"/>
          </p:cNvPicPr>
          <p:nvPr/>
        </p:nvPicPr>
        <p:blipFill>
          <a:blip r:embed="rId2"/>
          <a:stretch>
            <a:fillRect/>
          </a:stretch>
        </p:blipFill>
        <p:spPr>
          <a:xfrm>
            <a:off x="9461500" y="4330700"/>
            <a:ext cx="279400" cy="279400"/>
          </a:xfrm>
          <a:prstGeom prst="rect">
            <a:avLst/>
          </a:prstGeom>
        </p:spPr>
      </p:pic>
      <p:sp>
        <p:nvSpPr>
          <p:cNvPr id="80" name="TextBox 79"/>
          <p:cNvSpPr txBox="1"/>
          <p:nvPr/>
        </p:nvSpPr>
        <p:spPr>
          <a:xfrm>
            <a:off x="97536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81" name="Rounded Rectangle 80"/>
          <p:cNvSpPr/>
          <p:nvPr/>
        </p:nvSpPr>
        <p:spPr>
          <a:xfrm>
            <a:off x="9296400" y="4927600"/>
            <a:ext cx="8636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3472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2762C8"/>
                </a:solidFill>
                <a:latin typeface="Arial"/>
              </a:rPr>
              <a:t>Subnet A</a:t>
            </a:r>
          </a:p>
        </p:txBody>
      </p:sp>
      <p:cxnSp>
        <p:nvCxnSpPr>
          <p:cNvPr id="83" name="Connector 82"/>
          <p:cNvCxnSpPr/>
          <p:nvPr/>
        </p:nvCxnSpPr>
        <p:spPr>
          <a:xfrm flipV="1">
            <a:off x="10947400" y="4699000"/>
            <a:ext cx="0" cy="2286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629900" y="42418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5" name="Picture 84" descr="image.png"/>
          <p:cNvPicPr>
            <a:picLocks noChangeAspect="1"/>
          </p:cNvPicPr>
          <p:nvPr/>
        </p:nvPicPr>
        <p:blipFill>
          <a:blip r:embed="rId2"/>
          <a:stretch>
            <a:fillRect/>
          </a:stretch>
        </p:blipFill>
        <p:spPr>
          <a:xfrm>
            <a:off x="10680700" y="4330700"/>
            <a:ext cx="279400" cy="279400"/>
          </a:xfrm>
          <a:prstGeom prst="rect">
            <a:avLst/>
          </a:prstGeom>
        </p:spPr>
      </p:pic>
      <p:sp>
        <p:nvSpPr>
          <p:cNvPr id="86" name="TextBox 85"/>
          <p:cNvSpPr txBox="1"/>
          <p:nvPr/>
        </p:nvSpPr>
        <p:spPr>
          <a:xfrm>
            <a:off x="109728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sp>
        <p:nvSpPr>
          <p:cNvPr id="87" name="Rounded Rectangle 86"/>
          <p:cNvSpPr/>
          <p:nvPr/>
        </p:nvSpPr>
        <p:spPr>
          <a:xfrm>
            <a:off x="10515600" y="4927600"/>
            <a:ext cx="863600" cy="292100"/>
          </a:xfrm>
          <a:prstGeom prst="roundRect">
            <a:avLst>
              <a:gd name="adj" fmla="val 2173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5664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087F85"/>
                </a:solidFill>
                <a:latin typeface="Arial"/>
              </a:rPr>
              <a:t>Subnet B</a:t>
            </a:r>
          </a:p>
        </p:txBody>
      </p:sp>
      <p:sp>
        <p:nvSpPr>
          <p:cNvPr id="89" name="Rounded Rectangle 8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All modes change DNS answers, not existing connections.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DECLARATIVE CONFIGURATION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10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steering with a declarative manifest</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is a Kubernetes custom resource.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05000"/>
            <a:ext cx="7112000" cy="3860800"/>
          </a:xfrm>
          <a:prstGeom prst="roundRect">
            <a:avLst>
              <a:gd name="adj" fmla="val 328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854200"/>
            <a:ext cx="7112000" cy="3860800"/>
          </a:xfrm>
          <a:prstGeom prst="roundRect">
            <a:avLst>
              <a:gd name="adj" fmla="val 328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1854200"/>
            <a:ext cx="7112000" cy="381000"/>
          </a:xfrm>
          <a:prstGeom prst="roundRect">
            <a:avLst>
              <a:gd name="adj" fmla="val 33333"/>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9600" y="2057400"/>
            <a:ext cx="7112000" cy="1778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63600" y="1943100"/>
            <a:ext cx="152400" cy="203200"/>
          </a:xfrm>
          <a:prstGeom prst="roundRect">
            <a:avLst>
              <a:gd name="adj" fmla="val 16666"/>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01700" y="20066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1700" y="20701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193800" y="1943100"/>
            <a:ext cx="2794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FFFFFF"/>
                </a:solidFill>
                <a:latin typeface="Courier New"/>
              </a:rPr>
              <a:t>gslb.yaml</a:t>
            </a:r>
          </a:p>
        </p:txBody>
      </p:sp>
      <p:sp>
        <p:nvSpPr>
          <p:cNvPr id="18" name="TextBox 17"/>
          <p:cNvSpPr txBox="1"/>
          <p:nvPr/>
        </p:nvSpPr>
        <p:spPr>
          <a:xfrm>
            <a:off x="4292600" y="1981200"/>
            <a:ext cx="3175000" cy="184150"/>
          </a:xfrm>
          <a:prstGeom prst="rect">
            <a:avLst/>
          </a:prstGeom>
          <a:noFill/>
        </p:spPr>
        <p:txBody>
          <a:bodyPr wrap="none" lIns="0" rIns="0" tIns="0" bIns="0" anchor="t">
            <a:noAutofit/>
          </a:bodyPr>
          <a:lstStyle/>
          <a:p>
            <a:pPr algn="r">
              <a:lnSpc>
                <a:spcPts val="1150"/>
              </a:lnSpc>
              <a:spcBef>
                <a:spcPts val="0"/>
              </a:spcBef>
              <a:spcAft>
                <a:spcPts val="0"/>
              </a:spcAft>
            </a:pPr>
            <a:r>
              <a:rPr sz="1000" b="1">
                <a:solidFill>
                  <a:srgbClr val="B8C8D9"/>
                </a:solidFill>
                <a:latin typeface="Arial"/>
              </a:rPr>
              <a:t>KUBERNETES CUSTOM RESOURCE</a:t>
            </a:r>
          </a:p>
        </p:txBody>
      </p:sp>
      <p:cxnSp>
        <p:nvCxnSpPr>
          <p:cNvPr id="19" name="Connector 18"/>
          <p:cNvCxnSpPr/>
          <p:nvPr/>
        </p:nvCxnSpPr>
        <p:spPr>
          <a:xfrm>
            <a:off x="609600" y="2235200"/>
            <a:ext cx="71120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7400" y="4826000"/>
            <a:ext cx="6756400" cy="825500"/>
          </a:xfrm>
          <a:prstGeom prst="roundRect">
            <a:avLst>
              <a:gd name="adj" fmla="val 9230"/>
            </a:avLst>
          </a:prstGeom>
          <a:solidFill>
            <a:srgbClr val="153B43"/>
          </a:solidFill>
          <a:ln w="12700">
            <a:solidFill>
              <a:srgbClr val="2F66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7400" y="4902200"/>
            <a:ext cx="38100" cy="673100"/>
          </a:xfrm>
          <a:prstGeom prst="rect">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700" y="238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01</a:t>
            </a:r>
          </a:p>
        </p:txBody>
      </p:sp>
      <p:sp>
        <p:nvSpPr>
          <p:cNvPr id="23" name="TextBox 22"/>
          <p:cNvSpPr txBox="1"/>
          <p:nvPr/>
        </p:nvSpPr>
        <p:spPr>
          <a:xfrm>
            <a:off x="1282700" y="2336800"/>
            <a:ext cx="155727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apiVersion: </a:t>
            </a:r>
          </a:p>
        </p:txBody>
      </p:sp>
      <p:sp>
        <p:nvSpPr>
          <p:cNvPr id="24" name="TextBox 23"/>
          <p:cNvSpPr txBox="1"/>
          <p:nvPr/>
        </p:nvSpPr>
        <p:spPr>
          <a:xfrm>
            <a:off x="2837433" y="2336800"/>
            <a:ext cx="460476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k8gb.io/v1beta1</a:t>
            </a:r>
          </a:p>
        </p:txBody>
      </p:sp>
      <p:sp>
        <p:nvSpPr>
          <p:cNvPr id="25" name="TextBox 24"/>
          <p:cNvSpPr txBox="1"/>
          <p:nvPr/>
        </p:nvSpPr>
        <p:spPr>
          <a:xfrm>
            <a:off x="901700" y="264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02</a:t>
            </a:r>
          </a:p>
        </p:txBody>
      </p:sp>
      <p:sp>
        <p:nvSpPr>
          <p:cNvPr id="26" name="TextBox 25"/>
          <p:cNvSpPr txBox="1"/>
          <p:nvPr/>
        </p:nvSpPr>
        <p:spPr>
          <a:xfrm>
            <a:off x="1282700" y="2590800"/>
            <a:ext cx="77990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kind: </a:t>
            </a:r>
          </a:p>
        </p:txBody>
      </p:sp>
      <p:sp>
        <p:nvSpPr>
          <p:cNvPr id="27" name="TextBox 26"/>
          <p:cNvSpPr txBox="1"/>
          <p:nvPr/>
        </p:nvSpPr>
        <p:spPr>
          <a:xfrm>
            <a:off x="2060066" y="2590800"/>
            <a:ext cx="538213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Gslb</a:t>
            </a:r>
          </a:p>
        </p:txBody>
      </p:sp>
      <p:sp>
        <p:nvSpPr>
          <p:cNvPr id="28" name="TextBox 27"/>
          <p:cNvSpPr txBox="1"/>
          <p:nvPr/>
        </p:nvSpPr>
        <p:spPr>
          <a:xfrm>
            <a:off x="901700" y="289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03</a:t>
            </a:r>
          </a:p>
        </p:txBody>
      </p:sp>
      <p:sp>
        <p:nvSpPr>
          <p:cNvPr id="29" name="TextBox 28"/>
          <p:cNvSpPr txBox="1"/>
          <p:nvPr/>
        </p:nvSpPr>
        <p:spPr>
          <a:xfrm>
            <a:off x="1282700" y="2844800"/>
            <a:ext cx="11685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metadata:</a:t>
            </a:r>
          </a:p>
        </p:txBody>
      </p:sp>
      <p:sp>
        <p:nvSpPr>
          <p:cNvPr id="30" name="TextBox 29"/>
          <p:cNvSpPr txBox="1"/>
          <p:nvPr/>
        </p:nvSpPr>
        <p:spPr>
          <a:xfrm>
            <a:off x="901700" y="314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04</a:t>
            </a:r>
          </a:p>
        </p:txBody>
      </p:sp>
      <p:sp>
        <p:nvSpPr>
          <p:cNvPr id="31" name="TextBox 30"/>
          <p:cNvSpPr txBox="1"/>
          <p:nvPr/>
        </p:nvSpPr>
        <p:spPr>
          <a:xfrm>
            <a:off x="1282700" y="3098800"/>
            <a:ext cx="1039028"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32" name="TextBox 31"/>
          <p:cNvSpPr txBox="1"/>
          <p:nvPr/>
        </p:nvSpPr>
        <p:spPr>
          <a:xfrm>
            <a:off x="2319188" y="3098800"/>
            <a:ext cx="51230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test-gslb-failover</a:t>
            </a:r>
          </a:p>
        </p:txBody>
      </p:sp>
      <p:sp>
        <p:nvSpPr>
          <p:cNvPr id="33" name="TextBox 32"/>
          <p:cNvSpPr txBox="1"/>
          <p:nvPr/>
        </p:nvSpPr>
        <p:spPr>
          <a:xfrm>
            <a:off x="901700" y="340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05</a:t>
            </a:r>
          </a:p>
        </p:txBody>
      </p:sp>
      <p:sp>
        <p:nvSpPr>
          <p:cNvPr id="34" name="TextBox 33"/>
          <p:cNvSpPr txBox="1"/>
          <p:nvPr/>
        </p:nvSpPr>
        <p:spPr>
          <a:xfrm>
            <a:off x="1282700" y="3352800"/>
            <a:ext cx="1686834"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namespace: </a:t>
            </a:r>
          </a:p>
        </p:txBody>
      </p:sp>
      <p:sp>
        <p:nvSpPr>
          <p:cNvPr id="35" name="TextBox 34"/>
          <p:cNvSpPr txBox="1"/>
          <p:nvPr/>
        </p:nvSpPr>
        <p:spPr>
          <a:xfrm>
            <a:off x="2966994" y="3352800"/>
            <a:ext cx="447520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a:t>
            </a:r>
          </a:p>
        </p:txBody>
      </p:sp>
      <p:sp>
        <p:nvSpPr>
          <p:cNvPr id="36" name="TextBox 35"/>
          <p:cNvSpPr txBox="1"/>
          <p:nvPr/>
        </p:nvSpPr>
        <p:spPr>
          <a:xfrm>
            <a:off x="901700" y="365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06</a:t>
            </a:r>
          </a:p>
        </p:txBody>
      </p:sp>
      <p:sp>
        <p:nvSpPr>
          <p:cNvPr id="37" name="TextBox 36"/>
          <p:cNvSpPr txBox="1"/>
          <p:nvPr/>
        </p:nvSpPr>
        <p:spPr>
          <a:xfrm>
            <a:off x="1282700" y="3606800"/>
            <a:ext cx="65034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spec:</a:t>
            </a:r>
          </a:p>
        </p:txBody>
      </p:sp>
      <p:sp>
        <p:nvSpPr>
          <p:cNvPr id="38" name="TextBox 37"/>
          <p:cNvSpPr txBox="1"/>
          <p:nvPr/>
        </p:nvSpPr>
        <p:spPr>
          <a:xfrm>
            <a:off x="901700" y="391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07</a:t>
            </a:r>
          </a:p>
        </p:txBody>
      </p:sp>
      <p:sp>
        <p:nvSpPr>
          <p:cNvPr id="39" name="TextBox 38"/>
          <p:cNvSpPr txBox="1"/>
          <p:nvPr/>
        </p:nvSpPr>
        <p:spPr>
          <a:xfrm>
            <a:off x="1282700" y="3860800"/>
            <a:ext cx="181639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resourceRef:</a:t>
            </a:r>
          </a:p>
        </p:txBody>
      </p:sp>
      <p:sp>
        <p:nvSpPr>
          <p:cNvPr id="40" name="TextBox 39"/>
          <p:cNvSpPr txBox="1"/>
          <p:nvPr/>
        </p:nvSpPr>
        <p:spPr>
          <a:xfrm>
            <a:off x="901700" y="416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08</a:t>
            </a:r>
          </a:p>
        </p:txBody>
      </p:sp>
      <p:sp>
        <p:nvSpPr>
          <p:cNvPr id="41" name="TextBox 40"/>
          <p:cNvSpPr txBox="1"/>
          <p:nvPr/>
        </p:nvSpPr>
        <p:spPr>
          <a:xfrm>
            <a:off x="1282700" y="4114800"/>
            <a:ext cx="2075517"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apiVersion: </a:t>
            </a:r>
          </a:p>
        </p:txBody>
      </p:sp>
      <p:sp>
        <p:nvSpPr>
          <p:cNvPr id="42" name="TextBox 41"/>
          <p:cNvSpPr txBox="1"/>
          <p:nvPr/>
        </p:nvSpPr>
        <p:spPr>
          <a:xfrm>
            <a:off x="3355677" y="4114800"/>
            <a:ext cx="4086522"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gateway.networking.k8s.io/v1</a:t>
            </a:r>
          </a:p>
        </p:txBody>
      </p:sp>
      <p:sp>
        <p:nvSpPr>
          <p:cNvPr id="43" name="TextBox 42"/>
          <p:cNvSpPr txBox="1"/>
          <p:nvPr/>
        </p:nvSpPr>
        <p:spPr>
          <a:xfrm>
            <a:off x="901700" y="441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09</a:t>
            </a:r>
          </a:p>
        </p:txBody>
      </p:sp>
      <p:sp>
        <p:nvSpPr>
          <p:cNvPr id="44" name="TextBox 43"/>
          <p:cNvSpPr txBox="1"/>
          <p:nvPr/>
        </p:nvSpPr>
        <p:spPr>
          <a:xfrm>
            <a:off x="1282700" y="4368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kind: </a:t>
            </a:r>
          </a:p>
        </p:txBody>
      </p:sp>
      <p:sp>
        <p:nvSpPr>
          <p:cNvPr id="45" name="TextBox 44"/>
          <p:cNvSpPr txBox="1"/>
          <p:nvPr/>
        </p:nvSpPr>
        <p:spPr>
          <a:xfrm>
            <a:off x="2578310" y="4368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HTTPRoute</a:t>
            </a:r>
          </a:p>
        </p:txBody>
      </p:sp>
      <p:sp>
        <p:nvSpPr>
          <p:cNvPr id="46" name="TextBox 45"/>
          <p:cNvSpPr txBox="1"/>
          <p:nvPr/>
        </p:nvSpPr>
        <p:spPr>
          <a:xfrm>
            <a:off x="901700" y="467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10</a:t>
            </a:r>
          </a:p>
        </p:txBody>
      </p:sp>
      <p:sp>
        <p:nvSpPr>
          <p:cNvPr id="47" name="TextBox 46"/>
          <p:cNvSpPr txBox="1"/>
          <p:nvPr/>
        </p:nvSpPr>
        <p:spPr>
          <a:xfrm>
            <a:off x="1282700" y="4622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48" name="TextBox 47"/>
          <p:cNvSpPr txBox="1"/>
          <p:nvPr/>
        </p:nvSpPr>
        <p:spPr>
          <a:xfrm>
            <a:off x="2578310" y="4622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payments</a:t>
            </a:r>
          </a:p>
        </p:txBody>
      </p:sp>
      <p:sp>
        <p:nvSpPr>
          <p:cNvPr id="49" name="TextBox 48"/>
          <p:cNvSpPr txBox="1"/>
          <p:nvPr/>
        </p:nvSpPr>
        <p:spPr>
          <a:xfrm>
            <a:off x="901700" y="492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11</a:t>
            </a:r>
          </a:p>
        </p:txBody>
      </p:sp>
      <p:sp>
        <p:nvSpPr>
          <p:cNvPr id="50" name="TextBox 49"/>
          <p:cNvSpPr txBox="1"/>
          <p:nvPr/>
        </p:nvSpPr>
        <p:spPr>
          <a:xfrm>
            <a:off x="1282700" y="4876800"/>
            <a:ext cx="14277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strategy:</a:t>
            </a:r>
          </a:p>
        </p:txBody>
      </p:sp>
      <p:sp>
        <p:nvSpPr>
          <p:cNvPr id="51" name="TextBox 50"/>
          <p:cNvSpPr txBox="1"/>
          <p:nvPr/>
        </p:nvSpPr>
        <p:spPr>
          <a:xfrm>
            <a:off x="901700" y="518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12</a:t>
            </a:r>
          </a:p>
        </p:txBody>
      </p:sp>
      <p:sp>
        <p:nvSpPr>
          <p:cNvPr id="52" name="TextBox 51"/>
          <p:cNvSpPr txBox="1"/>
          <p:nvPr/>
        </p:nvSpPr>
        <p:spPr>
          <a:xfrm>
            <a:off x="1282700" y="5130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type: </a:t>
            </a:r>
          </a:p>
        </p:txBody>
      </p:sp>
      <p:sp>
        <p:nvSpPr>
          <p:cNvPr id="53" name="TextBox 52"/>
          <p:cNvSpPr txBox="1"/>
          <p:nvPr/>
        </p:nvSpPr>
        <p:spPr>
          <a:xfrm>
            <a:off x="2578310" y="5130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failover</a:t>
            </a:r>
          </a:p>
        </p:txBody>
      </p:sp>
      <p:sp>
        <p:nvSpPr>
          <p:cNvPr id="54" name="TextBox 53"/>
          <p:cNvSpPr txBox="1"/>
          <p:nvPr/>
        </p:nvSpPr>
        <p:spPr>
          <a:xfrm>
            <a:off x="901700" y="543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13</a:t>
            </a:r>
          </a:p>
        </p:txBody>
      </p:sp>
      <p:sp>
        <p:nvSpPr>
          <p:cNvPr id="55" name="TextBox 54"/>
          <p:cNvSpPr txBox="1"/>
          <p:nvPr/>
        </p:nvSpPr>
        <p:spPr>
          <a:xfrm>
            <a:off x="1282700" y="5384800"/>
            <a:ext cx="24642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primaryGeoTag: </a:t>
            </a:r>
          </a:p>
        </p:txBody>
      </p:sp>
      <p:sp>
        <p:nvSpPr>
          <p:cNvPr id="56" name="TextBox 55"/>
          <p:cNvSpPr txBox="1"/>
          <p:nvPr/>
        </p:nvSpPr>
        <p:spPr>
          <a:xfrm>
            <a:off x="3744360" y="5384800"/>
            <a:ext cx="369783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eu</a:t>
            </a:r>
          </a:p>
        </p:txBody>
      </p:sp>
      <p:sp>
        <p:nvSpPr>
          <p:cNvPr id="57" name="Rounded Rectangle 56"/>
          <p:cNvSpPr/>
          <p:nvPr/>
        </p:nvSpPr>
        <p:spPr>
          <a:xfrm>
            <a:off x="8102600" y="1905000"/>
            <a:ext cx="3479800" cy="1752600"/>
          </a:xfrm>
          <a:prstGeom prst="roundRect">
            <a:avLst>
              <a:gd name="adj" fmla="val 65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8102600" y="1854200"/>
            <a:ext cx="3479800" cy="1752600"/>
          </a:xfrm>
          <a:prstGeom prst="roundRect">
            <a:avLst>
              <a:gd name="adj" fmla="val 65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8356600" y="1866900"/>
            <a:ext cx="9398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60" name="Picture 59" descr="image.png"/>
          <p:cNvPicPr>
            <a:picLocks noChangeAspect="1"/>
          </p:cNvPicPr>
          <p:nvPr/>
        </p:nvPicPr>
        <p:blipFill>
          <a:blip r:embed="rId2"/>
          <a:stretch>
            <a:fillRect/>
          </a:stretch>
        </p:blipFill>
        <p:spPr>
          <a:xfrm>
            <a:off x="8356600" y="2095500"/>
            <a:ext cx="406400" cy="406400"/>
          </a:xfrm>
          <a:prstGeom prst="rect">
            <a:avLst/>
          </a:prstGeom>
        </p:spPr>
      </p:pic>
      <p:sp>
        <p:nvSpPr>
          <p:cNvPr id="61" name="TextBox 60"/>
          <p:cNvSpPr txBox="1"/>
          <p:nvPr/>
        </p:nvSpPr>
        <p:spPr>
          <a:xfrm>
            <a:off x="8940800" y="2146300"/>
            <a:ext cx="2387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Prefer A · eu</a:t>
            </a:r>
          </a:p>
        </p:txBody>
      </p:sp>
      <p:sp>
        <p:nvSpPr>
          <p:cNvPr id="62" name="TextBox 61"/>
          <p:cNvSpPr txBox="1"/>
          <p:nvPr/>
        </p:nvSpPr>
        <p:spPr>
          <a:xfrm>
            <a:off x="8356600" y="2794000"/>
            <a:ext cx="29718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5D6F82"/>
                </a:solidFill>
                <a:latin typeface="Arial"/>
              </a:rPr>
              <a:t>While it has</a:t>
            </a:r>
          </a:p>
          <a:p>
            <a:pPr algn="l">
              <a:lnSpc>
                <a:spcPts val="2250"/>
              </a:lnSpc>
              <a:spcBef>
                <a:spcPts val="0"/>
              </a:spcBef>
              <a:spcAft>
                <a:spcPts val="0"/>
              </a:spcAft>
            </a:pPr>
            <a:r>
              <a:rPr sz="1800" b="0">
                <a:solidFill>
                  <a:srgbClr val="5D6F82"/>
                </a:solidFill>
                <a:latin typeface="Arial"/>
              </a:rPr>
              <a:t>eligible targets.</a:t>
            </a:r>
          </a:p>
        </p:txBody>
      </p:sp>
      <p:sp>
        <p:nvSpPr>
          <p:cNvPr id="63" name="Rounded Rectangle 62"/>
          <p:cNvSpPr/>
          <p:nvPr/>
        </p:nvSpPr>
        <p:spPr>
          <a:xfrm>
            <a:off x="8102600" y="3835400"/>
            <a:ext cx="3479800" cy="1930400"/>
          </a:xfrm>
          <a:prstGeom prst="roundRect">
            <a:avLst>
              <a:gd name="adj" fmla="val 59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8102600" y="3784600"/>
            <a:ext cx="3479800" cy="1930400"/>
          </a:xfrm>
          <a:prstGeom prst="roundRect">
            <a:avLst>
              <a:gd name="adj" fmla="val 59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356600" y="3797300"/>
            <a:ext cx="9398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8356600" y="4000500"/>
            <a:ext cx="29718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Deploy per cluster</a:t>
            </a:r>
          </a:p>
        </p:txBody>
      </p:sp>
      <p:sp>
        <p:nvSpPr>
          <p:cNvPr id="67" name="TextBox 66"/>
          <p:cNvSpPr txBox="1"/>
          <p:nvPr/>
        </p:nvSpPr>
        <p:spPr>
          <a:xfrm>
            <a:off x="8356600" y="4406900"/>
            <a:ext cx="2971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Same configuration</a:t>
            </a:r>
          </a:p>
        </p:txBody>
      </p:sp>
      <p:cxnSp>
        <p:nvCxnSpPr>
          <p:cNvPr id="68" name="Connector 67"/>
          <p:cNvCxnSpPr/>
          <p:nvPr/>
        </p:nvCxnSpPr>
        <p:spPr>
          <a:xfrm>
            <a:off x="9842500" y="4660900"/>
            <a:ext cx="0" cy="7620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90170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017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8425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668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8356600" y="4826000"/>
            <a:ext cx="1320800" cy="355600"/>
          </a:xfrm>
          <a:prstGeom prst="roundRect">
            <a:avLst>
              <a:gd name="adj" fmla="val 1785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4" name="Picture 73" descr="image.png"/>
          <p:cNvPicPr>
            <a:picLocks noChangeAspect="1"/>
          </p:cNvPicPr>
          <p:nvPr/>
        </p:nvPicPr>
        <p:blipFill>
          <a:blip r:embed="rId2"/>
          <a:stretch>
            <a:fillRect/>
          </a:stretch>
        </p:blipFill>
        <p:spPr>
          <a:xfrm>
            <a:off x="8470900" y="4864100"/>
            <a:ext cx="279400" cy="279400"/>
          </a:xfrm>
          <a:prstGeom prst="rect">
            <a:avLst/>
          </a:prstGeom>
        </p:spPr>
      </p:pic>
      <p:sp>
        <p:nvSpPr>
          <p:cNvPr id="75" name="TextBox 74"/>
          <p:cNvSpPr txBox="1"/>
          <p:nvPr/>
        </p:nvSpPr>
        <p:spPr>
          <a:xfrm>
            <a:off x="8890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eu</a:t>
            </a:r>
          </a:p>
        </p:txBody>
      </p:sp>
      <p:sp>
        <p:nvSpPr>
          <p:cNvPr id="76" name="Rounded Rectangle 75"/>
          <p:cNvSpPr/>
          <p:nvPr/>
        </p:nvSpPr>
        <p:spPr>
          <a:xfrm>
            <a:off x="10007600" y="4826000"/>
            <a:ext cx="1320800" cy="355600"/>
          </a:xfrm>
          <a:prstGeom prst="roundRect">
            <a:avLst>
              <a:gd name="adj" fmla="val 17857"/>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Picture 76" descr="image.png"/>
          <p:cNvPicPr>
            <a:picLocks noChangeAspect="1"/>
          </p:cNvPicPr>
          <p:nvPr/>
        </p:nvPicPr>
        <p:blipFill>
          <a:blip r:embed="rId2"/>
          <a:stretch>
            <a:fillRect/>
          </a:stretch>
        </p:blipFill>
        <p:spPr>
          <a:xfrm>
            <a:off x="10121900" y="4864100"/>
            <a:ext cx="279400" cy="279400"/>
          </a:xfrm>
          <a:prstGeom prst="rect">
            <a:avLst/>
          </a:prstGeom>
        </p:spPr>
      </p:pic>
      <p:sp>
        <p:nvSpPr>
          <p:cNvPr id="78" name="TextBox 77"/>
          <p:cNvSpPr txBox="1"/>
          <p:nvPr/>
        </p:nvSpPr>
        <p:spPr>
          <a:xfrm>
            <a:off x="10541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us</a:t>
            </a:r>
          </a:p>
        </p:txBody>
      </p:sp>
      <p:sp>
        <p:nvSpPr>
          <p:cNvPr id="79" name="TextBox 78"/>
          <p:cNvSpPr txBox="1"/>
          <p:nvPr/>
        </p:nvSpPr>
        <p:spPr>
          <a:xfrm>
            <a:off x="8280400" y="5384800"/>
            <a:ext cx="31242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5D6F82"/>
                </a:solidFill>
                <a:latin typeface="Arial"/>
              </a:rPr>
              <a:t>Each cluster observes health locally.</a:t>
            </a:r>
          </a:p>
        </p:txBody>
      </p:sp>
      <p:sp>
        <p:nvSpPr>
          <p:cNvPr id="80" name="Rounded Rectangle 7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The route, zone, and matching geotags are prerequisites.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INTEGRATIONS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11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Kubernetes and DNS integrations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Run on-prem, in the cloud, or across both.</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3479800" cy="3594100"/>
          </a:xfrm>
          <a:prstGeom prst="roundRect">
            <a:avLst>
              <a:gd name="adj" fmla="val 364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81200"/>
            <a:ext cx="3479800" cy="3594100"/>
          </a:xfrm>
          <a:prstGeom prst="roundRect">
            <a:avLst>
              <a:gd name="adj" fmla="val 3649"/>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1993900"/>
            <a:ext cx="29210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63600" y="2247900"/>
            <a:ext cx="546100" cy="546100"/>
          </a:xfrm>
          <a:prstGeom prst="rect">
            <a:avLst/>
          </a:prstGeom>
        </p:spPr>
      </p:pic>
      <p:sp>
        <p:nvSpPr>
          <p:cNvPr id="14" name="TextBox 13"/>
          <p:cNvSpPr txBox="1"/>
          <p:nvPr/>
        </p:nvSpPr>
        <p:spPr>
          <a:xfrm>
            <a:off x="1612900" y="2222500"/>
            <a:ext cx="2222500" cy="635508"/>
          </a:xfrm>
          <a:prstGeom prst="rect">
            <a:avLst/>
          </a:prstGeom>
          <a:noFill/>
        </p:spPr>
        <p:txBody>
          <a:bodyPr wrap="none" lIns="0" rIns="0" tIns="0" bIns="0" anchor="t">
            <a:noAutofit/>
          </a:bodyPr>
          <a:lstStyle/>
          <a:p>
            <a:pPr algn="l">
              <a:lnSpc>
                <a:spcPts val="2352"/>
              </a:lnSpc>
              <a:spcBef>
                <a:spcPts val="0"/>
              </a:spcBef>
              <a:spcAft>
                <a:spcPts val="0"/>
              </a:spcAft>
            </a:pPr>
            <a:r>
              <a:rPr sz="2100" b="1">
                <a:solidFill>
                  <a:srgbClr val="142338"/>
                </a:solidFill>
                <a:latin typeface="Arial"/>
              </a:rPr>
              <a:t>Conformant</a:t>
            </a:r>
          </a:p>
          <a:p>
            <a:pPr algn="l">
              <a:lnSpc>
                <a:spcPts val="2352"/>
              </a:lnSpc>
              <a:spcBef>
                <a:spcPts val="0"/>
              </a:spcBef>
              <a:spcAft>
                <a:spcPts val="0"/>
              </a:spcAft>
            </a:pPr>
            <a:r>
              <a:rPr sz="2100" b="1">
                <a:solidFill>
                  <a:srgbClr val="142338"/>
                </a:solidFill>
                <a:latin typeface="Arial"/>
              </a:rPr>
              <a:t>Kubernetes</a:t>
            </a:r>
          </a:p>
        </p:txBody>
      </p:sp>
      <p:cxnSp>
        <p:nvCxnSpPr>
          <p:cNvPr id="15" name="Connector 14"/>
          <p:cNvCxnSpPr/>
          <p:nvPr/>
        </p:nvCxnSpPr>
        <p:spPr>
          <a:xfrm>
            <a:off x="863600" y="3035300"/>
            <a:ext cx="2971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63600" y="3200400"/>
            <a:ext cx="29718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NATIVE RESOURCE INTEGRATIONS</a:t>
            </a:r>
          </a:p>
        </p:txBody>
      </p:sp>
      <p:sp>
        <p:nvSpPr>
          <p:cNvPr id="17" name="Oval 16"/>
          <p:cNvSpPr/>
          <p:nvPr/>
        </p:nvSpPr>
        <p:spPr>
          <a:xfrm>
            <a:off x="863600" y="35560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927100" y="36703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65200" y="36195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219200" y="35433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Gateway API</a:t>
            </a:r>
          </a:p>
        </p:txBody>
      </p:sp>
      <p:sp>
        <p:nvSpPr>
          <p:cNvPr id="21" name="Oval 20"/>
          <p:cNvSpPr/>
          <p:nvPr/>
        </p:nvSpPr>
        <p:spPr>
          <a:xfrm>
            <a:off x="863600" y="40386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927100" y="41529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65200" y="41021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219200" y="40259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Ingress</a:t>
            </a:r>
          </a:p>
        </p:txBody>
      </p:sp>
      <p:sp>
        <p:nvSpPr>
          <p:cNvPr id="25" name="Oval 24"/>
          <p:cNvSpPr/>
          <p:nvPr/>
        </p:nvSpPr>
        <p:spPr>
          <a:xfrm>
            <a:off x="863600" y="45212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927100" y="46355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65200" y="45847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219200" y="45085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Istio VirtualService</a:t>
            </a:r>
          </a:p>
        </p:txBody>
      </p:sp>
      <p:sp>
        <p:nvSpPr>
          <p:cNvPr id="29" name="Oval 28"/>
          <p:cNvSpPr/>
          <p:nvPr/>
        </p:nvSpPr>
        <p:spPr>
          <a:xfrm>
            <a:off x="863600" y="50038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927100" y="51181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65200" y="50673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219200" y="49911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LoadBalancer Service</a:t>
            </a:r>
          </a:p>
        </p:txBody>
      </p:sp>
      <p:sp>
        <p:nvSpPr>
          <p:cNvPr id="33" name="TextBox 32"/>
          <p:cNvSpPr txBox="1"/>
          <p:nvPr/>
        </p:nvSpPr>
        <p:spPr>
          <a:xfrm>
            <a:off x="4445000" y="2044700"/>
            <a:ext cx="7137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AUTOMATED PARENT-ZONE DELEGATION</a:t>
            </a:r>
          </a:p>
        </p:txBody>
      </p:sp>
      <p:sp>
        <p:nvSpPr>
          <p:cNvPr id="34" name="Rounded Rectangle 33"/>
          <p:cNvSpPr/>
          <p:nvPr/>
        </p:nvSpPr>
        <p:spPr>
          <a:xfrm>
            <a:off x="44450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mage.png"/>
          <p:cNvPicPr>
            <a:picLocks noChangeAspect="1"/>
          </p:cNvPicPr>
          <p:nvPr/>
        </p:nvPicPr>
        <p:blipFill>
          <a:blip r:embed="rId3"/>
          <a:stretch>
            <a:fillRect/>
          </a:stretch>
        </p:blipFill>
        <p:spPr>
          <a:xfrm>
            <a:off x="5159088" y="2552700"/>
            <a:ext cx="807023" cy="482600"/>
          </a:xfrm>
          <a:prstGeom prst="rect">
            <a:avLst/>
          </a:prstGeom>
        </p:spPr>
      </p:pic>
      <p:sp>
        <p:nvSpPr>
          <p:cNvPr id="36" name="TextBox 35"/>
          <p:cNvSpPr txBox="1"/>
          <p:nvPr/>
        </p:nvSpPr>
        <p:spPr>
          <a:xfrm>
            <a:off x="45466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AWS Route 53</a:t>
            </a:r>
          </a:p>
        </p:txBody>
      </p:sp>
      <p:sp>
        <p:nvSpPr>
          <p:cNvPr id="37" name="Rounded Rectangle 36"/>
          <p:cNvSpPr/>
          <p:nvPr/>
        </p:nvSpPr>
        <p:spPr>
          <a:xfrm>
            <a:off x="68961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4"/>
          <a:stretch>
            <a:fillRect/>
          </a:stretch>
        </p:blipFill>
        <p:spPr>
          <a:xfrm>
            <a:off x="7251700" y="2559304"/>
            <a:ext cx="1524000" cy="469392"/>
          </a:xfrm>
          <a:prstGeom prst="rect">
            <a:avLst/>
          </a:prstGeom>
        </p:spPr>
      </p:pic>
      <p:sp>
        <p:nvSpPr>
          <p:cNvPr id="39" name="TextBox 38"/>
          <p:cNvSpPr txBox="1"/>
          <p:nvPr/>
        </p:nvSpPr>
        <p:spPr>
          <a:xfrm>
            <a:off x="69977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Azure Public DNS</a:t>
            </a:r>
          </a:p>
        </p:txBody>
      </p:sp>
      <p:sp>
        <p:nvSpPr>
          <p:cNvPr id="40" name="Rounded Rectangle 39"/>
          <p:cNvSpPr/>
          <p:nvPr/>
        </p:nvSpPr>
        <p:spPr>
          <a:xfrm>
            <a:off x="93472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mage.png"/>
          <p:cNvPicPr>
            <a:picLocks noChangeAspect="1"/>
          </p:cNvPicPr>
          <p:nvPr/>
        </p:nvPicPr>
        <p:blipFill>
          <a:blip r:embed="rId5"/>
          <a:stretch>
            <a:fillRect/>
          </a:stretch>
        </p:blipFill>
        <p:spPr>
          <a:xfrm>
            <a:off x="9702800" y="2661412"/>
            <a:ext cx="1524000" cy="265176"/>
          </a:xfrm>
          <a:prstGeom prst="rect">
            <a:avLst/>
          </a:prstGeom>
        </p:spPr>
      </p:pic>
      <p:sp>
        <p:nvSpPr>
          <p:cNvPr id="42" name="TextBox 41"/>
          <p:cNvSpPr txBox="1"/>
          <p:nvPr/>
        </p:nvSpPr>
        <p:spPr>
          <a:xfrm>
            <a:off x="94488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Google Cloud DNS</a:t>
            </a:r>
          </a:p>
        </p:txBody>
      </p:sp>
      <p:sp>
        <p:nvSpPr>
          <p:cNvPr id="43" name="Rounded Rectangle 42"/>
          <p:cNvSpPr/>
          <p:nvPr/>
        </p:nvSpPr>
        <p:spPr>
          <a:xfrm>
            <a:off x="44450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6"/>
          <a:stretch>
            <a:fillRect/>
          </a:stretch>
        </p:blipFill>
        <p:spPr>
          <a:xfrm>
            <a:off x="5226050" y="3594100"/>
            <a:ext cx="673100" cy="673100"/>
          </a:xfrm>
          <a:prstGeom prst="rect">
            <a:avLst/>
          </a:prstGeom>
        </p:spPr>
      </p:pic>
      <p:sp>
        <p:nvSpPr>
          <p:cNvPr id="45" name="TextBox 44"/>
          <p:cNvSpPr txBox="1"/>
          <p:nvPr/>
        </p:nvSpPr>
        <p:spPr>
          <a:xfrm>
            <a:off x="45466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NS1</a:t>
            </a:r>
          </a:p>
        </p:txBody>
      </p:sp>
      <p:sp>
        <p:nvSpPr>
          <p:cNvPr id="46" name="Rounded Rectangle 45"/>
          <p:cNvSpPr/>
          <p:nvPr/>
        </p:nvSpPr>
        <p:spPr>
          <a:xfrm>
            <a:off x="68961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image.png"/>
          <p:cNvPicPr>
            <a:picLocks noChangeAspect="1"/>
          </p:cNvPicPr>
          <p:nvPr/>
        </p:nvPicPr>
        <p:blipFill>
          <a:blip r:embed="rId7"/>
          <a:stretch>
            <a:fillRect/>
          </a:stretch>
        </p:blipFill>
        <p:spPr>
          <a:xfrm>
            <a:off x="7251700" y="3683508"/>
            <a:ext cx="1524000" cy="481584"/>
          </a:xfrm>
          <a:prstGeom prst="rect">
            <a:avLst/>
          </a:prstGeom>
        </p:spPr>
      </p:pic>
      <p:sp>
        <p:nvSpPr>
          <p:cNvPr id="48" name="TextBox 47"/>
          <p:cNvSpPr txBox="1"/>
          <p:nvPr/>
        </p:nvSpPr>
        <p:spPr>
          <a:xfrm>
            <a:off x="69977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Infoblox</a:t>
            </a:r>
          </a:p>
        </p:txBody>
      </p:sp>
      <p:sp>
        <p:nvSpPr>
          <p:cNvPr id="49" name="Rounded Rectangle 48"/>
          <p:cNvSpPr/>
          <p:nvPr/>
        </p:nvSpPr>
        <p:spPr>
          <a:xfrm>
            <a:off x="93472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image.jpg"/>
          <p:cNvPicPr>
            <a:picLocks noChangeAspect="1"/>
          </p:cNvPicPr>
          <p:nvPr/>
        </p:nvPicPr>
        <p:blipFill>
          <a:blip r:embed="rId8"/>
          <a:stretch>
            <a:fillRect/>
          </a:stretch>
        </p:blipFill>
        <p:spPr>
          <a:xfrm>
            <a:off x="10128250" y="3594100"/>
            <a:ext cx="673100" cy="673100"/>
          </a:xfrm>
          <a:prstGeom prst="rect">
            <a:avLst/>
          </a:prstGeom>
        </p:spPr>
      </p:pic>
      <p:sp>
        <p:nvSpPr>
          <p:cNvPr id="51" name="TextBox 50"/>
          <p:cNvSpPr txBox="1"/>
          <p:nvPr/>
        </p:nvSpPr>
        <p:spPr>
          <a:xfrm>
            <a:off x="94488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Cloudflare</a:t>
            </a:r>
          </a:p>
        </p:txBody>
      </p:sp>
      <p:sp>
        <p:nvSpPr>
          <p:cNvPr id="52" name="Rounded Rectangle 51"/>
          <p:cNvSpPr/>
          <p:nvPr/>
        </p:nvSpPr>
        <p:spPr>
          <a:xfrm>
            <a:off x="4445000" y="4762500"/>
            <a:ext cx="7137400" cy="8128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648200" y="4940300"/>
            <a:ext cx="431800" cy="431800"/>
          </a:xfrm>
          <a:prstGeom prst="roundRect">
            <a:avLst>
              <a:gd name="adj" fmla="val 205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4737100" y="50419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4931410" y="50647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4737100" y="51435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4931410" y="51663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4737100" y="52451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4931410" y="52679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257800" y="49276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RFC 2136</a:t>
            </a:r>
          </a:p>
        </p:txBody>
      </p:sp>
      <p:sp>
        <p:nvSpPr>
          <p:cNvPr id="61" name="TextBox 60"/>
          <p:cNvSpPr txBox="1"/>
          <p:nvPr/>
        </p:nvSpPr>
        <p:spPr>
          <a:xfrm>
            <a:off x="5257800" y="5270500"/>
            <a:ext cx="1905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087F85"/>
                </a:solidFill>
                <a:latin typeface="Arial"/>
              </a:rPr>
              <a:t>DNS updates</a:t>
            </a:r>
          </a:p>
        </p:txBody>
      </p:sp>
      <p:cxnSp>
        <p:nvCxnSpPr>
          <p:cNvPr id="62" name="Connector 61"/>
          <p:cNvCxnSpPr/>
          <p:nvPr/>
        </p:nvCxnSpPr>
        <p:spPr>
          <a:xfrm>
            <a:off x="7340600" y="4927600"/>
            <a:ext cx="0" cy="482600"/>
          </a:xfrm>
          <a:prstGeom prst="line">
            <a:avLst/>
          </a:prstGeom>
          <a:ln w="12700">
            <a:solidFill>
              <a:srgbClr val="B3D6D5"/>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7581900" y="4927600"/>
            <a:ext cx="3746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BIND9 · Windows DNS</a:t>
            </a:r>
          </a:p>
        </p:txBody>
      </p:sp>
      <p:sp>
        <p:nvSpPr>
          <p:cNvPr id="64" name="TextBox 63"/>
          <p:cNvSpPr txBox="1"/>
          <p:nvPr/>
        </p:nvSpPr>
        <p:spPr>
          <a:xfrm>
            <a:off x="7581900" y="5270500"/>
            <a:ext cx="3746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TSIG / GSS-TSIG authentication</a:t>
            </a:r>
          </a:p>
        </p:txBody>
      </p:sp>
      <p:sp>
        <p:nvSpPr>
          <p:cNvPr id="65" name="Rounded Rectangle 64"/>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38200" y="5918200"/>
            <a:ext cx="105156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Choose your parent DNS. Keep your Gslb traffic strategy.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YOUR SOVEREIGN BOUNDARIES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12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You define what a “region” means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Global traffic management can follow your own topology.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609600" y="1905000"/>
            <a:ext cx="1097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ILLUSTRATIVE clusterGeoTag VALUES</a:t>
            </a:r>
          </a:p>
        </p:txBody>
      </p:sp>
      <p:sp>
        <p:nvSpPr>
          <p:cNvPr id="11" name="Rounded Rectangle 10"/>
          <p:cNvSpPr/>
          <p:nvPr/>
        </p:nvSpPr>
        <p:spPr>
          <a:xfrm>
            <a:off x="6096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8128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2319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71600" y="2565400"/>
            <a:ext cx="508000" cy="508000"/>
          </a:xfrm>
          <a:prstGeom prst="ellipse">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11300" y="2565400"/>
            <a:ext cx="228600" cy="508000"/>
          </a:xfrm>
          <a:prstGeom prst="ellipse">
            <a:avLst/>
          </a:prstGeom>
          <a:solidFill>
            <a:srgbClr val="EAF0FB"/>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1371600" y="2819400"/>
            <a:ext cx="508000" cy="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09700" y="2692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409700" y="2946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20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REGION</a:t>
            </a:r>
          </a:p>
        </p:txBody>
      </p:sp>
      <p:sp>
        <p:nvSpPr>
          <p:cNvPr id="21" name="Rounded Rectangle 20"/>
          <p:cNvSpPr/>
          <p:nvPr/>
        </p:nvSpPr>
        <p:spPr>
          <a:xfrm>
            <a:off x="7874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36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eu-west</a:t>
            </a:r>
          </a:p>
        </p:txBody>
      </p:sp>
      <p:sp>
        <p:nvSpPr>
          <p:cNvPr id="23" name="Rounded Rectangle 22"/>
          <p:cNvSpPr/>
          <p:nvPr/>
        </p:nvSpPr>
        <p:spPr>
          <a:xfrm>
            <a:off x="28448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448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30480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4671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606800" y="2552700"/>
            <a:ext cx="508000" cy="508000"/>
          </a:xfrm>
          <a:prstGeom prst="roundRect">
            <a:avLst>
              <a:gd name="adj" fmla="val 75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830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830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8354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354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878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878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97300" y="2933700"/>
            <a:ext cx="127000" cy="127000"/>
          </a:xfrm>
          <a:prstGeom prst="rect">
            <a:avLst/>
          </a:prstGeom>
          <a:solidFill>
            <a:srgbClr val="E8F4F3"/>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3543300" y="3073400"/>
            <a:ext cx="635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9972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DATACENTER</a:t>
            </a:r>
          </a:p>
        </p:txBody>
      </p:sp>
      <p:sp>
        <p:nvSpPr>
          <p:cNvPr id="37" name="Rounded Rectangle 36"/>
          <p:cNvSpPr/>
          <p:nvPr/>
        </p:nvSpPr>
        <p:spPr>
          <a:xfrm>
            <a:off x="30226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988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dc-1</a:t>
            </a:r>
          </a:p>
        </p:txBody>
      </p:sp>
      <p:sp>
        <p:nvSpPr>
          <p:cNvPr id="39" name="Rounded Rectangle 38"/>
          <p:cNvSpPr/>
          <p:nvPr/>
        </p:nvSpPr>
        <p:spPr>
          <a:xfrm>
            <a:off x="50800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0800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2832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7023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854700" y="2540000"/>
            <a:ext cx="482600" cy="558800"/>
          </a:xfrm>
          <a:prstGeom prst="roundRect">
            <a:avLst>
              <a:gd name="adj" fmla="val 7894"/>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918200" y="26035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5969000" y="26606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191250" y="26416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918200" y="27559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5969000" y="28130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191250" y="27940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5918200" y="29083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5969000" y="29654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191250" y="29464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324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RACK</a:t>
            </a:r>
          </a:p>
        </p:txBody>
      </p:sp>
      <p:sp>
        <p:nvSpPr>
          <p:cNvPr id="54" name="Rounded Rectangle 53"/>
          <p:cNvSpPr/>
          <p:nvPr/>
        </p:nvSpPr>
        <p:spPr>
          <a:xfrm>
            <a:off x="52578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340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rack-a</a:t>
            </a:r>
          </a:p>
        </p:txBody>
      </p:sp>
      <p:sp>
        <p:nvSpPr>
          <p:cNvPr id="56" name="Rounded Rectangle 55"/>
          <p:cNvSpPr/>
          <p:nvPr/>
        </p:nvSpPr>
        <p:spPr>
          <a:xfrm>
            <a:off x="73152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73152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75184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9375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039100" y="2667000"/>
            <a:ext cx="584200" cy="317500"/>
          </a:xfrm>
          <a:prstGeom prst="roundRect">
            <a:avLst>
              <a:gd name="adj" fmla="val 160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a:off x="8115300" y="27559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115300" y="28448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115300" y="29337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8470900" y="2781300"/>
            <a:ext cx="76200" cy="76200"/>
          </a:xfrm>
          <a:prstGeom prst="ellipse">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140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521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74676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SERVER</a:t>
            </a:r>
          </a:p>
        </p:txBody>
      </p:sp>
      <p:sp>
        <p:nvSpPr>
          <p:cNvPr id="68" name="Rounded Rectangle 67"/>
          <p:cNvSpPr/>
          <p:nvPr/>
        </p:nvSpPr>
        <p:spPr>
          <a:xfrm>
            <a:off x="74930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5692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server-01</a:t>
            </a:r>
          </a:p>
        </p:txBody>
      </p:sp>
      <p:sp>
        <p:nvSpPr>
          <p:cNvPr id="70" name="Rounded Rectangle 69"/>
          <p:cNvSpPr/>
          <p:nvPr/>
        </p:nvSpPr>
        <p:spPr>
          <a:xfrm>
            <a:off x="95504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95504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2" name="Connector 71"/>
          <p:cNvCxnSpPr/>
          <p:nvPr/>
        </p:nvCxnSpPr>
        <p:spPr>
          <a:xfrm>
            <a:off x="9753600" y="2184400"/>
            <a:ext cx="16256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10172700" y="2425700"/>
            <a:ext cx="787400" cy="787400"/>
          </a:xfrm>
          <a:prstGeom prst="roundRect">
            <a:avLst>
              <a:gd name="adj" fmla="val 19354"/>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Connector 73"/>
          <p:cNvCxnSpPr/>
          <p:nvPr/>
        </p:nvCxnSpPr>
        <p:spPr>
          <a:xfrm flipH="1">
            <a:off x="102743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02743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07442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08585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02743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02743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8585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107442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04267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5664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10426700" y="2908300"/>
            <a:ext cx="279400" cy="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103759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0515600" y="26543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06553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7028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CUSTOM</a:t>
            </a:r>
          </a:p>
        </p:txBody>
      </p:sp>
      <p:sp>
        <p:nvSpPr>
          <p:cNvPr id="89" name="Rounded Rectangle 88"/>
          <p:cNvSpPr/>
          <p:nvPr/>
        </p:nvSpPr>
        <p:spPr>
          <a:xfrm>
            <a:off x="9728200" y="3873500"/>
            <a:ext cx="1676400" cy="368300"/>
          </a:xfrm>
          <a:prstGeom prst="roundRect">
            <a:avLst>
              <a:gd name="adj" fmla="val 1724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8044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CF0035"/>
                </a:solidFill>
                <a:latin typeface="Courier New"/>
              </a:rPr>
              <a:t>sovereign-a</a:t>
            </a:r>
          </a:p>
        </p:txBody>
      </p:sp>
      <p:sp>
        <p:nvSpPr>
          <p:cNvPr id="91" name="Rounded Rectangle 90"/>
          <p:cNvSpPr/>
          <p:nvPr/>
        </p:nvSpPr>
        <p:spPr>
          <a:xfrm>
            <a:off x="609600" y="4851400"/>
            <a:ext cx="10972800" cy="838200"/>
          </a:xfrm>
          <a:prstGeom prst="roundRect">
            <a:avLst>
              <a:gd name="adj" fmla="val 1363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image.png"/>
          <p:cNvPicPr>
            <a:picLocks noChangeAspect="1"/>
          </p:cNvPicPr>
          <p:nvPr/>
        </p:nvPicPr>
        <p:blipFill>
          <a:blip r:embed="rId2"/>
          <a:stretch>
            <a:fillRect/>
          </a:stretch>
        </p:blipFill>
        <p:spPr>
          <a:xfrm>
            <a:off x="876300" y="5041900"/>
            <a:ext cx="469900" cy="469900"/>
          </a:xfrm>
          <a:prstGeom prst="rect">
            <a:avLst/>
          </a:prstGeom>
        </p:spPr>
      </p:pic>
      <p:sp>
        <p:nvSpPr>
          <p:cNvPr id="93" name="TextBox 92"/>
          <p:cNvSpPr txBox="1"/>
          <p:nvPr/>
        </p:nvSpPr>
        <p:spPr>
          <a:xfrm>
            <a:off x="1562100" y="4991100"/>
            <a:ext cx="9715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Each tag identifies a k8gb cluster.</a:t>
            </a:r>
          </a:p>
        </p:txBody>
      </p:sp>
      <p:sp>
        <p:nvSpPr>
          <p:cNvPr id="94" name="TextBox 93"/>
          <p:cNvSpPr txBox="1"/>
          <p:nvPr/>
        </p:nvSpPr>
        <p:spPr>
          <a:xfrm>
            <a:off x="1562100" y="5372100"/>
            <a:ext cx="9715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Rack or server boundaries use independent clusters, including single-node clusters.</a:t>
            </a:r>
          </a:p>
        </p:txBody>
      </p:sp>
      <p:sp>
        <p:nvSpPr>
          <p:cNvPr id="95" name="Rounded Rectangle 94"/>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87400" y="5892800"/>
            <a:ext cx="106172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142338"/>
                </a:solidFill>
                <a:latin typeface="Arial"/>
              </a:rPr>
              <a:t>Choose boundaries that match your sovereignty model.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LIVE DEMO · A / EU → B / US → A / EU</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13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One hostname. Two clusters.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All local. Two application clusters represent different locations.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cxnSp>
        <p:nvCxnSpPr>
          <p:cNvPr id="10" name="Connector 9"/>
          <p:cNvCxnSpPr/>
          <p:nvPr/>
        </p:nvCxnSpPr>
        <p:spPr>
          <a:xfrm flipH="1">
            <a:off x="2844800" y="2590800"/>
            <a:ext cx="1346200" cy="0"/>
          </a:xfrm>
          <a:prstGeom prst="line">
            <a:avLst/>
          </a:prstGeom>
          <a:ln w="2159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4800" y="2590800"/>
            <a:ext cx="0" cy="914400"/>
          </a:xfrm>
          <a:prstGeom prst="line">
            <a:avLst/>
          </a:prstGeom>
          <a:ln w="21590">
            <a:solidFill>
              <a:srgbClr val="83AD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1000" y="2590800"/>
            <a:ext cx="13462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347200" y="2590800"/>
            <a:ext cx="0" cy="914400"/>
          </a:xfrm>
          <a:prstGeom prst="line">
            <a:avLst/>
          </a:prstGeom>
          <a:ln w="21590">
            <a:solidFill>
              <a:srgbClr val="66CB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89000" y="29845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NS delegation</a:t>
            </a:r>
          </a:p>
        </p:txBody>
      </p:sp>
      <p:sp>
        <p:nvSpPr>
          <p:cNvPr id="15" name="TextBox 14"/>
          <p:cNvSpPr txBox="1"/>
          <p:nvPr/>
        </p:nvSpPr>
        <p:spPr>
          <a:xfrm>
            <a:off x="9601200" y="29845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NS delegation</a:t>
            </a:r>
          </a:p>
        </p:txBody>
      </p:sp>
      <p:sp>
        <p:nvSpPr>
          <p:cNvPr id="16" name="Rounded Rectangle 15"/>
          <p:cNvSpPr/>
          <p:nvPr/>
        </p:nvSpPr>
        <p:spPr>
          <a:xfrm>
            <a:off x="4191000" y="2108200"/>
            <a:ext cx="3810000" cy="965200"/>
          </a:xfrm>
          <a:prstGeom prst="roundRect">
            <a:avLst>
              <a:gd name="adj" fmla="val 1315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19600" y="23114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483100" y="23685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798060" y="23533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19600" y="24765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483100" y="25336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798060" y="25184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19600" y="26416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4483100" y="26987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798060" y="26835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92700" y="2260600"/>
            <a:ext cx="26797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Local BIND9</a:t>
            </a:r>
          </a:p>
        </p:txBody>
      </p:sp>
      <p:sp>
        <p:nvSpPr>
          <p:cNvPr id="27" name="TextBox 26"/>
          <p:cNvSpPr txBox="1"/>
          <p:nvPr/>
        </p:nvSpPr>
        <p:spPr>
          <a:xfrm>
            <a:off x="5092700" y="2679700"/>
            <a:ext cx="26797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Parent DNS · example.com</a:t>
            </a:r>
          </a:p>
        </p:txBody>
      </p:sp>
      <p:sp>
        <p:nvSpPr>
          <p:cNvPr id="28" name="TextBox 27"/>
          <p:cNvSpPr txBox="1"/>
          <p:nvPr/>
        </p:nvSpPr>
        <p:spPr>
          <a:xfrm>
            <a:off x="4064000" y="3175000"/>
            <a:ext cx="406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B8C8D9"/>
                </a:solidFill>
                <a:latin typeface="Arial"/>
              </a:rPr>
              <a:t>Delegates cloud.example.com</a:t>
            </a:r>
          </a:p>
        </p:txBody>
      </p:sp>
      <p:sp>
        <p:nvSpPr>
          <p:cNvPr id="29" name="Rounded Rectangle 28"/>
          <p:cNvSpPr/>
          <p:nvPr/>
        </p:nvSpPr>
        <p:spPr>
          <a:xfrm>
            <a:off x="6096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838200" y="3517900"/>
            <a:ext cx="4013200" cy="0"/>
          </a:xfrm>
          <a:prstGeom prst="line">
            <a:avLst/>
          </a:prstGeom>
          <a:ln w="30480">
            <a:solidFill>
              <a:srgbClr val="83ADFF"/>
            </a:solidFill>
          </a:ln>
        </p:spPr>
        <p:style>
          <a:lnRef idx="2">
            <a:schemeClr val="accent1"/>
          </a:lnRef>
          <a:fillRef idx="0">
            <a:schemeClr val="accent1"/>
          </a:fillRef>
          <a:effectRef idx="1">
            <a:schemeClr val="accent1"/>
          </a:effectRef>
          <a:fontRef idx="minor">
            <a:schemeClr val="tx1"/>
          </a:fontRef>
        </p:style>
      </p:cxnSp>
      <p:pic>
        <p:nvPicPr>
          <p:cNvPr id="31" name="Picture 30" descr="image.png"/>
          <p:cNvPicPr>
            <a:picLocks noChangeAspect="1"/>
          </p:cNvPicPr>
          <p:nvPr/>
        </p:nvPicPr>
        <p:blipFill>
          <a:blip r:embed="rId2"/>
          <a:stretch>
            <a:fillRect/>
          </a:stretch>
        </p:blipFill>
        <p:spPr>
          <a:xfrm>
            <a:off x="838200" y="3657600"/>
            <a:ext cx="469900" cy="469900"/>
          </a:xfrm>
          <a:prstGeom prst="rect">
            <a:avLst/>
          </a:prstGeom>
        </p:spPr>
      </p:pic>
      <p:sp>
        <p:nvSpPr>
          <p:cNvPr id="32" name="TextBox 31"/>
          <p:cNvSpPr txBox="1"/>
          <p:nvPr/>
        </p:nvSpPr>
        <p:spPr>
          <a:xfrm>
            <a:off x="14732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A</a:t>
            </a:r>
          </a:p>
        </p:txBody>
      </p:sp>
      <p:sp>
        <p:nvSpPr>
          <p:cNvPr id="33" name="Rounded Rectangle 32"/>
          <p:cNvSpPr/>
          <p:nvPr/>
        </p:nvSpPr>
        <p:spPr>
          <a:xfrm>
            <a:off x="3683000" y="3632200"/>
            <a:ext cx="1168400" cy="317500"/>
          </a:xfrm>
          <a:prstGeom prst="roundRect">
            <a:avLst>
              <a:gd name="adj" fmla="val 48000"/>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465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83ADFF"/>
                </a:solidFill>
                <a:latin typeface="Arial"/>
              </a:rPr>
              <a:t>PRIMARY</a:t>
            </a:r>
          </a:p>
        </p:txBody>
      </p:sp>
      <p:sp>
        <p:nvSpPr>
          <p:cNvPr id="35" name="TextBox 34"/>
          <p:cNvSpPr txBox="1"/>
          <p:nvPr/>
        </p:nvSpPr>
        <p:spPr>
          <a:xfrm>
            <a:off x="14732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eu · primary application</a:t>
            </a:r>
          </a:p>
        </p:txBody>
      </p:sp>
      <p:cxnSp>
        <p:nvCxnSpPr>
          <p:cNvPr id="36" name="Connector 35"/>
          <p:cNvCxnSpPr/>
          <p:nvPr/>
        </p:nvCxnSpPr>
        <p:spPr>
          <a:xfrm>
            <a:off x="8636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863600" y="4487207"/>
            <a:ext cx="342899" cy="334685"/>
          </a:xfrm>
          <a:prstGeom prst="rect">
            <a:avLst/>
          </a:prstGeom>
        </p:spPr>
      </p:pic>
      <p:sp>
        <p:nvSpPr>
          <p:cNvPr id="38" name="TextBox 37"/>
          <p:cNvSpPr txBox="1"/>
          <p:nvPr/>
        </p:nvSpPr>
        <p:spPr>
          <a:xfrm>
            <a:off x="13208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39" name="Picture 38" descr="image.png"/>
          <p:cNvPicPr>
            <a:picLocks noChangeAspect="1"/>
          </p:cNvPicPr>
          <p:nvPr/>
        </p:nvPicPr>
        <p:blipFill>
          <a:blip r:embed="rId4"/>
          <a:stretch>
            <a:fillRect/>
          </a:stretch>
        </p:blipFill>
        <p:spPr>
          <a:xfrm>
            <a:off x="2755900" y="4483100"/>
            <a:ext cx="342900" cy="342900"/>
          </a:xfrm>
          <a:prstGeom prst="rect">
            <a:avLst/>
          </a:prstGeom>
        </p:spPr>
      </p:pic>
      <p:sp>
        <p:nvSpPr>
          <p:cNvPr id="40" name="TextBox 39"/>
          <p:cNvSpPr txBox="1"/>
          <p:nvPr/>
        </p:nvSpPr>
        <p:spPr>
          <a:xfrm>
            <a:off x="32131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41" name="Rounded Rectangle 40"/>
          <p:cNvSpPr/>
          <p:nvPr/>
        </p:nvSpPr>
        <p:spPr>
          <a:xfrm>
            <a:off x="8636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8636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1938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sp>
        <p:nvSpPr>
          <p:cNvPr id="44" name="Rounded Rectangle 43"/>
          <p:cNvSpPr/>
          <p:nvPr/>
        </p:nvSpPr>
        <p:spPr>
          <a:xfrm>
            <a:off x="71120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7340600" y="3517900"/>
            <a:ext cx="4013200" cy="0"/>
          </a:xfrm>
          <a:prstGeom prst="line">
            <a:avLst/>
          </a:prstGeom>
          <a:ln w="30480">
            <a:solidFill>
              <a:srgbClr val="66CBC9"/>
            </a:solidFill>
          </a:ln>
        </p:spPr>
        <p:style>
          <a:lnRef idx="2">
            <a:schemeClr val="accent1"/>
          </a:lnRef>
          <a:fillRef idx="0">
            <a:schemeClr val="accent1"/>
          </a:fillRef>
          <a:effectRef idx="1">
            <a:schemeClr val="accent1"/>
          </a:effectRef>
          <a:fontRef idx="minor">
            <a:schemeClr val="tx1"/>
          </a:fontRef>
        </p:style>
      </p:cxnSp>
      <p:pic>
        <p:nvPicPr>
          <p:cNvPr id="46" name="Picture 45" descr="image.png"/>
          <p:cNvPicPr>
            <a:picLocks noChangeAspect="1"/>
          </p:cNvPicPr>
          <p:nvPr/>
        </p:nvPicPr>
        <p:blipFill>
          <a:blip r:embed="rId2"/>
          <a:stretch>
            <a:fillRect/>
          </a:stretch>
        </p:blipFill>
        <p:spPr>
          <a:xfrm>
            <a:off x="7340600" y="3657600"/>
            <a:ext cx="469900" cy="469900"/>
          </a:xfrm>
          <a:prstGeom prst="rect">
            <a:avLst/>
          </a:prstGeom>
        </p:spPr>
      </p:pic>
      <p:sp>
        <p:nvSpPr>
          <p:cNvPr id="47" name="TextBox 46"/>
          <p:cNvSpPr txBox="1"/>
          <p:nvPr/>
        </p:nvSpPr>
        <p:spPr>
          <a:xfrm>
            <a:off x="79756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B</a:t>
            </a:r>
          </a:p>
        </p:txBody>
      </p:sp>
      <p:sp>
        <p:nvSpPr>
          <p:cNvPr id="48" name="Rounded Rectangle 47"/>
          <p:cNvSpPr/>
          <p:nvPr/>
        </p:nvSpPr>
        <p:spPr>
          <a:xfrm>
            <a:off x="10185400" y="3632200"/>
            <a:ext cx="1168400" cy="317500"/>
          </a:xfrm>
          <a:prstGeom prst="roundRect">
            <a:avLst>
              <a:gd name="adj" fmla="val 48000"/>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89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66CBC9"/>
                </a:solidFill>
                <a:latin typeface="Arial"/>
              </a:rPr>
              <a:t>SECONDARY</a:t>
            </a:r>
          </a:p>
        </p:txBody>
      </p:sp>
      <p:sp>
        <p:nvSpPr>
          <p:cNvPr id="50" name="TextBox 49"/>
          <p:cNvSpPr txBox="1"/>
          <p:nvPr/>
        </p:nvSpPr>
        <p:spPr>
          <a:xfrm>
            <a:off x="79756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us · secondary application</a:t>
            </a:r>
          </a:p>
        </p:txBody>
      </p:sp>
      <p:cxnSp>
        <p:nvCxnSpPr>
          <p:cNvPr id="51" name="Connector 50"/>
          <p:cNvCxnSpPr/>
          <p:nvPr/>
        </p:nvCxnSpPr>
        <p:spPr>
          <a:xfrm>
            <a:off x="73660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52" name="Picture 51" descr="image.png"/>
          <p:cNvPicPr>
            <a:picLocks noChangeAspect="1"/>
          </p:cNvPicPr>
          <p:nvPr/>
        </p:nvPicPr>
        <p:blipFill>
          <a:blip r:embed="rId3"/>
          <a:stretch>
            <a:fillRect/>
          </a:stretch>
        </p:blipFill>
        <p:spPr>
          <a:xfrm>
            <a:off x="7366000" y="4487207"/>
            <a:ext cx="342899" cy="334685"/>
          </a:xfrm>
          <a:prstGeom prst="rect">
            <a:avLst/>
          </a:prstGeom>
        </p:spPr>
      </p:pic>
      <p:sp>
        <p:nvSpPr>
          <p:cNvPr id="53" name="TextBox 52"/>
          <p:cNvSpPr txBox="1"/>
          <p:nvPr/>
        </p:nvSpPr>
        <p:spPr>
          <a:xfrm>
            <a:off x="78232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54" name="Picture 53" descr="image.png"/>
          <p:cNvPicPr>
            <a:picLocks noChangeAspect="1"/>
          </p:cNvPicPr>
          <p:nvPr/>
        </p:nvPicPr>
        <p:blipFill>
          <a:blip r:embed="rId4"/>
          <a:stretch>
            <a:fillRect/>
          </a:stretch>
        </p:blipFill>
        <p:spPr>
          <a:xfrm>
            <a:off x="9258300" y="4483100"/>
            <a:ext cx="342900" cy="342900"/>
          </a:xfrm>
          <a:prstGeom prst="rect">
            <a:avLst/>
          </a:prstGeom>
        </p:spPr>
      </p:pic>
      <p:sp>
        <p:nvSpPr>
          <p:cNvPr id="55" name="TextBox 54"/>
          <p:cNvSpPr txBox="1"/>
          <p:nvPr/>
        </p:nvSpPr>
        <p:spPr>
          <a:xfrm>
            <a:off x="97155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56" name="Rounded Rectangle 55"/>
          <p:cNvSpPr/>
          <p:nvPr/>
        </p:nvSpPr>
        <p:spPr>
          <a:xfrm>
            <a:off x="73660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73660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6962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cxnSp>
        <p:nvCxnSpPr>
          <p:cNvPr id="59" name="Connector 58"/>
          <p:cNvCxnSpPr/>
          <p:nvPr/>
        </p:nvCxnSpPr>
        <p:spPr>
          <a:xfrm flipH="1">
            <a:off x="2844800" y="5689600"/>
            <a:ext cx="1346200" cy="0"/>
          </a:xfrm>
          <a:prstGeom prst="line">
            <a:avLst/>
          </a:prstGeom>
          <a:ln w="19050">
            <a:solidFill>
              <a:srgbClr val="83ADFF"/>
            </a:solidFill>
            <a:prstDash val="dash"/>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844800" y="5232400"/>
            <a:ext cx="0" cy="457200"/>
          </a:xfrm>
          <a:prstGeom prst="line">
            <a:avLst/>
          </a:prstGeom>
          <a:ln w="19050">
            <a:solidFill>
              <a:srgbClr val="83ADF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001000" y="5689600"/>
            <a:ext cx="1346200" cy="0"/>
          </a:xfrm>
          <a:prstGeom prst="line">
            <a:avLst/>
          </a:prstGeom>
          <a:ln w="19050">
            <a:solidFill>
              <a:srgbClr val="66CBC9"/>
            </a:solidFill>
            <a:prstDash val="dash"/>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9347200" y="5232400"/>
            <a:ext cx="0" cy="457200"/>
          </a:xfrm>
          <a:prstGeom prst="line">
            <a:avLst/>
          </a:prstGeom>
          <a:ln w="19050">
            <a:solidFill>
              <a:srgbClr val="66CBC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863600" y="55118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DNS + HTTP</a:t>
            </a:r>
          </a:p>
        </p:txBody>
      </p:sp>
      <p:sp>
        <p:nvSpPr>
          <p:cNvPr id="64" name="TextBox 63"/>
          <p:cNvSpPr txBox="1"/>
          <p:nvPr/>
        </p:nvSpPr>
        <p:spPr>
          <a:xfrm>
            <a:off x="9626600" y="55118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DNS + HTTP</a:t>
            </a:r>
          </a:p>
        </p:txBody>
      </p:sp>
      <p:sp>
        <p:nvSpPr>
          <p:cNvPr id="65" name="Rounded Rectangle 64"/>
          <p:cNvSpPr/>
          <p:nvPr/>
        </p:nvSpPr>
        <p:spPr>
          <a:xfrm>
            <a:off x="4191000" y="5397500"/>
            <a:ext cx="3810000" cy="622300"/>
          </a:xfrm>
          <a:prstGeom prst="roundRect">
            <a:avLst>
              <a:gd name="adj" fmla="val 1632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406900" y="5524500"/>
            <a:ext cx="444500" cy="342900"/>
          </a:xfrm>
          <a:prstGeom prst="roundRect">
            <a:avLst>
              <a:gd name="adj" fmla="val 14814"/>
            </a:avLst>
          </a:prstGeom>
          <a:solidFill>
            <a:srgbClr val="1A3047"/>
          </a:solidFill>
          <a:ln w="1524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a:off x="4495800" y="56134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4495800" y="56769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4610100" y="5740400"/>
            <a:ext cx="1270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5041900" y="5461000"/>
            <a:ext cx="2730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FFFFFF"/>
                </a:solidFill>
                <a:latin typeface="Arial"/>
              </a:rPr>
              <a:t>CLI dashboard</a:t>
            </a:r>
          </a:p>
        </p:txBody>
      </p:sp>
      <p:sp>
        <p:nvSpPr>
          <p:cNvPr id="71" name="TextBox 70"/>
          <p:cNvSpPr txBox="1"/>
          <p:nvPr/>
        </p:nvSpPr>
        <p:spPr>
          <a:xfrm>
            <a:off x="5041900" y="5765800"/>
            <a:ext cx="2730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B8C8D9"/>
                </a:solidFill>
                <a:latin typeface="Arial"/>
              </a:rPr>
              <a:t>DNS · cache · HTTP responses</a:t>
            </a:r>
          </a:p>
        </p:txBody>
      </p:sp>
      <p:sp>
        <p:nvSpPr>
          <p:cNvPr id="72" name="TextBox 71"/>
          <p:cNvSpPr txBox="1"/>
          <p:nvPr/>
        </p:nvSpPr>
        <p:spPr>
          <a:xfrm>
            <a:off x="609600" y="6134100"/>
            <a:ext cx="10972800" cy="254000"/>
          </a:xfrm>
          <a:prstGeom prst="rect">
            <a:avLst/>
          </a:prstGeom>
          <a:noFill/>
        </p:spPr>
        <p:txBody>
          <a:bodyPr wrap="none" lIns="0" rIns="0" tIns="0" bIns="0" anchor="t">
            <a:noAutofit/>
          </a:bodyPr>
          <a:lstStyle/>
          <a:p>
            <a:pPr algn="ctr">
              <a:lnSpc>
                <a:spcPts val="1600"/>
              </a:lnSpc>
              <a:spcBef>
                <a:spcPts val="0"/>
              </a:spcBef>
              <a:spcAft>
                <a:spcPts val="0"/>
              </a:spcAft>
            </a:pPr>
            <a:r>
              <a:rPr sz="1600" b="1">
                <a:solidFill>
                  <a:srgbClr val="FFFFFF"/>
                </a:solidFill>
                <a:latin typeface="Arial"/>
              </a:rPr>
              <a:t>Observe A → remove A’s ready targets → watch B → restore 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2 · OPERATING K8GB</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14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new DNS answer is not an instant switch</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Detection, DNS publication and client recovery happen at different times.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28800" y="3556000"/>
            <a:ext cx="56896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8400" y="3556000"/>
            <a:ext cx="2844800" cy="0"/>
          </a:xfrm>
          <a:prstGeom prst="line">
            <a:avLst/>
          </a:prstGeom>
          <a:ln w="2540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96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FAILURE</a:t>
            </a:r>
          </a:p>
        </p:txBody>
      </p:sp>
      <p:sp>
        <p:nvSpPr>
          <p:cNvPr id="13" name="Rounded Rectangle 12"/>
          <p:cNvSpPr/>
          <p:nvPr/>
        </p:nvSpPr>
        <p:spPr>
          <a:xfrm>
            <a:off x="1447800" y="2489200"/>
            <a:ext cx="762000" cy="736600"/>
          </a:xfrm>
          <a:prstGeom prst="roundRect">
            <a:avLst>
              <a:gd name="adj" fmla="val 20689"/>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89100" y="3416300"/>
            <a:ext cx="279400" cy="279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637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01</a:t>
            </a:r>
          </a:p>
        </p:txBody>
      </p:sp>
      <p:sp>
        <p:nvSpPr>
          <p:cNvPr id="16" name="TextBox 15"/>
          <p:cNvSpPr txBox="1"/>
          <p:nvPr/>
        </p:nvSpPr>
        <p:spPr>
          <a:xfrm>
            <a:off x="6096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Workload or</a:t>
            </a:r>
          </a:p>
          <a:p>
            <a:pPr algn="ctr">
              <a:lnSpc>
                <a:spcPts val="2500"/>
              </a:lnSpc>
              <a:spcBef>
                <a:spcPts val="0"/>
              </a:spcBef>
              <a:spcAft>
                <a:spcPts val="0"/>
              </a:spcAft>
            </a:pPr>
            <a:r>
              <a:rPr sz="2000" b="0">
                <a:solidFill>
                  <a:srgbClr val="142338"/>
                </a:solidFill>
                <a:latin typeface="Arial"/>
              </a:rPr>
              <a:t>cluster fails</a:t>
            </a:r>
          </a:p>
        </p:txBody>
      </p:sp>
      <p:sp>
        <p:nvSpPr>
          <p:cNvPr id="17" name="TextBox 16"/>
          <p:cNvSpPr txBox="1"/>
          <p:nvPr/>
        </p:nvSpPr>
        <p:spPr>
          <a:xfrm>
            <a:off x="34544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2762C8"/>
                </a:solidFill>
                <a:latin typeface="Arial"/>
              </a:rPr>
              <a:t>DETECTION</a:t>
            </a:r>
          </a:p>
        </p:txBody>
      </p:sp>
      <p:sp>
        <p:nvSpPr>
          <p:cNvPr id="18" name="Rounded Rectangle 17"/>
          <p:cNvSpPr/>
          <p:nvPr/>
        </p:nvSpPr>
        <p:spPr>
          <a:xfrm>
            <a:off x="4292600" y="2489200"/>
            <a:ext cx="762000" cy="736600"/>
          </a:xfrm>
          <a:prstGeom prst="roundRect">
            <a:avLst>
              <a:gd name="adj" fmla="val 2068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33900" y="3416300"/>
            <a:ext cx="279400" cy="279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85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02</a:t>
            </a:r>
          </a:p>
        </p:txBody>
      </p:sp>
      <p:sp>
        <p:nvSpPr>
          <p:cNvPr id="21" name="TextBox 20"/>
          <p:cNvSpPr txBox="1"/>
          <p:nvPr/>
        </p:nvSpPr>
        <p:spPr>
          <a:xfrm>
            <a:off x="34544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Readiness +</a:t>
            </a:r>
          </a:p>
          <a:p>
            <a:pPr algn="ctr">
              <a:lnSpc>
                <a:spcPts val="2500"/>
              </a:lnSpc>
              <a:spcBef>
                <a:spcPts val="0"/>
              </a:spcBef>
              <a:spcAft>
                <a:spcPts val="0"/>
              </a:spcAft>
            </a:pPr>
            <a:r>
              <a:rPr sz="2000" b="0">
                <a:solidFill>
                  <a:srgbClr val="142338"/>
                </a:solidFill>
                <a:latin typeface="Arial"/>
              </a:rPr>
              <a:t>reconciliation</a:t>
            </a:r>
          </a:p>
        </p:txBody>
      </p:sp>
      <p:sp>
        <p:nvSpPr>
          <p:cNvPr id="22" name="TextBox 21"/>
          <p:cNvSpPr txBox="1"/>
          <p:nvPr/>
        </p:nvSpPr>
        <p:spPr>
          <a:xfrm>
            <a:off x="62992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PUBLICATION</a:t>
            </a:r>
          </a:p>
        </p:txBody>
      </p:sp>
      <p:sp>
        <p:nvSpPr>
          <p:cNvPr id="23" name="Rounded Rectangle 22"/>
          <p:cNvSpPr/>
          <p:nvPr/>
        </p:nvSpPr>
        <p:spPr>
          <a:xfrm>
            <a:off x="7137400" y="2489200"/>
            <a:ext cx="762000" cy="736600"/>
          </a:xfrm>
          <a:prstGeom prst="roundRect">
            <a:avLst>
              <a:gd name="adj" fmla="val 2068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78700" y="3416300"/>
            <a:ext cx="279400" cy="2794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533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03</a:t>
            </a:r>
          </a:p>
        </p:txBody>
      </p:sp>
      <p:sp>
        <p:nvSpPr>
          <p:cNvPr id="26" name="TextBox 25"/>
          <p:cNvSpPr txBox="1"/>
          <p:nvPr/>
        </p:nvSpPr>
        <p:spPr>
          <a:xfrm>
            <a:off x="62992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Authority serves</a:t>
            </a:r>
          </a:p>
          <a:p>
            <a:pPr algn="ctr">
              <a:lnSpc>
                <a:spcPts val="2500"/>
              </a:lnSpc>
              <a:spcBef>
                <a:spcPts val="0"/>
              </a:spcBef>
              <a:spcAft>
                <a:spcPts val="0"/>
              </a:spcAft>
            </a:pPr>
            <a:r>
              <a:rPr sz="2000" b="0">
                <a:solidFill>
                  <a:srgbClr val="142338"/>
                </a:solidFill>
                <a:latin typeface="Arial"/>
              </a:rPr>
              <a:t>new answer</a:t>
            </a:r>
          </a:p>
        </p:txBody>
      </p:sp>
      <p:sp>
        <p:nvSpPr>
          <p:cNvPr id="27" name="TextBox 26"/>
          <p:cNvSpPr txBox="1"/>
          <p:nvPr/>
        </p:nvSpPr>
        <p:spPr>
          <a:xfrm>
            <a:off x="91440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CLIENT</a:t>
            </a:r>
          </a:p>
        </p:txBody>
      </p:sp>
      <p:sp>
        <p:nvSpPr>
          <p:cNvPr id="28" name="Rounded Rectangle 27"/>
          <p:cNvSpPr/>
          <p:nvPr/>
        </p:nvSpPr>
        <p:spPr>
          <a:xfrm>
            <a:off x="9982200" y="2489200"/>
            <a:ext cx="762000" cy="736600"/>
          </a:xfrm>
          <a:prstGeom prst="roundRect">
            <a:avLst>
              <a:gd name="adj" fmla="val 20689"/>
            </a:avLst>
          </a:prstGeom>
          <a:solidFill>
            <a:srgbClr val="E9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23500" y="3416300"/>
            <a:ext cx="279400" cy="279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981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04</a:t>
            </a:r>
          </a:p>
        </p:txBody>
      </p:sp>
      <p:sp>
        <p:nvSpPr>
          <p:cNvPr id="31" name="TextBox 30"/>
          <p:cNvSpPr txBox="1"/>
          <p:nvPr/>
        </p:nvSpPr>
        <p:spPr>
          <a:xfrm>
            <a:off x="91440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Cache refresh +</a:t>
            </a:r>
          </a:p>
          <a:p>
            <a:pPr algn="ctr">
              <a:lnSpc>
                <a:spcPts val="2500"/>
              </a:lnSpc>
              <a:spcBef>
                <a:spcPts val="0"/>
              </a:spcBef>
              <a:spcAft>
                <a:spcPts val="0"/>
              </a:spcAft>
            </a:pPr>
            <a:r>
              <a:rPr sz="2000" b="0">
                <a:solidFill>
                  <a:srgbClr val="142338"/>
                </a:solidFill>
                <a:latin typeface="Arial"/>
              </a:rPr>
              <a:t>connection retries</a:t>
            </a:r>
          </a:p>
        </p:txBody>
      </p:sp>
      <p:cxnSp>
        <p:nvCxnSpPr>
          <p:cNvPr id="32" name="Connector 31"/>
          <p:cNvCxnSpPr/>
          <p:nvPr/>
        </p:nvCxnSpPr>
        <p:spPr>
          <a:xfrm>
            <a:off x="18288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600200" y="3035300"/>
            <a:ext cx="457200" cy="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6002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828800" y="2768600"/>
            <a:ext cx="0" cy="1397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1811020" y="2954020"/>
            <a:ext cx="35560" cy="3556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419600" y="2667000"/>
            <a:ext cx="508000" cy="368300"/>
          </a:xfrm>
          <a:prstGeom prst="roundRect">
            <a:avLst>
              <a:gd name="adj" fmla="val 13793"/>
            </a:avLst>
          </a:prstGeom>
          <a:solidFill>
            <a:srgbClr val="FFFFFF"/>
          </a:solidFill>
          <a:ln w="1905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4470400" y="2870200"/>
            <a:ext cx="889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559300" y="2768600"/>
            <a:ext cx="508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610100" y="2768600"/>
            <a:ext cx="76200" cy="1778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686300" y="2832100"/>
            <a:ext cx="63500" cy="1143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49800" y="2832100"/>
            <a:ext cx="1270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pic>
        <p:nvPicPr>
          <p:cNvPr id="43" name="Picture 42" descr="image.png"/>
          <p:cNvPicPr>
            <a:picLocks noChangeAspect="1"/>
          </p:cNvPicPr>
          <p:nvPr/>
        </p:nvPicPr>
        <p:blipFill>
          <a:blip r:embed="rId2"/>
          <a:stretch>
            <a:fillRect/>
          </a:stretch>
        </p:blipFill>
        <p:spPr>
          <a:xfrm>
            <a:off x="7277100" y="2616200"/>
            <a:ext cx="482600" cy="482600"/>
          </a:xfrm>
          <a:prstGeom prst="rect">
            <a:avLst/>
          </a:prstGeom>
        </p:spPr>
      </p:pic>
      <p:sp>
        <p:nvSpPr>
          <p:cNvPr id="44" name="Rounded Rectangle 43"/>
          <p:cNvSpPr/>
          <p:nvPr/>
        </p:nvSpPr>
        <p:spPr>
          <a:xfrm>
            <a:off x="10109200" y="2654300"/>
            <a:ext cx="508000" cy="393700"/>
          </a:xfrm>
          <a:prstGeom prst="roundRect">
            <a:avLst>
              <a:gd name="adj" fmla="val 12903"/>
            </a:avLst>
          </a:prstGeom>
          <a:solidFill>
            <a:srgbClr val="FFFFFF"/>
          </a:solidFill>
          <a:ln w="19050">
            <a:solidFill>
              <a:srgbClr val="1423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10109200" y="2768600"/>
            <a:ext cx="508000" cy="0"/>
          </a:xfrm>
          <a:prstGeom prst="line">
            <a:avLst/>
          </a:prstGeom>
          <a:ln w="13970">
            <a:solidFill>
              <a:srgbClr val="14233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10172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2362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299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10223500" y="2908300"/>
            <a:ext cx="76200" cy="508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299700" y="2844800"/>
            <a:ext cx="165100" cy="1143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128000" y="3124200"/>
            <a:ext cx="16256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087F85"/>
                </a:solidFill>
                <a:latin typeface="Arial"/>
              </a:rPr>
              <a:t>CLIENT DELAY</a:t>
            </a:r>
          </a:p>
        </p:txBody>
      </p:sp>
      <p:sp>
        <p:nvSpPr>
          <p:cNvPr id="52" name="Oval 51"/>
          <p:cNvSpPr/>
          <p:nvPr/>
        </p:nvSpPr>
        <p:spPr>
          <a:xfrm>
            <a:off x="8788400" y="3403600"/>
            <a:ext cx="304800" cy="304800"/>
          </a:xfrm>
          <a:prstGeom prst="ellipse">
            <a:avLst/>
          </a:prstGeom>
          <a:solidFill>
            <a:srgbClr val="F8FAFC"/>
          </a:solidFill>
          <a:ln w="1905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8940800" y="3454400"/>
            <a:ext cx="0" cy="1016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940800" y="3556000"/>
            <a:ext cx="76200" cy="381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09600" y="4953000"/>
            <a:ext cx="52832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TIMING VARIES</a:t>
            </a:r>
          </a:p>
        </p:txBody>
      </p:sp>
      <p:sp>
        <p:nvSpPr>
          <p:cNvPr id="56" name="TextBox 55"/>
          <p:cNvSpPr txBox="1"/>
          <p:nvPr/>
        </p:nvSpPr>
        <p:spPr>
          <a:xfrm>
            <a:off x="609600" y="5168900"/>
            <a:ext cx="5283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Readiness · reconciliation · caches · retries</a:t>
            </a:r>
          </a:p>
        </p:txBody>
      </p:sp>
      <p:sp>
        <p:nvSpPr>
          <p:cNvPr id="57" name="Rounded Rectangle 56"/>
          <p:cNvSpPr/>
          <p:nvPr/>
        </p:nvSpPr>
        <p:spPr>
          <a:xfrm>
            <a:off x="6299200" y="4953000"/>
            <a:ext cx="5283200" cy="533400"/>
          </a:xfrm>
          <a:prstGeom prst="roundRect">
            <a:avLst>
              <a:gd name="adj" fmla="val 16666"/>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77000" y="5105400"/>
            <a:ext cx="49276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087F85"/>
                </a:solidFill>
                <a:latin typeface="Arial"/>
              </a:rPr>
              <a:t>New DNS answer ≠ recovered clients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Measure recovery at the resolver and application.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OPERATING K8GB · APPLICATION READINESS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15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Readiness must reflect the real operation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Kubernetes runs Pod probes. k8gb consumes EndpointSlice readiness.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96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74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2762C8"/>
                </a:solidFill>
                <a:latin typeface="Courier New"/>
              </a:rPr>
              <a:t>readinessProbe</a:t>
            </a:r>
          </a:p>
        </p:txBody>
      </p:sp>
      <p:sp>
        <p:nvSpPr>
          <p:cNvPr id="13" name="TextBox 12"/>
          <p:cNvSpPr txBox="1"/>
          <p:nvPr/>
        </p:nvSpPr>
        <p:spPr>
          <a:xfrm>
            <a:off x="7874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Application-defined check</a:t>
            </a:r>
          </a:p>
        </p:txBody>
      </p:sp>
      <p:cxnSp>
        <p:nvCxnSpPr>
          <p:cNvPr id="14" name="Connector 13"/>
          <p:cNvCxnSpPr/>
          <p:nvPr/>
        </p:nvCxnSpPr>
        <p:spPr>
          <a:xfrm>
            <a:off x="31242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4290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290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68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2762C8"/>
                </a:solidFill>
                <a:latin typeface="Arial"/>
              </a:rPr>
              <a:t>Pod Ready</a:t>
            </a:r>
          </a:p>
        </p:txBody>
      </p:sp>
      <p:sp>
        <p:nvSpPr>
          <p:cNvPr id="18" name="TextBox 17"/>
          <p:cNvSpPr txBox="1"/>
          <p:nvPr/>
        </p:nvSpPr>
        <p:spPr>
          <a:xfrm>
            <a:off x="36068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Kubernetes condition</a:t>
            </a:r>
          </a:p>
        </p:txBody>
      </p:sp>
      <p:cxnSp>
        <p:nvCxnSpPr>
          <p:cNvPr id="19" name="Connector 18"/>
          <p:cNvCxnSpPr/>
          <p:nvPr/>
        </p:nvCxnSpPr>
        <p:spPr>
          <a:xfrm>
            <a:off x="59436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484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8400" y="2032000"/>
            <a:ext cx="50800" cy="9144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62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087F85"/>
                </a:solidFill>
                <a:latin typeface="Arial"/>
              </a:rPr>
              <a:t>EndpointSlice</a:t>
            </a:r>
          </a:p>
        </p:txBody>
      </p:sp>
      <p:sp>
        <p:nvSpPr>
          <p:cNvPr id="23" name="TextBox 22"/>
          <p:cNvSpPr txBox="1"/>
          <p:nvPr/>
        </p:nvSpPr>
        <p:spPr>
          <a:xfrm>
            <a:off x="64262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Service endpoint readiness</a:t>
            </a:r>
          </a:p>
        </p:txBody>
      </p:sp>
      <p:cxnSp>
        <p:nvCxnSpPr>
          <p:cNvPr id="24" name="Connector 23"/>
          <p:cNvCxnSpPr/>
          <p:nvPr/>
        </p:nvCxnSpPr>
        <p:spPr>
          <a:xfrm>
            <a:off x="8763000" y="2489200"/>
            <a:ext cx="3048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678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67800" y="2032000"/>
            <a:ext cx="50800" cy="9144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456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CF0035"/>
                </a:solidFill>
                <a:latin typeface="Arial"/>
              </a:rPr>
              <a:t>Gslb targets</a:t>
            </a:r>
          </a:p>
        </p:txBody>
      </p:sp>
      <p:sp>
        <p:nvSpPr>
          <p:cNvPr id="28" name="TextBox 27"/>
          <p:cNvSpPr txBox="1"/>
          <p:nvPr/>
        </p:nvSpPr>
        <p:spPr>
          <a:xfrm>
            <a:off x="92456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Readiness + traffic strategy</a:t>
            </a:r>
          </a:p>
        </p:txBody>
      </p:sp>
      <p:sp>
        <p:nvSpPr>
          <p:cNvPr id="29" name="Rounded Rectangle 28"/>
          <p:cNvSpPr/>
          <p:nvPr/>
        </p:nvSpPr>
        <p:spPr>
          <a:xfrm>
            <a:off x="609600" y="3340100"/>
            <a:ext cx="3632200" cy="2286000"/>
          </a:xfrm>
          <a:prstGeom prst="roundRect">
            <a:avLst>
              <a:gd name="adj" fmla="val 5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3600" y="3568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177C58"/>
                </a:solidFill>
                <a:latin typeface="Arial"/>
              </a:rPr>
              <a:t>HEALTH ENDPOINT</a:t>
            </a:r>
          </a:p>
        </p:txBody>
      </p:sp>
      <p:sp>
        <p:nvSpPr>
          <p:cNvPr id="31" name="TextBox 30"/>
          <p:cNvSpPr txBox="1"/>
          <p:nvPr/>
        </p:nvSpPr>
        <p:spPr>
          <a:xfrm>
            <a:off x="863600" y="3949700"/>
            <a:ext cx="3124200" cy="359409"/>
          </a:xfrm>
          <a:prstGeom prst="rect">
            <a:avLst/>
          </a:prstGeom>
          <a:noFill/>
        </p:spPr>
        <p:txBody>
          <a:bodyPr wrap="none" lIns="0" rIns="0" tIns="0" bIns="0" anchor="t">
            <a:noAutofit/>
          </a:bodyPr>
          <a:lstStyle/>
          <a:p>
            <a:pPr algn="l">
              <a:lnSpc>
                <a:spcPts val="2529"/>
              </a:lnSpc>
              <a:spcBef>
                <a:spcPts val="0"/>
              </a:spcBef>
              <a:spcAft>
                <a:spcPts val="0"/>
              </a:spcAft>
            </a:pPr>
            <a:r>
              <a:rPr sz="2200" b="0">
                <a:solidFill>
                  <a:srgbClr val="142338"/>
                </a:solidFill>
                <a:latin typeface="Courier New"/>
              </a:rPr>
              <a:t>GET /healthz</a:t>
            </a:r>
          </a:p>
        </p:txBody>
      </p:sp>
      <p:sp>
        <p:nvSpPr>
          <p:cNvPr id="32" name="Rounded Rectangle 31"/>
          <p:cNvSpPr/>
          <p:nvPr/>
        </p:nvSpPr>
        <p:spPr>
          <a:xfrm>
            <a:off x="863600" y="4457700"/>
            <a:ext cx="16510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7100" y="4508500"/>
            <a:ext cx="15240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77C58"/>
                </a:solidFill>
                <a:latin typeface="Arial"/>
              </a:rPr>
              <a:t>HTTP 200</a:t>
            </a:r>
          </a:p>
        </p:txBody>
      </p:sp>
      <p:sp>
        <p:nvSpPr>
          <p:cNvPr id="34" name="TextBox 33"/>
          <p:cNvSpPr txBox="1"/>
          <p:nvPr/>
        </p:nvSpPr>
        <p:spPr>
          <a:xfrm>
            <a:off x="863600" y="5130800"/>
            <a:ext cx="3124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The shallow check passes.</a:t>
            </a:r>
          </a:p>
        </p:txBody>
      </p:sp>
      <p:sp>
        <p:nvSpPr>
          <p:cNvPr id="35" name="Rounded Rectangle 34"/>
          <p:cNvSpPr/>
          <p:nvPr/>
        </p:nvSpPr>
        <p:spPr>
          <a:xfrm>
            <a:off x="4572000" y="3340100"/>
            <a:ext cx="7010400" cy="2286000"/>
          </a:xfrm>
          <a:prstGeom prst="roundRect">
            <a:avLst>
              <a:gd name="adj" fmla="val 5000"/>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26000" y="3568700"/>
            <a:ext cx="6477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REAL REQUEST</a:t>
            </a:r>
          </a:p>
        </p:txBody>
      </p:sp>
      <p:sp>
        <p:nvSpPr>
          <p:cNvPr id="37" name="TextBox 36"/>
          <p:cNvSpPr txBox="1"/>
          <p:nvPr/>
        </p:nvSpPr>
        <p:spPr>
          <a:xfrm>
            <a:off x="4826000" y="3873500"/>
            <a:ext cx="64770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FFFFFF"/>
                </a:solidFill>
                <a:latin typeface="Arial"/>
              </a:rPr>
              <a:t>Payment cannot be saved</a:t>
            </a:r>
          </a:p>
        </p:txBody>
      </p:sp>
      <p:sp>
        <p:nvSpPr>
          <p:cNvPr id="38" name="Rounded Rectangle 37"/>
          <p:cNvSpPr/>
          <p:nvPr/>
        </p:nvSpPr>
        <p:spPr>
          <a:xfrm>
            <a:off x="48260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038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Payment API</a:t>
            </a:r>
          </a:p>
        </p:txBody>
      </p:sp>
      <p:sp>
        <p:nvSpPr>
          <p:cNvPr id="40" name="TextBox 39"/>
          <p:cNvSpPr txBox="1"/>
          <p:nvPr/>
        </p:nvSpPr>
        <p:spPr>
          <a:xfrm>
            <a:off x="50038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2762C8"/>
                </a:solidFill>
                <a:latin typeface="Courier New"/>
              </a:rPr>
              <a:t>POST /payments</a:t>
            </a:r>
          </a:p>
        </p:txBody>
      </p:sp>
      <p:sp>
        <p:nvSpPr>
          <p:cNvPr id="41" name="Rounded Rectangle 40"/>
          <p:cNvSpPr/>
          <p:nvPr/>
        </p:nvSpPr>
        <p:spPr>
          <a:xfrm>
            <a:off x="88646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424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Database</a:t>
            </a:r>
          </a:p>
        </p:txBody>
      </p:sp>
      <p:sp>
        <p:nvSpPr>
          <p:cNvPr id="43" name="TextBox 42"/>
          <p:cNvSpPr txBox="1"/>
          <p:nvPr/>
        </p:nvSpPr>
        <p:spPr>
          <a:xfrm>
            <a:off x="90424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CF0035"/>
                </a:solidFill>
                <a:latin typeface="Arial"/>
              </a:rPr>
              <a:t>READ-ONLY</a:t>
            </a:r>
          </a:p>
        </p:txBody>
      </p:sp>
      <p:sp>
        <p:nvSpPr>
          <p:cNvPr id="44" name="TextBox 43"/>
          <p:cNvSpPr txBox="1"/>
          <p:nvPr/>
        </p:nvSpPr>
        <p:spPr>
          <a:xfrm>
            <a:off x="7480300" y="44323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WRITE</a:t>
            </a:r>
          </a:p>
        </p:txBody>
      </p:sp>
      <p:cxnSp>
        <p:nvCxnSpPr>
          <p:cNvPr id="45" name="Connector 44"/>
          <p:cNvCxnSpPr/>
          <p:nvPr/>
        </p:nvCxnSpPr>
        <p:spPr>
          <a:xfrm>
            <a:off x="7264400" y="4826000"/>
            <a:ext cx="622300" cy="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242300" y="4826000"/>
            <a:ext cx="622300" cy="0"/>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826000" y="5321300"/>
            <a:ext cx="6477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Replication and safe writer ownership belong to the application.</a:t>
            </a:r>
          </a:p>
        </p:txBody>
      </p:sp>
      <p:sp>
        <p:nvSpPr>
          <p:cNvPr id="50" name="Rounded Rectangle 4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k8gb steers traffic. The application must be ready to serve.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THE DANGEROUS EDGE CASE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16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A partition can create two correct-looking answers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Both applications are ready. Clients can still reach both DNS authorities.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10" name="Rounded Rectangle 9"/>
          <p:cNvSpPr/>
          <p:nvPr/>
        </p:nvSpPr>
        <p:spPr>
          <a:xfrm>
            <a:off x="6096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89000" y="2146300"/>
            <a:ext cx="4343400" cy="0"/>
          </a:xfrm>
          <a:prstGeom prst="line">
            <a:avLst/>
          </a:prstGeom>
          <a:ln w="38100">
            <a:solidFill>
              <a:srgbClr val="78A5FA"/>
            </a:solidFill>
          </a:ln>
        </p:spPr>
        <p:style>
          <a:lnRef idx="2">
            <a:schemeClr val="accent1"/>
          </a:lnRef>
          <a:fillRef idx="0">
            <a:schemeClr val="accent1"/>
          </a:fillRef>
          <a:effectRef idx="1">
            <a:schemeClr val="accent1"/>
          </a:effectRef>
          <a:fontRef idx="minor">
            <a:schemeClr val="tx1"/>
          </a:fontRef>
        </p:style>
      </p:cxnSp>
      <p:pic>
        <p:nvPicPr>
          <p:cNvPr id="12" name="Picture 11" descr="image.png"/>
          <p:cNvPicPr>
            <a:picLocks noChangeAspect="1"/>
          </p:cNvPicPr>
          <p:nvPr/>
        </p:nvPicPr>
        <p:blipFill>
          <a:blip r:embed="rId2"/>
          <a:stretch>
            <a:fillRect/>
          </a:stretch>
        </p:blipFill>
        <p:spPr>
          <a:xfrm>
            <a:off x="889000" y="2374900"/>
            <a:ext cx="546100" cy="546100"/>
          </a:xfrm>
          <a:prstGeom prst="rect">
            <a:avLst/>
          </a:prstGeom>
        </p:spPr>
      </p:pic>
      <p:sp>
        <p:nvSpPr>
          <p:cNvPr id="13" name="TextBox 12"/>
          <p:cNvSpPr txBox="1"/>
          <p:nvPr/>
        </p:nvSpPr>
        <p:spPr>
          <a:xfrm>
            <a:off x="16129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A</a:t>
            </a:r>
          </a:p>
        </p:txBody>
      </p:sp>
      <p:sp>
        <p:nvSpPr>
          <p:cNvPr id="14" name="TextBox 13"/>
          <p:cNvSpPr txBox="1"/>
          <p:nvPr/>
        </p:nvSpPr>
        <p:spPr>
          <a:xfrm>
            <a:off x="8890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PRIMARY APPLICATION</a:t>
            </a:r>
          </a:p>
        </p:txBody>
      </p:sp>
      <p:sp>
        <p:nvSpPr>
          <p:cNvPr id="15" name="Rounded Rectangle 14"/>
          <p:cNvSpPr/>
          <p:nvPr/>
        </p:nvSpPr>
        <p:spPr>
          <a:xfrm>
            <a:off x="38100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735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17" name="Rounded Rectangle 16"/>
          <p:cNvSpPr/>
          <p:nvPr/>
        </p:nvSpPr>
        <p:spPr>
          <a:xfrm>
            <a:off x="8890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3"/>
          <a:stretch>
            <a:fillRect/>
          </a:stretch>
        </p:blipFill>
        <p:spPr>
          <a:xfrm>
            <a:off x="1016000" y="3725663"/>
            <a:ext cx="381000" cy="371872"/>
          </a:xfrm>
          <a:prstGeom prst="rect">
            <a:avLst/>
          </a:prstGeom>
        </p:spPr>
      </p:pic>
      <p:sp>
        <p:nvSpPr>
          <p:cNvPr id="19" name="TextBox 18"/>
          <p:cNvSpPr txBox="1"/>
          <p:nvPr/>
        </p:nvSpPr>
        <p:spPr>
          <a:xfrm>
            <a:off x="15240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20" name="Connector 19"/>
          <p:cNvCxnSpPr/>
          <p:nvPr/>
        </p:nvCxnSpPr>
        <p:spPr>
          <a:xfrm>
            <a:off x="2489200" y="3924300"/>
            <a:ext cx="762000" cy="0"/>
          </a:xfrm>
          <a:prstGeom prst="line">
            <a:avLst/>
          </a:prstGeom>
          <a:ln w="2286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2512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png"/>
          <p:cNvPicPr>
            <a:picLocks noChangeAspect="1"/>
          </p:cNvPicPr>
          <p:nvPr/>
        </p:nvPicPr>
        <p:blipFill>
          <a:blip r:embed="rId4"/>
          <a:stretch>
            <a:fillRect/>
          </a:stretch>
        </p:blipFill>
        <p:spPr>
          <a:xfrm>
            <a:off x="3378200" y="3721100"/>
            <a:ext cx="381000" cy="381000"/>
          </a:xfrm>
          <a:prstGeom prst="rect">
            <a:avLst/>
          </a:prstGeom>
        </p:spPr>
      </p:pic>
      <p:sp>
        <p:nvSpPr>
          <p:cNvPr id="23" name="TextBox 22"/>
          <p:cNvSpPr txBox="1"/>
          <p:nvPr/>
        </p:nvSpPr>
        <p:spPr>
          <a:xfrm>
            <a:off x="38862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24" name="Connector 23"/>
          <p:cNvCxnSpPr/>
          <p:nvPr/>
        </p:nvCxnSpPr>
        <p:spPr>
          <a:xfrm>
            <a:off x="4241800" y="4241800"/>
            <a:ext cx="0" cy="241300"/>
          </a:xfrm>
          <a:prstGeom prst="line">
            <a:avLst/>
          </a:prstGeom>
          <a:ln w="1905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AUTHORITATIVE ANSWER</a:t>
            </a:r>
          </a:p>
        </p:txBody>
      </p:sp>
      <p:sp>
        <p:nvSpPr>
          <p:cNvPr id="27" name="TextBox 26"/>
          <p:cNvSpPr txBox="1"/>
          <p:nvPr/>
        </p:nvSpPr>
        <p:spPr>
          <a:xfrm>
            <a:off x="10922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A</a:t>
            </a:r>
          </a:p>
        </p:txBody>
      </p:sp>
      <p:sp>
        <p:nvSpPr>
          <p:cNvPr id="28" name="Oval 27"/>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30" name="Rounded Rectangle 29"/>
          <p:cNvSpPr/>
          <p:nvPr/>
        </p:nvSpPr>
        <p:spPr>
          <a:xfrm>
            <a:off x="66802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6959600" y="2146300"/>
            <a:ext cx="4343400" cy="0"/>
          </a:xfrm>
          <a:prstGeom prst="line">
            <a:avLst/>
          </a:prstGeom>
          <a:ln w="38100">
            <a:solidFill>
              <a:srgbClr val="6DD3CE"/>
            </a:solidFill>
          </a:ln>
        </p:spPr>
        <p:style>
          <a:lnRef idx="2">
            <a:schemeClr val="accent1"/>
          </a:lnRef>
          <a:fillRef idx="0">
            <a:schemeClr val="accent1"/>
          </a:fillRef>
          <a:effectRef idx="1">
            <a:schemeClr val="accent1"/>
          </a:effectRef>
          <a:fontRef idx="minor">
            <a:schemeClr val="tx1"/>
          </a:fontRef>
        </p:style>
      </p:cxnSp>
      <p:pic>
        <p:nvPicPr>
          <p:cNvPr id="32" name="Picture 31" descr="image.png"/>
          <p:cNvPicPr>
            <a:picLocks noChangeAspect="1"/>
          </p:cNvPicPr>
          <p:nvPr/>
        </p:nvPicPr>
        <p:blipFill>
          <a:blip r:embed="rId2"/>
          <a:stretch>
            <a:fillRect/>
          </a:stretch>
        </p:blipFill>
        <p:spPr>
          <a:xfrm>
            <a:off x="6959600" y="2374900"/>
            <a:ext cx="546100" cy="546100"/>
          </a:xfrm>
          <a:prstGeom prst="rect">
            <a:avLst/>
          </a:prstGeom>
        </p:spPr>
      </p:pic>
      <p:sp>
        <p:nvSpPr>
          <p:cNvPr id="33" name="TextBox 32"/>
          <p:cNvSpPr txBox="1"/>
          <p:nvPr/>
        </p:nvSpPr>
        <p:spPr>
          <a:xfrm>
            <a:off x="76835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B</a:t>
            </a:r>
          </a:p>
        </p:txBody>
      </p:sp>
      <p:sp>
        <p:nvSpPr>
          <p:cNvPr id="34" name="TextBox 33"/>
          <p:cNvSpPr txBox="1"/>
          <p:nvPr/>
        </p:nvSpPr>
        <p:spPr>
          <a:xfrm>
            <a:off x="69596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SECONDARY APPLICATION</a:t>
            </a:r>
          </a:p>
        </p:txBody>
      </p:sp>
      <p:sp>
        <p:nvSpPr>
          <p:cNvPr id="35" name="Rounded Rectangle 34"/>
          <p:cNvSpPr/>
          <p:nvPr/>
        </p:nvSpPr>
        <p:spPr>
          <a:xfrm>
            <a:off x="98806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441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37" name="Rounded Rectangle 36"/>
          <p:cNvSpPr/>
          <p:nvPr/>
        </p:nvSpPr>
        <p:spPr>
          <a:xfrm>
            <a:off x="69596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3"/>
          <a:stretch>
            <a:fillRect/>
          </a:stretch>
        </p:blipFill>
        <p:spPr>
          <a:xfrm>
            <a:off x="7086600" y="3725663"/>
            <a:ext cx="381000" cy="371872"/>
          </a:xfrm>
          <a:prstGeom prst="rect">
            <a:avLst/>
          </a:prstGeom>
        </p:spPr>
      </p:pic>
      <p:sp>
        <p:nvSpPr>
          <p:cNvPr id="39" name="TextBox 38"/>
          <p:cNvSpPr txBox="1"/>
          <p:nvPr/>
        </p:nvSpPr>
        <p:spPr>
          <a:xfrm>
            <a:off x="75946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40" name="Connector 39"/>
          <p:cNvCxnSpPr/>
          <p:nvPr/>
        </p:nvCxnSpPr>
        <p:spPr>
          <a:xfrm>
            <a:off x="8559800" y="3924300"/>
            <a:ext cx="762000" cy="0"/>
          </a:xfrm>
          <a:prstGeom prst="line">
            <a:avLst/>
          </a:prstGeom>
          <a:ln w="2286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3218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4"/>
          <a:stretch>
            <a:fillRect/>
          </a:stretch>
        </p:blipFill>
        <p:spPr>
          <a:xfrm>
            <a:off x="9448800" y="3721100"/>
            <a:ext cx="381000" cy="381000"/>
          </a:xfrm>
          <a:prstGeom prst="rect">
            <a:avLst/>
          </a:prstGeom>
        </p:spPr>
      </p:pic>
      <p:sp>
        <p:nvSpPr>
          <p:cNvPr id="43" name="TextBox 42"/>
          <p:cNvSpPr txBox="1"/>
          <p:nvPr/>
        </p:nvSpPr>
        <p:spPr>
          <a:xfrm>
            <a:off x="99568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44" name="Connector 43"/>
          <p:cNvCxnSpPr/>
          <p:nvPr/>
        </p:nvCxnSpPr>
        <p:spPr>
          <a:xfrm>
            <a:off x="10312400" y="4241800"/>
            <a:ext cx="0" cy="241300"/>
          </a:xfrm>
          <a:prstGeom prst="line">
            <a:avLst/>
          </a:prstGeom>
          <a:ln w="190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AUTHORITATIVE ANSWER</a:t>
            </a:r>
          </a:p>
        </p:txBody>
      </p:sp>
      <p:sp>
        <p:nvSpPr>
          <p:cNvPr id="47" name="TextBox 46"/>
          <p:cNvSpPr txBox="1"/>
          <p:nvPr/>
        </p:nvSpPr>
        <p:spPr>
          <a:xfrm>
            <a:off x="71628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B</a:t>
            </a:r>
          </a:p>
        </p:txBody>
      </p:sp>
      <p:sp>
        <p:nvSpPr>
          <p:cNvPr id="48" name="Oval 47"/>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50" name="Connector 49"/>
          <p:cNvCxnSpPr/>
          <p:nvPr/>
        </p:nvCxnSpPr>
        <p:spPr>
          <a:xfrm flipH="1">
            <a:off x="5232400" y="3924300"/>
            <a:ext cx="1727200" cy="0"/>
          </a:xfrm>
          <a:prstGeom prst="line">
            <a:avLst/>
          </a:prstGeom>
          <a:ln w="25400">
            <a:solidFill>
              <a:srgbClr val="F79BB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511800" y="34925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PEER QUERY</a:t>
            </a:r>
          </a:p>
        </p:txBody>
      </p:sp>
      <p:sp>
        <p:nvSpPr>
          <p:cNvPr id="52" name="Oval 51"/>
          <p:cNvSpPr/>
          <p:nvPr/>
        </p:nvSpPr>
        <p:spPr>
          <a:xfrm>
            <a:off x="5930900" y="3759200"/>
            <a:ext cx="330200" cy="330200"/>
          </a:xfrm>
          <a:prstGeom prst="ellipse">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842000" y="4635500"/>
            <a:ext cx="508000" cy="476250"/>
          </a:xfrm>
          <a:prstGeom prst="rect">
            <a:avLst/>
          </a:prstGeom>
          <a:noFill/>
        </p:spPr>
        <p:txBody>
          <a:bodyPr wrap="none" lIns="0" rIns="0" tIns="0" bIns="0" anchor="t">
            <a:noAutofit/>
          </a:bodyPr>
          <a:lstStyle/>
          <a:p>
            <a:pPr algn="ctr">
              <a:lnSpc>
                <a:spcPts val="3450"/>
              </a:lnSpc>
              <a:spcBef>
                <a:spcPts val="0"/>
              </a:spcBef>
              <a:spcAft>
                <a:spcPts val="0"/>
              </a:spcAft>
            </a:pPr>
            <a:r>
              <a:rPr sz="3000" b="1">
                <a:solidFill>
                  <a:srgbClr val="F79BB0"/>
                </a:solidFill>
                <a:latin typeface="Arial"/>
              </a:rPr>
              <a:t>≠</a:t>
            </a:r>
          </a:p>
        </p:txBody>
      </p:sp>
      <p:sp>
        <p:nvSpPr>
          <p:cNvPr id="56" name="TextBox 55"/>
          <p:cNvSpPr txBox="1"/>
          <p:nvPr/>
        </p:nvSpPr>
        <p:spPr>
          <a:xfrm>
            <a:off x="1625600" y="5524500"/>
            <a:ext cx="8940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F79BB0"/>
                </a:solidFill>
                <a:latin typeface="Arial"/>
              </a:rPr>
              <a:t>B cannot obtain A’s peer-health answer.</a:t>
            </a:r>
          </a:p>
        </p:txBody>
      </p:sp>
      <p:sp>
        <p:nvSpPr>
          <p:cNvPr id="57" name="Rounded Rectangle 56"/>
          <p:cNvSpPr/>
          <p:nvPr/>
        </p:nvSpPr>
        <p:spPr>
          <a:xfrm>
            <a:off x="609600" y="5930900"/>
            <a:ext cx="10972800" cy="457200"/>
          </a:xfrm>
          <a:prstGeom prst="roundRect">
            <a:avLst>
              <a:gd name="adj" fmla="val 13888"/>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7400" y="60071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A failed health query does not prove the application is down.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OBSERVABILITY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17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Compare the answers your users can receive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During a partition, compare the same hostname from each viewpoint.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19300"/>
            <a:ext cx="6756400" cy="3581400"/>
          </a:xfrm>
          <a:prstGeom prst="roundRect">
            <a:avLst>
              <a:gd name="adj" fmla="val 319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9000" y="2247900"/>
            <a:ext cx="6197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ILLUSTRATIVE PARTITION</a:t>
            </a:r>
          </a:p>
        </p:txBody>
      </p:sp>
      <p:sp>
        <p:nvSpPr>
          <p:cNvPr id="12" name="Rounded Rectangle 11"/>
          <p:cNvSpPr/>
          <p:nvPr/>
        </p:nvSpPr>
        <p:spPr>
          <a:xfrm>
            <a:off x="889000" y="2667000"/>
            <a:ext cx="482600" cy="482600"/>
          </a:xfrm>
          <a:prstGeom prst="roundRect">
            <a:avLst>
              <a:gd name="adj" fmla="val 1842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mage.png"/>
          <p:cNvPicPr>
            <a:picLocks noChangeAspect="1"/>
          </p:cNvPicPr>
          <p:nvPr/>
        </p:nvPicPr>
        <p:blipFill>
          <a:blip r:embed="rId2"/>
          <a:stretch>
            <a:fillRect/>
          </a:stretch>
        </p:blipFill>
        <p:spPr>
          <a:xfrm>
            <a:off x="952500" y="2730500"/>
            <a:ext cx="355600" cy="355600"/>
          </a:xfrm>
          <a:prstGeom prst="rect">
            <a:avLst/>
          </a:prstGeom>
        </p:spPr>
      </p:pic>
      <p:sp>
        <p:nvSpPr>
          <p:cNvPr id="14" name="TextBox 13"/>
          <p:cNvSpPr txBox="1"/>
          <p:nvPr/>
        </p:nvSpPr>
        <p:spPr>
          <a:xfrm>
            <a:off x="1524000" y="27686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 A</a:t>
            </a:r>
          </a:p>
        </p:txBody>
      </p:sp>
      <p:sp>
        <p:nvSpPr>
          <p:cNvPr id="15" name="Rounded Rectangle 14"/>
          <p:cNvSpPr/>
          <p:nvPr/>
        </p:nvSpPr>
        <p:spPr>
          <a:xfrm>
            <a:off x="4508500" y="2667000"/>
            <a:ext cx="2578100" cy="482600"/>
          </a:xfrm>
          <a:prstGeom prst="roundRect">
            <a:avLst>
              <a:gd name="adj" fmla="val 1842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5500" y="27813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2762C8"/>
                </a:solidFill>
                <a:latin typeface="Arial"/>
              </a:rPr>
              <a:t>Cluster A IPs</a:t>
            </a:r>
          </a:p>
        </p:txBody>
      </p:sp>
      <p:cxnSp>
        <p:nvCxnSpPr>
          <p:cNvPr id="17" name="Connector 16"/>
          <p:cNvCxnSpPr/>
          <p:nvPr/>
        </p:nvCxnSpPr>
        <p:spPr>
          <a:xfrm>
            <a:off x="889000" y="32512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89000" y="3365500"/>
            <a:ext cx="482600" cy="482600"/>
          </a:xfrm>
          <a:prstGeom prst="roundRect">
            <a:avLst>
              <a:gd name="adj" fmla="val 1842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952500" y="3429000"/>
            <a:ext cx="355600" cy="355600"/>
          </a:xfrm>
          <a:prstGeom prst="rect">
            <a:avLst/>
          </a:prstGeom>
        </p:spPr>
      </p:pic>
      <p:sp>
        <p:nvSpPr>
          <p:cNvPr id="20" name="TextBox 19"/>
          <p:cNvSpPr txBox="1"/>
          <p:nvPr/>
        </p:nvSpPr>
        <p:spPr>
          <a:xfrm>
            <a:off x="1524000" y="34671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 B</a:t>
            </a:r>
          </a:p>
        </p:txBody>
      </p:sp>
      <p:sp>
        <p:nvSpPr>
          <p:cNvPr id="21" name="Rounded Rectangle 20"/>
          <p:cNvSpPr/>
          <p:nvPr/>
        </p:nvSpPr>
        <p:spPr>
          <a:xfrm>
            <a:off x="4508500" y="3365500"/>
            <a:ext cx="2578100" cy="482600"/>
          </a:xfrm>
          <a:prstGeom prst="roundRect">
            <a:avLst>
              <a:gd name="adj" fmla="val 1842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35500" y="34798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087F85"/>
                </a:solidFill>
                <a:latin typeface="Arial"/>
              </a:rPr>
              <a:t>Cluster B IPs</a:t>
            </a:r>
          </a:p>
        </p:txBody>
      </p:sp>
      <p:cxnSp>
        <p:nvCxnSpPr>
          <p:cNvPr id="23" name="Connector 22"/>
          <p:cNvCxnSpPr/>
          <p:nvPr/>
        </p:nvCxnSpPr>
        <p:spPr>
          <a:xfrm>
            <a:off x="889000" y="39497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89000" y="4064000"/>
            <a:ext cx="482600" cy="482600"/>
          </a:xfrm>
          <a:prstGeom prst="roundRect">
            <a:avLst>
              <a:gd name="adj" fmla="val 18421"/>
            </a:avLst>
          </a:prstGeom>
          <a:solidFill>
            <a:srgbClr val="EF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90600" y="4165600"/>
            <a:ext cx="279400" cy="279400"/>
          </a:xfrm>
          <a:prstGeom prst="ellipse">
            <a:avLst/>
          </a:prstGeom>
          <a:solidFill>
            <a:srgbClr val="EFF3F7"/>
          </a:solidFill>
          <a:ln w="19050">
            <a:solidFill>
              <a:srgbClr val="5D6F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1130300" y="4216400"/>
            <a:ext cx="0" cy="88900"/>
          </a:xfrm>
          <a:prstGeom prst="line">
            <a:avLst/>
          </a:prstGeom>
          <a:ln w="19050">
            <a:solidFill>
              <a:srgbClr val="5D6F82"/>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30300" y="4305300"/>
            <a:ext cx="76200" cy="38100"/>
          </a:xfrm>
          <a:prstGeom prst="line">
            <a:avLst/>
          </a:prstGeom>
          <a:ln w="19050">
            <a:solidFill>
              <a:srgbClr val="5D6F8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524000" y="41656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Resolver cache</a:t>
            </a:r>
          </a:p>
        </p:txBody>
      </p:sp>
      <p:sp>
        <p:nvSpPr>
          <p:cNvPr id="29" name="Rounded Rectangle 28"/>
          <p:cNvSpPr/>
          <p:nvPr/>
        </p:nvSpPr>
        <p:spPr>
          <a:xfrm>
            <a:off x="4508500" y="4064000"/>
            <a:ext cx="2578100" cy="482600"/>
          </a:xfrm>
          <a:prstGeom prst="roundRect">
            <a:avLst>
              <a:gd name="adj" fmla="val 18421"/>
            </a:avLst>
          </a:prstGeom>
          <a:solidFill>
            <a:srgbClr val="EF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5500" y="41783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5D6F82"/>
                </a:solidFill>
                <a:latin typeface="Arial"/>
              </a:rPr>
              <a:t>May still return A</a:t>
            </a:r>
          </a:p>
        </p:txBody>
      </p:sp>
      <p:cxnSp>
        <p:nvCxnSpPr>
          <p:cNvPr id="31" name="Connector 30"/>
          <p:cNvCxnSpPr/>
          <p:nvPr/>
        </p:nvCxnSpPr>
        <p:spPr>
          <a:xfrm>
            <a:off x="889000" y="46482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89000" y="4762500"/>
            <a:ext cx="482600" cy="482600"/>
          </a:xfrm>
          <a:prstGeom prst="roundRect">
            <a:avLst>
              <a:gd name="adj" fmla="val 1842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90600" y="4876800"/>
            <a:ext cx="279400" cy="254000"/>
          </a:xfrm>
          <a:prstGeom prst="roundRect">
            <a:avLst>
              <a:gd name="adj" fmla="val 15000"/>
            </a:avLst>
          </a:prstGeom>
          <a:solidFill>
            <a:srgbClr val="FFFFFF"/>
          </a:solidFill>
          <a:ln w="1651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990600" y="4953000"/>
            <a:ext cx="279400" cy="0"/>
          </a:xfrm>
          <a:prstGeom prst="line">
            <a:avLst/>
          </a:prstGeom>
          <a:ln w="12700">
            <a:solidFill>
              <a:srgbClr val="CF0035"/>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1028700" y="4902200"/>
            <a:ext cx="25400" cy="25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1054100" y="5029200"/>
            <a:ext cx="50800" cy="50800"/>
          </a:xfrm>
          <a:prstGeom prst="line">
            <a:avLst/>
          </a:prstGeom>
          <a:ln w="1905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104900" y="4991100"/>
            <a:ext cx="101600" cy="88900"/>
          </a:xfrm>
          <a:prstGeom prst="line">
            <a:avLst/>
          </a:prstGeom>
          <a:ln w="19050">
            <a:solidFill>
              <a:srgbClr val="CF0035"/>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524000" y="48641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Real request</a:t>
            </a:r>
          </a:p>
        </p:txBody>
      </p:sp>
      <p:sp>
        <p:nvSpPr>
          <p:cNvPr id="39" name="Rounded Rectangle 38"/>
          <p:cNvSpPr/>
          <p:nvPr/>
        </p:nvSpPr>
        <p:spPr>
          <a:xfrm>
            <a:off x="4508500" y="4762500"/>
            <a:ext cx="2578100" cy="482600"/>
          </a:xfrm>
          <a:prstGeom prst="roundRect">
            <a:avLst>
              <a:gd name="adj" fmla="val 1842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635500" y="48768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CF0035"/>
                </a:solidFill>
                <a:latin typeface="Arial"/>
              </a:rPr>
              <a:t>Verify the result</a:t>
            </a:r>
          </a:p>
        </p:txBody>
      </p:sp>
      <p:sp>
        <p:nvSpPr>
          <p:cNvPr id="41" name="Rounded Rectangle 40"/>
          <p:cNvSpPr/>
          <p:nvPr/>
        </p:nvSpPr>
        <p:spPr>
          <a:xfrm>
            <a:off x="7670800" y="2019300"/>
            <a:ext cx="3911600" cy="2133600"/>
          </a:xfrm>
          <a:prstGeom prst="roundRect">
            <a:avLst>
              <a:gd name="adj" fmla="val 535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24800" y="2247900"/>
            <a:ext cx="3403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Correlate the signals</a:t>
            </a:r>
          </a:p>
        </p:txBody>
      </p:sp>
      <p:sp>
        <p:nvSpPr>
          <p:cNvPr id="43" name="Oval 42"/>
          <p:cNvSpPr/>
          <p:nvPr/>
        </p:nvSpPr>
        <p:spPr>
          <a:xfrm>
            <a:off x="7937500" y="2857500"/>
            <a:ext cx="101600" cy="101600"/>
          </a:xfrm>
          <a:prstGeom prst="ellipse">
            <a:avLst/>
          </a:prstGeom>
          <a:solidFill>
            <a:srgbClr val="78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78800" y="27813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Pod readiness</a:t>
            </a:r>
          </a:p>
        </p:txBody>
      </p:sp>
      <p:sp>
        <p:nvSpPr>
          <p:cNvPr id="45" name="Oval 44"/>
          <p:cNvSpPr/>
          <p:nvPr/>
        </p:nvSpPr>
        <p:spPr>
          <a:xfrm>
            <a:off x="7937500" y="3263900"/>
            <a:ext cx="101600" cy="101600"/>
          </a:xfrm>
          <a:prstGeom prst="ellipse">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78800" y="31877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k8gb errors and logs</a:t>
            </a:r>
          </a:p>
        </p:txBody>
      </p:sp>
      <p:sp>
        <p:nvSpPr>
          <p:cNvPr id="47" name="Oval 46"/>
          <p:cNvSpPr/>
          <p:nvPr/>
        </p:nvSpPr>
        <p:spPr>
          <a:xfrm>
            <a:off x="7937500" y="3670300"/>
            <a:ext cx="101600" cy="101600"/>
          </a:xfrm>
          <a:prstGeom prst="ellipse">
            <a:avLst/>
          </a:prstGeom>
          <a:solidFill>
            <a:srgbClr val="F79B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178800" y="35941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Application results</a:t>
            </a:r>
          </a:p>
        </p:txBody>
      </p:sp>
      <p:sp>
        <p:nvSpPr>
          <p:cNvPr id="49" name="Rounded Rectangle 48"/>
          <p:cNvSpPr/>
          <p:nvPr/>
        </p:nvSpPr>
        <p:spPr>
          <a:xfrm>
            <a:off x="7670800" y="4330700"/>
            <a:ext cx="3911600" cy="1270000"/>
          </a:xfrm>
          <a:prstGeom prst="roundRect">
            <a:avLst>
              <a:gd name="adj" fmla="val 9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24800" y="4495800"/>
            <a:ext cx="340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METRIC EXAMPLE · ONE HOSTNAME</a:t>
            </a:r>
          </a:p>
        </p:txBody>
      </p:sp>
      <p:pic>
        <p:nvPicPr>
          <p:cNvPr id="51" name="Picture 50" descr="image.png"/>
          <p:cNvPicPr>
            <a:picLocks noChangeAspect="1"/>
          </p:cNvPicPr>
          <p:nvPr/>
        </p:nvPicPr>
        <p:blipFill>
          <a:blip r:embed="rId3"/>
          <a:stretch>
            <a:fillRect/>
          </a:stretch>
        </p:blipFill>
        <p:spPr>
          <a:xfrm>
            <a:off x="7924800" y="4787900"/>
            <a:ext cx="368300" cy="368300"/>
          </a:xfrm>
          <a:prstGeom prst="rect">
            <a:avLst/>
          </a:prstGeom>
        </p:spPr>
      </p:pic>
      <p:sp>
        <p:nvSpPr>
          <p:cNvPr id="52" name="TextBox 51"/>
          <p:cNvSpPr txBox="1"/>
          <p:nvPr/>
        </p:nvSpPr>
        <p:spPr>
          <a:xfrm>
            <a:off x="8445500" y="4813300"/>
            <a:ext cx="28829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1 cluster → 3 healthy IPs</a:t>
            </a:r>
          </a:p>
        </p:txBody>
      </p:sp>
      <p:sp>
        <p:nvSpPr>
          <p:cNvPr id="53" name="TextBox 52"/>
          <p:cNvSpPr txBox="1"/>
          <p:nvPr/>
        </p:nvSpPr>
        <p:spPr>
          <a:xfrm>
            <a:off x="7924800" y="5245100"/>
            <a:ext cx="34036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5D6F82"/>
                </a:solidFill>
                <a:latin typeface="Arial"/>
              </a:rPr>
              <a:t>Healthy-record count: 3</a:t>
            </a:r>
          </a:p>
        </p:txBody>
      </p:sp>
      <p:sp>
        <p:nvSpPr>
          <p:cNvPr id="54" name="Rounded Rectangle 53"/>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Query both authorities. Check the cache. Test a real request.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RESILIENCE TESTING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18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Perform end-to-end resilience tests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 is primary, B is healthy. Change one condition at a time.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1549400" y="19685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CHANGE ONE CONDITION</a:t>
            </a:r>
          </a:p>
        </p:txBody>
      </p:sp>
      <p:sp>
        <p:nvSpPr>
          <p:cNvPr id="11" name="TextBox 10"/>
          <p:cNvSpPr txBox="1"/>
          <p:nvPr/>
        </p:nvSpPr>
        <p:spPr>
          <a:xfrm>
            <a:off x="6807200" y="1968500"/>
            <a:ext cx="4495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VERIFY DNS + APPLICATION</a:t>
            </a:r>
          </a:p>
        </p:txBody>
      </p:sp>
      <p:sp>
        <p:nvSpPr>
          <p:cNvPr id="12" name="Rounded Rectangle 11"/>
          <p:cNvSpPr/>
          <p:nvPr/>
        </p:nvSpPr>
        <p:spPr>
          <a:xfrm>
            <a:off x="609600" y="23114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09600" y="22733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22300" y="2438400"/>
            <a:ext cx="0" cy="43180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12800" y="2400300"/>
            <a:ext cx="508000" cy="508000"/>
          </a:xfrm>
          <a:prstGeom prst="roundRect">
            <a:avLst>
              <a:gd name="adj" fmla="val 200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39800" y="2514600"/>
            <a:ext cx="254000" cy="279400"/>
          </a:xfrm>
          <a:prstGeom prst="roundRect">
            <a:avLst>
              <a:gd name="adj" fmla="val 15000"/>
            </a:avLst>
          </a:prstGeom>
          <a:solidFill>
            <a:srgbClr val="FFFFFF"/>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939800" y="2590800"/>
            <a:ext cx="2540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977900" y="2540000"/>
            <a:ext cx="25400" cy="25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8700" y="2540000"/>
            <a:ext cx="25400" cy="25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016000" y="2641600"/>
            <a:ext cx="1016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016000" y="2641600"/>
            <a:ext cx="1016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549400" y="23749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Remove A’s ready endpoints</a:t>
            </a:r>
          </a:p>
        </p:txBody>
      </p:sp>
      <p:sp>
        <p:nvSpPr>
          <p:cNvPr id="23" name="TextBox 22"/>
          <p:cNvSpPr txBox="1"/>
          <p:nvPr/>
        </p:nvSpPr>
        <p:spPr>
          <a:xfrm>
            <a:off x="1562100" y="27305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01 · WORKLOAD FAILURE</a:t>
            </a:r>
          </a:p>
        </p:txBody>
      </p:sp>
      <p:cxnSp>
        <p:nvCxnSpPr>
          <p:cNvPr id="24" name="Connector 23"/>
          <p:cNvCxnSpPr/>
          <p:nvPr/>
        </p:nvCxnSpPr>
        <p:spPr>
          <a:xfrm>
            <a:off x="6172200" y="2654300"/>
            <a:ext cx="2794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604000" y="2349500"/>
            <a:ext cx="4826000" cy="609600"/>
          </a:xfrm>
          <a:prstGeom prst="roundRect">
            <a:avLst>
              <a:gd name="adj" fmla="val 125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07200" y="24003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2762C8"/>
                </a:solidFill>
                <a:latin typeface="Arial"/>
              </a:rPr>
              <a:t>Both DNS answers → B</a:t>
            </a:r>
          </a:p>
        </p:txBody>
      </p:sp>
      <p:sp>
        <p:nvSpPr>
          <p:cNvPr id="27" name="TextBox 26"/>
          <p:cNvSpPr txBox="1"/>
          <p:nvPr/>
        </p:nvSpPr>
        <p:spPr>
          <a:xfrm>
            <a:off x="6807200" y="27051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Verify successful requests to B.</a:t>
            </a:r>
          </a:p>
        </p:txBody>
      </p:sp>
      <p:sp>
        <p:nvSpPr>
          <p:cNvPr id="28" name="Rounded Rectangle 27"/>
          <p:cNvSpPr/>
          <p:nvPr/>
        </p:nvSpPr>
        <p:spPr>
          <a:xfrm>
            <a:off x="609600" y="31750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09600" y="31369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622300" y="3302000"/>
            <a:ext cx="0" cy="43180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12800" y="3263900"/>
            <a:ext cx="508000" cy="508000"/>
          </a:xfrm>
          <a:prstGeom prst="roundRect">
            <a:avLst>
              <a:gd name="adj" fmla="val 200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2"/>
          <a:stretch>
            <a:fillRect/>
          </a:stretch>
        </p:blipFill>
        <p:spPr>
          <a:xfrm>
            <a:off x="876300" y="3327400"/>
            <a:ext cx="381000" cy="381000"/>
          </a:xfrm>
          <a:prstGeom prst="rect">
            <a:avLst/>
          </a:prstGeom>
        </p:spPr>
      </p:pic>
      <p:sp>
        <p:nvSpPr>
          <p:cNvPr id="33" name="TextBox 32"/>
          <p:cNvSpPr txBox="1"/>
          <p:nvPr/>
        </p:nvSpPr>
        <p:spPr>
          <a:xfrm>
            <a:off x="1549400" y="32385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Make cluster A unavailable</a:t>
            </a:r>
          </a:p>
        </p:txBody>
      </p:sp>
      <p:sp>
        <p:nvSpPr>
          <p:cNvPr id="34" name="TextBox 33"/>
          <p:cNvSpPr txBox="1"/>
          <p:nvPr/>
        </p:nvSpPr>
        <p:spPr>
          <a:xfrm>
            <a:off x="1562100" y="35941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02 · CLUSTER FAILURE</a:t>
            </a:r>
          </a:p>
        </p:txBody>
      </p:sp>
      <p:cxnSp>
        <p:nvCxnSpPr>
          <p:cNvPr id="35" name="Connector 34"/>
          <p:cNvCxnSpPr/>
          <p:nvPr/>
        </p:nvCxnSpPr>
        <p:spPr>
          <a:xfrm>
            <a:off x="6172200" y="3517900"/>
            <a:ext cx="2794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6604000" y="3213100"/>
            <a:ext cx="4826000" cy="6096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07200" y="32639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087F85"/>
                </a:solidFill>
                <a:latin typeface="Arial"/>
              </a:rPr>
              <a:t>B serves DNS and application</a:t>
            </a:r>
          </a:p>
        </p:txBody>
      </p:sp>
      <p:sp>
        <p:nvSpPr>
          <p:cNvPr id="38" name="TextBox 37"/>
          <p:cNvSpPr txBox="1"/>
          <p:nvPr/>
        </p:nvSpPr>
        <p:spPr>
          <a:xfrm>
            <a:off x="6807200" y="35687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Test through a client resolver.</a:t>
            </a:r>
          </a:p>
        </p:txBody>
      </p:sp>
      <p:sp>
        <p:nvSpPr>
          <p:cNvPr id="39" name="Rounded Rectangle 38"/>
          <p:cNvSpPr/>
          <p:nvPr/>
        </p:nvSpPr>
        <p:spPr>
          <a:xfrm>
            <a:off x="609600" y="40386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09600" y="40005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622300" y="4165600"/>
            <a:ext cx="0" cy="431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2800" y="4127500"/>
            <a:ext cx="508000" cy="508000"/>
          </a:xfrm>
          <a:prstGeom prst="roundRect">
            <a:avLst>
              <a:gd name="adj" fmla="val 20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914400" y="4381500"/>
            <a:ext cx="304800" cy="0"/>
          </a:xfrm>
          <a:prstGeom prst="line">
            <a:avLst/>
          </a:prstGeom>
          <a:ln w="19050">
            <a:solidFill>
              <a:srgbClr val="CF0035"/>
            </a:solidFill>
            <a:prstDash val="dash"/>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876300" y="4343400"/>
            <a:ext cx="76200" cy="76200"/>
          </a:xfrm>
          <a:prstGeom prst="ellipse">
            <a:avLst/>
          </a:prstGeom>
          <a:solidFill>
            <a:srgbClr val="FBE9EE"/>
          </a:solidFill>
          <a:ln w="1905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181100" y="4343400"/>
            <a:ext cx="76200" cy="76200"/>
          </a:xfrm>
          <a:prstGeom prst="ellipse">
            <a:avLst/>
          </a:prstGeom>
          <a:solidFill>
            <a:srgbClr val="FBE9EE"/>
          </a:solidFill>
          <a:ln w="1905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77900" y="4292600"/>
            <a:ext cx="177800" cy="177800"/>
          </a:xfrm>
          <a:prstGeom prst="ellipse">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1016000" y="4330700"/>
            <a:ext cx="101600" cy="1016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016000" y="4330700"/>
            <a:ext cx="101600" cy="1016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1549400" y="41021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Block B’s peer-health lookup</a:t>
            </a:r>
          </a:p>
        </p:txBody>
      </p:sp>
      <p:sp>
        <p:nvSpPr>
          <p:cNvPr id="50" name="TextBox 49"/>
          <p:cNvSpPr txBox="1"/>
          <p:nvPr/>
        </p:nvSpPr>
        <p:spPr>
          <a:xfrm>
            <a:off x="1562100" y="44577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CF0035"/>
                </a:solidFill>
                <a:latin typeface="Arial"/>
              </a:rPr>
              <a:t>03 · PEER DNS PARTITION</a:t>
            </a:r>
          </a:p>
        </p:txBody>
      </p:sp>
      <p:cxnSp>
        <p:nvCxnSpPr>
          <p:cNvPr id="51" name="Connector 50"/>
          <p:cNvCxnSpPr/>
          <p:nvPr/>
        </p:nvCxnSpPr>
        <p:spPr>
          <a:xfrm>
            <a:off x="6172200" y="4381500"/>
            <a:ext cx="279400" cy="0"/>
          </a:xfrm>
          <a:prstGeom prst="line">
            <a:avLst/>
          </a:prstGeom>
          <a:ln w="2032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6604000" y="4076700"/>
            <a:ext cx="4826000" cy="609600"/>
          </a:xfrm>
          <a:prstGeom prst="roundRect">
            <a:avLst>
              <a:gd name="adj" fmla="val 125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07200" y="41275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CF0035"/>
                </a:solidFill>
                <a:latin typeface="Arial"/>
              </a:rPr>
              <a:t>A answers A · B answers B</a:t>
            </a:r>
          </a:p>
        </p:txBody>
      </p:sp>
      <p:sp>
        <p:nvSpPr>
          <p:cNvPr id="54" name="TextBox 53"/>
          <p:cNvSpPr txBox="1"/>
          <p:nvPr/>
        </p:nvSpPr>
        <p:spPr>
          <a:xfrm>
            <a:off x="6807200" y="44323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Check the impact on real requests.</a:t>
            </a:r>
          </a:p>
        </p:txBody>
      </p:sp>
      <p:sp>
        <p:nvSpPr>
          <p:cNvPr id="55" name="Rounded Rectangle 54"/>
          <p:cNvSpPr/>
          <p:nvPr/>
        </p:nvSpPr>
        <p:spPr>
          <a:xfrm>
            <a:off x="609600" y="49022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09600" y="48641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622300" y="5029200"/>
            <a:ext cx="0" cy="431800"/>
          </a:xfrm>
          <a:prstGeom prst="line">
            <a:avLst/>
          </a:prstGeom>
          <a:ln w="38100">
            <a:solidFill>
              <a:srgbClr val="177C58"/>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812800" y="4991100"/>
            <a:ext cx="508000" cy="508000"/>
          </a:xfrm>
          <a:prstGeom prst="roundRect">
            <a:avLst>
              <a:gd name="adj" fmla="val 20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1193273" y="5138975"/>
            <a:ext cx="16025" cy="22744"/>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209298" y="5161719"/>
            <a:ext cx="11977" cy="2511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221275" y="5186831"/>
            <a:ext cx="7591" cy="26766"/>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228866" y="5213597"/>
            <a:ext cx="2989" cy="2766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1230156" y="5241258"/>
            <a:ext cx="1699" cy="2777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1223819" y="5269028"/>
            <a:ext cx="6337" cy="2709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1213023" y="5296118"/>
            <a:ext cx="10796" cy="2564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1198074" y="5321760"/>
            <a:ext cx="14949" cy="2346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1179397" y="5345225"/>
            <a:ext cx="18677" cy="2062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1157523" y="5365846"/>
            <a:ext cx="21874" cy="1719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1133073" y="5383039"/>
            <a:ext cx="24450" cy="1327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a:off x="1106741" y="5396314"/>
            <a:ext cx="26332" cy="898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1079274" y="5405295"/>
            <a:ext cx="27467" cy="443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1051453" y="5409485"/>
            <a:ext cx="27821" cy="24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1024068" y="5404574"/>
            <a:ext cx="27385" cy="491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997897" y="5395134"/>
            <a:ext cx="26171" cy="944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973682" y="5381434"/>
            <a:ext cx="24215" cy="1370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952111" y="5363863"/>
            <a:ext cx="21571" cy="1757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933798" y="5342918"/>
            <a:ext cx="18313" cy="2094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919261" y="5319196"/>
            <a:ext cx="14537" cy="2372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908914" y="5293370"/>
            <a:ext cx="10347" cy="25826"/>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flipV="1">
            <a:off x="903050" y="5266173"/>
            <a:ext cx="5864" cy="27197"/>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flipV="1">
            <a:off x="901836" y="5238378"/>
            <a:ext cx="1214" cy="2779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1836" y="5210773"/>
            <a:ext cx="3471" cy="2760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905307" y="5184144"/>
            <a:ext cx="8057" cy="26629"/>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913364" y="5159245"/>
            <a:ext cx="12414" cy="24899"/>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925778" y="5136784"/>
            <a:ext cx="16419" cy="2246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942197" y="5117399"/>
            <a:ext cx="19957" cy="1938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962154" y="5101641"/>
            <a:ext cx="22929" cy="15758"/>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985083" y="5089956"/>
            <a:ext cx="25249" cy="11685"/>
          </a:xfrm>
          <a:prstGeom prst="line">
            <a:avLst/>
          </a:prstGeom>
          <a:ln w="20320">
            <a:solidFill>
              <a:srgbClr val="177C5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90600" y="5245100"/>
            <a:ext cx="50800" cy="50800"/>
          </a:xfrm>
          <a:prstGeom prst="line">
            <a:avLst/>
          </a:prstGeom>
          <a:ln w="2286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041400" y="5181600"/>
            <a:ext cx="101600" cy="114300"/>
          </a:xfrm>
          <a:prstGeom prst="line">
            <a:avLst/>
          </a:prstGeom>
          <a:ln w="22860">
            <a:solidFill>
              <a:srgbClr val="177C58"/>
            </a:solidFill>
          </a:ln>
        </p:spPr>
        <p:style>
          <a:lnRef idx="2">
            <a:schemeClr val="accent1"/>
          </a:lnRef>
          <a:fillRef idx="0">
            <a:schemeClr val="accent1"/>
          </a:fillRef>
          <a:effectRef idx="1">
            <a:schemeClr val="accent1"/>
          </a:effectRef>
          <a:fontRef idx="minor">
            <a:schemeClr val="tx1"/>
          </a:fontRef>
        </p:style>
      </p:cxnSp>
      <p:sp>
        <p:nvSpPr>
          <p:cNvPr id="91" name="TextBox 90"/>
          <p:cNvSpPr txBox="1"/>
          <p:nvPr/>
        </p:nvSpPr>
        <p:spPr>
          <a:xfrm>
            <a:off x="1549400" y="49657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Restore A’s readiness</a:t>
            </a:r>
          </a:p>
        </p:txBody>
      </p:sp>
      <p:sp>
        <p:nvSpPr>
          <p:cNvPr id="92" name="TextBox 91"/>
          <p:cNvSpPr txBox="1"/>
          <p:nvPr/>
        </p:nvSpPr>
        <p:spPr>
          <a:xfrm>
            <a:off x="1562100" y="53213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177C58"/>
                </a:solidFill>
                <a:latin typeface="Arial"/>
              </a:rPr>
              <a:t>04 · RECOVERY</a:t>
            </a:r>
          </a:p>
        </p:txBody>
      </p:sp>
      <p:cxnSp>
        <p:nvCxnSpPr>
          <p:cNvPr id="93" name="Connector 92"/>
          <p:cNvCxnSpPr/>
          <p:nvPr/>
        </p:nvCxnSpPr>
        <p:spPr>
          <a:xfrm>
            <a:off x="6172200" y="5245100"/>
            <a:ext cx="279400" cy="0"/>
          </a:xfrm>
          <a:prstGeom prst="line">
            <a:avLst/>
          </a:prstGeom>
          <a:ln w="20320">
            <a:solidFill>
              <a:srgbClr val="177C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Rounded Rectangle 93"/>
          <p:cNvSpPr/>
          <p:nvPr/>
        </p:nvSpPr>
        <p:spPr>
          <a:xfrm>
            <a:off x="6604000" y="4940300"/>
            <a:ext cx="4826000" cy="609600"/>
          </a:xfrm>
          <a:prstGeom prst="roundRect">
            <a:avLst>
              <a:gd name="adj" fmla="val 125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807200" y="49911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77C58"/>
                </a:solidFill>
                <a:latin typeface="Arial"/>
              </a:rPr>
              <a:t>Both DNS answers → A</a:t>
            </a:r>
          </a:p>
        </p:txBody>
      </p:sp>
      <p:sp>
        <p:nvSpPr>
          <p:cNvPr id="96" name="TextBox 95"/>
          <p:cNvSpPr txBox="1"/>
          <p:nvPr/>
        </p:nvSpPr>
        <p:spPr>
          <a:xfrm>
            <a:off x="6807200" y="52959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Check requests and data correctness.</a:t>
            </a:r>
          </a:p>
        </p:txBody>
      </p:sp>
      <p:sp>
        <p:nvSpPr>
          <p:cNvPr id="97" name="Rounded Rectangle 96"/>
          <p:cNvSpPr/>
          <p:nvPr/>
        </p:nvSpPr>
        <p:spPr>
          <a:xfrm>
            <a:off x="609600" y="58674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787400" y="59690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Time DNS convergence and the return of successful requests.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CONTROL YOUR FAILOVER</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19 / 21</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028700"/>
            <a:ext cx="9220200" cy="1245108"/>
          </a:xfrm>
          <a:prstGeom prst="rect">
            <a:avLst/>
          </a:prstGeom>
          <a:noFill/>
        </p:spPr>
        <p:txBody>
          <a:bodyPr wrap="none" lIns="0" rIns="0" tIns="0" bIns="0" anchor="t">
            <a:noAutofit/>
          </a:bodyPr>
          <a:lstStyle/>
          <a:p>
            <a:pPr algn="l">
              <a:lnSpc>
                <a:spcPts val="4752"/>
              </a:lnSpc>
              <a:spcBef>
                <a:spcPts val="0"/>
              </a:spcBef>
              <a:spcAft>
                <a:spcPts val="0"/>
              </a:spcAft>
            </a:pPr>
            <a:r>
              <a:rPr sz="4400" b="1">
                <a:solidFill>
                  <a:srgbClr val="FFFFFF"/>
                </a:solidFill>
                <a:latin typeface="Arial"/>
              </a:rPr>
              <a:t>Control traffic steering.</a:t>
            </a:r>
          </a:p>
          <a:p>
            <a:pPr algn="l">
              <a:lnSpc>
                <a:spcPts val="4752"/>
              </a:lnSpc>
              <a:spcBef>
                <a:spcPts val="0"/>
              </a:spcBef>
              <a:spcAft>
                <a:spcPts val="0"/>
              </a:spcAft>
            </a:pPr>
            <a:r>
              <a:rPr sz="4400" b="1">
                <a:solidFill>
                  <a:srgbClr val="FFFFFF"/>
                </a:solidFill>
                <a:latin typeface="Arial"/>
              </a:rPr>
              <a:t>Test recovery end to end.</a:t>
            </a:r>
          </a:p>
        </p:txBody>
      </p:sp>
      <p:pic>
        <p:nvPicPr>
          <p:cNvPr id="9" name="Picture 8" descr="image.png"/>
          <p:cNvPicPr>
            <a:picLocks noChangeAspect="1"/>
          </p:cNvPicPr>
          <p:nvPr/>
        </p:nvPicPr>
        <p:blipFill>
          <a:blip r:embed="rId2"/>
          <a:stretch>
            <a:fillRect/>
          </a:stretch>
        </p:blipFill>
        <p:spPr>
          <a:xfrm>
            <a:off x="10160000" y="1121328"/>
            <a:ext cx="1371599" cy="1338742"/>
          </a:xfrm>
          <a:prstGeom prst="rect">
            <a:avLst/>
          </a:prstGeom>
        </p:spPr>
      </p:pic>
      <p:cxnSp>
        <p:nvCxnSpPr>
          <p:cNvPr id="10" name="Connector 9"/>
          <p:cNvCxnSpPr/>
          <p:nvPr/>
        </p:nvCxnSpPr>
        <p:spPr>
          <a:xfrm>
            <a:off x="609600" y="3200400"/>
            <a:ext cx="3352800" cy="0"/>
          </a:xfrm>
          <a:prstGeom prst="line">
            <a:avLst/>
          </a:prstGeom>
          <a:ln w="31750">
            <a:solidFill>
              <a:srgbClr val="83ADFF"/>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09600" y="3492500"/>
            <a:ext cx="609600" cy="609600"/>
          </a:xfrm>
          <a:prstGeom prst="roundRect">
            <a:avLst>
              <a:gd name="adj" fmla="val 20833"/>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2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83ADFF"/>
                </a:solidFill>
                <a:latin typeface="Arial"/>
              </a:rPr>
              <a:t>CONFIGURE</a:t>
            </a:r>
          </a:p>
        </p:txBody>
      </p:sp>
      <p:sp>
        <p:nvSpPr>
          <p:cNvPr id="13" name="TextBox 12"/>
          <p:cNvSpPr txBox="1"/>
          <p:nvPr/>
        </p:nvSpPr>
        <p:spPr>
          <a:xfrm>
            <a:off x="60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Version the Gslb</a:t>
            </a:r>
          </a:p>
          <a:p>
            <a:pPr algn="l">
              <a:lnSpc>
                <a:spcPts val="2875"/>
              </a:lnSpc>
              <a:spcBef>
                <a:spcPts val="0"/>
              </a:spcBef>
              <a:spcAft>
                <a:spcPts val="0"/>
              </a:spcAft>
            </a:pPr>
            <a:r>
              <a:rPr sz="2300" b="0">
                <a:solidFill>
                  <a:srgbClr val="FFFFFF"/>
                </a:solidFill>
                <a:latin typeface="Arial"/>
              </a:rPr>
              <a:t>manifest.</a:t>
            </a:r>
          </a:p>
        </p:txBody>
      </p:sp>
      <p:sp>
        <p:nvSpPr>
          <p:cNvPr id="14" name="Rounded Rectangle 13"/>
          <p:cNvSpPr/>
          <p:nvPr/>
        </p:nvSpPr>
        <p:spPr>
          <a:xfrm>
            <a:off x="749300" y="3581400"/>
            <a:ext cx="330200" cy="431800"/>
          </a:xfrm>
          <a:prstGeom prst="roundRect">
            <a:avLst>
              <a:gd name="adj" fmla="val 11538"/>
            </a:avLst>
          </a:prstGeom>
          <a:solidFill>
            <a:srgbClr val="243D63"/>
          </a:solidFill>
          <a:ln w="17780">
            <a:solidFill>
              <a:srgbClr val="83A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25500" y="3670300"/>
            <a:ext cx="177800" cy="0"/>
          </a:xfrm>
          <a:prstGeom prst="line">
            <a:avLst/>
          </a:prstGeom>
          <a:ln w="1524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8001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001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52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9652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19600" y="3200400"/>
            <a:ext cx="3352800" cy="0"/>
          </a:xfrm>
          <a:prstGeom prst="line">
            <a:avLst/>
          </a:prstGeom>
          <a:ln w="31750">
            <a:solidFill>
              <a:srgbClr val="66CBC9"/>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19600" y="3492500"/>
            <a:ext cx="609600" cy="609600"/>
          </a:xfrm>
          <a:prstGeom prst="roundRect">
            <a:avLst>
              <a:gd name="adj" fmla="val 20833"/>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66CBC9"/>
                </a:solidFill>
                <a:latin typeface="Arial"/>
              </a:rPr>
              <a:t>VERIFY</a:t>
            </a:r>
          </a:p>
        </p:txBody>
      </p:sp>
      <p:sp>
        <p:nvSpPr>
          <p:cNvPr id="23" name="TextBox 22"/>
          <p:cNvSpPr txBox="1"/>
          <p:nvPr/>
        </p:nvSpPr>
        <p:spPr>
          <a:xfrm>
            <a:off x="441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Check DNS answers</a:t>
            </a:r>
          </a:p>
          <a:p>
            <a:pPr algn="l">
              <a:lnSpc>
                <a:spcPts val="2875"/>
              </a:lnSpc>
              <a:spcBef>
                <a:spcPts val="0"/>
              </a:spcBef>
              <a:spcAft>
                <a:spcPts val="0"/>
              </a:spcAft>
            </a:pPr>
            <a:r>
              <a:rPr sz="2300" b="0">
                <a:solidFill>
                  <a:srgbClr val="FFFFFF"/>
                </a:solidFill>
                <a:latin typeface="Arial"/>
              </a:rPr>
              <a:t>and real requests.</a:t>
            </a:r>
          </a:p>
        </p:txBody>
      </p:sp>
      <p:sp>
        <p:nvSpPr>
          <p:cNvPr id="24" name="Rounded Rectangle 23"/>
          <p:cNvSpPr/>
          <p:nvPr/>
        </p:nvSpPr>
        <p:spPr>
          <a:xfrm>
            <a:off x="4508500" y="3632200"/>
            <a:ext cx="431800" cy="330200"/>
          </a:xfrm>
          <a:prstGeom prst="roundRect">
            <a:avLst>
              <a:gd name="adj" fmla="val 11538"/>
            </a:avLst>
          </a:prstGeom>
          <a:solidFill>
            <a:srgbClr val="173E49"/>
          </a:solidFill>
          <a:ln w="17780">
            <a:solidFill>
              <a:srgbClr val="66CB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4508500" y="3721100"/>
            <a:ext cx="431800" cy="0"/>
          </a:xfrm>
          <a:prstGeom prst="line">
            <a:avLst/>
          </a:prstGeom>
          <a:ln w="13970">
            <a:solidFill>
              <a:srgbClr val="66CBC9"/>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574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80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701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4622800" y="3835400"/>
            <a:ext cx="76200" cy="762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699000" y="3771900"/>
            <a:ext cx="139700" cy="1397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229600" y="3200400"/>
            <a:ext cx="3352800" cy="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29600" y="3492500"/>
            <a:ext cx="609600" cy="609600"/>
          </a:xfrm>
          <a:prstGeom prst="roundRect">
            <a:avLst>
              <a:gd name="adj" fmla="val 20833"/>
            </a:avLst>
          </a:prstGeom>
          <a:solidFill>
            <a:srgbClr val="452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4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79BB0"/>
                </a:solidFill>
                <a:latin typeface="Arial"/>
              </a:rPr>
              <a:t>TEST</a:t>
            </a:r>
          </a:p>
        </p:txBody>
      </p:sp>
      <p:sp>
        <p:nvSpPr>
          <p:cNvPr id="34" name="TextBox 33"/>
          <p:cNvSpPr txBox="1"/>
          <p:nvPr/>
        </p:nvSpPr>
        <p:spPr>
          <a:xfrm>
            <a:off x="822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Automate failover</a:t>
            </a:r>
          </a:p>
          <a:p>
            <a:pPr algn="l">
              <a:lnSpc>
                <a:spcPts val="2875"/>
              </a:lnSpc>
              <a:spcBef>
                <a:spcPts val="0"/>
              </a:spcBef>
              <a:spcAft>
                <a:spcPts val="0"/>
              </a:spcAft>
            </a:pPr>
            <a:r>
              <a:rPr sz="2300" b="0">
                <a:solidFill>
                  <a:srgbClr val="FFFFFF"/>
                </a:solidFill>
                <a:latin typeface="Arial"/>
              </a:rPr>
              <a:t>and failback tests.</a:t>
            </a:r>
          </a:p>
        </p:txBody>
      </p:sp>
      <p:cxnSp>
        <p:nvCxnSpPr>
          <p:cNvPr id="35" name="Connector 34"/>
          <p:cNvCxnSpPr/>
          <p:nvPr/>
        </p:nvCxnSpPr>
        <p:spPr>
          <a:xfrm>
            <a:off x="8711254" y="3673464"/>
            <a:ext cx="18283" cy="3145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729537" y="3704919"/>
            <a:ext cx="12742" cy="3407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742279" y="3738998"/>
            <a:ext cx="6838" cy="3573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749117" y="3774732"/>
            <a:ext cx="741" cy="3637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744480" y="3811107"/>
            <a:ext cx="5378" cy="3598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8733136" y="3847089"/>
            <a:ext cx="11344" cy="3456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8716150" y="3881658"/>
            <a:ext cx="16986" cy="3217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8694001" y="3913832"/>
            <a:ext cx="22149" cy="2886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8667321" y="3942696"/>
            <a:ext cx="26680" cy="2473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8636866" y="3967431"/>
            <a:ext cx="30455" cy="1990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8603501" y="3987335"/>
            <a:ext cx="33365" cy="145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8568174" y="4001842"/>
            <a:ext cx="35327" cy="86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8531887" y="4010541"/>
            <a:ext cx="36287" cy="264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8495673" y="4009698"/>
            <a:ext cx="36214" cy="348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8460557" y="4000179"/>
            <a:ext cx="35116" cy="951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8427539" y="3984899"/>
            <a:ext cx="33018" cy="1528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8397555" y="3964292"/>
            <a:ext cx="29984" cy="206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8371458" y="3938943"/>
            <a:ext cx="26097" cy="2534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8349987" y="3909571"/>
            <a:ext cx="21471" cy="293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8333753" y="3877011"/>
            <a:ext cx="16234" cy="3256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8323217" y="3842188"/>
            <a:ext cx="10536" cy="34823"/>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8318679" y="3806089"/>
            <a:ext cx="4538" cy="360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8318679" y="3769742"/>
            <a:ext cx="1586" cy="3634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8320265" y="3734176"/>
            <a:ext cx="7668" cy="3556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327933" y="3700404"/>
            <a:ext cx="13531" cy="337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341464" y="3669383"/>
            <a:ext cx="19010" cy="31021"/>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8360474" y="3641994"/>
            <a:ext cx="23949" cy="2738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8384423" y="3619016"/>
            <a:ext cx="28207" cy="22978"/>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412630" y="3601100"/>
            <a:ext cx="31666" cy="1791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444296" y="3588756"/>
            <a:ext cx="34224" cy="12344"/>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445500" y="3797300"/>
            <a:ext cx="76200" cy="762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521700" y="3733800"/>
            <a:ext cx="127000" cy="1397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609600" y="5638800"/>
            <a:ext cx="10972800" cy="584200"/>
          </a:xfrm>
          <a:prstGeom prst="roundRect">
            <a:avLst>
              <a:gd name="adj" fmla="val 17391"/>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63600" y="5778500"/>
            <a:ext cx="104648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FFFFFF"/>
                </a:solidFill>
                <a:latin typeface="Arial"/>
              </a:rPr>
              <a:t>Test the full path: readiness → DNS → successful requests.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PROJECT &amp; COMMUNITY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20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The community behind k8gb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Public users, shared maintenance, open participation.</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048000" cy="3429000"/>
          </a:xfrm>
          <a:prstGeom prst="roundRect">
            <a:avLst>
              <a:gd name="adj" fmla="val 41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1384300" y="2367450"/>
            <a:ext cx="1498600" cy="1462699"/>
          </a:xfrm>
          <a:prstGeom prst="rect">
            <a:avLst/>
          </a:prstGeom>
        </p:spPr>
      </p:pic>
      <p:sp>
        <p:nvSpPr>
          <p:cNvPr id="12" name="TextBox 11"/>
          <p:cNvSpPr txBox="1"/>
          <p:nvPr/>
        </p:nvSpPr>
        <p:spPr>
          <a:xfrm>
            <a:off x="863600" y="4076700"/>
            <a:ext cx="2540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B8C8D9"/>
                </a:solidFill>
                <a:latin typeface="Arial"/>
              </a:rPr>
              <a:t>CNCF</a:t>
            </a:r>
          </a:p>
        </p:txBody>
      </p:sp>
      <p:sp>
        <p:nvSpPr>
          <p:cNvPr id="13" name="TextBox 12"/>
          <p:cNvSpPr txBox="1"/>
          <p:nvPr/>
        </p:nvSpPr>
        <p:spPr>
          <a:xfrm>
            <a:off x="787400" y="4394200"/>
            <a:ext cx="2692400" cy="508000"/>
          </a:xfrm>
          <a:prstGeom prst="rect">
            <a:avLst/>
          </a:prstGeom>
          <a:noFill/>
        </p:spPr>
        <p:txBody>
          <a:bodyPr wrap="none" lIns="0" rIns="0" tIns="0" bIns="0" anchor="t">
            <a:noAutofit/>
          </a:bodyPr>
          <a:lstStyle/>
          <a:p>
            <a:pPr algn="ctr">
              <a:lnSpc>
                <a:spcPts val="3679"/>
              </a:lnSpc>
              <a:spcBef>
                <a:spcPts val="0"/>
              </a:spcBef>
              <a:spcAft>
                <a:spcPts val="0"/>
              </a:spcAft>
            </a:pPr>
            <a:r>
              <a:rPr sz="3200" b="1">
                <a:solidFill>
                  <a:srgbClr val="FFFFFF"/>
                </a:solidFill>
                <a:latin typeface="Arial"/>
                <a:hlinkClick r:id="rId3"/>
              </a:rPr>
              <a:t>Incubating</a:t>
            </a:r>
          </a:p>
        </p:txBody>
      </p:sp>
      <p:sp>
        <p:nvSpPr>
          <p:cNvPr id="14" name="TextBox 13"/>
          <p:cNvSpPr txBox="1"/>
          <p:nvPr/>
        </p:nvSpPr>
        <p:spPr>
          <a:xfrm>
            <a:off x="863600" y="5041900"/>
            <a:ext cx="2540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Since July 2026</a:t>
            </a:r>
          </a:p>
        </p:txBody>
      </p:sp>
      <p:sp>
        <p:nvSpPr>
          <p:cNvPr id="15" name="Rounded Rectangle 14"/>
          <p:cNvSpPr/>
          <p:nvPr/>
        </p:nvSpPr>
        <p:spPr>
          <a:xfrm>
            <a:off x="3962400" y="2082800"/>
            <a:ext cx="2387600" cy="1625600"/>
          </a:xfrm>
          <a:prstGeom prst="roundRect">
            <a:avLst>
              <a:gd name="adj" fmla="val 703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402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CF0035"/>
                </a:solidFill>
                <a:latin typeface="Arial"/>
                <a:hlinkClick r:id="rId4"/>
              </a:rPr>
              <a:t>7</a:t>
            </a:r>
          </a:p>
        </p:txBody>
      </p:sp>
      <p:sp>
        <p:nvSpPr>
          <p:cNvPr id="17" name="TextBox 16"/>
          <p:cNvSpPr txBox="1"/>
          <p:nvPr/>
        </p:nvSpPr>
        <p:spPr>
          <a:xfrm>
            <a:off x="4140200" y="3238500"/>
            <a:ext cx="2032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4"/>
              </a:rPr>
              <a:t>public adopters</a:t>
            </a:r>
          </a:p>
        </p:txBody>
      </p:sp>
      <p:sp>
        <p:nvSpPr>
          <p:cNvPr id="18" name="Rounded Rectangle 17"/>
          <p:cNvSpPr/>
          <p:nvPr/>
        </p:nvSpPr>
        <p:spPr>
          <a:xfrm>
            <a:off x="6578600" y="2082800"/>
            <a:ext cx="2387600" cy="1625600"/>
          </a:xfrm>
          <a:prstGeom prst="roundRect">
            <a:avLst>
              <a:gd name="adj" fmla="val 703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564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087F85"/>
                </a:solidFill>
                <a:latin typeface="Arial"/>
                <a:hlinkClick r:id="rId5"/>
              </a:rPr>
              <a:t>7</a:t>
            </a:r>
          </a:p>
        </p:txBody>
      </p:sp>
      <p:sp>
        <p:nvSpPr>
          <p:cNvPr id="20" name="TextBox 19"/>
          <p:cNvSpPr txBox="1"/>
          <p:nvPr/>
        </p:nvSpPr>
        <p:spPr>
          <a:xfrm>
            <a:off x="6756400" y="3238500"/>
            <a:ext cx="2032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5"/>
              </a:rPr>
              <a:t>maintainers</a:t>
            </a:r>
          </a:p>
        </p:txBody>
      </p:sp>
      <p:sp>
        <p:nvSpPr>
          <p:cNvPr id="21" name="Rounded Rectangle 20"/>
          <p:cNvSpPr/>
          <p:nvPr/>
        </p:nvSpPr>
        <p:spPr>
          <a:xfrm>
            <a:off x="9194800" y="2082800"/>
            <a:ext cx="2387600" cy="1625600"/>
          </a:xfrm>
          <a:prstGeom prst="roundRect">
            <a:avLst>
              <a:gd name="adj" fmla="val 703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726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2762C8"/>
                </a:solidFill>
                <a:latin typeface="Arial"/>
                <a:hlinkClick r:id="rId6"/>
              </a:rPr>
              <a:t>1,335</a:t>
            </a:r>
          </a:p>
        </p:txBody>
      </p:sp>
      <p:sp>
        <p:nvSpPr>
          <p:cNvPr id="23" name="TextBox 22"/>
          <p:cNvSpPr txBox="1"/>
          <p:nvPr/>
        </p:nvSpPr>
        <p:spPr>
          <a:xfrm>
            <a:off x="9372600" y="3238500"/>
            <a:ext cx="2032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6"/>
              </a:rPr>
              <a:t>GitHub stars</a:t>
            </a:r>
          </a:p>
        </p:txBody>
      </p:sp>
      <p:sp>
        <p:nvSpPr>
          <p:cNvPr id="24" name="TextBox 23"/>
          <p:cNvSpPr txBox="1"/>
          <p:nvPr/>
        </p:nvSpPr>
        <p:spPr>
          <a:xfrm>
            <a:off x="3962400" y="3987800"/>
            <a:ext cx="7620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PUBLIC ADOPTERS</a:t>
            </a:r>
          </a:p>
        </p:txBody>
      </p:sp>
      <p:sp>
        <p:nvSpPr>
          <p:cNvPr id="25" name="TextBox 24"/>
          <p:cNvSpPr txBox="1"/>
          <p:nvPr/>
        </p:nvSpPr>
        <p:spPr>
          <a:xfrm>
            <a:off x="3962400" y="4394200"/>
            <a:ext cx="1168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Absa</a:t>
            </a:r>
          </a:p>
        </p:txBody>
      </p:sp>
      <p:sp>
        <p:nvSpPr>
          <p:cNvPr id="26" name="TextBox 25"/>
          <p:cNvSpPr txBox="1"/>
          <p:nvPr/>
        </p:nvSpPr>
        <p:spPr>
          <a:xfrm>
            <a:off x="5334000" y="4394200"/>
            <a:ext cx="2590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Millennium bcp</a:t>
            </a:r>
          </a:p>
        </p:txBody>
      </p:sp>
      <p:sp>
        <p:nvSpPr>
          <p:cNvPr id="27" name="TextBox 26"/>
          <p:cNvSpPr txBox="1"/>
          <p:nvPr/>
        </p:nvSpPr>
        <p:spPr>
          <a:xfrm>
            <a:off x="8178800" y="4394200"/>
            <a:ext cx="13462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Eficode</a:t>
            </a:r>
          </a:p>
        </p:txBody>
      </p:sp>
      <p:sp>
        <p:nvSpPr>
          <p:cNvPr id="28" name="TextBox 27"/>
          <p:cNvSpPr txBox="1"/>
          <p:nvPr/>
        </p:nvSpPr>
        <p:spPr>
          <a:xfrm>
            <a:off x="3962400" y="4813300"/>
            <a:ext cx="24257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Open Systems</a:t>
            </a:r>
          </a:p>
        </p:txBody>
      </p:sp>
      <p:sp>
        <p:nvSpPr>
          <p:cNvPr id="29" name="TextBox 28"/>
          <p:cNvSpPr txBox="1"/>
          <p:nvPr/>
        </p:nvSpPr>
        <p:spPr>
          <a:xfrm>
            <a:off x="6642100" y="4813300"/>
            <a:ext cx="15367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PagBank</a:t>
            </a:r>
          </a:p>
        </p:txBody>
      </p:sp>
      <p:sp>
        <p:nvSpPr>
          <p:cNvPr id="30" name="TextBox 29"/>
          <p:cNvSpPr txBox="1"/>
          <p:nvPr/>
        </p:nvSpPr>
        <p:spPr>
          <a:xfrm>
            <a:off x="8432800" y="4813300"/>
            <a:ext cx="13462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Darede</a:t>
            </a:r>
          </a:p>
        </p:txBody>
      </p:sp>
      <p:sp>
        <p:nvSpPr>
          <p:cNvPr id="31" name="TextBox 30"/>
          <p:cNvSpPr txBox="1"/>
          <p:nvPr/>
        </p:nvSpPr>
        <p:spPr>
          <a:xfrm>
            <a:off x="10033000" y="4813300"/>
            <a:ext cx="1549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envio.dev</a:t>
            </a:r>
          </a:p>
        </p:txBody>
      </p:sp>
      <p:sp>
        <p:nvSpPr>
          <p:cNvPr id="32" name="TextBox 31"/>
          <p:cNvSpPr txBox="1"/>
          <p:nvPr/>
        </p:nvSpPr>
        <p:spPr>
          <a:xfrm>
            <a:off x="3962400" y="5321300"/>
            <a:ext cx="7620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CNCF / GitHub · checked 23 October 2026</a:t>
            </a:r>
          </a:p>
        </p:txBody>
      </p:sp>
      <p:sp>
        <p:nvSpPr>
          <p:cNvPr id="33" name="Rounded Rectangle 32"/>
          <p:cNvSpPr/>
          <p:nvPr/>
        </p:nvSpPr>
        <p:spPr>
          <a:xfrm>
            <a:off x="609600" y="5753100"/>
            <a:ext cx="10972800" cy="495300"/>
          </a:xfrm>
          <a:prstGeom prst="roundRect">
            <a:avLst>
              <a:gd name="adj" fmla="val 1794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8200" y="5880100"/>
            <a:ext cx="3365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2762C8"/>
                </a:solidFill>
                <a:latin typeface="Arial"/>
                <a:hlinkClick r:id="rId7"/>
              </a:rPr>
              <a:t>Meet the community</a:t>
            </a:r>
          </a:p>
        </p:txBody>
      </p:sp>
      <p:sp>
        <p:nvSpPr>
          <p:cNvPr id="35" name="TextBox 34"/>
          <p:cNvSpPr txBox="1"/>
          <p:nvPr/>
        </p:nvSpPr>
        <p:spPr>
          <a:xfrm>
            <a:off x="4279900" y="5892800"/>
            <a:ext cx="70739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142338"/>
                </a:solidFill>
                <a:latin typeface="Arial"/>
                <a:hlinkClick r:id="rId7"/>
              </a:rPr>
              <a:t>Every other Wednesday · everyone welcome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JOIN THE COMMUNITY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21 / 21</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Questions?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Try k8gb, meet the maintainers, share your deployment.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556000" cy="4165600"/>
          </a:xfrm>
          <a:prstGeom prst="roundRect">
            <a:avLst>
              <a:gd name="adj" fmla="val 357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863600" y="2291172"/>
            <a:ext cx="431800" cy="421455"/>
          </a:xfrm>
          <a:prstGeom prst="rect">
            <a:avLst/>
          </a:prstGeom>
        </p:spPr>
      </p:pic>
      <p:sp>
        <p:nvSpPr>
          <p:cNvPr id="12" name="TextBox 11"/>
          <p:cNvSpPr txBox="1"/>
          <p:nvPr/>
        </p:nvSpPr>
        <p:spPr>
          <a:xfrm>
            <a:off x="1460500" y="2336800"/>
            <a:ext cx="24511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142338"/>
                </a:solidFill>
                <a:latin typeface="Arial"/>
              </a:rPr>
              <a:t>Try k8gb</a:t>
            </a:r>
          </a:p>
        </p:txBody>
      </p:sp>
      <p:pic>
        <p:nvPicPr>
          <p:cNvPr id="13" name="Picture 12" descr="image.png"/>
          <p:cNvPicPr>
            <a:picLocks noChangeAspect="1"/>
          </p:cNvPicPr>
          <p:nvPr/>
        </p:nvPicPr>
        <p:blipFill>
          <a:blip r:embed="rId3"/>
          <a:stretch>
            <a:fillRect/>
          </a:stretch>
        </p:blipFill>
        <p:spPr>
          <a:xfrm>
            <a:off x="889000" y="2857500"/>
            <a:ext cx="2997200" cy="2997200"/>
          </a:xfrm>
          <a:prstGeom prst="rect">
            <a:avLst/>
          </a:prstGeom>
        </p:spPr>
      </p:pic>
      <p:sp>
        <p:nvSpPr>
          <p:cNvPr id="14" name="TextBox 13"/>
          <p:cNvSpPr txBox="1"/>
          <p:nvPr/>
        </p:nvSpPr>
        <p:spPr>
          <a:xfrm>
            <a:off x="863600" y="5918200"/>
            <a:ext cx="3048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2762C8"/>
                </a:solidFill>
                <a:latin typeface="Arial"/>
                <a:hlinkClick r:id="rId4"/>
              </a:rPr>
              <a:t>k8gb.io</a:t>
            </a:r>
          </a:p>
        </p:txBody>
      </p:sp>
      <p:sp>
        <p:nvSpPr>
          <p:cNvPr id="15" name="Rounded Rectangle 14"/>
          <p:cNvSpPr/>
          <p:nvPr/>
        </p:nvSpPr>
        <p:spPr>
          <a:xfrm>
            <a:off x="4470400" y="20828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686300" y="2298700"/>
            <a:ext cx="482600" cy="482600"/>
          </a:xfrm>
          <a:prstGeom prst="roundRect">
            <a:avLst>
              <a:gd name="adj" fmla="val 21052"/>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70400" y="31242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686300" y="3340100"/>
            <a:ext cx="482600" cy="482600"/>
          </a:xfrm>
          <a:prstGeom prst="roundRect">
            <a:avLst>
              <a:gd name="adj" fmla="val 21052"/>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470400" y="41656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686300" y="4381500"/>
            <a:ext cx="482600" cy="482600"/>
          </a:xfrm>
          <a:prstGeom prst="roundRect">
            <a:avLst>
              <a:gd name="adj" fmla="val 21052"/>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927600" y="2374900"/>
            <a:ext cx="42549" cy="106535"/>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970149" y="2481435"/>
            <a:ext cx="114470" cy="7546"/>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4996446" y="2488981"/>
            <a:ext cx="88173" cy="7338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996446" y="2562369"/>
            <a:ext cx="28197" cy="111199"/>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4927600" y="2612390"/>
            <a:ext cx="97043" cy="6117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4830556" y="2612390"/>
            <a:ext cx="97044" cy="6117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4830556" y="2562369"/>
            <a:ext cx="28197" cy="111199"/>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4770580" y="2488981"/>
            <a:ext cx="88173" cy="7338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4770580" y="2481435"/>
            <a:ext cx="114470" cy="7546"/>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885050" y="2374900"/>
            <a:ext cx="42550" cy="106535"/>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384800" y="22225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STAR &amp; CONTRIBUTE</a:t>
            </a:r>
          </a:p>
        </p:txBody>
      </p:sp>
      <p:sp>
        <p:nvSpPr>
          <p:cNvPr id="32" name="TextBox 31"/>
          <p:cNvSpPr txBox="1"/>
          <p:nvPr/>
        </p:nvSpPr>
        <p:spPr>
          <a:xfrm>
            <a:off x="5384800" y="2527300"/>
            <a:ext cx="5943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hlinkClick r:id="rId5"/>
              </a:rPr>
              <a:t>github.com/k8gb-io/k8gb</a:t>
            </a:r>
          </a:p>
        </p:txBody>
      </p:sp>
      <p:sp>
        <p:nvSpPr>
          <p:cNvPr id="33" name="Rounded Rectangle 32"/>
          <p:cNvSpPr/>
          <p:nvPr/>
        </p:nvSpPr>
        <p:spPr>
          <a:xfrm>
            <a:off x="4775200" y="3454400"/>
            <a:ext cx="304800" cy="190500"/>
          </a:xfrm>
          <a:prstGeom prst="roundRect">
            <a:avLst>
              <a:gd name="adj" fmla="val 26666"/>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4838700" y="3644900"/>
            <a:ext cx="0" cy="63500"/>
          </a:xfrm>
          <a:prstGeom prst="line">
            <a:avLst/>
          </a:prstGeom>
          <a:ln w="177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4838700" y="3644900"/>
            <a:ext cx="88900" cy="63500"/>
          </a:xfrm>
          <a:prstGeom prst="line">
            <a:avLst/>
          </a:prstGeom>
          <a:ln w="1778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48374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9136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49898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84800" y="32639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JOIN THE CONVERSATION</a:t>
            </a:r>
          </a:p>
        </p:txBody>
      </p:sp>
      <p:sp>
        <p:nvSpPr>
          <p:cNvPr id="40" name="TextBox 39"/>
          <p:cNvSpPr txBox="1"/>
          <p:nvPr/>
        </p:nvSpPr>
        <p:spPr>
          <a:xfrm>
            <a:off x="5384800" y="3568700"/>
            <a:ext cx="32004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hlinkClick r:id="rId6"/>
              </a:rPr>
              <a:t>#k8gb · CNCF Slack</a:t>
            </a:r>
          </a:p>
        </p:txBody>
      </p:sp>
      <p:sp>
        <p:nvSpPr>
          <p:cNvPr id="41" name="TextBox 40"/>
          <p:cNvSpPr txBox="1"/>
          <p:nvPr/>
        </p:nvSpPr>
        <p:spPr>
          <a:xfrm>
            <a:off x="8610600" y="3594100"/>
            <a:ext cx="27178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hlinkClick r:id="rId7"/>
              </a:rPr>
              <a:t>Community meetings</a:t>
            </a:r>
          </a:p>
        </p:txBody>
      </p:sp>
      <p:sp>
        <p:nvSpPr>
          <p:cNvPr id="42" name="Rounded Rectangle 41"/>
          <p:cNvSpPr/>
          <p:nvPr/>
        </p:nvSpPr>
        <p:spPr>
          <a:xfrm>
            <a:off x="4813300" y="4457700"/>
            <a:ext cx="215900" cy="292100"/>
          </a:xfrm>
          <a:prstGeom prst="roundRect">
            <a:avLst>
              <a:gd name="adj" fmla="val 11764"/>
            </a:avLst>
          </a:prstGeom>
          <a:solidFill>
            <a:srgbClr val="FBE9EE"/>
          </a:solidFill>
          <a:ln w="1651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4864100" y="4533900"/>
            <a:ext cx="114300" cy="0"/>
          </a:xfrm>
          <a:prstGeom prst="line">
            <a:avLst/>
          </a:prstGeom>
          <a:ln w="1397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864100" y="4584700"/>
            <a:ext cx="114300" cy="0"/>
          </a:xfrm>
          <a:prstGeom prst="line">
            <a:avLst/>
          </a:prstGeom>
          <a:ln w="1397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041900" y="4648200"/>
            <a:ext cx="0" cy="1524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965700" y="4724400"/>
            <a:ext cx="1524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5384800" y="43053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CF0035"/>
                </a:solidFill>
                <a:latin typeface="Arial"/>
              </a:rPr>
              <a:t>SHARE YOUR DEPLOYMENT</a:t>
            </a:r>
          </a:p>
        </p:txBody>
      </p:sp>
      <p:sp>
        <p:nvSpPr>
          <p:cNvPr id="48" name="TextBox 47"/>
          <p:cNvSpPr txBox="1"/>
          <p:nvPr/>
        </p:nvSpPr>
        <p:spPr>
          <a:xfrm>
            <a:off x="5384800" y="4610100"/>
            <a:ext cx="5943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hlinkClick r:id="rId8"/>
              </a:rPr>
              <a:t>Add your organization to ADOPTERS.md</a:t>
            </a:r>
          </a:p>
        </p:txBody>
      </p:sp>
      <p:sp>
        <p:nvSpPr>
          <p:cNvPr id="49" name="Rounded Rectangle 48"/>
          <p:cNvSpPr/>
          <p:nvPr/>
        </p:nvSpPr>
        <p:spPr>
          <a:xfrm>
            <a:off x="4470400" y="5283200"/>
            <a:ext cx="7112000" cy="965200"/>
          </a:xfrm>
          <a:prstGeom prst="roundRect">
            <a:avLst>
              <a:gd name="adj" fmla="val 11842"/>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24400" y="5422900"/>
            <a:ext cx="2603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Yury Tsarev</a:t>
            </a:r>
          </a:p>
        </p:txBody>
      </p:sp>
      <p:sp>
        <p:nvSpPr>
          <p:cNvPr id="51" name="TextBox 50"/>
          <p:cNvSpPr txBox="1"/>
          <p:nvPr/>
        </p:nvSpPr>
        <p:spPr>
          <a:xfrm>
            <a:off x="7404100" y="5511800"/>
            <a:ext cx="39116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B8C8D9"/>
                </a:solidFill>
                <a:latin typeface="Arial"/>
              </a:rPr>
              <a:t>Creator &amp; Project Lead · k8gb</a:t>
            </a:r>
          </a:p>
        </p:txBody>
      </p:sp>
      <p:sp>
        <p:nvSpPr>
          <p:cNvPr id="52" name="TextBox 51"/>
          <p:cNvSpPr txBox="1"/>
          <p:nvPr/>
        </p:nvSpPr>
        <p:spPr>
          <a:xfrm>
            <a:off x="4724400" y="5854700"/>
            <a:ext cx="6604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83ADFF"/>
                </a:solidFill>
                <a:latin typeface="Arial"/>
                <a:hlinkClick r:id="rId9"/>
              </a:rPr>
              <a:t>linkedin.com/in/yurytsarev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CURRENT IMPLEMENTATION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A1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Two k8gb reconciliation loops feed DNS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TextBox 8"/>
          <p:cNvSpPr txBox="1"/>
          <p:nvPr/>
        </p:nvSpPr>
        <p:spPr>
          <a:xfrm>
            <a:off x="609600" y="1828800"/>
            <a:ext cx="7239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ZONE MEMBERSHIP + DELEGATION</a:t>
            </a:r>
          </a:p>
        </p:txBody>
      </p:sp>
      <p:sp>
        <p:nvSpPr>
          <p:cNvPr id="10" name="TextBox 9"/>
          <p:cNvSpPr txBox="1"/>
          <p:nvPr/>
        </p:nvSpPr>
        <p:spPr>
          <a:xfrm>
            <a:off x="8458200" y="1828800"/>
            <a:ext cx="31242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5D6F82"/>
                </a:solidFill>
                <a:latin typeface="Arial"/>
              </a:rPr>
              <a:t>ExternalDNS provider path</a:t>
            </a:r>
          </a:p>
        </p:txBody>
      </p:sp>
      <p:cxnSp>
        <p:nvCxnSpPr>
          <p:cNvPr id="11" name="Connector 10"/>
          <p:cNvCxnSpPr/>
          <p:nvPr/>
        </p:nvCxnSpPr>
        <p:spPr>
          <a:xfrm>
            <a:off x="3721100" y="2654300"/>
            <a:ext cx="7874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74000" y="2654300"/>
            <a:ext cx="5842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20300" y="3098800"/>
            <a:ext cx="0" cy="3302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721100" y="2921000"/>
            <a:ext cx="393700" cy="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14800" y="2921000"/>
            <a:ext cx="0" cy="93980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114800" y="3860800"/>
            <a:ext cx="3937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302000" y="3098800"/>
            <a:ext cx="0" cy="1727200"/>
          </a:xfrm>
          <a:prstGeom prst="line">
            <a:avLst/>
          </a:prstGeom>
          <a:ln w="2286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09600" y="22098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96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2800" y="23749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ZoneDelegation</a:t>
            </a:r>
          </a:p>
        </p:txBody>
      </p:sp>
      <p:sp>
        <p:nvSpPr>
          <p:cNvPr id="21" name="TextBox 20"/>
          <p:cNvSpPr txBox="1"/>
          <p:nvPr/>
        </p:nvSpPr>
        <p:spPr>
          <a:xfrm>
            <a:off x="812800" y="27432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Zone + DNS-server state</a:t>
            </a:r>
          </a:p>
        </p:txBody>
      </p:sp>
      <p:sp>
        <p:nvSpPr>
          <p:cNvPr id="22" name="Rounded Rectangle 21"/>
          <p:cNvSpPr/>
          <p:nvPr/>
        </p:nvSpPr>
        <p:spPr>
          <a:xfrm>
            <a:off x="4508500" y="22098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085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11700" y="23749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25" name="TextBox 24"/>
          <p:cNvSpPr txBox="1"/>
          <p:nvPr/>
        </p:nvSpPr>
        <p:spPr>
          <a:xfrm>
            <a:off x="4711700" y="27432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Delegation NS + addresses</a:t>
            </a:r>
          </a:p>
        </p:txBody>
      </p:sp>
      <p:sp>
        <p:nvSpPr>
          <p:cNvPr id="26" name="Rounded Rectangle 25"/>
          <p:cNvSpPr/>
          <p:nvPr/>
        </p:nvSpPr>
        <p:spPr>
          <a:xfrm>
            <a:off x="8458200" y="22098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582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mage.png"/>
          <p:cNvPicPr>
            <a:picLocks noChangeAspect="1"/>
          </p:cNvPicPr>
          <p:nvPr/>
        </p:nvPicPr>
        <p:blipFill>
          <a:blip r:embed="rId2"/>
          <a:stretch>
            <a:fillRect/>
          </a:stretch>
        </p:blipFill>
        <p:spPr>
          <a:xfrm>
            <a:off x="8610776" y="2374900"/>
            <a:ext cx="558447" cy="558800"/>
          </a:xfrm>
          <a:prstGeom prst="rect">
            <a:avLst/>
          </a:prstGeom>
        </p:spPr>
      </p:pic>
      <p:sp>
        <p:nvSpPr>
          <p:cNvPr id="29" name="TextBox 28"/>
          <p:cNvSpPr txBox="1"/>
          <p:nvPr/>
        </p:nvSpPr>
        <p:spPr>
          <a:xfrm>
            <a:off x="9296400" y="23749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ExternalDNS</a:t>
            </a:r>
          </a:p>
        </p:txBody>
      </p:sp>
      <p:sp>
        <p:nvSpPr>
          <p:cNvPr id="30" name="TextBox 29"/>
          <p:cNvSpPr txBox="1"/>
          <p:nvPr/>
        </p:nvSpPr>
        <p:spPr>
          <a:xfrm>
            <a:off x="9296400" y="27432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Sync parent records</a:t>
            </a:r>
          </a:p>
        </p:txBody>
      </p:sp>
      <p:sp>
        <p:nvSpPr>
          <p:cNvPr id="31" name="TextBox 30"/>
          <p:cNvSpPr txBox="1"/>
          <p:nvPr/>
        </p:nvSpPr>
        <p:spPr>
          <a:xfrm>
            <a:off x="4508500" y="3187700"/>
            <a:ext cx="33655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Zone configuration</a:t>
            </a:r>
          </a:p>
        </p:txBody>
      </p:sp>
      <p:sp>
        <p:nvSpPr>
          <p:cNvPr id="32" name="Rounded Rectangle 31"/>
          <p:cNvSpPr/>
          <p:nvPr/>
        </p:nvSpPr>
        <p:spPr>
          <a:xfrm>
            <a:off x="4508500" y="3429000"/>
            <a:ext cx="33655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085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mage.png"/>
          <p:cNvPicPr>
            <a:picLocks noChangeAspect="1"/>
          </p:cNvPicPr>
          <p:nvPr/>
        </p:nvPicPr>
        <p:blipFill>
          <a:blip r:embed="rId3"/>
          <a:stretch>
            <a:fillRect/>
          </a:stretch>
        </p:blipFill>
        <p:spPr>
          <a:xfrm>
            <a:off x="4660900" y="3581400"/>
            <a:ext cx="558800" cy="558800"/>
          </a:xfrm>
          <a:prstGeom prst="rect">
            <a:avLst/>
          </a:prstGeom>
        </p:spPr>
      </p:pic>
      <p:sp>
        <p:nvSpPr>
          <p:cNvPr id="35" name="TextBox 34"/>
          <p:cNvSpPr txBox="1"/>
          <p:nvPr/>
        </p:nvSpPr>
        <p:spPr>
          <a:xfrm>
            <a:off x="5346700" y="3594100"/>
            <a:ext cx="2349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36" name="TextBox 35"/>
          <p:cNvSpPr txBox="1"/>
          <p:nvPr/>
        </p:nvSpPr>
        <p:spPr>
          <a:xfrm>
            <a:off x="5346700" y="3962400"/>
            <a:ext cx="2349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Activate delegated zone</a:t>
            </a:r>
          </a:p>
        </p:txBody>
      </p:sp>
      <p:sp>
        <p:nvSpPr>
          <p:cNvPr id="37" name="TextBox 36"/>
          <p:cNvSpPr txBox="1"/>
          <p:nvPr/>
        </p:nvSpPr>
        <p:spPr>
          <a:xfrm>
            <a:off x="8458200" y="3187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Parent delegation</a:t>
            </a:r>
          </a:p>
        </p:txBody>
      </p:sp>
      <p:sp>
        <p:nvSpPr>
          <p:cNvPr id="38" name="Rounded Rectangle 37"/>
          <p:cNvSpPr/>
          <p:nvPr/>
        </p:nvSpPr>
        <p:spPr>
          <a:xfrm>
            <a:off x="8458200" y="3429000"/>
            <a:ext cx="31242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582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61400" y="3594100"/>
            <a:ext cx="2743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Parent DNS</a:t>
            </a:r>
          </a:p>
        </p:txBody>
      </p:sp>
      <p:sp>
        <p:nvSpPr>
          <p:cNvPr id="41" name="TextBox 40"/>
          <p:cNvSpPr txBox="1"/>
          <p:nvPr/>
        </p:nvSpPr>
        <p:spPr>
          <a:xfrm>
            <a:off x="8661400" y="3962400"/>
            <a:ext cx="2743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NS + address records</a:t>
            </a:r>
          </a:p>
        </p:txBody>
      </p:sp>
      <p:sp>
        <p:nvSpPr>
          <p:cNvPr id="42" name="TextBox 41"/>
          <p:cNvSpPr txBox="1"/>
          <p:nvPr/>
        </p:nvSpPr>
        <p:spPr>
          <a:xfrm>
            <a:off x="990600" y="3759200"/>
            <a:ext cx="2159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087F85"/>
                </a:solidFill>
                <a:latin typeface="Arial"/>
              </a:rPr>
              <a:t>Peer DNS IPs</a:t>
            </a:r>
          </a:p>
        </p:txBody>
      </p:sp>
      <p:sp>
        <p:nvSpPr>
          <p:cNvPr id="43" name="TextBox 42"/>
          <p:cNvSpPr txBox="1"/>
          <p:nvPr/>
        </p:nvSpPr>
        <p:spPr>
          <a:xfrm>
            <a:off x="609600" y="4470400"/>
            <a:ext cx="10795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APPLICATION ANSWERS</a:t>
            </a:r>
          </a:p>
        </p:txBody>
      </p:sp>
      <p:sp>
        <p:nvSpPr>
          <p:cNvPr id="44" name="Rounded Rectangle 43"/>
          <p:cNvSpPr/>
          <p:nvPr/>
        </p:nvSpPr>
        <p:spPr>
          <a:xfrm>
            <a:off x="609600" y="48260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96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2800" y="49911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Gslb + readiness</a:t>
            </a:r>
          </a:p>
        </p:txBody>
      </p:sp>
      <p:sp>
        <p:nvSpPr>
          <p:cNvPr id="47" name="TextBox 46"/>
          <p:cNvSpPr txBox="1"/>
          <p:nvPr/>
        </p:nvSpPr>
        <p:spPr>
          <a:xfrm>
            <a:off x="812800" y="53594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Strategy + ready endpoints</a:t>
            </a:r>
          </a:p>
        </p:txBody>
      </p:sp>
      <p:sp>
        <p:nvSpPr>
          <p:cNvPr id="48" name="Rounded Rectangle 47"/>
          <p:cNvSpPr/>
          <p:nvPr/>
        </p:nvSpPr>
        <p:spPr>
          <a:xfrm>
            <a:off x="4508500" y="48260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085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11700" y="49911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51" name="TextBox 50"/>
          <p:cNvSpPr txBox="1"/>
          <p:nvPr/>
        </p:nvSpPr>
        <p:spPr>
          <a:xfrm>
            <a:off x="4711700" y="53594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Eligible application IPs</a:t>
            </a:r>
          </a:p>
        </p:txBody>
      </p:sp>
      <p:sp>
        <p:nvSpPr>
          <p:cNvPr id="52" name="Rounded Rectangle 51"/>
          <p:cNvSpPr/>
          <p:nvPr/>
        </p:nvSpPr>
        <p:spPr>
          <a:xfrm>
            <a:off x="8458200" y="48260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4582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image.png"/>
          <p:cNvPicPr>
            <a:picLocks noChangeAspect="1"/>
          </p:cNvPicPr>
          <p:nvPr/>
        </p:nvPicPr>
        <p:blipFill>
          <a:blip r:embed="rId3"/>
          <a:stretch>
            <a:fillRect/>
          </a:stretch>
        </p:blipFill>
        <p:spPr>
          <a:xfrm>
            <a:off x="8610600" y="4991100"/>
            <a:ext cx="558800" cy="558800"/>
          </a:xfrm>
          <a:prstGeom prst="rect">
            <a:avLst/>
          </a:prstGeom>
        </p:spPr>
      </p:pic>
      <p:sp>
        <p:nvSpPr>
          <p:cNvPr id="55" name="TextBox 54"/>
          <p:cNvSpPr txBox="1"/>
          <p:nvPr/>
        </p:nvSpPr>
        <p:spPr>
          <a:xfrm>
            <a:off x="9296400" y="49911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56" name="TextBox 55"/>
          <p:cNvSpPr txBox="1"/>
          <p:nvPr/>
        </p:nvSpPr>
        <p:spPr>
          <a:xfrm>
            <a:off x="9296400" y="53594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 answers</a:t>
            </a:r>
          </a:p>
        </p:txBody>
      </p:sp>
      <p:cxnSp>
        <p:nvCxnSpPr>
          <p:cNvPr id="57" name="Connector 56"/>
          <p:cNvCxnSpPr/>
          <p:nvPr/>
        </p:nvCxnSpPr>
        <p:spPr>
          <a:xfrm>
            <a:off x="3721100" y="5270500"/>
            <a:ext cx="7874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874000" y="5270500"/>
            <a:ext cx="5842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09600" y="6057900"/>
            <a:ext cx="10972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0">
                <a:solidFill>
                  <a:srgbClr val="5D6F82"/>
                </a:solidFill>
                <a:latin typeface="Arial"/>
              </a:rPr>
              <a:t>Membership refresh and application reconciliation run separately.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DNS OWNERSHIP</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A2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Delegation is the authority boundary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Parent DNS delegates the zone. CoreDNS answers application lookups.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937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32000"/>
            <a:ext cx="3937000" cy="2844800"/>
          </a:xfrm>
          <a:prstGeom prst="roundRect">
            <a:avLst>
              <a:gd name="adj" fmla="val 446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044700"/>
            <a:ext cx="13081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89000" y="2286000"/>
            <a:ext cx="2794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PARENT ZONE</a:t>
            </a:r>
          </a:p>
        </p:txBody>
      </p:sp>
      <p:sp>
        <p:nvSpPr>
          <p:cNvPr id="14" name="TextBox 13"/>
          <p:cNvSpPr txBox="1"/>
          <p:nvPr/>
        </p:nvSpPr>
        <p:spPr>
          <a:xfrm>
            <a:off x="889000" y="2578100"/>
            <a:ext cx="2921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example.com</a:t>
            </a:r>
          </a:p>
        </p:txBody>
      </p:sp>
      <p:sp>
        <p:nvSpPr>
          <p:cNvPr id="15" name="Oval 14"/>
          <p:cNvSpPr/>
          <p:nvPr/>
        </p:nvSpPr>
        <p:spPr>
          <a:xfrm>
            <a:off x="3848100" y="2349500"/>
            <a:ext cx="482600" cy="482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924300" y="2425700"/>
            <a:ext cx="330200" cy="330200"/>
          </a:xfrm>
          <a:prstGeom prst="ellipse">
            <a:avLst/>
          </a:prstGeom>
          <a:solidFill>
            <a:srgbClr val="EAF0FB"/>
          </a:solidFill>
          <a:ln w="1524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013200" y="2425700"/>
            <a:ext cx="152400" cy="330200"/>
          </a:xfrm>
          <a:prstGeom prst="ellipse">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3924300" y="2590800"/>
            <a:ext cx="3302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949700" y="25146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949700" y="26670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9000" y="3086100"/>
            <a:ext cx="33782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3600" y="3251200"/>
            <a:ext cx="3429000" cy="1143000"/>
          </a:xfrm>
          <a:prstGeom prst="roundRect">
            <a:avLst>
              <a:gd name="adj" fmla="val 777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1400" y="3378200"/>
            <a:ext cx="30734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NS RECORDS FOR</a:t>
            </a:r>
          </a:p>
        </p:txBody>
      </p:sp>
      <p:sp>
        <p:nvSpPr>
          <p:cNvPr id="24" name="TextBox 23"/>
          <p:cNvSpPr txBox="1"/>
          <p:nvPr/>
        </p:nvSpPr>
        <p:spPr>
          <a:xfrm>
            <a:off x="1041400" y="3606800"/>
            <a:ext cx="30734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142338"/>
                </a:solidFill>
                <a:latin typeface="Courier New"/>
              </a:rPr>
              <a:t>gslb.example.com</a:t>
            </a:r>
          </a:p>
        </p:txBody>
      </p:sp>
      <p:sp>
        <p:nvSpPr>
          <p:cNvPr id="25" name="Rounded Rectangle 24"/>
          <p:cNvSpPr/>
          <p:nvPr/>
        </p:nvSpPr>
        <p:spPr>
          <a:xfrm>
            <a:off x="1041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68400" y="4070350"/>
            <a:ext cx="76200" cy="762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6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2762C8"/>
                </a:solidFill>
                <a:latin typeface="Courier New"/>
              </a:rPr>
              <a:t>ns-a</a:t>
            </a:r>
          </a:p>
        </p:txBody>
      </p:sp>
      <p:sp>
        <p:nvSpPr>
          <p:cNvPr id="28" name="Rounded Rectangle 27"/>
          <p:cNvSpPr/>
          <p:nvPr/>
        </p:nvSpPr>
        <p:spPr>
          <a:xfrm>
            <a:off x="2565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692400" y="4070350"/>
            <a:ext cx="76200" cy="762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70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087F85"/>
                </a:solidFill>
                <a:latin typeface="Courier New"/>
              </a:rPr>
              <a:t>ns-b</a:t>
            </a:r>
          </a:p>
        </p:txBody>
      </p:sp>
      <p:sp>
        <p:nvSpPr>
          <p:cNvPr id="31" name="TextBox 30"/>
          <p:cNvSpPr txBox="1"/>
          <p:nvPr/>
        </p:nvSpPr>
        <p:spPr>
          <a:xfrm>
            <a:off x="863600" y="4559300"/>
            <a:ext cx="34290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5D6F82"/>
                </a:solidFill>
                <a:latin typeface="Arial"/>
              </a:rPr>
              <a:t>Nameserver addresses published too.</a:t>
            </a:r>
          </a:p>
        </p:txBody>
      </p:sp>
      <p:cxnSp>
        <p:nvCxnSpPr>
          <p:cNvPr id="32" name="Connector 31"/>
          <p:cNvCxnSpPr/>
          <p:nvPr/>
        </p:nvCxnSpPr>
        <p:spPr>
          <a:xfrm>
            <a:off x="5397500" y="2146300"/>
            <a:ext cx="0" cy="2590800"/>
          </a:xfrm>
          <a:prstGeom prst="line">
            <a:avLst/>
          </a:prstGeom>
          <a:ln w="15240">
            <a:solidFill>
              <a:srgbClr val="E7BCC7"/>
            </a:solidFill>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635500" y="3136900"/>
            <a:ext cx="152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DELEGATES</a:t>
            </a:r>
          </a:p>
        </p:txBody>
      </p:sp>
      <p:cxnSp>
        <p:nvCxnSpPr>
          <p:cNvPr id="34" name="Connector 33"/>
          <p:cNvCxnSpPr/>
          <p:nvPr/>
        </p:nvCxnSpPr>
        <p:spPr>
          <a:xfrm>
            <a:off x="4546600" y="3632200"/>
            <a:ext cx="1701800" cy="0"/>
          </a:xfrm>
          <a:prstGeom prst="line">
            <a:avLst/>
          </a:prstGeom>
          <a:ln w="3175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080000" y="3467100"/>
            <a:ext cx="635000" cy="330200"/>
          </a:xfrm>
          <a:prstGeom prst="roundRect">
            <a:avLst>
              <a:gd name="adj" fmla="val 23076"/>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68900" y="3517900"/>
            <a:ext cx="45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NS</a:t>
            </a:r>
          </a:p>
        </p:txBody>
      </p:sp>
      <p:sp>
        <p:nvSpPr>
          <p:cNvPr id="37" name="Rounded Rectangle 36"/>
          <p:cNvSpPr/>
          <p:nvPr/>
        </p:nvSpPr>
        <p:spPr>
          <a:xfrm>
            <a:off x="6248400" y="2082800"/>
            <a:ext cx="5334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248400" y="2032000"/>
            <a:ext cx="5334000" cy="2844800"/>
          </a:xfrm>
          <a:prstGeom prst="roundRect">
            <a:avLst>
              <a:gd name="adj" fmla="val 4464"/>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27800" y="2044700"/>
            <a:ext cx="17780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27800" y="2286000"/>
            <a:ext cx="4775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6DD3CE"/>
                </a:solidFill>
                <a:latin typeface="Arial"/>
              </a:rPr>
              <a:t>DELEGATED ZONE</a:t>
            </a:r>
          </a:p>
        </p:txBody>
      </p:sp>
      <p:sp>
        <p:nvSpPr>
          <p:cNvPr id="41" name="TextBox 40"/>
          <p:cNvSpPr txBox="1"/>
          <p:nvPr/>
        </p:nvSpPr>
        <p:spPr>
          <a:xfrm>
            <a:off x="6527800" y="2578100"/>
            <a:ext cx="47752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gslb.example.com</a:t>
            </a:r>
          </a:p>
        </p:txBody>
      </p:sp>
      <p:sp>
        <p:nvSpPr>
          <p:cNvPr id="42" name="Rounded Rectangle 41"/>
          <p:cNvSpPr/>
          <p:nvPr/>
        </p:nvSpPr>
        <p:spPr>
          <a:xfrm>
            <a:off x="65024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802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CLUSTER A</a:t>
            </a:r>
          </a:p>
        </p:txBody>
      </p:sp>
      <p:sp>
        <p:nvSpPr>
          <p:cNvPr id="44" name="TextBox 43"/>
          <p:cNvSpPr txBox="1"/>
          <p:nvPr/>
        </p:nvSpPr>
        <p:spPr>
          <a:xfrm>
            <a:off x="78994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ns-a</a:t>
            </a:r>
          </a:p>
        </p:txBody>
      </p:sp>
      <p:pic>
        <p:nvPicPr>
          <p:cNvPr id="45" name="Picture 44" descr="image.png"/>
          <p:cNvPicPr>
            <a:picLocks noChangeAspect="1"/>
          </p:cNvPicPr>
          <p:nvPr/>
        </p:nvPicPr>
        <p:blipFill>
          <a:blip r:embed="rId2"/>
          <a:stretch>
            <a:fillRect/>
          </a:stretch>
        </p:blipFill>
        <p:spPr>
          <a:xfrm>
            <a:off x="6680200" y="3733800"/>
            <a:ext cx="431800" cy="431800"/>
          </a:xfrm>
          <a:prstGeom prst="rect">
            <a:avLst/>
          </a:prstGeom>
        </p:spPr>
      </p:pic>
      <p:sp>
        <p:nvSpPr>
          <p:cNvPr id="46" name="TextBox 45"/>
          <p:cNvSpPr txBox="1"/>
          <p:nvPr/>
        </p:nvSpPr>
        <p:spPr>
          <a:xfrm>
            <a:off x="72390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47" name="Rounded Rectangle 46"/>
          <p:cNvSpPr/>
          <p:nvPr/>
        </p:nvSpPr>
        <p:spPr>
          <a:xfrm>
            <a:off x="90043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21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CLUSTER B</a:t>
            </a:r>
          </a:p>
        </p:txBody>
      </p:sp>
      <p:sp>
        <p:nvSpPr>
          <p:cNvPr id="49" name="TextBox 48"/>
          <p:cNvSpPr txBox="1"/>
          <p:nvPr/>
        </p:nvSpPr>
        <p:spPr>
          <a:xfrm>
            <a:off x="104013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ns-b</a:t>
            </a:r>
          </a:p>
        </p:txBody>
      </p:sp>
      <p:pic>
        <p:nvPicPr>
          <p:cNvPr id="50" name="Picture 49" descr="image.png"/>
          <p:cNvPicPr>
            <a:picLocks noChangeAspect="1"/>
          </p:cNvPicPr>
          <p:nvPr/>
        </p:nvPicPr>
        <p:blipFill>
          <a:blip r:embed="rId2"/>
          <a:stretch>
            <a:fillRect/>
          </a:stretch>
        </p:blipFill>
        <p:spPr>
          <a:xfrm>
            <a:off x="9182100" y="3733800"/>
            <a:ext cx="431800" cy="431800"/>
          </a:xfrm>
          <a:prstGeom prst="rect">
            <a:avLst/>
          </a:prstGeom>
        </p:spPr>
      </p:pic>
      <p:sp>
        <p:nvSpPr>
          <p:cNvPr id="51" name="TextBox 50"/>
          <p:cNvSpPr txBox="1"/>
          <p:nvPr/>
        </p:nvSpPr>
        <p:spPr>
          <a:xfrm>
            <a:off x="97409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52" name="TextBox 51"/>
          <p:cNvSpPr txBox="1"/>
          <p:nvPr/>
        </p:nvSpPr>
        <p:spPr>
          <a:xfrm>
            <a:off x="6527800" y="4508500"/>
            <a:ext cx="4775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Both serve the same application zone.</a:t>
            </a:r>
          </a:p>
        </p:txBody>
      </p:sp>
      <p:sp>
        <p:nvSpPr>
          <p:cNvPr id="53" name="Rounded Rectangle 52"/>
          <p:cNvSpPr/>
          <p:nvPr/>
        </p:nvSpPr>
        <p:spPr>
          <a:xfrm>
            <a:off x="609600" y="5118100"/>
            <a:ext cx="10972800" cy="571500"/>
          </a:xfrm>
          <a:prstGeom prst="roundRect">
            <a:avLst>
              <a:gd name="adj" fmla="val 1555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00100" y="5257800"/>
            <a:ext cx="3937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76300" y="5295900"/>
            <a:ext cx="241300" cy="242569"/>
          </a:xfrm>
          <a:prstGeom prst="rect">
            <a:avLst/>
          </a:prstGeom>
          <a:noFill/>
        </p:spPr>
        <p:txBody>
          <a:bodyPr wrap="none" lIns="0" rIns="0" tIns="0" bIns="0" anchor="t">
            <a:noAutofit/>
          </a:bodyPr>
          <a:lstStyle/>
          <a:p>
            <a:pPr algn="ctr">
              <a:lnSpc>
                <a:spcPts val="1609"/>
              </a:lnSpc>
              <a:spcBef>
                <a:spcPts val="0"/>
              </a:spcBef>
              <a:spcAft>
                <a:spcPts val="0"/>
              </a:spcAft>
            </a:pPr>
            <a:r>
              <a:rPr sz="1400" b="1">
                <a:solidFill>
                  <a:srgbClr val="2762C8"/>
                </a:solidFill>
                <a:latin typeface="Arial"/>
              </a:rPr>
              <a:t>A</a:t>
            </a:r>
          </a:p>
        </p:txBody>
      </p:sp>
      <p:sp>
        <p:nvSpPr>
          <p:cNvPr id="56" name="TextBox 55"/>
          <p:cNvSpPr txBox="1"/>
          <p:nvPr/>
        </p:nvSpPr>
        <p:spPr>
          <a:xfrm>
            <a:off x="1358900" y="5245100"/>
            <a:ext cx="472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app.gslb.example.com</a:t>
            </a:r>
          </a:p>
        </p:txBody>
      </p:sp>
      <p:cxnSp>
        <p:nvCxnSpPr>
          <p:cNvPr id="57" name="Connector 56"/>
          <p:cNvCxnSpPr/>
          <p:nvPr/>
        </p:nvCxnSpPr>
        <p:spPr>
          <a:xfrm>
            <a:off x="6121400" y="5410200"/>
            <a:ext cx="850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277100" y="5245100"/>
            <a:ext cx="4000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087F85"/>
                </a:solidFill>
                <a:latin typeface="Arial"/>
              </a:rPr>
              <a:t>Eligible application IPs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Own the name, the delegation, and DNS recovery.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01</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A3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Normal operation: both authorities prefer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Both applications are ready. Cluster A is the preferred target.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02</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A4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loses ready targets: publish 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unready; its DNS authority is still available.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UNREADY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25" name="Oval 24"/>
          <p:cNvSpPr/>
          <p:nvPr/>
        </p:nvSpPr>
        <p:spPr>
          <a:xfrm>
            <a:off x="45847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42" name="Oval 41"/>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03</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A5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recovers: the strategy returns to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ready again. The primary preference returns.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AVAILABILITY MODEL</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A6 / 06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recovery is one part of availability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DNS failover, data recovery, and sessions need separate plans.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209800"/>
            <a:ext cx="70358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59000"/>
            <a:ext cx="7035800" cy="3429000"/>
          </a:xfrm>
          <a:prstGeom prst="roundRect">
            <a:avLst>
              <a:gd name="adj" fmla="val 370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67676"/>
            <a:ext cx="457200" cy="446247"/>
          </a:xfrm>
          <a:prstGeom prst="rect">
            <a:avLst/>
          </a:prstGeom>
        </p:spPr>
      </p:pic>
      <p:sp>
        <p:nvSpPr>
          <p:cNvPr id="13" name="TextBox 12"/>
          <p:cNvSpPr txBox="1"/>
          <p:nvPr/>
        </p:nvSpPr>
        <p:spPr>
          <a:xfrm>
            <a:off x="1473200" y="2476500"/>
            <a:ext cx="5918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k8gb · TRAFFIC STEERING</a:t>
            </a:r>
          </a:p>
        </p:txBody>
      </p:sp>
      <p:cxnSp>
        <p:nvCxnSpPr>
          <p:cNvPr id="14" name="Connector 13"/>
          <p:cNvCxnSpPr/>
          <p:nvPr/>
        </p:nvCxnSpPr>
        <p:spPr>
          <a:xfrm>
            <a:off x="863600" y="2959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701800" y="3149600"/>
            <a:ext cx="2540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FAILURE</a:t>
            </a:r>
          </a:p>
        </p:txBody>
      </p:sp>
      <p:sp>
        <p:nvSpPr>
          <p:cNvPr id="16" name="TextBox 15"/>
          <p:cNvSpPr txBox="1"/>
          <p:nvPr/>
        </p:nvSpPr>
        <p:spPr>
          <a:xfrm>
            <a:off x="5105400" y="3149600"/>
            <a:ext cx="2286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DNS RESPONSE</a:t>
            </a:r>
          </a:p>
        </p:txBody>
      </p:sp>
      <p:cxnSp>
        <p:nvCxnSpPr>
          <p:cNvPr id="17" name="Connector 16"/>
          <p:cNvCxnSpPr/>
          <p:nvPr/>
        </p:nvCxnSpPr>
        <p:spPr>
          <a:xfrm>
            <a:off x="863600" y="4356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63600" y="3479800"/>
            <a:ext cx="685800" cy="685800"/>
          </a:xfrm>
          <a:prstGeom prst="roundRect">
            <a:avLst>
              <a:gd name="adj" fmla="val 1851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1800" y="35052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APPLICATION</a:t>
            </a:r>
          </a:p>
        </p:txBody>
      </p:sp>
      <p:sp>
        <p:nvSpPr>
          <p:cNvPr id="20" name="TextBox 19"/>
          <p:cNvSpPr txBox="1"/>
          <p:nvPr/>
        </p:nvSpPr>
        <p:spPr>
          <a:xfrm>
            <a:off x="1701800" y="39243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Readiness lost</a:t>
            </a:r>
          </a:p>
        </p:txBody>
      </p:sp>
      <p:cxnSp>
        <p:nvCxnSpPr>
          <p:cNvPr id="21" name="Connector 20"/>
          <p:cNvCxnSpPr/>
          <p:nvPr/>
        </p:nvCxnSpPr>
        <p:spPr>
          <a:xfrm>
            <a:off x="4419600" y="3810000"/>
            <a:ext cx="4826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105400" y="35814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2762C8"/>
                </a:solidFill>
                <a:latin typeface="Arial"/>
              </a:rPr>
              <a:t>Exclude unready</a:t>
            </a:r>
          </a:p>
          <a:p>
            <a:pPr algn="l">
              <a:lnSpc>
                <a:spcPts val="2250"/>
              </a:lnSpc>
              <a:spcBef>
                <a:spcPts val="0"/>
              </a:spcBef>
              <a:spcAft>
                <a:spcPts val="0"/>
              </a:spcAft>
            </a:pPr>
            <a:r>
              <a:rPr sz="1800" b="1">
                <a:solidFill>
                  <a:srgbClr val="2762C8"/>
                </a:solidFill>
                <a:latin typeface="Arial"/>
              </a:rPr>
              <a:t>targets</a:t>
            </a:r>
          </a:p>
        </p:txBody>
      </p:sp>
      <p:sp>
        <p:nvSpPr>
          <p:cNvPr id="23" name="Rounded Rectangle 22"/>
          <p:cNvSpPr/>
          <p:nvPr/>
        </p:nvSpPr>
        <p:spPr>
          <a:xfrm>
            <a:off x="863600" y="4597400"/>
            <a:ext cx="685800" cy="685800"/>
          </a:xfrm>
          <a:prstGeom prst="roundRect">
            <a:avLst>
              <a:gd name="adj" fmla="val 18518"/>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01800" y="46228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CLUSTER / REGION</a:t>
            </a:r>
          </a:p>
        </p:txBody>
      </p:sp>
      <p:sp>
        <p:nvSpPr>
          <p:cNvPr id="25" name="TextBox 24"/>
          <p:cNvSpPr txBox="1"/>
          <p:nvPr/>
        </p:nvSpPr>
        <p:spPr>
          <a:xfrm>
            <a:off x="1701800" y="50419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Cluster unavailable</a:t>
            </a:r>
          </a:p>
        </p:txBody>
      </p:sp>
      <p:cxnSp>
        <p:nvCxnSpPr>
          <p:cNvPr id="26" name="Connector 25"/>
          <p:cNvCxnSpPr/>
          <p:nvPr/>
        </p:nvCxnSpPr>
        <p:spPr>
          <a:xfrm>
            <a:off x="4419600" y="4927600"/>
            <a:ext cx="4826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105400" y="46990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087F85"/>
                </a:solidFill>
                <a:latin typeface="Arial"/>
              </a:rPr>
              <a:t>Publish healthy</a:t>
            </a:r>
          </a:p>
          <a:p>
            <a:pPr algn="l">
              <a:lnSpc>
                <a:spcPts val="2250"/>
              </a:lnSpc>
              <a:spcBef>
                <a:spcPts val="0"/>
              </a:spcBef>
              <a:spcAft>
                <a:spcPts val="0"/>
              </a:spcAft>
            </a:pPr>
            <a:r>
              <a:rPr sz="1800" b="1">
                <a:solidFill>
                  <a:srgbClr val="087F85"/>
                </a:solidFill>
                <a:latin typeface="Arial"/>
              </a:rPr>
              <a:t>cluster targets</a:t>
            </a:r>
          </a:p>
        </p:txBody>
      </p:sp>
      <p:sp>
        <p:nvSpPr>
          <p:cNvPr id="28" name="Rounded Rectangle 27"/>
          <p:cNvSpPr/>
          <p:nvPr/>
        </p:nvSpPr>
        <p:spPr>
          <a:xfrm>
            <a:off x="990600" y="3581400"/>
            <a:ext cx="431800" cy="393700"/>
          </a:xfrm>
          <a:prstGeom prst="roundRect">
            <a:avLst>
              <a:gd name="adj" fmla="val 12903"/>
            </a:avLst>
          </a:prstGeom>
          <a:solidFill>
            <a:srgbClr val="FFFFFF"/>
          </a:solidFill>
          <a:ln w="2032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990600" y="3683000"/>
            <a:ext cx="431800" cy="0"/>
          </a:xfrm>
          <a:prstGeom prst="line">
            <a:avLst/>
          </a:prstGeom>
          <a:ln w="16510">
            <a:solidFill>
              <a:srgbClr val="2762C8"/>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038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023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65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pic>
        <p:nvPicPr>
          <p:cNvPr id="35" name="Picture 34" descr="image.png"/>
          <p:cNvPicPr>
            <a:picLocks noChangeAspect="1"/>
          </p:cNvPicPr>
          <p:nvPr/>
        </p:nvPicPr>
        <p:blipFill>
          <a:blip r:embed="rId3"/>
          <a:stretch>
            <a:fillRect/>
          </a:stretch>
        </p:blipFill>
        <p:spPr>
          <a:xfrm>
            <a:off x="939800" y="4673600"/>
            <a:ext cx="533400" cy="533400"/>
          </a:xfrm>
          <a:prstGeom prst="rect">
            <a:avLst/>
          </a:prstGeom>
        </p:spPr>
      </p:pic>
      <p:sp>
        <p:nvSpPr>
          <p:cNvPr id="36" name="Rounded Rectangle 35"/>
          <p:cNvSpPr/>
          <p:nvPr/>
        </p:nvSpPr>
        <p:spPr>
          <a:xfrm>
            <a:off x="7950200" y="2209800"/>
            <a:ext cx="36322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950200" y="2159000"/>
            <a:ext cx="3632200" cy="3429000"/>
          </a:xfrm>
          <a:prstGeom prst="roundRect">
            <a:avLst>
              <a:gd name="adj" fmla="val 370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8255000" y="2171700"/>
            <a:ext cx="30226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55000" y="2451100"/>
            <a:ext cx="3022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APPLICATION RESPONSIBILITY</a:t>
            </a:r>
          </a:p>
        </p:txBody>
      </p:sp>
      <p:sp>
        <p:nvSpPr>
          <p:cNvPr id="40" name="Rounded Rectangle 39"/>
          <p:cNvSpPr/>
          <p:nvPr/>
        </p:nvSpPr>
        <p:spPr>
          <a:xfrm>
            <a:off x="8255000" y="2870200"/>
            <a:ext cx="812800" cy="812800"/>
          </a:xfrm>
          <a:prstGeom prst="roundRect">
            <a:avLst>
              <a:gd name="adj" fmla="val 18750"/>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07400" y="3340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07400" y="3162300"/>
            <a:ext cx="508000" cy="2540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8407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915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8407400" y="3213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07400" y="3086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5000" y="3873500"/>
            <a:ext cx="30226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STATEFUL DATA</a:t>
            </a:r>
          </a:p>
        </p:txBody>
      </p:sp>
      <p:sp>
        <p:nvSpPr>
          <p:cNvPr id="48" name="TextBox 47"/>
          <p:cNvSpPr txBox="1"/>
          <p:nvPr/>
        </p:nvSpPr>
        <p:spPr>
          <a:xfrm>
            <a:off x="8255000" y="4394200"/>
            <a:ext cx="30226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B8C8D9"/>
                </a:solidFill>
                <a:latin typeface="Arial"/>
              </a:rPr>
              <a:t>Replication, fencing,</a:t>
            </a:r>
          </a:p>
          <a:p>
            <a:pPr algn="l">
              <a:lnSpc>
                <a:spcPts val="2250"/>
              </a:lnSpc>
              <a:spcBef>
                <a:spcPts val="0"/>
              </a:spcBef>
              <a:spcAft>
                <a:spcPts val="0"/>
              </a:spcAft>
            </a:pPr>
            <a:r>
              <a:rPr sz="1800" b="0">
                <a:solidFill>
                  <a:srgbClr val="B8C8D9"/>
                </a:solidFill>
                <a:latin typeface="Arial"/>
              </a:rPr>
              <a:t>and recovery are yours.</a:t>
            </a:r>
          </a:p>
        </p:txBody>
      </p:sp>
      <p:cxnSp>
        <p:nvCxnSpPr>
          <p:cNvPr id="49" name="Connector 48"/>
          <p:cNvCxnSpPr/>
          <p:nvPr/>
        </p:nvCxnSpPr>
        <p:spPr>
          <a:xfrm>
            <a:off x="8255000" y="5054600"/>
            <a:ext cx="30226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255000" y="5207000"/>
            <a:ext cx="30226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F79BB0"/>
                </a:solidFill>
                <a:latin typeface="Arial"/>
              </a:rPr>
              <a:t>Plan session recovery too.</a:t>
            </a:r>
          </a:p>
        </p:txBody>
      </p:sp>
      <p:sp>
        <p:nvSpPr>
          <p:cNvPr id="51" name="Rounded Rectangle 50"/>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800" y="5905500"/>
            <a:ext cx="105664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Traffic recovery ≠ data recovery ≠ session continuity.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Controls the Failover?</dc:title>
  <dc:subject>Sovereign Global Traffic Management with Kubernetes</dc:subject>
  <dc:creator>Yury Tsarev</dc:creator>
  <cp:keywords>k8gb, sovereignty, DNS, failover, Sovereign Cloud Days 2026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