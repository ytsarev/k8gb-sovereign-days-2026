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minute 28; reserve seven minutes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Keep the explanation at the reachability level.</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1.75–2.75 minutes elapsed.</a:t>
            </a:r>
          </a:p>
          <a:p/>
          <a:p>
            <a:r>
              <a:t>k8gb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2.75–3.25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3.25–4.25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4.25–5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5–6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6–7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immediately after the demo.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7–8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8–9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9–10.25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10.25–11.25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11.25–12.25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12:15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12.25–18.25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18:15 elapsed. Return directly to the timing slide with: We have seen application failover and recovery. Now let us examine what changes when observations disagree or readiness gives the wrong signal.</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18.25–19.75 minutes elapsed.</a:t>
            </a:r>
          </a:p>
          <a:p/>
          <a:p>
            <a:r>
              <a:t>Start Part 2 with what the audience just saw: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19.75–21.75 minutes elapsed.</a:t>
            </a:r>
          </a:p>
          <a:p/>
          <a:p>
            <a:r>
              <a:t>Use this single slide for application readiness and data safety. Kubernetes runs readinessProbe checks and reflects Pod readiness in EndpointSlices; k8gb consumes that state when selecting targets. The lower example is illustrative: GET /healthz returns 200 while a real payment write fails because the database is read-only. The application must define readiness around the operation it needs to serve. k8gb steers traffic; replication, safe writer ownership and fencing remain application responsibilities. State this once, using the example, then move 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2 minutes.</a:t>
            </a:r>
          </a:p>
          <a:p/>
          <a:p>
            <a:r>
              <a:t>RUN OF SHOW: 21.75–23.75 minutes elapsed.</a:t>
            </a:r>
          </a:p>
          <a:p/>
          <a:p>
            <a:r>
              <a:t>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Transition directly to the combined test plan and the checks we perform for every fault.</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23.75–25.25 minutes elapsed.</a:t>
            </a:r>
          </a:p>
          <a:p/>
          <a:p>
            <a:r>
              <a:t>Spend 90 seconds on one test plan. Start from A as the configured primary and B healthy; reset to that baseline between independent fault tests. Stop the app in A means remove all ready application endpoints while both authorities remain reachable: after reconciliation, both should publish B and real requests should succeed there. For loss of cluster A, verify surviving B DNS and application access through a client resolver. For the health-lookup test, block B from obtaining A’s peer-health answer through all query paths while both applications remain ready and both authorities remain reachable to clients. Compare the same hostname at both authorities: A may answer A while B answers B. Divergence is a possible observation to investigate, not the success criterion or a guarantee for every partition. For recovery, restore A’s readiness and peer visibility, then verify automatic failback for new requests; existing connections do not move with a DNS change. In every test, query both authorities, inspect a representative client resolver’s cached answer, and send a real application request. Record when DNS changes and when successful requests return; correlate readiness and controller logs if they disagree. Verify application and data correctness as appropriate; DNS steering does not provide database promotion or fencing. The local demo covered application endpoint loss and recovery; the other rows extend that test coverage. Finish this section by 25:15 elapsed.</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25.25–26.25 minutes elapsed.</a:t>
            </a:r>
          </a:p>
          <a:p/>
          <a:p>
            <a:r>
              <a:t>Close with configure, verify, test. k8gb automatically reconciles traffic failover and failback; the team automates end-to-end tests of that behavior. Version the Gslb manifest; choose and own the delegated DNS path; use multiple observable authorities; make readiness describe the real operation; verify client-visible requests; automate failure and recovery tests. These absorb the separate operational checklist. Return to the title: control comes from choosing the configuration, seeing the result, and repeatedly testing recovery. Do not reopen the data discussion or recap every slide. Finish at 26:15 elapsed and move to the community invitation.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26.25–27.25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27:15 elapsed, move from the public adopter logos to the Millennium bcp case study. Questions follow at minute 28.</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27.25–28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minute 28.</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7 minutes.</a:t>
            </a:r>
          </a:p>
          <a:p/>
          <a:p>
            <a:r>
              <a:t>RUN OF SHOW: 28–35 minutes elapsed.</a:t>
            </a:r>
          </a:p>
          <a:p/>
          <a:p>
            <a:r>
              <a:t>Reserve seven minutes for questions, from minute 28 to minute 35. Leave the QR code, GitHub, Slack, community-calendar, adopters and LinkedIn links visible. Hidden appendix slides follow: A1 normal state (physical slide 23), A2 failover (24), A3 failback (25), A4 availability responsibilities (26). Jump to one only when relevant to a question; hidden slides are skipped in the normal PowerPoint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Both applications are ready. Both clusters run independent k8gb and CoreDNS instances. With complete peer visibility, each authority publishes the primary application addresses. There is no active DNS-master election between the clusters. Passive describes application target selection in this strategy, not a powered-off controller or authority.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This is application failure, not loss of the entire cluster. A’s CoreDNS remains reachable while its workload has no ready endpoints. After reconciliation, A can publish B’s healthy targets, and B no longer finds healthy primary targets. Existing connections are not migrated and cached A answers may persist. If the whole primary cluster is lost, the surviving authority must also remain reachable by resolvers.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The code automatically prefers a healthy primary again. There is no implied built-in manual failback approval gate. If the application is not safe to receive traffic yet, its readiness and operational controls must prevent premature eligibility. Database leadership, replication consistency, fencing and session continuity belong to the application recovery design. The readiness badges describe application workloads, not whole-cluster availability. The dashed cluster-level connector summarizes peer-health queries: each k8gb controller queries the other cluster’s CoreDNS. It does not represent CoreDNS-to-CoreDNS replication or leader election. The matching answers show the converged state with peer visibility.</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 minutes.</a:t>
            </a:r>
          </a:p>
          <a:p/>
          <a:p>
            <a:r>
              <a:t>BACKUP ONLY — hidden from the main slideshow. Use during questions if relevant.</a:t>
            </a:r>
          </a:p>
          <a:p/>
          <a:p>
            <a:r>
              <a:t>If a Service has no ready endpoints, k8gb can exclude the local application target. A surviving cluster can serve new resolutions when its authority, application and required network paths remain available. This does not replicate data, fence a former database writer, or restore client sessions. Explicitly assign those responsibilities to the application recovery design. Read the left panel as two examples of DNS responses after observation and reconciliation, not as guaranteed instantaneous recovery or cluster restoration. The data and session responsibilities on the right require their own design and validation.</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22</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REACHABILITY PROBLEM</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in one minute</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14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15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17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Test failover with real requests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 is primary. B is healthy. Test one change at a time.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863600" y="2070100"/>
            <a:ext cx="488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CHANGE</a:t>
            </a:r>
          </a:p>
        </p:txBody>
      </p:sp>
      <p:sp>
        <p:nvSpPr>
          <p:cNvPr id="11" name="TextBox 10"/>
          <p:cNvSpPr txBox="1"/>
          <p:nvPr/>
        </p:nvSpPr>
        <p:spPr>
          <a:xfrm>
            <a:off x="6756400" y="2070100"/>
            <a:ext cx="4572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CHECK</a:t>
            </a:r>
          </a:p>
        </p:txBody>
      </p:sp>
      <p:sp>
        <p:nvSpPr>
          <p:cNvPr id="12" name="Rounded Rectangle 11"/>
          <p:cNvSpPr/>
          <p:nvPr/>
        </p:nvSpPr>
        <p:spPr>
          <a:xfrm>
            <a:off x="609600" y="2387600"/>
            <a:ext cx="10972800" cy="3098800"/>
          </a:xfrm>
          <a:prstGeom prst="roundRect">
            <a:avLst>
              <a:gd name="adj" fmla="val 368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3600" y="26162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the app in A</a:t>
            </a:r>
          </a:p>
        </p:txBody>
      </p:sp>
      <p:cxnSp>
        <p:nvCxnSpPr>
          <p:cNvPr id="14" name="Connector 13"/>
          <p:cNvCxnSpPr/>
          <p:nvPr/>
        </p:nvCxnSpPr>
        <p:spPr>
          <a:xfrm>
            <a:off x="6019800" y="27813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756400" y="26289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the application</a:t>
            </a:r>
          </a:p>
        </p:txBody>
      </p:sp>
      <p:cxnSp>
        <p:nvCxnSpPr>
          <p:cNvPr id="16" name="Connector 15"/>
          <p:cNvCxnSpPr/>
          <p:nvPr/>
        </p:nvCxnSpPr>
        <p:spPr>
          <a:xfrm>
            <a:off x="863600" y="31623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600" y="33909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Stop cluster A</a:t>
            </a:r>
          </a:p>
        </p:txBody>
      </p:sp>
      <p:cxnSp>
        <p:nvCxnSpPr>
          <p:cNvPr id="18" name="Connector 17"/>
          <p:cNvCxnSpPr/>
          <p:nvPr/>
        </p:nvCxnSpPr>
        <p:spPr>
          <a:xfrm>
            <a:off x="6019800" y="35560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56400" y="34036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B serves DNS and the application</a:t>
            </a:r>
          </a:p>
        </p:txBody>
      </p:sp>
      <p:cxnSp>
        <p:nvCxnSpPr>
          <p:cNvPr id="20" name="Connector 19"/>
          <p:cNvCxnSpPr/>
          <p:nvPr/>
        </p:nvCxnSpPr>
        <p:spPr>
          <a:xfrm>
            <a:off x="863600" y="39370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63600" y="41656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Block B’s health lookup to A</a:t>
            </a:r>
          </a:p>
        </p:txBody>
      </p:sp>
      <p:cxnSp>
        <p:nvCxnSpPr>
          <p:cNvPr id="22" name="Connector 21"/>
          <p:cNvCxnSpPr/>
          <p:nvPr/>
        </p:nvCxnSpPr>
        <p:spPr>
          <a:xfrm>
            <a:off x="6019800" y="43307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756400" y="41783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Compare both DNS answers</a:t>
            </a:r>
          </a:p>
        </p:txBody>
      </p:sp>
      <p:cxnSp>
        <p:nvCxnSpPr>
          <p:cNvPr id="24" name="Connector 23"/>
          <p:cNvCxnSpPr/>
          <p:nvPr/>
        </p:nvCxnSpPr>
        <p:spPr>
          <a:xfrm>
            <a:off x="863600" y="4711700"/>
            <a:ext cx="10464800" cy="0"/>
          </a:xfrm>
          <a:prstGeom prst="line">
            <a:avLst/>
          </a:prstGeom>
          <a:ln w="10160">
            <a:solidFill>
              <a:srgbClr val="DAE2EA"/>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63600" y="4940300"/>
            <a:ext cx="4889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Restore A</a:t>
            </a:r>
          </a:p>
        </p:txBody>
      </p:sp>
      <p:cxnSp>
        <p:nvCxnSpPr>
          <p:cNvPr id="26" name="Connector 25"/>
          <p:cNvCxnSpPr/>
          <p:nvPr/>
        </p:nvCxnSpPr>
        <p:spPr>
          <a:xfrm>
            <a:off x="6019800" y="5105400"/>
            <a:ext cx="381000" cy="0"/>
          </a:xfrm>
          <a:prstGeom prst="line">
            <a:avLst/>
          </a:prstGeom>
          <a:ln w="1778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56400" y="4953000"/>
            <a:ext cx="4572000" cy="330200"/>
          </a:xfrm>
          <a:prstGeom prst="rect">
            <a:avLst/>
          </a:prstGeom>
          <a:noFill/>
        </p:spPr>
        <p:txBody>
          <a:bodyPr wrap="none" lIns="0" rIns="0" tIns="0" bIns="0" anchor="t">
            <a:noAutofit/>
          </a:bodyPr>
          <a:lstStyle/>
          <a:p>
            <a:pPr algn="l">
              <a:lnSpc>
                <a:spcPts val="2300"/>
              </a:lnSpc>
              <a:spcBef>
                <a:spcPts val="0"/>
              </a:spcBef>
              <a:spcAft>
                <a:spcPts val="0"/>
              </a:spcAft>
            </a:pPr>
            <a:r>
              <a:rPr sz="2000" b="0">
                <a:solidFill>
                  <a:srgbClr val="087F85"/>
                </a:solidFill>
                <a:latin typeface="Arial"/>
              </a:rPr>
              <a:t>New requests return to A</a:t>
            </a:r>
          </a:p>
        </p:txBody>
      </p:sp>
      <p:sp>
        <p:nvSpPr>
          <p:cNvPr id="28" name="Rounded Rectangle 27"/>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7400" y="5892800"/>
            <a:ext cx="106172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142338"/>
                </a:solidFill>
                <a:latin typeface="Arial"/>
              </a:rPr>
              <a:t>Query both authorities. Check the client’s cache. Send a real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CONTROL YOUR FAILOVER</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19 / 22</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028700"/>
            <a:ext cx="9220200" cy="1245108"/>
          </a:xfrm>
          <a:prstGeom prst="rect">
            <a:avLst/>
          </a:prstGeom>
          <a:noFill/>
        </p:spPr>
        <p:txBody>
          <a:bodyPr wrap="none" lIns="0" rIns="0" tIns="0" bIns="0" anchor="t">
            <a:noAutofit/>
          </a:bodyPr>
          <a:lstStyle/>
          <a:p>
            <a:pPr algn="l">
              <a:lnSpc>
                <a:spcPts val="4752"/>
              </a:lnSpc>
              <a:spcBef>
                <a:spcPts val="0"/>
              </a:spcBef>
              <a:spcAft>
                <a:spcPts val="0"/>
              </a:spcAft>
            </a:pPr>
            <a:r>
              <a:rPr sz="4400" b="1">
                <a:solidFill>
                  <a:srgbClr val="FFFFFF"/>
                </a:solidFill>
                <a:latin typeface="Arial"/>
              </a:rPr>
              <a:t>Control traffic steering.</a:t>
            </a:r>
          </a:p>
          <a:p>
            <a:pPr algn="l">
              <a:lnSpc>
                <a:spcPts val="4752"/>
              </a:lnSpc>
              <a:spcBef>
                <a:spcPts val="0"/>
              </a:spcBef>
              <a:spcAft>
                <a:spcPts val="0"/>
              </a:spcAft>
            </a:pPr>
            <a:r>
              <a:rPr sz="4400" b="1">
                <a:solidFill>
                  <a:srgbClr val="FFFFFF"/>
                </a:solidFill>
                <a:latin typeface="Arial"/>
              </a:rPr>
              <a:t>Test recovery end to end.</a:t>
            </a:r>
          </a:p>
        </p:txBody>
      </p:sp>
      <p:pic>
        <p:nvPicPr>
          <p:cNvPr id="9" name="Picture 8" descr="image.png"/>
          <p:cNvPicPr>
            <a:picLocks noChangeAspect="1"/>
          </p:cNvPicPr>
          <p:nvPr/>
        </p:nvPicPr>
        <p:blipFill>
          <a:blip r:embed="rId2"/>
          <a:stretch>
            <a:fillRect/>
          </a:stretch>
        </p:blipFill>
        <p:spPr>
          <a:xfrm>
            <a:off x="10160000" y="1121328"/>
            <a:ext cx="1371599" cy="1338742"/>
          </a:xfrm>
          <a:prstGeom prst="rect">
            <a:avLst/>
          </a:prstGeom>
        </p:spPr>
      </p:pic>
      <p:cxnSp>
        <p:nvCxnSpPr>
          <p:cNvPr id="10" name="Connector 9"/>
          <p:cNvCxnSpPr/>
          <p:nvPr/>
        </p:nvCxnSpPr>
        <p:spPr>
          <a:xfrm>
            <a:off x="609600" y="3200400"/>
            <a:ext cx="3352800" cy="0"/>
          </a:xfrm>
          <a:prstGeom prst="line">
            <a:avLst/>
          </a:prstGeom>
          <a:ln w="31750">
            <a:solidFill>
              <a:srgbClr val="83AD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09600" y="3492500"/>
            <a:ext cx="609600" cy="609600"/>
          </a:xfrm>
          <a:prstGeom prst="roundRect">
            <a:avLst>
              <a:gd name="adj" fmla="val 20833"/>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2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83ADFF"/>
                </a:solidFill>
                <a:latin typeface="Arial"/>
              </a:rPr>
              <a:t>CONFIGURE</a:t>
            </a:r>
          </a:p>
        </p:txBody>
      </p:sp>
      <p:sp>
        <p:nvSpPr>
          <p:cNvPr id="13" name="TextBox 12"/>
          <p:cNvSpPr txBox="1"/>
          <p:nvPr/>
        </p:nvSpPr>
        <p:spPr>
          <a:xfrm>
            <a:off x="60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Version the Gslb</a:t>
            </a:r>
          </a:p>
          <a:p>
            <a:pPr algn="l">
              <a:lnSpc>
                <a:spcPts val="2875"/>
              </a:lnSpc>
              <a:spcBef>
                <a:spcPts val="0"/>
              </a:spcBef>
              <a:spcAft>
                <a:spcPts val="0"/>
              </a:spcAft>
            </a:pPr>
            <a:r>
              <a:rPr sz="2300" b="0">
                <a:solidFill>
                  <a:srgbClr val="FFFFFF"/>
                </a:solidFill>
                <a:latin typeface="Arial"/>
              </a:rPr>
              <a:t>manifest.</a:t>
            </a:r>
          </a:p>
        </p:txBody>
      </p:sp>
      <p:sp>
        <p:nvSpPr>
          <p:cNvPr id="14" name="Rounded Rectangle 13"/>
          <p:cNvSpPr/>
          <p:nvPr/>
        </p:nvSpPr>
        <p:spPr>
          <a:xfrm>
            <a:off x="749300" y="3581400"/>
            <a:ext cx="330200" cy="431800"/>
          </a:xfrm>
          <a:prstGeom prst="roundRect">
            <a:avLst>
              <a:gd name="adj" fmla="val 11538"/>
            </a:avLst>
          </a:prstGeom>
          <a:solidFill>
            <a:srgbClr val="243D63"/>
          </a:solidFill>
          <a:ln w="17780">
            <a:solidFill>
              <a:srgbClr val="83AD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25500" y="3670300"/>
            <a:ext cx="177800" cy="0"/>
          </a:xfrm>
          <a:prstGeom prst="line">
            <a:avLst/>
          </a:prstGeom>
          <a:ln w="1524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8001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001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5200" y="37592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5200" y="3822700"/>
            <a:ext cx="63500" cy="63500"/>
          </a:xfrm>
          <a:prstGeom prst="line">
            <a:avLst/>
          </a:prstGeom>
          <a:ln w="2032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19600" y="3200400"/>
            <a:ext cx="3352800" cy="0"/>
          </a:xfrm>
          <a:prstGeom prst="line">
            <a:avLst/>
          </a:prstGeom>
          <a:ln w="31750">
            <a:solidFill>
              <a:srgbClr val="66CBC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19600" y="3492500"/>
            <a:ext cx="609600" cy="609600"/>
          </a:xfrm>
          <a:prstGeom prst="roundRect">
            <a:avLst>
              <a:gd name="adj" fmla="val 20833"/>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3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66CBC9"/>
                </a:solidFill>
                <a:latin typeface="Arial"/>
              </a:rPr>
              <a:t>VERIFY</a:t>
            </a:r>
          </a:p>
        </p:txBody>
      </p:sp>
      <p:sp>
        <p:nvSpPr>
          <p:cNvPr id="23" name="TextBox 22"/>
          <p:cNvSpPr txBox="1"/>
          <p:nvPr/>
        </p:nvSpPr>
        <p:spPr>
          <a:xfrm>
            <a:off x="441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Check DNS answers</a:t>
            </a:r>
          </a:p>
          <a:p>
            <a:pPr algn="l">
              <a:lnSpc>
                <a:spcPts val="2875"/>
              </a:lnSpc>
              <a:spcBef>
                <a:spcPts val="0"/>
              </a:spcBef>
              <a:spcAft>
                <a:spcPts val="0"/>
              </a:spcAft>
            </a:pPr>
            <a:r>
              <a:rPr sz="2300" b="0">
                <a:solidFill>
                  <a:srgbClr val="FFFFFF"/>
                </a:solidFill>
                <a:latin typeface="Arial"/>
              </a:rPr>
              <a:t>and real requests.</a:t>
            </a:r>
          </a:p>
        </p:txBody>
      </p:sp>
      <p:sp>
        <p:nvSpPr>
          <p:cNvPr id="24" name="Rounded Rectangle 23"/>
          <p:cNvSpPr/>
          <p:nvPr/>
        </p:nvSpPr>
        <p:spPr>
          <a:xfrm>
            <a:off x="4508500" y="3632200"/>
            <a:ext cx="431800" cy="330200"/>
          </a:xfrm>
          <a:prstGeom prst="roundRect">
            <a:avLst>
              <a:gd name="adj" fmla="val 11538"/>
            </a:avLst>
          </a:prstGeom>
          <a:solidFill>
            <a:srgbClr val="173E49"/>
          </a:solidFill>
          <a:ln w="17780">
            <a:solidFill>
              <a:srgbClr val="66CB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4508500" y="3721100"/>
            <a:ext cx="431800" cy="0"/>
          </a:xfrm>
          <a:prstGeom prst="line">
            <a:avLst/>
          </a:prstGeom>
          <a:ln w="13970">
            <a:solidFill>
              <a:srgbClr val="66CBC9"/>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4574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6380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701540" y="3666490"/>
            <a:ext cx="20320" cy="20320"/>
          </a:xfrm>
          <a:prstGeom prst="ellipse">
            <a:avLst/>
          </a:prstGeom>
          <a:solidFill>
            <a:srgbClr val="66CB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4622800" y="3835400"/>
            <a:ext cx="76200" cy="762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699000" y="3771900"/>
            <a:ext cx="139700" cy="139700"/>
          </a:xfrm>
          <a:prstGeom prst="line">
            <a:avLst/>
          </a:prstGeom>
          <a:ln w="2413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229600" y="3200400"/>
            <a:ext cx="3352800" cy="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29600" y="3492500"/>
            <a:ext cx="609600" cy="609600"/>
          </a:xfrm>
          <a:prstGeom prst="roundRect">
            <a:avLst>
              <a:gd name="adj" fmla="val 20833"/>
            </a:avLst>
          </a:prstGeom>
          <a:solidFill>
            <a:srgbClr val="452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42400" y="3632200"/>
            <a:ext cx="25400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79BB0"/>
                </a:solidFill>
                <a:latin typeface="Arial"/>
              </a:rPr>
              <a:t>TEST</a:t>
            </a:r>
          </a:p>
        </p:txBody>
      </p:sp>
      <p:sp>
        <p:nvSpPr>
          <p:cNvPr id="34" name="TextBox 33"/>
          <p:cNvSpPr txBox="1"/>
          <p:nvPr/>
        </p:nvSpPr>
        <p:spPr>
          <a:xfrm>
            <a:off x="8229600" y="4381500"/>
            <a:ext cx="3352800" cy="768350"/>
          </a:xfrm>
          <a:prstGeom prst="rect">
            <a:avLst/>
          </a:prstGeom>
          <a:noFill/>
        </p:spPr>
        <p:txBody>
          <a:bodyPr wrap="none" lIns="0" rIns="0" tIns="0" bIns="0" anchor="t">
            <a:noAutofit/>
          </a:bodyPr>
          <a:lstStyle/>
          <a:p>
            <a:pPr algn="l">
              <a:lnSpc>
                <a:spcPts val="2875"/>
              </a:lnSpc>
              <a:spcBef>
                <a:spcPts val="0"/>
              </a:spcBef>
              <a:spcAft>
                <a:spcPts val="0"/>
              </a:spcAft>
            </a:pPr>
            <a:r>
              <a:rPr sz="2300" b="0">
                <a:solidFill>
                  <a:srgbClr val="FFFFFF"/>
                </a:solidFill>
                <a:latin typeface="Arial"/>
              </a:rPr>
              <a:t>Automate failover</a:t>
            </a:r>
          </a:p>
          <a:p>
            <a:pPr algn="l">
              <a:lnSpc>
                <a:spcPts val="2875"/>
              </a:lnSpc>
              <a:spcBef>
                <a:spcPts val="0"/>
              </a:spcBef>
              <a:spcAft>
                <a:spcPts val="0"/>
              </a:spcAft>
            </a:pPr>
            <a:r>
              <a:rPr sz="2300" b="0">
                <a:solidFill>
                  <a:srgbClr val="FFFFFF"/>
                </a:solidFill>
                <a:latin typeface="Arial"/>
              </a:rPr>
              <a:t>and failback tests.</a:t>
            </a:r>
          </a:p>
        </p:txBody>
      </p:sp>
      <p:cxnSp>
        <p:nvCxnSpPr>
          <p:cNvPr id="35" name="Connector 34"/>
          <p:cNvCxnSpPr/>
          <p:nvPr/>
        </p:nvCxnSpPr>
        <p:spPr>
          <a:xfrm>
            <a:off x="8711254" y="3673464"/>
            <a:ext cx="18283" cy="3145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29537" y="3704919"/>
            <a:ext cx="12742" cy="3407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742279" y="3738998"/>
            <a:ext cx="6838" cy="3573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749117" y="3774732"/>
            <a:ext cx="741" cy="3637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8744480" y="3811107"/>
            <a:ext cx="5378" cy="3598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8733136" y="3847089"/>
            <a:ext cx="11344" cy="3456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8716150" y="3881658"/>
            <a:ext cx="16986" cy="3217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8694001" y="3913832"/>
            <a:ext cx="22149" cy="2886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8667321" y="3942696"/>
            <a:ext cx="26680" cy="24735"/>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8636866" y="3967431"/>
            <a:ext cx="30455" cy="1990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8603501" y="3987335"/>
            <a:ext cx="33365" cy="145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8568174" y="4001842"/>
            <a:ext cx="35327" cy="86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8531887" y="4010541"/>
            <a:ext cx="36287" cy="2644"/>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8495673" y="4009698"/>
            <a:ext cx="36214" cy="348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8460557" y="4000179"/>
            <a:ext cx="35116" cy="951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8427539" y="3984899"/>
            <a:ext cx="33018" cy="1528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8397555" y="3964292"/>
            <a:ext cx="29984" cy="2060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8371458" y="3938943"/>
            <a:ext cx="26097" cy="2534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8349987" y="3909571"/>
            <a:ext cx="21471" cy="293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8333753" y="3877011"/>
            <a:ext cx="16234" cy="3256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3217" y="3842188"/>
            <a:ext cx="10536" cy="34823"/>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8318679" y="3806089"/>
            <a:ext cx="4538" cy="3609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8318679" y="3769742"/>
            <a:ext cx="1586" cy="36347"/>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320265" y="3734176"/>
            <a:ext cx="7668" cy="3556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327933" y="3700404"/>
            <a:ext cx="13531" cy="33772"/>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341464" y="3669383"/>
            <a:ext cx="19010" cy="31021"/>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360474" y="3641994"/>
            <a:ext cx="23949" cy="27389"/>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384423" y="3619016"/>
            <a:ext cx="28207" cy="22978"/>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412630" y="3601100"/>
            <a:ext cx="31666" cy="17916"/>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444296" y="3588756"/>
            <a:ext cx="34224" cy="12344"/>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445500" y="3797300"/>
            <a:ext cx="76200" cy="762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521700" y="3733800"/>
            <a:ext cx="127000" cy="139700"/>
          </a:xfrm>
          <a:prstGeom prst="line">
            <a:avLst/>
          </a:prstGeom>
          <a:ln w="24130">
            <a:solidFill>
              <a:srgbClr val="F79BB0"/>
            </a:solidFill>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609600" y="5638800"/>
            <a:ext cx="10972800" cy="584200"/>
          </a:xfrm>
          <a:prstGeom prst="roundRect">
            <a:avLst>
              <a:gd name="adj" fmla="val 17391"/>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3600" y="5778500"/>
            <a:ext cx="104648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FFFFFF"/>
                </a:solidFill>
                <a:latin typeface="Arial"/>
              </a:rPr>
              <a:t>Test the full path: readiness → DNS → successful requests.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21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22</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A1 / 04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A2 / 04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FAILOVER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A3 / 04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APPENDIX · 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A4 / 04</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