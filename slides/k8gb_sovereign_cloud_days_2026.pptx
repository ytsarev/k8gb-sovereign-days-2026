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Open with reachability: who can change the answer when an entire failure domain disappears? Introduce yourself as k8gb creator and Project Lead. The talk is about operational control over failover, including the dependencies we retain. It is not a claim that self-hosting alone establishes sovereignty. Frame the three themes as traffic management, DNS steering, and multi-region resilience. The event slot is 24 October 2026, 15:15–16:00 Europe/Berlin.</a:t>
            </a:r>
          </a:p>
          <a:p/>
          <a:p>
            <a:r>
              <a:t>SOURCE CHECK</a:t>
            </a:r>
          </a:p>
          <a:p>
            <a:r>
              <a:t>Local k8gb checkout: 330d33335981b9716bc8ca245660d90893eae272</a:t>
            </a:r>
          </a:p>
          <a:p>
            <a:r>
              <a:t>https://www.sovereign-cloud-days.eu/event/sovereign-cloud-days-2026-1/track/who-controls-the-failover-sovereign-global-traffic-management-with-kubernetes-63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Start inside one Kubernetes cluster. Run several replicas and configure their placement so a single worker-node failure does not remove every replica. The diagram shows the state after the failed node is detected: Service traffic can use the remaining ready Pods. A Deployment works to replace lost replicas; it does not move a failed Pod or preserve its connections. Recovery needs working cluster components, suitable scheduling rules and sufficient capacity. This first layer addresses node failure, before we consider correlated failures.</a:t>
            </a:r>
          </a:p>
          <a:p/>
          <a:p>
            <a:r>
              <a:t>SOURCE CHECK</a:t>
            </a:r>
          </a:p>
          <a:p>
            <a:r>
              <a:t>Local k8gb checkout: 330d33335981b9716bc8ca245660d90893eae272</a:t>
            </a:r>
          </a:p>
          <a:p>
            <a:r>
              <a:t>https://kubernetes.io/docs/concepts/scheduling-eviction/topology-spread-constraints/</a:t>
            </a:r>
          </a:p>
          <a:p>
            <a:r>
              <a:t>https://kubernetes.io/docs/concepts/services-networking/service/</a:t>
            </a:r>
          </a:p>
          <a:p>
            <a:r>
              <a:t>https://kubernetes.io/docs/concepts/workloads/controllers/deployment/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Now widen the failure domain from a node to an availability zone. This example places one cluster inside Region A and spreads workers and replicas across three zones. Topology spread constraints make that intent explicit. A zone outage should leave viable replicas elsewhere, provided capacity and dependencies survive. Design the control plane and its endpoints, ingress, storage and application data for zone failure too. Multiple worker zones alone do not establish end-to-end resilience. This cluster still shares the regional boundary shown here; the next slide introduces independent clusters in other locations.</a:t>
            </a:r>
          </a:p>
          <a:p/>
          <a:p>
            <a:r>
              <a:t>SOURCE CHECK</a:t>
            </a:r>
          </a:p>
          <a:p>
            <a:r>
              <a:t>Local k8gb checkout: 330d33335981b9716bc8ca245660d90893eae272</a:t>
            </a:r>
          </a:p>
          <a:p>
            <a:r>
              <a:t>https://kubernetes.io/docs/setup/best-practices/multiple-zones/</a:t>
            </a:r>
          </a:p>
          <a:p>
            <a:r>
              <a:t>https://kubernetes.io/docs/concepts/scheduling-eviction/topology-spread-constraints/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Now widen the failure from one zone to an entire region: users were connecting to Region A, and that region becomes unavailable. The same service is also deployed in Region B and a private data centre, both shown ready in this illustrative scenario. The Kubernetes logos identify the clusters; AWS and Azure are illustrative hosting providers, not a statement about the speaker’s infrastructure. Region names stay separate from provider names. The red path is a failed application connection; the dashed paths are possible destinations for new connections, not an assertion that both clusters receive traffic or that DNS migrates existing connections. Ask who detects the loss, changes the DNS answers, and operates the failover path. A surviving deployment is useful only if users can reach it; caching, application safety and shared dependencies are explained later. This introduces k8gb without claiming instantaneous or guaranteed recovery.</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k8gb is a Kubernetes-native global server load balancer. Each participating cluster runs a controller and authoritative CoreDNS. Workload readiness and a Gslb traffic strategy determine the addresses published. A matching resource is deployed per participating cluster, usually via GitOps. There is no dedicated central management cluster. Supported route references include Ingress, Gateway API, Istio and LoadBalancer Services. DNS, network reachability and client caches remain dependencies. Make the scale model explicit: k8gb supports two or more participating clusters. The checked peer configuration, ZoneDelegation server list and peer-query loop impose no fixed cluster-count limit. Most diagrams use two clusters for readability, not as a product restriction. This is a statement about the configuration and implementation, not a tested claim of unlimited scale: DNS/provider capacity, peer-query work and reconciliation latency still need validation for the intended deployment. ExternalDNS integrations require the configured peer geotag list; automatic geotag discovery in this checkout is specific to Infoblox.</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https://github.com/k8gb-io/k8gb/blob/330d33335981b9716bc8ca245660d90893eae272/docs/resource_ref.md</a:t>
            </a:r>
          </a:p>
          <a:p>
            <a:r>
              <a:t>https://github.com/k8gb-io/k8gb/blob/330d33335981b9716bc8ca245660d90893eae272/docs/dynamic_geotags.md</a:t>
            </a:r>
          </a:p>
          <a:p>
            <a:r>
              <a:t>https://github.com/k8gb-io/k8gb/blob/330d33335981b9716bc8ca245660d90893eae272/api/v1beta1io/zonedelegation_types.go</a:t>
            </a:r>
          </a:p>
          <a:p>
            <a:r>
              <a:t>https://github.com/k8gb-io/k8gb/blob/330d33335981b9716bc8ca245660d90893eae272/controllers/resolver/config.go</a:t>
            </a:r>
          </a:p>
          <a:p>
            <a:r>
              <a:t>https://www.cncf.io/projects/k8gb/</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k8gb originated at Absa Group in South Africa to solve a real production need: health-aware traffic steering across geographically dispersed Kubernetes clusters. The project README records that motivation and ADOPTERS.md records its first production use across datacenters. The speaker supplies the progression from multiple on-prem datacenters to a hybrid setup; the repository also documents on-prem, cloud and hybrid support. The project was already open source before CNCF acceptance. CNCF records Sandbox acceptance on 30 March 2021. Public adopters include Millennium bcp, Open Systems and PagBank, all listed in the pinned ADOPTERS.md. The examples illustrate adoption beyond the originating organization; they are not an exhaustive list or precise adoption dates. CNCF records promotion to Incubating on 18 July 2026. Its public announcement was published on 5 August 2026, a distinct date. This history connects the operational problem to open collaboration and independent adoption.</a:t>
            </a:r>
          </a:p>
          <a:p/>
          <a:p>
            <a:r>
              <a:t>SOURCE CHECK</a:t>
            </a:r>
          </a:p>
          <a:p>
            <a:r>
              <a:t>Local k8gb checkout: 330d33335981b9716bc8ca245660d90893eae272</a:t>
            </a:r>
          </a:p>
          <a:p>
            <a:r>
              <a:t>https://github.com/k8gb-io/k8gb/blob/330d33335981b9716bc8ca245660d90893eae272/README.md#motivation-and-architecture</a:t>
            </a:r>
          </a:p>
          <a:p>
            <a:r>
              <a:t>https://github.com/k8gb-io/k8gb/blob/330d33335981b9716bc8ca245660d90893eae272/ADOPTERS.md</a:t>
            </a:r>
          </a:p>
          <a:p>
            <a:r>
              <a:t>https://www.cncf.io/projects/k8gb/</a:t>
            </a:r>
          </a:p>
          <a:p>
            <a:r>
              <a:t>https://www.cncf.io/announcements/2026/08/05/k8gb-becomes-a-cncf-incubating-project/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Use three practical questions to discuss operational sovereignty, not an exhaustive definition. For data, ask who controls its location and access. For runtime, ask who can operate the workload and choose where it runs. For traffic control, ask who controls DNS and can steer new connections during an outage. The highlighted third layer is the focus of this talk. Here traffic control means DNS steering and failover decisions, not proxying application traffic or moving existing connections. Multi-cloud placement alone does not establish control over all three layers.</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Use the same failed-cluster scenario as the opening: Cluster A is unavailable and Cluster B has ready application workloads. Ask three concrete questions. First, is B an allowed destination, is its data ready for the workload, and does it have enough spare capacity? Those are deployment and application responsibilities; k8gb does not enforce residency, replicate data, or provision spare capacity. Second, do the surviving controller and authoritative DNS still work, and does the responsible team retain access to inspect and repair them? This is a failure drill, not a claim that humans must approve each automatic failover. Third, check the DNS answer and run a real application request from the relevant client path, verifying the response rather than treating a ready Pod as proof of recovery. Resolver caches, retries and application dependencies can delay or prevent success. Assign an owner to each part of this path. The next slide explains how readiness and traffic strategy shape the DNS answer; the closing checklist turns these questions into repeatable operational work.</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https://github.com/k8gb-io/k8gb/blob/330d33335981b9716bc8ca245660d90893eae272/hack/demo-failover.sh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Traffic steering means choosing cluster targets and shaping DNS answers. Do not imply that every operational control is a Gslb API field. The strategy and primary geotag choose how eligible targets are used. Readiness probes and application logic define readiness; permissions and GitOps govern changes. Reconciliation and DNS caching determine when clients observe the resulting answers. This is a conceptual decision model, not a deployment topology or a central management service. The dashed WHO connection represents authority to change the rules, not a health input or a per-request approval step. WHEN asks what readiness means; it does not promise immediate client recovery.</a:t>
            </a:r>
          </a:p>
          <a:p/>
          <a:p>
            <a:r>
              <a:t>SOURCE CHECK</a:t>
            </a:r>
          </a:p>
          <a:p>
            <a:r>
              <a:t>Local k8gb checkout: 330d33335981b9716bc8ca245660d90893eae272</a:t>
            </a:r>
          </a:p>
          <a:p>
            <a:r>
              <a:t>https://github.com/k8gb-io/k8gb/blob/330d33335981b9716bc8ca245660d90893eae272/api/v1beta1io/gslb_types.go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Read the top path as DNS queries and answers. The recursive resolver discovers the authoritative servers through delegation when needed; that parent-zone step is expanded later. The DNS answer returns to the client. Only then does the client open an application connection to the selected cluster. CoreDNS does not proxy HTTP and DNS cannot move an existing TCP connection.</a:t>
            </a:r>
          </a:p>
          <a:p/>
          <a:p>
            <a:r>
              <a:t>SOURCE CHECK</a:t>
            </a:r>
          </a:p>
          <a:p>
            <a:r>
              <a:t>Local k8gb checkout: 330d33335981b9716bc8ca245660d90893eae272</a:t>
            </a:r>
          </a:p>
          <a:p>
            <a:r>
              <a:t>https://github.com/k8gb-io/k8gb/blob/330d33335981b9716bc8ca245660d90893eae272/docs/intro.md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If a Service has no ready endpoints, k8gb can exclude the local application target. A surviving cluster can serve new resolutions when its authority, application and required network paths remain available. This does not replicate data, fence a former database writer, or restore client sessions. Explicitly assign those responsibilities to the application recovery design. Read the left panel as two examples of DNS responses after observation and reconciliation, not as guaranteed instantaneous recovery or cluster restoration. The data and session responsibilities on the right require their own design and validation.</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Failover prefers the primary while it has eligible targets. RoundRobin publishes healthy targets across clusters. Weights are expressed within the roundRobin strategy; they are not strict request percentages. The controller publishes per-IP weight labels for CoreDNS. GeoIP uses the configured geographic database and EDNS client-subnet support, not measured RTT. An unmatched subnet returns all available endpoints. Focus the rest of the talk on two-cluster failover. The miniature diagrams reinterpret Amsterdam kiosk slide 3 with native shapes and the Kubernetes logo, without the mascot. Arrows illustrate DNS target selection, not application connections or a proxy. The failover example shows primary A unavailable and backup B selected. Weighted round robin uses illustrative relative weights 2, 3 and 5, assuming one published address per cluster; these are not promised request percentages. GeoIP shows two configured subnet-to-cluster mappings, not measured geographic or network proximity.</a:t>
            </a:r>
          </a:p>
          <a:p/>
          <a:p>
            <a:r>
              <a:t>SOURCE CHECK</a:t>
            </a:r>
          </a:p>
          <a:p>
            <a:r>
              <a:t>Local k8gb checkout: 330d33335981b9716bc8ca245660d90893eae272</a:t>
            </a:r>
          </a:p>
          <a:p>
            <a:r>
              <a:t>https://github.com/k8gb-io/k8gb/blob/330d33335981b9716bc8ca245660d90893eae272/docs/strategy.md</a:t>
            </a:r>
          </a:p>
          <a:p>
            <a:r>
              <a:t>https://github.com/k8gb-io/k8gb/blob/330d33335981b9716bc8ca245660d90893eae272/docs/wrr_caveats.md</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Borrow the kiosk deck’s useful three-part explanation. k8gb calculates target eligibility and reconciles Kubernetes DNS resources. CoreDNS watches application DNS state and answers for the delegated zone. ExternalDNS watches delegation DNS resources and updates the parent provider. It does not run on each application DNS query. This slide describes the ExternalDNS provider path; other providers such as Infoblox have their own integration.</a:t>
            </a:r>
          </a:p>
          <a:p/>
          <a:p>
            <a:r>
              <a:t>SOURCE CHECK</a:t>
            </a:r>
          </a:p>
          <a:p>
            <a:r>
              <a:t>Local k8gb checkout: 330d33335981b9716bc8ca245660d90893eae272</a:t>
            </a:r>
          </a:p>
          <a:p>
            <a:r>
              <a:t>https://github.com/k8gb-io/k8gb/blob/330d33335981b9716bc8ca245660d90893eae272/controllers/providers/dns/external.go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This architecture is rebuilt from Amsterdam kiosk slide 5. Preserve its cluster symmetry and separation of workloads, controller, CoreDNS and ExternalDNS, but do not copy its controller-to-controller sync arrow literally. In the checked source, a controller reads peer server addresses from ZoneDelegation status, then queries remote CoreDNS for local targets. Each cluster has its own application DNSEndpoint, CoreDNS authority and delegation integration. The two authorities serve the same application zone; their current answer may differ under partition. ExternalDNS updates parent NS/address records. Application connections are explained separately in the request-path slide. Only two of N participating clusters are drawn for clarity. Every additional cluster follows the same local-controller, CoreDNS-authority and delegation pattern; configure its unique geotag and peer membership consistently. The model has no fixed two-cluster restriction.</a:t>
            </a:r>
          </a:p>
          <a:p/>
          <a:p>
            <a:r>
              <a:t>SOURCE CHECK</a:t>
            </a:r>
          </a:p>
          <a:p>
            <a:r>
              <a:t>Local k8gb checkout: 330d33335981b9716bc8ca245660d90893eae272</a:t>
            </a:r>
          </a:p>
          <a:p>
            <a:r>
              <a:t>https://github.com/k8gb-io/k8gb/blob/330d33335981b9716bc8ca245660d90893eae272/controllers/zones/authoritative.go</a:t>
            </a:r>
          </a:p>
          <a:p>
            <a:r>
              <a:t>https://github.com/k8gb-io/k8gb/blob/330d33335981b9716bc8ca245660d90893eae272/controllers/providers/k8gbendpoint/applicationDNSEndpoint.go</a:t>
            </a:r>
          </a:p>
          <a:p>
            <a:r>
              <a:t>https://github.com/k8gb-io/k8gb/blob/330d33335981b9716bc8ca245660d90893eae272/controllers/providers/dns/external.go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This is a deliberately simplified view of the local checkout at 330d3333. ZoneDelegation manages zone configuration and DNS-server membership, including status.dnsServers. Gslb reconciliation evaluates Service EndpointSlices and uses those peer addresses for health queries. It writes the application DNSEndpoint consumed by CoreDNS. Therefore an edge-DNS interruption must be analysed separately from a failed peer-health query; an edge failure does not by itself prove immediate loss of all cached peer addresses. The chart has separate Gslb and ZoneDelegation reconciliation intervals. Do not present a single exact failover timer. This diagram shows the ExternalDNS provider path: ZoneDelegation reconciliation writes a delegation DNSEndpoint with NS and nameserver-address records. ExternalDNS consumes that resource and updates the parent DNS. A separate branch updates the CoreDNS zone ConfigMap. The lower DNSEndpoint contains application targets and is consumed by CoreDNS, not by ExternalDNS for parent delegation. The two CoreDNS boxes show two roles of the same per-cluster service. The title counts the two k8gb loops; ExternalDNS has its own reconciliation.</a:t>
            </a:r>
          </a:p>
          <a:p/>
          <a:p>
            <a:r>
              <a:t>SOURCE CHECK</a:t>
            </a:r>
          </a:p>
          <a:p>
            <a:r>
              <a:t>Local k8gb checkout: 330d33335981b9716bc8ca245660d90893eae272</a:t>
            </a:r>
          </a:p>
          <a:p>
            <a:r>
              <a:t>https://github.com/k8gb-io/k8gb/blob/330d33335981b9716bc8ca245660d90893eae272/controllers/zone_delegation_reconciliation.go</a:t>
            </a:r>
          </a:p>
          <a:p>
            <a:r>
              <a:t>https://github.com/k8gb-io/k8gb/blob/330d33335981b9716bc8ca245660d90893eae272/controllers/zones/zone_service.go</a:t>
            </a:r>
          </a:p>
          <a:p>
            <a:r>
              <a:t>https://github.com/k8gb-io/k8gb/blob/330d33335981b9716bc8ca245660d90893eae272/controllers/zones/authoritative.go</a:t>
            </a:r>
          </a:p>
          <a:p>
            <a:r>
              <a:t>https://github.com/k8gb-io/k8gb/blob/330d33335981b9716bc8ca245660d90893eae272/controllers/runtime_shared.go</a:t>
            </a:r>
          </a:p>
          <a:p>
            <a:r>
              <a:t>https://github.com/k8gb-io/k8gb/blob/330d33335981b9716bc8ca245660d90893eae272/controllers/providers/dns/external.go</a:t>
            </a:r>
          </a:p>
          <a:p>
            <a:r>
              <a:t>https://github.com/k8gb-io/k8gb/blob/330d33335981b9716bc8ca245660d90893eae272/controllers/providers/k8gbendpoint/delegationDNSEndpoint.go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Gslb is a Kubernetes custom resource. The manifest shows the familiar apiVersion, kind, metadata and spec structure, with name test-gslb-failover in namespace test-gslb. The corresponding HTTPRoute named payments must exist in that namespace, attach to a working Gateway, and have a hostname within a delegated zone. Apply configuration at both participating clusters, with a primaryGeoTag matching cluster A’s configured clusterGeoTag. The local upstream demonstration script uses a referenced Ingress; the failover strategy carries across supported route integrations. The eu and us labels illustrate two cluster geotags. The shared configuration does not centralize health observation.</a:t>
            </a:r>
          </a:p>
          <a:p/>
          <a:p>
            <a:r>
              <a:t>SOURCE CHECK</a:t>
            </a:r>
          </a:p>
          <a:p>
            <a:r>
              <a:t>Local k8gb checkout: 330d33335981b9716bc8ca245660d90893eae272</a:t>
            </a:r>
          </a:p>
          <a:p>
            <a:r>
              <a:t>https://github.com/k8gb-io/k8gb/blob/330d33335981b9716bc8ca245660d90893eae272/api/v1beta1io/gslb_types.go</a:t>
            </a:r>
          </a:p>
          <a:p>
            <a:r>
              <a:t>https://github.com/k8gb-io/k8gb/blob/330d33335981b9716bc8ca245660d90893eae272/docs/resource_ref.md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The parent zone publishes NS records for the delegated application subzone, plus the address records required by the chosen naming arrangement. Glue is specifically required for in-bailiwick nameserver names; do not use glue to mean every address record universally. The recursive resolver follows that delegation to a reachable CoreDNS authority. CoreDNS answers application A records. Redundant authority, public DNS reachability and recovery credentials remain production responsibilities. k8gb does not take ownership of the registrar or parent zone. The ns-a and ns-b labels abbreviate illustrative nameserver hostnames. Both cluster authorities serve the same delegated zone. The arrows represent delegation and a DNS answer, not application packets or a proxy hop through the parent DNS.</a:t>
            </a:r>
          </a:p>
          <a:p/>
          <a:p>
            <a:r>
              <a:t>SOURCE CHECK</a:t>
            </a:r>
          </a:p>
          <a:p>
            <a:r>
              <a:t>Local k8gb checkout: 330d33335981b9716bc8ca245660d90893eae272</a:t>
            </a:r>
          </a:p>
          <a:p>
            <a:r>
              <a:t>https://github.com/k8gb-io/k8gb/blob/330d33335981b9716bc8ca245660d90893eae272/controllers/providers/k8gbendpoint/delegationDNSEndpoint.go</a:t>
            </a:r>
          </a:p>
          <a:p>
            <a:r>
              <a:t>https://github.com/k8gb-io/k8gb/blob/330d33335981b9716bc8ca245660d90893eae272/docs/exposing_dns.md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Amsterdam slide 9 shows RFC2136 alongside managed providers. These are alternative ways to operate the parent zone, not two required simultaneous providers. The blue cloud and teal server icons represent provider-operated and team-operated DNS respectively; BIND9 is the self-hosted example. The arrows point from ExternalDNS toward the parent authority because they represent delegation updates, not application requests or DNS query flow. ExternalDNS uses the configured provider API or RFC2136, with TSIG shown for authenticated updates. The bottom band is the application-zone layer in each cluster: k8gb evaluates the Gslb traffic strategy, and CoreDNS serves application answers. The Gslb strategy is independent of the chosen parent-DNS integration. Changing providers still requires provider configuration, credentials, and a planned delegation migration; this diagram does not promise automatic or disruption-free migration. With self-operated BIND, your team operates the parent authorities too. Use narrowly scoped update permissions, redundant authorities and tested recovery; self-hosting alone does not establish sovereignty.</a:t>
            </a:r>
          </a:p>
          <a:p/>
          <a:p>
            <a:r>
              <a:t>SOURCE CHECK</a:t>
            </a:r>
          </a:p>
          <a:p>
            <a:r>
              <a:t>Local k8gb checkout: 330d33335981b9716bc8ca245660d90893eae272</a:t>
            </a:r>
          </a:p>
          <a:p>
            <a:r>
              <a:t>https://github.com/k8gb-io/k8gb/blob/330d33335981b9716bc8ca245660d90893eae272/docs/provider_rfc2136.md</a:t>
            </a:r>
          </a:p>
          <a:p>
            <a:r>
              <a:t>https://github.com/k8gb-io/k8gb/blob/330d33335981b9716bc8ca245660d90893eae272/controllers/providers/dns/external.go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Both applications are ready. Both clusters run independent k8gb and CoreDNS instances. With complete peer visibility, each authority publishes the primary application addresses. There is no active DNS-master election between the clusters. Passive describes application target selection in this strategy, not a powered-off controller or authority.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This is application failure, not loss of the entire cluster. A’s CoreDNS remains reachable while its workload has no ready endpoints. After reconciliation, A can publish B’s healthy targets, and B no longer finds healthy primary targets. Existing connections are not migrated and cached A answers may persist. If the whole primary cluster is lost, the surviving authority must also remain reachable by resolvers.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The code automatically prefers a healthy primary again. There is no implied built-in manual failback approval gate. If the application is not safe to receive traffic yet, its readiness and operational controls must prevent premature eligibility. Database leadership, replication consistency, fencing and session continuity belong to the application recovery design.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Separate workload detection, reconciliation/publication and client-observed recovery. Readiness probe timing and Gslb reconciliation affect eligibility. Zone membership has a separate reconciliation loop. Then resolver caches, application caches, retries and existing connections shape the user experience. Avoid advertising a hard end-to-end recovery bound from one TTL or a simple additive formula. Measure the client path used in production. The numbered stages show a conceptual sequence, not a time scale. The dashed final segment highlights variable client delay after authoritative publication; its length does not quantify that delay. A fresh DNS answer alone neither repairs existing connections nor proves successful application requests.</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https://github.com/k8gb-io/k8gb/blob/330d33335981b9716bc8ca245660d90893eae272/controllers/zone_delegation_reconciliation.go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Start with container readinessProbe checks configured in a Pod. The kubelet runs these checks; their results contribute to Pod Ready along with container state and any readiness gates. Kubernetes reflects Pod readiness in the associated EndpointSlice conditions. The slide shows the usual Pod-backed Service path; terminating endpoints and publishNotReadyAddresses affect those conditions. k8gb reads this Kubernetes state; it does not execute the Pod probes itself. The checked implementation reads Services and their EndpointSlices. A Service is healthy when an endpoint has an address and its Ready condition is true or unspecified. For a host with multiple referenced Services, Any is the default; All requires every Service to exist and be healthy. These are availability semantics, not a business transaction test. Liveness causes restarts; readiness governs eligibility. Application teams must encode safe traffic acceptance. The center card shows aggregation across Services for the same host, not a choice between requiring any versus all Pods to be ready. Local application health informs Gslb target selection together with the traffic strategy and observed peer targets. EndpointSlice addresses are health evidence; they are not directly copied into the public DNS answer. The lower panel describes checks owned by the application team. k8gb does not execute database-role or business-transaction checks itself.</a:t>
            </a:r>
          </a:p>
          <a:p/>
          <a:p>
            <a:r>
              <a:t>SOURCE CHECK</a:t>
            </a:r>
          </a:p>
          <a:p>
            <a:r>
              <a:t>Local k8gb checkout: 330d33335981b9716bc8ca245660d90893eae272</a:t>
            </a:r>
          </a:p>
          <a:p>
            <a:r>
              <a:t>https://github.com/k8gb-io/k8gb/blob/330d33335981b9716bc8ca245660d90893eae272/controllers/runtime_shared.go</a:t>
            </a:r>
          </a:p>
          <a:p>
            <a:r>
              <a:t>https://github.com/k8gb-io/k8gb/blob/330d33335981b9716bc8ca245660d90893eae272/api/v1beta1io/gslb_types.go</a:t>
            </a:r>
          </a:p>
          <a:p>
            <a:r>
              <a:t>https://github.com/k8gb-io/k8gb/blob/330d33335981b9716bc8ca245660d90893eae272/controllers/providers/k8gbendpoint/applicationDNSEndpoint.go</a:t>
            </a:r>
          </a:p>
          <a:p>
            <a:r>
              <a:t>https://kubernetes.io/docs/concepts/workloads/pods/probes/#readiness-probe</a:t>
            </a:r>
          </a:p>
          <a:p>
            <a:r>
              <a:t>https://kubernetes.io/docs/concepts/services-networking/endpoint-slices/#conditions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This is an illustrative payment-write scenario, not captured telemetry or a production incident claim. A shallow readinessProbe passes, the application hostname resolves, and GET /healthz returns HTTP 200. The real POST /payments request reaches the application, but the database is read-only and rejects the write, so the payment cannot be saved. The HTTP 200 belongs to the health endpoint, not to the failed payment request. The comparison symbol contrasts health observations with the business outcome; green signals do not cause the failure. k8gb consumes the readiness state it receives and does not independently test database roles or payment transactions. Application teams must define readiness around the required operation and its critical dependencies. Data replication, safe writer ownership and fencing remain part of application recovery. Do not imply that a readiness probe alone repairs the database or guarantees every request.</a:t>
            </a:r>
          </a:p>
          <a:p/>
          <a:p>
            <a:r>
              <a:t>SOURCE CHECK</a:t>
            </a:r>
          </a:p>
          <a:p>
            <a:r>
              <a:t>Local k8gb checkout: 330d33335981b9716bc8ca245660d90893eae272</a:t>
            </a:r>
          </a:p>
          <a:p>
            <a:r>
              <a:t>https://github.com/k8gb-io/k8gb/blob/330d33335981b9716bc8ca245660d90893eae272/controllers/runtime_shared.go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1.75 minutes.</a:t>
            </a:r>
          </a:p>
          <a:p/>
          <a:p>
            <a:r>
              <a:t>Define the partition precisely: controller B cannot obtain A’s healthy local targets from peer CoreDNS, while both applications remain healthy and clients can reach both authorities. B continues with its local healthy targets; A, being healthy primary, keeps its own. The result is divergent application answers. This is not a consensus protocol or writer-fencing mechanism. In this checkout, peer addresses are read from ZoneDelegation status. Do not equate every edge-DNS outage with immediate loss of direct peer-health reachability. Test those faults separately. This is an inference from the implementation, not a recorded partition test. The diagram represents the answer state after reconciliation. Solid local arrows summarize k8gb publishing DNS state through DNSEndpoint to CoreDNS. The crossed dashed arrow is the failed query from controller B to CoreDNS A; only that peer-query direction is drawn. CoreDNS instances are not replicating answers to each other. The green badges describe the applications. Both DNS authorities remain reachable to clients in this scenario.</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This is an illustrative incident view, not captured telemetry. Compare authority A, authority B, a representative recursive resolver, and a real application transaction. They can disagree during a partition or cache transition. Query the same hostname at both CoreDNS authorities and through the recursive resolver used by clients, then verify the application result. The separate metric example assumes one hostname with three observed healthy application IP entries from a single cluster: k8gb_gslb_healthy_records is 3. The implementation sums the lengths of the address lists across host records; it does not count distinct clusters or deduplicate an address repeated for different hosts. This is an address-count example, not another measurement of the illustrated partition. k8gb_gslb_errors_total is a coarse reconciliation-error signal. Correlate Pod readiness, controller errors and logs, DNS answers, and application results; probe from more than one network.</a:t>
            </a:r>
          </a:p>
          <a:p/>
          <a:p>
            <a:r>
              <a:t>SOURCE CHECK</a:t>
            </a:r>
          </a:p>
          <a:p>
            <a:r>
              <a:t>Local k8gb checkout: 330d33335981b9716bc8ca245660d90893eae272</a:t>
            </a:r>
          </a:p>
          <a:p>
            <a:r>
              <a:t>https://github.com/k8gb-io/k8gb/blob/330d33335981b9716bc8ca245660d90893eae272/controllers/providers/metrics/prometheus.go</a:t>
            </a:r>
          </a:p>
          <a:p>
            <a:r>
              <a:t>https://github.com/k8gb-io/k8gb/blob/330d33335981b9716bc8ca245660d90893eae272/controllers/runtime_shared.go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Use a bounded staging exercise and restore every fault. These are planned tests, not recorded results. Define the expected DNS state and application success criteria before each test. The example has two clusters: A is the configured primary and B is healthy. Removing all ready primary endpoints tests workload eligibility while both DNS authorities remain reachable; after reconciliation both should publish B application addresses. Losing cluster A tests surviving authority B, ingress and successful requests through a client resolver. The partition case blocks B from obtaining A’s peer-health answer through all available query paths, while both applications stay ready and both authorities remain client-reachable: A can answer A while B answers B, as inferred from the source on the preceding partition slide. Measure divergence and its application impact; divergent DNS is not by itself a successful resilience outcome. Parent-DNS interruption is a separate test. Restoring A’s readiness and peer visibility tests automatic failback. Verify application and data correctness separately; k8gb does not guarantee safe database promotion or writer fencing. Record timestamps for authoritative answers, recursive answers and successful transactions, without assuming TTL is a hard recovery bound. Change one condition at a time and restore the baseline between independent fault tests. A zero-replica demo does not replace these broader failure cases.</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https://github.com/k8gb-io/k8gb/blob/330d33335981b9716bc8ca245660d90893eae272/controllers/runtime_shared.go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Attribute every result to the published CNCF case study and its particular deployment. It reports 70 percent lower DNS-related incident response times, five regions, and zero downtime during regional failover tests. It does not establish an unconditional k8gb RTO or zero-downtime guarantee. The operational lesson is combining portable traffic control with observability, GitOps and repeated disaster-recovery drills. The case study was published on 16 September 2025 and rechecked on 20 October 2026. Its infrastructure description spans five regions across two cloud providers plus on-premises environments; five regions must not be presented as an exact cluster count. The five connected dots are a schematic count, not a geographic or network-topology map. The bank logo comes from the same CNCF case-study page and identifies the adopter, not a talk sponsor.</a:t>
            </a:r>
          </a:p>
          <a:p/>
          <a:p>
            <a:r>
              <a:t>SOURCE CHECK</a:t>
            </a:r>
          </a:p>
          <a:p>
            <a:r>
              <a:t>Local k8gb checkout: 330d33335981b9716bc8ca245660d90893eae272</a:t>
            </a:r>
          </a:p>
          <a:p>
            <a:r>
              <a:t>https://www.cncf.io/case-studies/millennium-bcp/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6.75 minutes.</a:t>
            </a:r>
          </a:p>
          <a:p/>
          <a:p>
            <a:r>
              <a:t>Transition to the pre-started local lab. Two independent k3d application clusters represent different locations: cluster A has geotag eu and is the preferred primary; cluster B has geotag us and is the secondary. Both locations are simulated on the same laptop, not physically independent regions. Each cluster runs k8gb, its authoritative CoreDNS, and the same podinfo application exposed through an Ingress. The unchanged application hostname is failover.cloud.example.com. Local BIND9 serves the example.com parent zone and delegates cloud.example.com to the cluster CoreDNS authorities. The upstream playground runs BIND9 in a third, separate infrastructure cluster named edgedns; it is not one of the two application clusters. The solid arrows show DNS delegation, not application traffic or record replication. The CLI dashboard combines host-side readiness observations with a client observer container on the local Docker network, outside both application clusters. That observer queries both authorities, uses an Unbound cache through the parent delegation, and makes fresh HTTP requests to the same hostname. The dashed arrows summarize these DNS/HTTP observations; the dashboard is not a traffic proxy. ExternalDNS update paths and peer-health queries are omitted from this compact setup view; the earlier architecture slides cover them. Remove A’s ready application targets, watch DNS and actual responses move to B, then restore A’s captured original replica count and observe automatic failback. This is application endpoint loss, not a whole-cluster or physical-region outage. Keep this setup slide visible for the introduction, switch directly to the CLI dashboard, then return to the debrief. Allow 6 minutes 45 seconds for the introduction, exercise and explanation. Presenter commands belong in the companion demo runbook and a second terminal. From the upstream checkout, use ./hack/demo-failover.sh status to inspect the starting state, ./hack/demo-failover.sh failover to remove A’s ready targets, and ./hack/demo-failover.sh failback "$REPLICAS" to restore the captured original replica count. The upstream defaults are namespace test-gslb, contexts k3d-test-gslb1 and k3d-test-gslb2, deployment frontend-podinfo, and referenced Ingress failover-ingress. At every stage, query both authorities and verify the responding application identity. Direct host-side DNS checks use TCP on localhost ports 5053 and 5054 for failover.cloud.example.com; ./hack/demo-failover.sh probe checks the upstream application probe path. These are specific observed paths, not evidence about every public resolver. Prepare the full local playground before presenting. Prepare a real rehearsal recording as fallback. The CLI preview is illustrative, and the live observer path still requires integration rehearsal; do not present preview timings as measured results.</a:t>
            </a:r>
          </a:p>
          <a:p/>
          <a:p>
            <a:r>
              <a:t>SOURCE CHECK</a:t>
            </a:r>
          </a:p>
          <a:p>
            <a:r>
              <a:t>Local k8gb checkout: 330d33335981b9716bc8ca245660d90893eae272</a:t>
            </a:r>
          </a:p>
          <a:p>
            <a:r>
              <a:t>https://github.com/k8gb-io/k8gb/blob/330d33335981b9716bc8ca245660d90893eae272/hack/demo-failover.sh</a:t>
            </a:r>
          </a:p>
          <a:p>
            <a:r>
              <a:t>https://github.com/k8gb-io/k8gb/blob/330d33335981b9716bc8ca245660d90893eae272/k3d/test-gslb1.yaml</a:t>
            </a:r>
          </a:p>
          <a:p>
            <a:r>
              <a:t>https://github.com/k8gb-io/k8gb/blob/330d33335981b9716bc8ca245660d90893eae272/k3d/test-gslb2.yaml</a:t>
            </a:r>
          </a:p>
          <a:p>
            <a:r>
              <a:t>https://github.com/k8gb-io/k8gb/blob/330d33335981b9716bc8ca245660d90893eae272/k3d/edge-dns.yaml</a:t>
            </a:r>
          </a:p>
          <a:p>
            <a:r>
              <a:t>https://github.com/k8gb-io/k8gb/blob/330d33335981b9716bc8ca245660d90893eae272/deploy/edge/deployment.yaml</a:t>
            </a:r>
          </a:p>
          <a:p>
            <a:r>
              <a:t>https://github.com/k8gb-io/k8gb/blob/330d33335981b9716bc8ca245660d90893eae272/deploy/edge/zone.yaml</a:t>
            </a:r>
          </a:p>
          <a:p>
            <a:r>
              <a:t>https://github.com/k8gb-io/k8gb/blob/330d33335981b9716bc8ca245660d90893eae272/deploy/gslb/k8gb.absa.oss_v1beta1_gslb_cr_failover_ingress_ref.yaml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Use the dashboard observations to recap traffic steering: A is initially preferred, A loses its ready application targets, B is selected, and A is preferred again after its original replicas are restored and ready. The A–B–A illustration is a sequence over time involving the same two clusters, not three deployments or migrated sessions. Check both authoritative DNS answers and the cluster identity returned by fresh HTTP requests to the unchanged hostname. The live observer also samples one local Unbound cache; other resolver implementations, client retry behavior and long-lived sessions remain separate tests. DNS convergence and successful HTTP responses occur at their own observed times; the sequence is not an instant-switch claim. The next tests extend to whole-cluster outages, peer-DNS partitions, data recovery, writer safety and business-transaction correctness. The podinfo demo does not exercise a stateful business transaction. Connect operational control to concrete actions: can your team change the traffic-steering manifest, inspect DNS and request outcomes, and restore the application with the required access? This leads into the checklist. Describe only what the actual run demonstrated. This slide is a debrief guide, not a captured test result. Live integration rehearsal is still required; if using the illustrative CLI preview, identify it as illustrative rather than measured evidence.</a:t>
            </a:r>
          </a:p>
          <a:p/>
          <a:p>
            <a:r>
              <a:t>SOURCE CHECK</a:t>
            </a:r>
          </a:p>
          <a:p>
            <a:r>
              <a:t>Local k8gb checkout: 330d33335981b9716bc8ca245660d90893eae272</a:t>
            </a:r>
          </a:p>
          <a:p>
            <a:r>
              <a:t>https://github.com/k8gb-io/k8gb/blob/330d33335981b9716bc8ca245660d90893eae272/hack/demo-failover.sh</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Deliver the checklist promised in the conference abstract. Each item should have an owner and evidence: delegation records and recovery credentials, reviewed traffic-steering configuration, readiness tests, authority redundancy, client-facing probes and a recorded recovery exercise. A platform can be distributed across providers while still failing several of these control tests. Identify operators and escalation contacts for parent DNS, peer-authority and network reachability, and resolver/client behavior. Document who can inspect, change and restore each dependency, including the required access and recovery procedure. Parent-zone membership refresh, direct peer-health observation and client caching are separate dependencies, already illustrated earlier in the talk. The six cards are checks to perform, not a claim that this deployment has passed them. Review the Gslb manifest in version control; readiness should reflect the application operation and dependencies that make traffic safe. Monitor the DNS authorities as well as the DNS answers and transactions clients experience. Exercise failover, partitions and return to primary. Close with end-to-end testing and automation: test the full failover and recovery path, verify DNS and real application outcomes, and automate as much as possible. Repeat those tests as configuration and dependencies change.</a:t>
            </a:r>
          </a:p>
          <a:p/>
          <a:p>
            <a:r>
              <a:t>SOURCE CHECK</a:t>
            </a:r>
          </a:p>
          <a:p>
            <a:r>
              <a:t>Local k8gb checkout: 330d33335981b9716bc8ca245660d90893eae272</a:t>
            </a:r>
          </a:p>
          <a:p>
            <a:r>
              <a:t>https://www.sovereign-cloud-days.eu/event/sovereign-cloud-days-2026-1/track/who-controls-the-failover-sovereign-global-traffic-management-with-kubernetes-63</a:t>
            </a:r>
          </a:p>
          <a:p>
            <a:r>
              <a:t>https://github.com/k8gb-io/k8gb/blob/330d33335981b9716bc8ca245660d90893eae272/controllers/zones/zone_service.go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The regional examples in this talk are a familiar way to explain global traffic management. They are not a hard-coded cloud-region taxonomy. The chart and GeoTag documentation define clusterGeoTag as a user-defined identifier for a cluster’s location or role. It must be unique for each participating cluster. The five cards illustrate alternative meanings for that identifier: a region, a datacenter, a rack, a server, or a custom operational boundary. Choose boundaries that fit your sovereignty and failure-isolation design. A rack example means an independent cluster within that rack; a server example can be a separate single-node Kubernetes cluster. The tag identifies the k8gb cluster, not individual nodes inside a shared cluster. Naming a boundary does not create isolation or enforce data residency. The example tags use the supported letters, digits and hyphens. Configure peer geotags consistently and match primaryGeoTag to the intended clusterGeoTag. These identifiers are separate from the GeoIP strategy’s geographic database and client-subnet mapping. Close this point with: global describes the traffic-management scope; you define the boundaries.</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https://github.com/k8gb-io/k8gb/blob/330d33335981b9716bc8ca245660d90893eae272/docs/dynamic_geotags.md</a:t>
            </a:r>
          </a:p>
          <a:p>
            <a:r>
              <a:t>https://github.com/k8gb-io/k8gb/blob/330d33335981b9716bc8ca245660d90893eae272/controllers/resolver/config.go</a:t>
            </a:r>
          </a:p>
          <a:p>
            <a:r>
              <a:t>https://github.com/k8gb-io/k8gb/blob/330d33335981b9716bc8ca245660d90893eae272/controllers/resolver/config_validations.go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Return to the opening question through three concrete capabilities: configure traffic steering in a versioned Gslb manifest, verify authoritative and client-visible DNS answers alongside real requests, and automate failover tests and recovery. The team controls the configuration and observes the result; DNS steering is reconciled automatically by the controllers. This is not a manual approval step for each failover. Test the full path from meaningful readiness through DNS publication and client behavior to successful application requests. Preserve the earlier distinction between traffic recovery, stateful recovery and existing sessions. Automate the tested recovery steps and repeat the tests as the system changes. These are operating goals, not a claim that every dependency disappears or that a local demonstration proves all aspects of sovereignty. Close by connecting control of traffic steering to configuration, observation and tested automation, then invite questions.</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3 minutes.</a:t>
            </a:r>
          </a:p>
          <a:p/>
          <a:p>
            <a:r>
              <a:t>Reserve three minutes for questions, with the remaining schedule buffer available if needed. The QR pixels are preserved from the baseline presentation. Share the official project, source and production case-study links. The speaker supplied the LinkedIn profile https://www.linkedin.com/in/yurytsarev/ for follow-up conversations. The project URL, repository, case study and LinkedIn address are clickable in the PowerPoint and PDF. The deck’s implementation review is pinned to the local source commit 330d33335981b9716bc8ca245660d90893eae272; it is not presented as an unqualified claim about every historical or future release.</a:t>
            </a:r>
          </a:p>
          <a:p/>
          <a:p>
            <a:r>
              <a:t>SOURCE CHECK</a:t>
            </a:r>
          </a:p>
          <a:p>
            <a:r>
              <a:t>Local k8gb checkout: 330d33335981b9716bc8ca245660d90893eae272</a:t>
            </a:r>
          </a:p>
          <a:p>
            <a:r>
              <a:t>https://www.sovereign-cloud-days.eu/event/sovereign-cloud-days-2026-1/track/who-controls-the-failover-sovereign-global-traffic-management-with-kubernetes-63</a:t>
            </a:r>
          </a:p>
          <a:p>
            <a:r>
              <a:t>https://www.k8gb.io/</a:t>
            </a:r>
          </a:p>
          <a:p>
            <a:r>
              <a:t>https://github.com/k8gb-io/k8gb</a:t>
            </a:r>
          </a:p>
          <a:p>
            <a:r>
              <a:t>https://www.cncf.io/case-studies/millennium-bcp/</a:t>
            </a:r>
          </a:p>
          <a:p>
            <a:r>
              <a:t>https://www.linkedin.com/in/yurytsarev/</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hyperlink" Target="https://www.k8gb.io/" TargetMode="External"/><Relationship Id="rId5" Type="http://schemas.openxmlformats.org/officeDocument/2006/relationships/hyperlink" Target="https://www.linkedin.com/in/yurytsarev/" TargetMode="External"/><Relationship Id="rId6" Type="http://schemas.openxmlformats.org/officeDocument/2006/relationships/hyperlink" Target="https://github.com/k8gb-io/k8gb" TargetMode="External"/><Relationship Id="rId7" Type="http://schemas.openxmlformats.org/officeDocument/2006/relationships/hyperlink" Target="https://www.cncf.io/case-studies/millennium-bcp/" TargetMode="External"/><Relationship Id="rId8"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SOVEREIGN GLOBAL TRAFFIC MANAGEMENT</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01 / 34</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206500"/>
            <a:ext cx="7874000" cy="1531620"/>
          </a:xfrm>
          <a:prstGeom prst="rect">
            <a:avLst/>
          </a:prstGeom>
          <a:noFill/>
        </p:spPr>
        <p:txBody>
          <a:bodyPr wrap="none" lIns="0" rIns="0" tIns="0" bIns="0" anchor="t">
            <a:noAutofit/>
          </a:bodyPr>
          <a:lstStyle/>
          <a:p>
            <a:pPr algn="l">
              <a:lnSpc>
                <a:spcPts val="5880"/>
              </a:lnSpc>
              <a:spcBef>
                <a:spcPts val="0"/>
              </a:spcBef>
              <a:spcAft>
                <a:spcPts val="0"/>
              </a:spcAft>
            </a:pPr>
            <a:r>
              <a:rPr sz="5600" b="1">
                <a:solidFill>
                  <a:srgbClr val="FFFFFF"/>
                </a:solidFill>
                <a:latin typeface="Arial"/>
              </a:rPr>
              <a:t>Who controls</a:t>
            </a:r>
          </a:p>
          <a:p>
            <a:pPr algn="l">
              <a:lnSpc>
                <a:spcPts val="5880"/>
              </a:lnSpc>
              <a:spcBef>
                <a:spcPts val="0"/>
              </a:spcBef>
              <a:spcAft>
                <a:spcPts val="0"/>
              </a:spcAft>
            </a:pPr>
            <a:r>
              <a:rPr sz="5600" b="1">
                <a:solidFill>
                  <a:srgbClr val="FFFFFF"/>
                </a:solidFill>
                <a:latin typeface="Arial"/>
              </a:rPr>
              <a:t>the failover?</a:t>
            </a:r>
          </a:p>
        </p:txBody>
      </p:sp>
      <p:sp>
        <p:nvSpPr>
          <p:cNvPr id="9" name="TextBox 8"/>
          <p:cNvSpPr txBox="1"/>
          <p:nvPr/>
        </p:nvSpPr>
        <p:spPr>
          <a:xfrm>
            <a:off x="647700" y="3162300"/>
            <a:ext cx="8001000" cy="843788"/>
          </a:xfrm>
          <a:prstGeom prst="rect">
            <a:avLst/>
          </a:prstGeom>
          <a:noFill/>
        </p:spPr>
        <p:txBody>
          <a:bodyPr wrap="none" lIns="0" rIns="0" tIns="0" bIns="0" anchor="t">
            <a:noAutofit/>
          </a:bodyPr>
          <a:lstStyle/>
          <a:p>
            <a:pPr algn="l">
              <a:lnSpc>
                <a:spcPts val="3172"/>
              </a:lnSpc>
              <a:spcBef>
                <a:spcPts val="0"/>
              </a:spcBef>
              <a:spcAft>
                <a:spcPts val="0"/>
              </a:spcAft>
            </a:pPr>
            <a:r>
              <a:rPr sz="2600" b="0">
                <a:solidFill>
                  <a:srgbClr val="B8C8D9"/>
                </a:solidFill>
                <a:latin typeface="Arial"/>
              </a:rPr>
              <a:t>Sovereign global traffic management</a:t>
            </a:r>
          </a:p>
          <a:p>
            <a:pPr algn="l">
              <a:lnSpc>
                <a:spcPts val="3172"/>
              </a:lnSpc>
              <a:spcBef>
                <a:spcPts val="0"/>
              </a:spcBef>
              <a:spcAft>
                <a:spcPts val="0"/>
              </a:spcAft>
            </a:pPr>
            <a:r>
              <a:rPr sz="2600" b="0">
                <a:solidFill>
                  <a:srgbClr val="B8C8D9"/>
                </a:solidFill>
                <a:latin typeface="Arial"/>
              </a:rPr>
              <a:t>with Kubernetes</a:t>
            </a:r>
          </a:p>
        </p:txBody>
      </p:sp>
      <p:pic>
        <p:nvPicPr>
          <p:cNvPr id="10" name="Picture 9" descr="image.png"/>
          <p:cNvPicPr>
            <a:picLocks noChangeAspect="1"/>
          </p:cNvPicPr>
          <p:nvPr/>
        </p:nvPicPr>
        <p:blipFill>
          <a:blip r:embed="rId2"/>
          <a:stretch>
            <a:fillRect/>
          </a:stretch>
        </p:blipFill>
        <p:spPr>
          <a:xfrm>
            <a:off x="9486900" y="1333500"/>
            <a:ext cx="1841500" cy="1841500"/>
          </a:xfrm>
          <a:prstGeom prst="rect">
            <a:avLst/>
          </a:prstGeom>
        </p:spPr>
      </p:pic>
      <p:cxnSp>
        <p:nvCxnSpPr>
          <p:cNvPr id="11" name="Connector 10"/>
          <p:cNvCxnSpPr/>
          <p:nvPr/>
        </p:nvCxnSpPr>
        <p:spPr>
          <a:xfrm>
            <a:off x="660400" y="4470400"/>
            <a:ext cx="108712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698500" y="4864100"/>
            <a:ext cx="127000" cy="1270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0600" y="4737100"/>
            <a:ext cx="317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TRAFFIC MANAGEMENT</a:t>
            </a:r>
          </a:p>
        </p:txBody>
      </p:sp>
      <p:sp>
        <p:nvSpPr>
          <p:cNvPr id="14" name="Oval 13"/>
          <p:cNvSpPr/>
          <p:nvPr/>
        </p:nvSpPr>
        <p:spPr>
          <a:xfrm>
            <a:off x="4889500" y="4864100"/>
            <a:ext cx="127000" cy="1270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1600" y="4737100"/>
            <a:ext cx="2159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DNS STEERING</a:t>
            </a:r>
          </a:p>
        </p:txBody>
      </p:sp>
      <p:sp>
        <p:nvSpPr>
          <p:cNvPr id="16" name="Oval 15"/>
          <p:cNvSpPr/>
          <p:nvPr/>
        </p:nvSpPr>
        <p:spPr>
          <a:xfrm>
            <a:off x="7785100" y="4864100"/>
            <a:ext cx="127000" cy="1270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77200" y="4737100"/>
            <a:ext cx="35052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MULTI-REGION RESILIENCE</a:t>
            </a:r>
          </a:p>
        </p:txBody>
      </p:sp>
      <p:sp>
        <p:nvSpPr>
          <p:cNvPr id="18" name="TextBox 17"/>
          <p:cNvSpPr txBox="1"/>
          <p:nvPr/>
        </p:nvSpPr>
        <p:spPr>
          <a:xfrm>
            <a:off x="660400" y="5524500"/>
            <a:ext cx="10414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FFFFFF"/>
                </a:solidFill>
                <a:latin typeface="Arial"/>
              </a:rPr>
              <a:t>Yury Tsarev  ·  Creator &amp; Project Lead, k8gb</a:t>
            </a:r>
          </a:p>
        </p:txBody>
      </p:sp>
      <p:sp>
        <p:nvSpPr>
          <p:cNvPr id="19" name="TextBox 18"/>
          <p:cNvSpPr txBox="1"/>
          <p:nvPr/>
        </p:nvSpPr>
        <p:spPr>
          <a:xfrm>
            <a:off x="660400" y="5943600"/>
            <a:ext cx="1041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24 October 2026  ·  Saarbrücken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BUILDING RESILIENCE · NODES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02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Start with replicas across nodes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One application, several replicas, one Kubernetes cluster.</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10972800" cy="3505200"/>
          </a:xfrm>
          <a:prstGeom prst="roundRect">
            <a:avLst>
              <a:gd name="adj" fmla="val 326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787400" y="2133600"/>
            <a:ext cx="482600" cy="482600"/>
          </a:xfrm>
          <a:prstGeom prst="rect">
            <a:avLst/>
          </a:prstGeom>
        </p:spPr>
      </p:pic>
      <p:sp>
        <p:nvSpPr>
          <p:cNvPr id="12" name="TextBox 11"/>
          <p:cNvSpPr txBox="1"/>
          <p:nvPr/>
        </p:nvSpPr>
        <p:spPr>
          <a:xfrm>
            <a:off x="1409700" y="2260600"/>
            <a:ext cx="6477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ONE KUBERNETES CLUSTER</a:t>
            </a:r>
          </a:p>
        </p:txBody>
      </p:sp>
      <p:sp>
        <p:nvSpPr>
          <p:cNvPr id="13" name="TextBox 12"/>
          <p:cNvSpPr txBox="1"/>
          <p:nvPr/>
        </p:nvSpPr>
        <p:spPr>
          <a:xfrm>
            <a:off x="8940800" y="2286000"/>
            <a:ext cx="2362200" cy="227965"/>
          </a:xfrm>
          <a:prstGeom prst="rect">
            <a:avLst/>
          </a:prstGeom>
          <a:noFill/>
        </p:spPr>
        <p:txBody>
          <a:bodyPr wrap="none" lIns="0" rIns="0" tIns="0" bIns="0" anchor="t">
            <a:noAutofit/>
          </a:bodyPr>
          <a:lstStyle/>
          <a:p>
            <a:pPr algn="r">
              <a:lnSpc>
                <a:spcPts val="1495"/>
              </a:lnSpc>
              <a:spcBef>
                <a:spcPts val="0"/>
              </a:spcBef>
              <a:spcAft>
                <a:spcPts val="0"/>
              </a:spcAft>
            </a:pPr>
            <a:r>
              <a:rPr sz="1300" b="1">
                <a:solidFill>
                  <a:srgbClr val="CF0035"/>
                </a:solidFill>
                <a:latin typeface="Arial"/>
              </a:rPr>
              <a:t>NODE FAILURE</a:t>
            </a:r>
          </a:p>
        </p:txBody>
      </p:sp>
      <p:cxnSp>
        <p:nvCxnSpPr>
          <p:cNvPr id="14" name="Connector 13"/>
          <p:cNvCxnSpPr/>
          <p:nvPr/>
        </p:nvCxnSpPr>
        <p:spPr>
          <a:xfrm flipH="1">
            <a:off x="2336800" y="3098800"/>
            <a:ext cx="2298700" cy="0"/>
          </a:xfrm>
          <a:prstGeom prst="line">
            <a:avLst/>
          </a:prstGeom>
          <a:ln w="2540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336800" y="3098800"/>
            <a:ext cx="0" cy="901700"/>
          </a:xfrm>
          <a:prstGeom prst="line">
            <a:avLst/>
          </a:prstGeom>
          <a:ln w="25400">
            <a:solidFill>
              <a:srgbClr val="CF0035"/>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096000" y="3390900"/>
            <a:ext cx="0" cy="6096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556500" y="3098800"/>
            <a:ext cx="2298700" cy="0"/>
          </a:xfrm>
          <a:prstGeom prst="line">
            <a:avLst/>
          </a:prstGeom>
          <a:ln w="254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855200" y="3098800"/>
            <a:ext cx="0" cy="9017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2184400" y="3479800"/>
            <a:ext cx="304800" cy="3048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2260600" y="3556000"/>
            <a:ext cx="152400" cy="152400"/>
          </a:xfrm>
          <a:prstGeom prst="line">
            <a:avLst/>
          </a:prstGeom>
          <a:ln w="279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260600" y="3556000"/>
            <a:ext cx="152400" cy="152400"/>
          </a:xfrm>
          <a:prstGeom prst="line">
            <a:avLst/>
          </a:prstGeom>
          <a:ln w="27940">
            <a:solidFill>
              <a:srgbClr val="CF0035"/>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635500" y="2806700"/>
            <a:ext cx="2921000" cy="584200"/>
          </a:xfrm>
          <a:prstGeom prst="roundRect">
            <a:avLst>
              <a:gd name="adj" fmla="val 1521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38700" y="2921000"/>
            <a:ext cx="2514600" cy="388620"/>
          </a:xfrm>
          <a:prstGeom prst="rect">
            <a:avLst/>
          </a:prstGeom>
          <a:noFill/>
        </p:spPr>
        <p:txBody>
          <a:bodyPr wrap="none" lIns="0" rIns="0" tIns="0" bIns="0" anchor="t">
            <a:noAutofit/>
          </a:bodyPr>
          <a:lstStyle/>
          <a:p>
            <a:pPr algn="ctr">
              <a:lnSpc>
                <a:spcPts val="2760"/>
              </a:lnSpc>
              <a:spcBef>
                <a:spcPts val="0"/>
              </a:spcBef>
              <a:spcAft>
                <a:spcPts val="0"/>
              </a:spcAft>
            </a:pPr>
            <a:r>
              <a:rPr sz="2400" b="1">
                <a:solidFill>
                  <a:srgbClr val="FFFFFF"/>
                </a:solidFill>
                <a:latin typeface="Arial"/>
              </a:rPr>
              <a:t>Service</a:t>
            </a:r>
          </a:p>
        </p:txBody>
      </p:sp>
      <p:sp>
        <p:nvSpPr>
          <p:cNvPr id="24" name="Rounded Rectangle 23"/>
          <p:cNvSpPr/>
          <p:nvPr/>
        </p:nvSpPr>
        <p:spPr>
          <a:xfrm>
            <a:off x="914400" y="4000500"/>
            <a:ext cx="2844800" cy="1282700"/>
          </a:xfrm>
          <a:prstGeom prst="roundRect">
            <a:avLst>
              <a:gd name="adj" fmla="val 6930"/>
            </a:avLst>
          </a:prstGeom>
          <a:solidFill>
            <a:srgbClr val="FFFFFF"/>
          </a:solidFill>
          <a:ln w="12700">
            <a:solidFill>
              <a:srgbClr val="EAC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4400" y="4000500"/>
            <a:ext cx="50800" cy="12827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17600" y="4178300"/>
            <a:ext cx="1270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CF0035"/>
                </a:solidFill>
                <a:latin typeface="Arial"/>
              </a:rPr>
              <a:t>NODE A</a:t>
            </a:r>
          </a:p>
        </p:txBody>
      </p:sp>
      <p:sp>
        <p:nvSpPr>
          <p:cNvPr id="27" name="Rounded Rectangle 26"/>
          <p:cNvSpPr/>
          <p:nvPr/>
        </p:nvSpPr>
        <p:spPr>
          <a:xfrm>
            <a:off x="2654300" y="4152900"/>
            <a:ext cx="8890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717800" y="4203700"/>
            <a:ext cx="7620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CF0035"/>
                </a:solidFill>
                <a:latin typeface="Arial"/>
              </a:rPr>
              <a:t>DOWN</a:t>
            </a:r>
          </a:p>
        </p:txBody>
      </p:sp>
      <p:sp>
        <p:nvSpPr>
          <p:cNvPr id="29" name="Rounded Rectangle 28"/>
          <p:cNvSpPr/>
          <p:nvPr/>
        </p:nvSpPr>
        <p:spPr>
          <a:xfrm>
            <a:off x="1117600" y="4699000"/>
            <a:ext cx="2438400" cy="381000"/>
          </a:xfrm>
          <a:prstGeom prst="roundRect">
            <a:avLst>
              <a:gd name="adj" fmla="val 16666"/>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93800" y="4762500"/>
            <a:ext cx="2286000" cy="285750"/>
          </a:xfrm>
          <a:prstGeom prst="rect">
            <a:avLst/>
          </a:prstGeom>
          <a:noFill/>
        </p:spPr>
        <p:txBody>
          <a:bodyPr wrap="none" lIns="0" rIns="0" tIns="0" bIns="0" anchor="t">
            <a:noAutofit/>
          </a:bodyPr>
          <a:lstStyle/>
          <a:p>
            <a:pPr algn="ctr">
              <a:lnSpc>
                <a:spcPts val="1800"/>
              </a:lnSpc>
              <a:spcBef>
                <a:spcPts val="0"/>
              </a:spcBef>
              <a:spcAft>
                <a:spcPts val="0"/>
              </a:spcAft>
            </a:pPr>
            <a:r>
              <a:rPr sz="1800" b="1">
                <a:solidFill>
                  <a:srgbClr val="CF0035"/>
                </a:solidFill>
                <a:latin typeface="Arial"/>
              </a:rPr>
              <a:t>Pod unavailable</a:t>
            </a:r>
          </a:p>
        </p:txBody>
      </p:sp>
      <p:sp>
        <p:nvSpPr>
          <p:cNvPr id="31" name="Rounded Rectangle 30"/>
          <p:cNvSpPr/>
          <p:nvPr/>
        </p:nvSpPr>
        <p:spPr>
          <a:xfrm>
            <a:off x="4673600" y="4000500"/>
            <a:ext cx="2844800" cy="1282700"/>
          </a:xfrm>
          <a:prstGeom prst="roundRect">
            <a:avLst>
              <a:gd name="adj" fmla="val 693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673600" y="4000500"/>
            <a:ext cx="50800" cy="12827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876800" y="4178300"/>
            <a:ext cx="1270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2762C8"/>
                </a:solidFill>
                <a:latin typeface="Arial"/>
              </a:rPr>
              <a:t>NODE B</a:t>
            </a:r>
          </a:p>
        </p:txBody>
      </p:sp>
      <p:sp>
        <p:nvSpPr>
          <p:cNvPr id="34" name="Rounded Rectangle 33"/>
          <p:cNvSpPr/>
          <p:nvPr/>
        </p:nvSpPr>
        <p:spPr>
          <a:xfrm>
            <a:off x="4876800" y="4699000"/>
            <a:ext cx="2438400" cy="381000"/>
          </a:xfrm>
          <a:prstGeom prst="roundRect">
            <a:avLst>
              <a:gd name="adj" fmla="val 16666"/>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53000" y="4762500"/>
            <a:ext cx="2286000" cy="285750"/>
          </a:xfrm>
          <a:prstGeom prst="rect">
            <a:avLst/>
          </a:prstGeom>
          <a:noFill/>
        </p:spPr>
        <p:txBody>
          <a:bodyPr wrap="none" lIns="0" rIns="0" tIns="0" bIns="0" anchor="t">
            <a:noAutofit/>
          </a:bodyPr>
          <a:lstStyle/>
          <a:p>
            <a:pPr algn="ctr">
              <a:lnSpc>
                <a:spcPts val="1800"/>
              </a:lnSpc>
              <a:spcBef>
                <a:spcPts val="0"/>
              </a:spcBef>
              <a:spcAft>
                <a:spcPts val="0"/>
              </a:spcAft>
            </a:pPr>
            <a:r>
              <a:rPr sz="1800" b="1">
                <a:solidFill>
                  <a:srgbClr val="177C58"/>
                </a:solidFill>
                <a:latin typeface="Arial"/>
              </a:rPr>
              <a:t>Ready Pod</a:t>
            </a:r>
          </a:p>
        </p:txBody>
      </p:sp>
      <p:sp>
        <p:nvSpPr>
          <p:cNvPr id="36" name="Rounded Rectangle 35"/>
          <p:cNvSpPr/>
          <p:nvPr/>
        </p:nvSpPr>
        <p:spPr>
          <a:xfrm>
            <a:off x="8432800" y="4000500"/>
            <a:ext cx="2844800" cy="1282700"/>
          </a:xfrm>
          <a:prstGeom prst="roundRect">
            <a:avLst>
              <a:gd name="adj" fmla="val 693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32800" y="4000500"/>
            <a:ext cx="50800" cy="12827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36000" y="4178300"/>
            <a:ext cx="1270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2762C8"/>
                </a:solidFill>
                <a:latin typeface="Arial"/>
              </a:rPr>
              <a:t>NODE C</a:t>
            </a:r>
          </a:p>
        </p:txBody>
      </p:sp>
      <p:sp>
        <p:nvSpPr>
          <p:cNvPr id="39" name="Rounded Rectangle 38"/>
          <p:cNvSpPr/>
          <p:nvPr/>
        </p:nvSpPr>
        <p:spPr>
          <a:xfrm>
            <a:off x="8636000" y="4699000"/>
            <a:ext cx="2438400" cy="381000"/>
          </a:xfrm>
          <a:prstGeom prst="roundRect">
            <a:avLst>
              <a:gd name="adj" fmla="val 16666"/>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712200" y="4762500"/>
            <a:ext cx="2286000" cy="285750"/>
          </a:xfrm>
          <a:prstGeom prst="rect">
            <a:avLst/>
          </a:prstGeom>
          <a:noFill/>
        </p:spPr>
        <p:txBody>
          <a:bodyPr wrap="none" lIns="0" rIns="0" tIns="0" bIns="0" anchor="t">
            <a:noAutofit/>
          </a:bodyPr>
          <a:lstStyle/>
          <a:p>
            <a:pPr algn="ctr">
              <a:lnSpc>
                <a:spcPts val="1800"/>
              </a:lnSpc>
              <a:spcBef>
                <a:spcPts val="0"/>
              </a:spcBef>
              <a:spcAft>
                <a:spcPts val="0"/>
              </a:spcAft>
            </a:pPr>
            <a:r>
              <a:rPr sz="1800" b="1">
                <a:solidFill>
                  <a:srgbClr val="177C58"/>
                </a:solidFill>
                <a:latin typeface="Arial"/>
              </a:rPr>
              <a:t>Ready Pod</a:t>
            </a:r>
          </a:p>
        </p:txBody>
      </p:sp>
      <p:sp>
        <p:nvSpPr>
          <p:cNvPr id="41" name="Rounded Rectangle 40"/>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7400" y="5892800"/>
            <a:ext cx="106172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142338"/>
                </a:solidFill>
                <a:latin typeface="Arial"/>
              </a:rPr>
              <a:t>Spread replicas; send Service traffic to ready Pods.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BUILDING RESILIENCE · ZONES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03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Then spread the cluster across availability zones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Keep replicas in separate availability zones (AZs).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10972800" cy="3505200"/>
          </a:xfrm>
          <a:prstGeom prst="roundRect">
            <a:avLst>
              <a:gd name="adj" fmla="val 326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787400" y="2133600"/>
            <a:ext cx="482600" cy="482600"/>
          </a:xfrm>
          <a:prstGeom prst="rect">
            <a:avLst/>
          </a:prstGeom>
        </p:spPr>
      </p:pic>
      <p:sp>
        <p:nvSpPr>
          <p:cNvPr id="12" name="TextBox 11"/>
          <p:cNvSpPr txBox="1"/>
          <p:nvPr/>
        </p:nvSpPr>
        <p:spPr>
          <a:xfrm>
            <a:off x="1409700" y="2260600"/>
            <a:ext cx="6477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ONE CLUSTER · REGION A</a:t>
            </a:r>
          </a:p>
        </p:txBody>
      </p:sp>
      <p:sp>
        <p:nvSpPr>
          <p:cNvPr id="13" name="TextBox 12"/>
          <p:cNvSpPr txBox="1"/>
          <p:nvPr/>
        </p:nvSpPr>
        <p:spPr>
          <a:xfrm>
            <a:off x="8940800" y="2286000"/>
            <a:ext cx="2362200" cy="227965"/>
          </a:xfrm>
          <a:prstGeom prst="rect">
            <a:avLst/>
          </a:prstGeom>
          <a:noFill/>
        </p:spPr>
        <p:txBody>
          <a:bodyPr wrap="none" lIns="0" rIns="0" tIns="0" bIns="0" anchor="t">
            <a:noAutofit/>
          </a:bodyPr>
          <a:lstStyle/>
          <a:p>
            <a:pPr algn="r">
              <a:lnSpc>
                <a:spcPts val="1495"/>
              </a:lnSpc>
              <a:spcBef>
                <a:spcPts val="0"/>
              </a:spcBef>
              <a:spcAft>
                <a:spcPts val="0"/>
              </a:spcAft>
            </a:pPr>
            <a:r>
              <a:rPr sz="1300" b="1">
                <a:solidFill>
                  <a:srgbClr val="CF0035"/>
                </a:solidFill>
                <a:latin typeface="Arial"/>
              </a:rPr>
              <a:t>ZONE FAILURE</a:t>
            </a:r>
          </a:p>
        </p:txBody>
      </p:sp>
      <p:sp>
        <p:nvSpPr>
          <p:cNvPr id="14" name="Rounded Rectangle 13"/>
          <p:cNvSpPr/>
          <p:nvPr/>
        </p:nvSpPr>
        <p:spPr>
          <a:xfrm>
            <a:off x="914400" y="2794000"/>
            <a:ext cx="2844800" cy="1993900"/>
          </a:xfrm>
          <a:prstGeom prst="roundRect">
            <a:avLst>
              <a:gd name="adj" fmla="val 4458"/>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17600" y="2959100"/>
            <a:ext cx="1270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CF0035"/>
                </a:solidFill>
                <a:latin typeface="Arial"/>
              </a:rPr>
              <a:t>AZ 1</a:t>
            </a:r>
          </a:p>
        </p:txBody>
      </p:sp>
      <p:sp>
        <p:nvSpPr>
          <p:cNvPr id="16" name="Rounded Rectangle 15"/>
          <p:cNvSpPr/>
          <p:nvPr/>
        </p:nvSpPr>
        <p:spPr>
          <a:xfrm>
            <a:off x="2552700" y="2984500"/>
            <a:ext cx="1003300" cy="317500"/>
          </a:xfrm>
          <a:prstGeom prst="roundRect">
            <a:avLst>
              <a:gd name="adj" fmla="val 4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16200" y="3035300"/>
            <a:ext cx="8763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CF0035"/>
                </a:solidFill>
                <a:latin typeface="Arial"/>
              </a:rPr>
              <a:t>DOWN</a:t>
            </a:r>
          </a:p>
        </p:txBody>
      </p:sp>
      <p:sp>
        <p:nvSpPr>
          <p:cNvPr id="18" name="Rounded Rectangle 17"/>
          <p:cNvSpPr/>
          <p:nvPr/>
        </p:nvSpPr>
        <p:spPr>
          <a:xfrm>
            <a:off x="1117600" y="3556000"/>
            <a:ext cx="2438400" cy="1003300"/>
          </a:xfrm>
          <a:prstGeom prst="roundRect">
            <a:avLst>
              <a:gd name="adj" fmla="val 6329"/>
            </a:avLst>
          </a:prstGeom>
          <a:solidFill>
            <a:srgbClr val="FFFFFF"/>
          </a:solidFill>
          <a:ln w="12700">
            <a:solidFill>
              <a:srgbClr val="EAC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70000" y="3683000"/>
            <a:ext cx="21336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Worker nodes</a:t>
            </a:r>
          </a:p>
        </p:txBody>
      </p:sp>
      <p:sp>
        <p:nvSpPr>
          <p:cNvPr id="20" name="Rounded Rectangle 19"/>
          <p:cNvSpPr/>
          <p:nvPr/>
        </p:nvSpPr>
        <p:spPr>
          <a:xfrm>
            <a:off x="1270000" y="4114800"/>
            <a:ext cx="1016000" cy="304800"/>
          </a:xfrm>
          <a:prstGeom prst="roundRect">
            <a:avLst>
              <a:gd name="adj" fmla="val 16666"/>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46200" y="4152900"/>
            <a:ext cx="863600" cy="254000"/>
          </a:xfrm>
          <a:prstGeom prst="rect">
            <a:avLst/>
          </a:prstGeom>
          <a:noFill/>
        </p:spPr>
        <p:txBody>
          <a:bodyPr wrap="none" lIns="0" rIns="0" tIns="0" bIns="0" anchor="t">
            <a:noAutofit/>
          </a:bodyPr>
          <a:lstStyle/>
          <a:p>
            <a:pPr algn="ctr">
              <a:lnSpc>
                <a:spcPts val="1600"/>
              </a:lnSpc>
              <a:spcBef>
                <a:spcPts val="0"/>
              </a:spcBef>
              <a:spcAft>
                <a:spcPts val="0"/>
              </a:spcAft>
            </a:pPr>
            <a:r>
              <a:rPr sz="1600" b="1">
                <a:solidFill>
                  <a:srgbClr val="CF0035"/>
                </a:solidFill>
                <a:latin typeface="Arial"/>
              </a:rPr>
              <a:t>Pod</a:t>
            </a:r>
          </a:p>
        </p:txBody>
      </p:sp>
      <p:sp>
        <p:nvSpPr>
          <p:cNvPr id="22" name="Rounded Rectangle 21"/>
          <p:cNvSpPr/>
          <p:nvPr/>
        </p:nvSpPr>
        <p:spPr>
          <a:xfrm>
            <a:off x="2387600" y="4114800"/>
            <a:ext cx="1016000" cy="304800"/>
          </a:xfrm>
          <a:prstGeom prst="roundRect">
            <a:avLst>
              <a:gd name="adj" fmla="val 16666"/>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63800" y="4152900"/>
            <a:ext cx="863600" cy="254000"/>
          </a:xfrm>
          <a:prstGeom prst="rect">
            <a:avLst/>
          </a:prstGeom>
          <a:noFill/>
        </p:spPr>
        <p:txBody>
          <a:bodyPr wrap="none" lIns="0" rIns="0" tIns="0" bIns="0" anchor="t">
            <a:noAutofit/>
          </a:bodyPr>
          <a:lstStyle/>
          <a:p>
            <a:pPr algn="ctr">
              <a:lnSpc>
                <a:spcPts val="1600"/>
              </a:lnSpc>
              <a:spcBef>
                <a:spcPts val="0"/>
              </a:spcBef>
              <a:spcAft>
                <a:spcPts val="0"/>
              </a:spcAft>
            </a:pPr>
            <a:r>
              <a:rPr sz="1600" b="1">
                <a:solidFill>
                  <a:srgbClr val="CF0035"/>
                </a:solidFill>
                <a:latin typeface="Arial"/>
              </a:rPr>
              <a:t>Pod</a:t>
            </a:r>
          </a:p>
        </p:txBody>
      </p:sp>
      <p:sp>
        <p:nvSpPr>
          <p:cNvPr id="24" name="Rounded Rectangle 23"/>
          <p:cNvSpPr/>
          <p:nvPr/>
        </p:nvSpPr>
        <p:spPr>
          <a:xfrm>
            <a:off x="4673600" y="2794000"/>
            <a:ext cx="2844800" cy="1993900"/>
          </a:xfrm>
          <a:prstGeom prst="roundRect">
            <a:avLst>
              <a:gd name="adj" fmla="val 4458"/>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76800" y="2959100"/>
            <a:ext cx="1270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087F85"/>
                </a:solidFill>
                <a:latin typeface="Arial"/>
              </a:rPr>
              <a:t>AZ 2</a:t>
            </a:r>
          </a:p>
        </p:txBody>
      </p:sp>
      <p:sp>
        <p:nvSpPr>
          <p:cNvPr id="26" name="Rounded Rectangle 25"/>
          <p:cNvSpPr/>
          <p:nvPr/>
        </p:nvSpPr>
        <p:spPr>
          <a:xfrm>
            <a:off x="6311900" y="2984500"/>
            <a:ext cx="1003300" cy="317500"/>
          </a:xfrm>
          <a:prstGeom prst="roundRect">
            <a:avLst>
              <a:gd name="adj" fmla="val 4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75400" y="3035300"/>
            <a:ext cx="8763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READY</a:t>
            </a:r>
          </a:p>
        </p:txBody>
      </p:sp>
      <p:sp>
        <p:nvSpPr>
          <p:cNvPr id="28" name="Rounded Rectangle 27"/>
          <p:cNvSpPr/>
          <p:nvPr/>
        </p:nvSpPr>
        <p:spPr>
          <a:xfrm>
            <a:off x="4876800" y="3556000"/>
            <a:ext cx="2438400" cy="1003300"/>
          </a:xfrm>
          <a:prstGeom prst="roundRect">
            <a:avLst>
              <a:gd name="adj" fmla="val 6329"/>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0" y="3683000"/>
            <a:ext cx="21336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Worker nodes</a:t>
            </a:r>
          </a:p>
        </p:txBody>
      </p:sp>
      <p:sp>
        <p:nvSpPr>
          <p:cNvPr id="30" name="Rounded Rectangle 29"/>
          <p:cNvSpPr/>
          <p:nvPr/>
        </p:nvSpPr>
        <p:spPr>
          <a:xfrm>
            <a:off x="5029200" y="4114800"/>
            <a:ext cx="1016000" cy="304800"/>
          </a:xfrm>
          <a:prstGeom prst="roundRect">
            <a:avLst>
              <a:gd name="adj" fmla="val 16666"/>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05400" y="4152900"/>
            <a:ext cx="863600" cy="254000"/>
          </a:xfrm>
          <a:prstGeom prst="rect">
            <a:avLst/>
          </a:prstGeom>
          <a:noFill/>
        </p:spPr>
        <p:txBody>
          <a:bodyPr wrap="none" lIns="0" rIns="0" tIns="0" bIns="0" anchor="t">
            <a:noAutofit/>
          </a:bodyPr>
          <a:lstStyle/>
          <a:p>
            <a:pPr algn="ctr">
              <a:lnSpc>
                <a:spcPts val="1600"/>
              </a:lnSpc>
              <a:spcBef>
                <a:spcPts val="0"/>
              </a:spcBef>
              <a:spcAft>
                <a:spcPts val="0"/>
              </a:spcAft>
            </a:pPr>
            <a:r>
              <a:rPr sz="1600" b="1">
                <a:solidFill>
                  <a:srgbClr val="177C58"/>
                </a:solidFill>
                <a:latin typeface="Arial"/>
              </a:rPr>
              <a:t>Pod</a:t>
            </a:r>
          </a:p>
        </p:txBody>
      </p:sp>
      <p:sp>
        <p:nvSpPr>
          <p:cNvPr id="32" name="Rounded Rectangle 31"/>
          <p:cNvSpPr/>
          <p:nvPr/>
        </p:nvSpPr>
        <p:spPr>
          <a:xfrm>
            <a:off x="6146800" y="4114800"/>
            <a:ext cx="1016000" cy="304800"/>
          </a:xfrm>
          <a:prstGeom prst="roundRect">
            <a:avLst>
              <a:gd name="adj" fmla="val 16666"/>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23000" y="4152900"/>
            <a:ext cx="863600" cy="254000"/>
          </a:xfrm>
          <a:prstGeom prst="rect">
            <a:avLst/>
          </a:prstGeom>
          <a:noFill/>
        </p:spPr>
        <p:txBody>
          <a:bodyPr wrap="none" lIns="0" rIns="0" tIns="0" bIns="0" anchor="t">
            <a:noAutofit/>
          </a:bodyPr>
          <a:lstStyle/>
          <a:p>
            <a:pPr algn="ctr">
              <a:lnSpc>
                <a:spcPts val="1600"/>
              </a:lnSpc>
              <a:spcBef>
                <a:spcPts val="0"/>
              </a:spcBef>
              <a:spcAft>
                <a:spcPts val="0"/>
              </a:spcAft>
            </a:pPr>
            <a:r>
              <a:rPr sz="1600" b="1">
                <a:solidFill>
                  <a:srgbClr val="177C58"/>
                </a:solidFill>
                <a:latin typeface="Arial"/>
              </a:rPr>
              <a:t>Pod</a:t>
            </a:r>
          </a:p>
        </p:txBody>
      </p:sp>
      <p:sp>
        <p:nvSpPr>
          <p:cNvPr id="34" name="Rounded Rectangle 33"/>
          <p:cNvSpPr/>
          <p:nvPr/>
        </p:nvSpPr>
        <p:spPr>
          <a:xfrm>
            <a:off x="8432800" y="2794000"/>
            <a:ext cx="2844800" cy="1993900"/>
          </a:xfrm>
          <a:prstGeom prst="roundRect">
            <a:avLst>
              <a:gd name="adj" fmla="val 4458"/>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36000" y="2959100"/>
            <a:ext cx="1270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087F85"/>
                </a:solidFill>
                <a:latin typeface="Arial"/>
              </a:rPr>
              <a:t>AZ 3</a:t>
            </a:r>
          </a:p>
        </p:txBody>
      </p:sp>
      <p:sp>
        <p:nvSpPr>
          <p:cNvPr id="36" name="Rounded Rectangle 35"/>
          <p:cNvSpPr/>
          <p:nvPr/>
        </p:nvSpPr>
        <p:spPr>
          <a:xfrm>
            <a:off x="10071100" y="2984500"/>
            <a:ext cx="1003300" cy="317500"/>
          </a:xfrm>
          <a:prstGeom prst="roundRect">
            <a:avLst>
              <a:gd name="adj" fmla="val 4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34600" y="3035300"/>
            <a:ext cx="8763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READY</a:t>
            </a:r>
          </a:p>
        </p:txBody>
      </p:sp>
      <p:sp>
        <p:nvSpPr>
          <p:cNvPr id="38" name="Rounded Rectangle 37"/>
          <p:cNvSpPr/>
          <p:nvPr/>
        </p:nvSpPr>
        <p:spPr>
          <a:xfrm>
            <a:off x="8636000" y="3556000"/>
            <a:ext cx="2438400" cy="1003300"/>
          </a:xfrm>
          <a:prstGeom prst="roundRect">
            <a:avLst>
              <a:gd name="adj" fmla="val 6329"/>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88400" y="3683000"/>
            <a:ext cx="21336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Worker nodes</a:t>
            </a:r>
          </a:p>
        </p:txBody>
      </p:sp>
      <p:sp>
        <p:nvSpPr>
          <p:cNvPr id="40" name="Rounded Rectangle 39"/>
          <p:cNvSpPr/>
          <p:nvPr/>
        </p:nvSpPr>
        <p:spPr>
          <a:xfrm>
            <a:off x="8788400" y="4114800"/>
            <a:ext cx="1016000" cy="304800"/>
          </a:xfrm>
          <a:prstGeom prst="roundRect">
            <a:avLst>
              <a:gd name="adj" fmla="val 16666"/>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864600" y="4152900"/>
            <a:ext cx="863600" cy="254000"/>
          </a:xfrm>
          <a:prstGeom prst="rect">
            <a:avLst/>
          </a:prstGeom>
          <a:noFill/>
        </p:spPr>
        <p:txBody>
          <a:bodyPr wrap="none" lIns="0" rIns="0" tIns="0" bIns="0" anchor="t">
            <a:noAutofit/>
          </a:bodyPr>
          <a:lstStyle/>
          <a:p>
            <a:pPr algn="ctr">
              <a:lnSpc>
                <a:spcPts val="1600"/>
              </a:lnSpc>
              <a:spcBef>
                <a:spcPts val="0"/>
              </a:spcBef>
              <a:spcAft>
                <a:spcPts val="0"/>
              </a:spcAft>
            </a:pPr>
            <a:r>
              <a:rPr sz="1600" b="1">
                <a:solidFill>
                  <a:srgbClr val="177C58"/>
                </a:solidFill>
                <a:latin typeface="Arial"/>
              </a:rPr>
              <a:t>Pod</a:t>
            </a:r>
          </a:p>
        </p:txBody>
      </p:sp>
      <p:sp>
        <p:nvSpPr>
          <p:cNvPr id="42" name="Rounded Rectangle 41"/>
          <p:cNvSpPr/>
          <p:nvPr/>
        </p:nvSpPr>
        <p:spPr>
          <a:xfrm>
            <a:off x="9906000" y="4114800"/>
            <a:ext cx="1016000" cy="304800"/>
          </a:xfrm>
          <a:prstGeom prst="roundRect">
            <a:avLst>
              <a:gd name="adj" fmla="val 16666"/>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82200" y="4152900"/>
            <a:ext cx="863600" cy="254000"/>
          </a:xfrm>
          <a:prstGeom prst="rect">
            <a:avLst/>
          </a:prstGeom>
          <a:noFill/>
        </p:spPr>
        <p:txBody>
          <a:bodyPr wrap="none" lIns="0" rIns="0" tIns="0" bIns="0" anchor="t">
            <a:noAutofit/>
          </a:bodyPr>
          <a:lstStyle/>
          <a:p>
            <a:pPr algn="ctr">
              <a:lnSpc>
                <a:spcPts val="1600"/>
              </a:lnSpc>
              <a:spcBef>
                <a:spcPts val="0"/>
              </a:spcBef>
              <a:spcAft>
                <a:spcPts val="0"/>
              </a:spcAft>
            </a:pPr>
            <a:r>
              <a:rPr sz="1600" b="1">
                <a:solidFill>
                  <a:srgbClr val="177C58"/>
                </a:solidFill>
                <a:latin typeface="Arial"/>
              </a:rPr>
              <a:t>Pod</a:t>
            </a:r>
          </a:p>
        </p:txBody>
      </p:sp>
      <p:sp>
        <p:nvSpPr>
          <p:cNvPr id="44" name="TextBox 43"/>
          <p:cNvSpPr txBox="1"/>
          <p:nvPr/>
        </p:nvSpPr>
        <p:spPr>
          <a:xfrm>
            <a:off x="914400" y="5067300"/>
            <a:ext cx="10363200" cy="300990"/>
          </a:xfrm>
          <a:prstGeom prst="rect">
            <a:avLst/>
          </a:prstGeom>
          <a:noFill/>
        </p:spPr>
        <p:txBody>
          <a:bodyPr wrap="none" lIns="0" rIns="0" tIns="0" bIns="0" anchor="t">
            <a:noAutofit/>
          </a:bodyPr>
          <a:lstStyle/>
          <a:p>
            <a:pPr algn="ctr">
              <a:lnSpc>
                <a:spcPts val="2070"/>
              </a:lnSpc>
              <a:spcBef>
                <a:spcPts val="0"/>
              </a:spcBef>
              <a:spcAft>
                <a:spcPts val="0"/>
              </a:spcAft>
            </a:pPr>
            <a:r>
              <a:rPr sz="1800" b="0">
                <a:solidFill>
                  <a:srgbClr val="5D6F82"/>
                </a:solidFill>
                <a:latin typeface="Arial"/>
              </a:rPr>
              <a:t>Also protect: control plane · ingress · data · capacity</a:t>
            </a:r>
          </a:p>
        </p:txBody>
      </p:sp>
      <p:sp>
        <p:nvSpPr>
          <p:cNvPr id="45" name="Rounded Rectangle 44"/>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87400" y="5892800"/>
            <a:ext cx="106172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142338"/>
                </a:solidFill>
                <a:latin typeface="Arial"/>
              </a:rPr>
              <a:t>A regional outage can still take the whole cluster offline.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BEYOND ONE CLUSTER</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04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What if one region goes down?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Independent clusters. One hostname. One failed region.</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3098800" y="3657600"/>
            <a:ext cx="10922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4191000" y="2692400"/>
            <a:ext cx="0" cy="96520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191000" y="2692400"/>
            <a:ext cx="3429000" cy="0"/>
          </a:xfrm>
          <a:prstGeom prst="line">
            <a:avLst/>
          </a:prstGeom>
          <a:ln w="3175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83100" y="2298700"/>
            <a:ext cx="2921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CF0035"/>
                </a:solidFill>
                <a:latin typeface="Arial"/>
              </a:rPr>
              <a:t>Failed connection</a:t>
            </a:r>
          </a:p>
        </p:txBody>
      </p:sp>
      <p:sp>
        <p:nvSpPr>
          <p:cNvPr id="14" name="Oval 13"/>
          <p:cNvSpPr/>
          <p:nvPr/>
        </p:nvSpPr>
        <p:spPr>
          <a:xfrm>
            <a:off x="6921500" y="2527300"/>
            <a:ext cx="330200" cy="330200"/>
          </a:xfrm>
          <a:prstGeom prst="ellipse">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6997700" y="2603500"/>
            <a:ext cx="177800" cy="17780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6997700" y="2603500"/>
            <a:ext cx="177800" cy="17780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098800" y="4241800"/>
            <a:ext cx="2616200" cy="0"/>
          </a:xfrm>
          <a:prstGeom prst="line">
            <a:avLst/>
          </a:prstGeom>
          <a:ln w="27940">
            <a:solidFill>
              <a:srgbClr val="087F85"/>
            </a:solidFill>
            <a:prstDash val="dash"/>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5715000" y="3937000"/>
            <a:ext cx="0" cy="304800"/>
          </a:xfrm>
          <a:prstGeom prst="line">
            <a:avLst/>
          </a:prstGeom>
          <a:ln w="27940">
            <a:solidFill>
              <a:srgbClr val="087F85"/>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715000" y="3937000"/>
            <a:ext cx="1905000" cy="0"/>
          </a:xfrm>
          <a:prstGeom prst="line">
            <a:avLst/>
          </a:prstGeom>
          <a:ln w="2794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715000" y="4241800"/>
            <a:ext cx="0" cy="939800"/>
          </a:xfrm>
          <a:prstGeom prst="line">
            <a:avLst/>
          </a:prstGeom>
          <a:ln w="27940">
            <a:solidFill>
              <a:srgbClr val="087F85"/>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715000" y="5181600"/>
            <a:ext cx="1905000" cy="0"/>
          </a:xfrm>
          <a:prstGeom prst="line">
            <a:avLst/>
          </a:prstGeom>
          <a:ln w="2794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429000" y="3886200"/>
            <a:ext cx="21844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087F85"/>
                </a:solidFill>
                <a:latin typeface="Arial"/>
              </a:rPr>
              <a:t>New connections</a:t>
            </a:r>
          </a:p>
        </p:txBody>
      </p:sp>
      <p:sp>
        <p:nvSpPr>
          <p:cNvPr id="23" name="TextBox 22"/>
          <p:cNvSpPr txBox="1"/>
          <p:nvPr/>
        </p:nvSpPr>
        <p:spPr>
          <a:xfrm>
            <a:off x="3429000" y="4686300"/>
            <a:ext cx="2032000" cy="632460"/>
          </a:xfrm>
          <a:prstGeom prst="rect">
            <a:avLst/>
          </a:prstGeom>
          <a:noFill/>
        </p:spPr>
        <p:txBody>
          <a:bodyPr wrap="none" lIns="0" rIns="0" tIns="0" bIns="0" anchor="t">
            <a:noAutofit/>
          </a:bodyPr>
          <a:lstStyle/>
          <a:p>
            <a:pPr algn="l">
              <a:lnSpc>
                <a:spcPts val="2340"/>
              </a:lnSpc>
              <a:spcBef>
                <a:spcPts val="0"/>
              </a:spcBef>
              <a:spcAft>
                <a:spcPts val="0"/>
              </a:spcAft>
            </a:pPr>
            <a:r>
              <a:rPr sz="1800" b="1">
                <a:solidFill>
                  <a:srgbClr val="087F85"/>
                </a:solidFill>
                <a:latin typeface="Arial"/>
              </a:rPr>
              <a:t>Possible failover</a:t>
            </a:r>
          </a:p>
          <a:p>
            <a:pPr algn="l">
              <a:lnSpc>
                <a:spcPts val="2340"/>
              </a:lnSpc>
              <a:spcBef>
                <a:spcPts val="0"/>
              </a:spcBef>
              <a:spcAft>
                <a:spcPts val="0"/>
              </a:spcAft>
            </a:pPr>
            <a:r>
              <a:rPr sz="1800" b="1">
                <a:solidFill>
                  <a:srgbClr val="087F85"/>
                </a:solidFill>
                <a:latin typeface="Arial"/>
              </a:rPr>
              <a:t>paths</a:t>
            </a:r>
          </a:p>
        </p:txBody>
      </p:sp>
      <p:sp>
        <p:nvSpPr>
          <p:cNvPr id="24" name="Rounded Rectangle 23"/>
          <p:cNvSpPr/>
          <p:nvPr/>
        </p:nvSpPr>
        <p:spPr>
          <a:xfrm>
            <a:off x="609600" y="3416300"/>
            <a:ext cx="2489200" cy="1168400"/>
          </a:xfrm>
          <a:prstGeom prst="roundRect">
            <a:avLst>
              <a:gd name="adj" fmla="val 869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38200" y="3606800"/>
            <a:ext cx="469900" cy="368300"/>
          </a:xfrm>
          <a:prstGeom prst="roundRect">
            <a:avLst>
              <a:gd name="adj" fmla="val 10344"/>
            </a:avLst>
          </a:prstGeom>
          <a:solidFill>
            <a:srgbClr val="EAF0FB"/>
          </a:solidFill>
          <a:ln w="1524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838200" y="3708400"/>
            <a:ext cx="4699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899160" y="36423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2660" y="36423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6160" y="36423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85900" y="3556000"/>
            <a:ext cx="13843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Users</a:t>
            </a:r>
          </a:p>
        </p:txBody>
      </p:sp>
      <p:sp>
        <p:nvSpPr>
          <p:cNvPr id="31" name="TextBox 30"/>
          <p:cNvSpPr txBox="1"/>
          <p:nvPr/>
        </p:nvSpPr>
        <p:spPr>
          <a:xfrm>
            <a:off x="838200" y="4178300"/>
            <a:ext cx="20320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5D6F82"/>
                </a:solidFill>
                <a:latin typeface="Arial"/>
              </a:rPr>
              <a:t>app.example.com</a:t>
            </a:r>
          </a:p>
        </p:txBody>
      </p:sp>
      <p:sp>
        <p:nvSpPr>
          <p:cNvPr id="32" name="Rounded Rectangle 31"/>
          <p:cNvSpPr/>
          <p:nvPr/>
        </p:nvSpPr>
        <p:spPr>
          <a:xfrm>
            <a:off x="7620000" y="2209800"/>
            <a:ext cx="3962400" cy="965200"/>
          </a:xfrm>
          <a:prstGeom prst="roundRect">
            <a:avLst>
              <a:gd name="adj" fmla="val 10526"/>
            </a:avLst>
          </a:prstGeom>
          <a:solidFill>
            <a:srgbClr val="FFFFFF"/>
          </a:solidFill>
          <a:ln w="12700">
            <a:solidFill>
              <a:srgbClr val="EAC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620000" y="2209800"/>
            <a:ext cx="50800" cy="9652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mage.png"/>
          <p:cNvPicPr>
            <a:picLocks noChangeAspect="1"/>
          </p:cNvPicPr>
          <p:nvPr/>
        </p:nvPicPr>
        <p:blipFill>
          <a:blip r:embed="rId2"/>
          <a:stretch>
            <a:fillRect/>
          </a:stretch>
        </p:blipFill>
        <p:spPr>
          <a:xfrm>
            <a:off x="7823200" y="2311400"/>
            <a:ext cx="762000" cy="762000"/>
          </a:xfrm>
          <a:prstGeom prst="rect">
            <a:avLst/>
          </a:prstGeom>
        </p:spPr>
      </p:pic>
      <p:sp>
        <p:nvSpPr>
          <p:cNvPr id="35" name="TextBox 34"/>
          <p:cNvSpPr txBox="1"/>
          <p:nvPr/>
        </p:nvSpPr>
        <p:spPr>
          <a:xfrm>
            <a:off x="8648700" y="2349500"/>
            <a:ext cx="267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REGION A · AWS</a:t>
            </a:r>
          </a:p>
        </p:txBody>
      </p:sp>
      <p:sp>
        <p:nvSpPr>
          <p:cNvPr id="36" name="Rounded Rectangle 35"/>
          <p:cNvSpPr/>
          <p:nvPr/>
        </p:nvSpPr>
        <p:spPr>
          <a:xfrm>
            <a:off x="8648700" y="2755900"/>
            <a:ext cx="17399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12200" y="2806700"/>
            <a:ext cx="16129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UNAVAILABLE</a:t>
            </a:r>
          </a:p>
        </p:txBody>
      </p:sp>
      <p:sp>
        <p:nvSpPr>
          <p:cNvPr id="38" name="Rounded Rectangle 37"/>
          <p:cNvSpPr/>
          <p:nvPr/>
        </p:nvSpPr>
        <p:spPr>
          <a:xfrm>
            <a:off x="7620000" y="3454400"/>
            <a:ext cx="3962400" cy="965200"/>
          </a:xfrm>
          <a:prstGeom prst="roundRect">
            <a:avLst>
              <a:gd name="adj" fmla="val 1052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620000" y="3454400"/>
            <a:ext cx="50800" cy="9652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image.png"/>
          <p:cNvPicPr>
            <a:picLocks noChangeAspect="1"/>
          </p:cNvPicPr>
          <p:nvPr/>
        </p:nvPicPr>
        <p:blipFill>
          <a:blip r:embed="rId2"/>
          <a:stretch>
            <a:fillRect/>
          </a:stretch>
        </p:blipFill>
        <p:spPr>
          <a:xfrm>
            <a:off x="7823200" y="3556000"/>
            <a:ext cx="762000" cy="762000"/>
          </a:xfrm>
          <a:prstGeom prst="rect">
            <a:avLst/>
          </a:prstGeom>
        </p:spPr>
      </p:pic>
      <p:sp>
        <p:nvSpPr>
          <p:cNvPr id="41" name="TextBox 40"/>
          <p:cNvSpPr txBox="1"/>
          <p:nvPr/>
        </p:nvSpPr>
        <p:spPr>
          <a:xfrm>
            <a:off x="8648700" y="3594100"/>
            <a:ext cx="267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REGION B · AZURE</a:t>
            </a:r>
          </a:p>
        </p:txBody>
      </p:sp>
      <p:sp>
        <p:nvSpPr>
          <p:cNvPr id="42" name="Rounded Rectangle 41"/>
          <p:cNvSpPr/>
          <p:nvPr/>
        </p:nvSpPr>
        <p:spPr>
          <a:xfrm>
            <a:off x="8648700" y="4000500"/>
            <a:ext cx="11176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712200" y="4051300"/>
            <a:ext cx="9906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sp>
        <p:nvSpPr>
          <p:cNvPr id="44" name="Rounded Rectangle 43"/>
          <p:cNvSpPr/>
          <p:nvPr/>
        </p:nvSpPr>
        <p:spPr>
          <a:xfrm>
            <a:off x="7620000" y="4699000"/>
            <a:ext cx="3962400" cy="965200"/>
          </a:xfrm>
          <a:prstGeom prst="roundRect">
            <a:avLst>
              <a:gd name="adj" fmla="val 1052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620000" y="4699000"/>
            <a:ext cx="50800" cy="9652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2"/>
          <a:stretch>
            <a:fillRect/>
          </a:stretch>
        </p:blipFill>
        <p:spPr>
          <a:xfrm>
            <a:off x="7823200" y="4800600"/>
            <a:ext cx="762000" cy="762000"/>
          </a:xfrm>
          <a:prstGeom prst="rect">
            <a:avLst/>
          </a:prstGeom>
        </p:spPr>
      </p:pic>
      <p:sp>
        <p:nvSpPr>
          <p:cNvPr id="47" name="TextBox 46"/>
          <p:cNvSpPr txBox="1"/>
          <p:nvPr/>
        </p:nvSpPr>
        <p:spPr>
          <a:xfrm>
            <a:off x="8648700" y="4838700"/>
            <a:ext cx="267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PRIVATE DC</a:t>
            </a:r>
          </a:p>
        </p:txBody>
      </p:sp>
      <p:sp>
        <p:nvSpPr>
          <p:cNvPr id="48" name="Rounded Rectangle 47"/>
          <p:cNvSpPr/>
          <p:nvPr/>
        </p:nvSpPr>
        <p:spPr>
          <a:xfrm>
            <a:off x="8648700" y="5245100"/>
            <a:ext cx="11176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712200" y="5295900"/>
            <a:ext cx="9906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sp>
        <p:nvSpPr>
          <p:cNvPr id="50" name="Rounded Rectangle 4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87400" y="5892800"/>
            <a:ext cx="10617200" cy="365125"/>
          </a:xfrm>
          <a:prstGeom prst="rect">
            <a:avLst/>
          </a:prstGeom>
          <a:noFill/>
        </p:spPr>
        <p:txBody>
          <a:bodyPr wrap="none" lIns="0" rIns="0" tIns="0" bIns="0" anchor="t">
            <a:noAutofit/>
          </a:bodyPr>
          <a:lstStyle/>
          <a:p>
            <a:pPr algn="ctr">
              <a:lnSpc>
                <a:spcPts val="2300"/>
              </a:lnSpc>
              <a:spcBef>
                <a:spcPts val="0"/>
              </a:spcBef>
              <a:spcAft>
                <a:spcPts val="0"/>
              </a:spcAft>
            </a:pPr>
            <a:r>
              <a:rPr sz="2300" b="1">
                <a:solidFill>
                  <a:srgbClr val="142338"/>
                </a:solidFill>
                <a:latin typeface="Arial"/>
              </a:rPr>
              <a:t>Who steers users to a healthy cluster?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BUILDING BLOCK</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05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k8gb in one minute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Two or more clusters. No fixed cluster-count limit in k8gb.</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939800" y="2324100"/>
            <a:ext cx="2286000" cy="2286000"/>
          </a:xfrm>
          <a:prstGeom prst="rect">
            <a:avLst/>
          </a:prstGeom>
        </p:spPr>
      </p:pic>
      <p:sp>
        <p:nvSpPr>
          <p:cNvPr id="11" name="Rounded Rectangle 10"/>
          <p:cNvSpPr/>
          <p:nvPr/>
        </p:nvSpPr>
        <p:spPr>
          <a:xfrm>
            <a:off x="800100" y="4978400"/>
            <a:ext cx="2565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600" y="5029200"/>
            <a:ext cx="2438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CNCF INCUBATING</a:t>
            </a:r>
          </a:p>
        </p:txBody>
      </p:sp>
      <p:sp>
        <p:nvSpPr>
          <p:cNvPr id="13" name="TextBox 12"/>
          <p:cNvSpPr txBox="1"/>
          <p:nvPr/>
        </p:nvSpPr>
        <p:spPr>
          <a:xfrm>
            <a:off x="4152900" y="21971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Kubernetes-native</a:t>
            </a:r>
          </a:p>
        </p:txBody>
      </p:sp>
      <p:sp>
        <p:nvSpPr>
          <p:cNvPr id="14" name="TextBox 13"/>
          <p:cNvSpPr txBox="1"/>
          <p:nvPr/>
        </p:nvSpPr>
        <p:spPr>
          <a:xfrm>
            <a:off x="4152900" y="26797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Readiness becomes DNS eligibility.</a:t>
            </a:r>
          </a:p>
        </p:txBody>
      </p:sp>
      <p:sp>
        <p:nvSpPr>
          <p:cNvPr id="15" name="TextBox 14"/>
          <p:cNvSpPr txBox="1"/>
          <p:nvPr/>
        </p:nvSpPr>
        <p:spPr>
          <a:xfrm>
            <a:off x="4152900" y="33528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Decentralized</a:t>
            </a:r>
          </a:p>
        </p:txBody>
      </p:sp>
      <p:sp>
        <p:nvSpPr>
          <p:cNvPr id="16" name="TextBox 15"/>
          <p:cNvSpPr txBox="1"/>
          <p:nvPr/>
        </p:nvSpPr>
        <p:spPr>
          <a:xfrm>
            <a:off x="4152900" y="38354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A control loop at each participating cluster.</a:t>
            </a:r>
          </a:p>
        </p:txBody>
      </p:sp>
      <p:sp>
        <p:nvSpPr>
          <p:cNvPr id="17" name="TextBox 16"/>
          <p:cNvSpPr txBox="1"/>
          <p:nvPr/>
        </p:nvSpPr>
        <p:spPr>
          <a:xfrm>
            <a:off x="4152900" y="45085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Declarative</a:t>
            </a:r>
          </a:p>
        </p:txBody>
      </p:sp>
      <p:sp>
        <p:nvSpPr>
          <p:cNvPr id="18" name="TextBox 17"/>
          <p:cNvSpPr txBox="1"/>
          <p:nvPr/>
        </p:nvSpPr>
        <p:spPr>
          <a:xfrm>
            <a:off x="4152900" y="49911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Review traffic steering in Git.</a:t>
            </a:r>
          </a:p>
        </p:txBody>
      </p:sp>
      <p:sp>
        <p:nvSpPr>
          <p:cNvPr id="19" name="Rounded Rectangle 1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Global application reachability across Kubernetes clusters.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 BRIEF HISTORY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06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Absa production to CNCF incubation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An operational need grew into a community project.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66900" y="2641600"/>
            <a:ext cx="84582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096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PRODUCTION ORIGINS</a:t>
            </a:r>
          </a:p>
        </p:txBody>
      </p:sp>
      <p:sp>
        <p:nvSpPr>
          <p:cNvPr id="12" name="Oval 11"/>
          <p:cNvSpPr/>
          <p:nvPr/>
        </p:nvSpPr>
        <p:spPr>
          <a:xfrm>
            <a:off x="17399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161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96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96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8382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82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7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965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5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65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181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219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19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219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79500" y="3454400"/>
            <a:ext cx="101600" cy="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382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Born at</a:t>
            </a:r>
          </a:p>
          <a:p>
            <a:pPr algn="l">
              <a:lnSpc>
                <a:spcPts val="2484"/>
              </a:lnSpc>
              <a:spcBef>
                <a:spcPts val="0"/>
              </a:spcBef>
              <a:spcAft>
                <a:spcPts val="0"/>
              </a:spcAft>
            </a:pPr>
            <a:r>
              <a:rPr sz="2300" b="1">
                <a:solidFill>
                  <a:srgbClr val="142338"/>
                </a:solidFill>
                <a:latin typeface="Arial"/>
              </a:rPr>
              <a:t>Absa</a:t>
            </a:r>
          </a:p>
        </p:txBody>
      </p:sp>
      <p:sp>
        <p:nvSpPr>
          <p:cNvPr id="28" name="TextBox 27"/>
          <p:cNvSpPr txBox="1"/>
          <p:nvPr/>
        </p:nvSpPr>
        <p:spPr>
          <a:xfrm>
            <a:off x="8382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Multiple on-prem</a:t>
            </a:r>
          </a:p>
          <a:p>
            <a:pPr algn="l">
              <a:lnSpc>
                <a:spcPts val="1920"/>
              </a:lnSpc>
              <a:spcBef>
                <a:spcPts val="0"/>
              </a:spcBef>
              <a:spcAft>
                <a:spcPts val="0"/>
              </a:spcAft>
            </a:pPr>
            <a:r>
              <a:rPr sz="1600" b="0">
                <a:solidFill>
                  <a:srgbClr val="5D6F82"/>
                </a:solidFill>
                <a:latin typeface="Arial"/>
              </a:rPr>
              <a:t>datacenters, then</a:t>
            </a:r>
          </a:p>
          <a:p>
            <a:pPr algn="l">
              <a:lnSpc>
                <a:spcPts val="1920"/>
              </a:lnSpc>
              <a:spcBef>
                <a:spcPts val="0"/>
              </a:spcBef>
              <a:spcAft>
                <a:spcPts val="0"/>
              </a:spcAft>
            </a:pPr>
            <a:r>
              <a:rPr sz="1600" b="0">
                <a:solidFill>
                  <a:srgbClr val="5D6F82"/>
                </a:solidFill>
                <a:latin typeface="Arial"/>
              </a:rPr>
              <a:t>hybrid deployments</a:t>
            </a:r>
          </a:p>
        </p:txBody>
      </p:sp>
      <p:sp>
        <p:nvSpPr>
          <p:cNvPr id="29" name="TextBox 28"/>
          <p:cNvSpPr txBox="1"/>
          <p:nvPr/>
        </p:nvSpPr>
        <p:spPr>
          <a:xfrm>
            <a:off x="34290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30 MAR 2021</a:t>
            </a:r>
          </a:p>
        </p:txBody>
      </p:sp>
      <p:sp>
        <p:nvSpPr>
          <p:cNvPr id="30" name="Oval 29"/>
          <p:cNvSpPr/>
          <p:nvPr/>
        </p:nvSpPr>
        <p:spPr>
          <a:xfrm>
            <a:off x="4559300" y="2514600"/>
            <a:ext cx="254000" cy="254000"/>
          </a:xfrm>
          <a:prstGeom prst="ellipse">
            <a:avLst/>
          </a:prstGeom>
          <a:solidFill>
            <a:srgbClr val="F8FAFC"/>
          </a:solidFill>
          <a:ln w="2540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635500" y="2590800"/>
            <a:ext cx="101600" cy="1016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4290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34290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657600" y="2997200"/>
            <a:ext cx="20574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657600" y="3187700"/>
            <a:ext cx="558800" cy="558800"/>
          </a:xfrm>
          <a:prstGeom prst="roundRect">
            <a:avLst>
              <a:gd name="adj" fmla="val 204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3810000" y="3314700"/>
            <a:ext cx="0" cy="2667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810000" y="3581400"/>
            <a:ext cx="254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064000" y="3327400"/>
            <a:ext cx="0" cy="2540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3765550" y="32702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765550" y="3536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019550" y="3282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CNCF</a:t>
            </a:r>
          </a:p>
          <a:p>
            <a:pPr algn="l">
              <a:lnSpc>
                <a:spcPts val="2484"/>
              </a:lnSpc>
              <a:spcBef>
                <a:spcPts val="0"/>
              </a:spcBef>
              <a:spcAft>
                <a:spcPts val="0"/>
              </a:spcAft>
            </a:pPr>
            <a:r>
              <a:rPr sz="2300" b="1">
                <a:solidFill>
                  <a:srgbClr val="142338"/>
                </a:solidFill>
                <a:latin typeface="Arial"/>
              </a:rPr>
              <a:t>Sandbox</a:t>
            </a:r>
          </a:p>
        </p:txBody>
      </p:sp>
      <p:sp>
        <p:nvSpPr>
          <p:cNvPr id="43" name="TextBox 42"/>
          <p:cNvSpPr txBox="1"/>
          <p:nvPr/>
        </p:nvSpPr>
        <p:spPr>
          <a:xfrm>
            <a:off x="36576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Contributed to the</a:t>
            </a:r>
          </a:p>
          <a:p>
            <a:pPr algn="l">
              <a:lnSpc>
                <a:spcPts val="1920"/>
              </a:lnSpc>
              <a:spcBef>
                <a:spcPts val="0"/>
              </a:spcBef>
              <a:spcAft>
                <a:spcPts val="0"/>
              </a:spcAft>
            </a:pPr>
            <a:r>
              <a:rPr sz="1600" b="0">
                <a:solidFill>
                  <a:srgbClr val="5D6F82"/>
                </a:solidFill>
                <a:latin typeface="Arial"/>
              </a:rPr>
              <a:t>cloud native</a:t>
            </a:r>
          </a:p>
          <a:p>
            <a:pPr algn="l">
              <a:lnSpc>
                <a:spcPts val="1920"/>
              </a:lnSpc>
              <a:spcBef>
                <a:spcPts val="0"/>
              </a:spcBef>
              <a:spcAft>
                <a:spcPts val="0"/>
              </a:spcAft>
            </a:pPr>
            <a:r>
              <a:rPr sz="1600" b="0">
                <a:solidFill>
                  <a:srgbClr val="5D6F82"/>
                </a:solidFill>
                <a:latin typeface="Arial"/>
              </a:rPr>
              <a:t>community</a:t>
            </a:r>
          </a:p>
        </p:txBody>
      </p:sp>
      <p:sp>
        <p:nvSpPr>
          <p:cNvPr id="44" name="TextBox 43"/>
          <p:cNvSpPr txBox="1"/>
          <p:nvPr/>
        </p:nvSpPr>
        <p:spPr>
          <a:xfrm>
            <a:off x="62484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PUBLIC ADOPTION</a:t>
            </a:r>
          </a:p>
        </p:txBody>
      </p:sp>
      <p:sp>
        <p:nvSpPr>
          <p:cNvPr id="45" name="Oval 44"/>
          <p:cNvSpPr/>
          <p:nvPr/>
        </p:nvSpPr>
        <p:spPr>
          <a:xfrm>
            <a:off x="73787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4549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2484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2484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64770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64770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572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5532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851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68326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6711950" y="32575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692900" y="33782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770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Beyond</a:t>
            </a:r>
          </a:p>
          <a:p>
            <a:pPr algn="l">
              <a:lnSpc>
                <a:spcPts val="2484"/>
              </a:lnSpc>
              <a:spcBef>
                <a:spcPts val="0"/>
              </a:spcBef>
              <a:spcAft>
                <a:spcPts val="0"/>
              </a:spcAft>
            </a:pPr>
            <a:r>
              <a:rPr sz="2300" b="1">
                <a:solidFill>
                  <a:srgbClr val="142338"/>
                </a:solidFill>
                <a:latin typeface="Arial"/>
              </a:rPr>
              <a:t>Absa</a:t>
            </a:r>
          </a:p>
        </p:txBody>
      </p:sp>
      <p:sp>
        <p:nvSpPr>
          <p:cNvPr id="58" name="TextBox 57"/>
          <p:cNvSpPr txBox="1"/>
          <p:nvPr/>
        </p:nvSpPr>
        <p:spPr>
          <a:xfrm>
            <a:off x="64770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Millennium bcp</a:t>
            </a:r>
          </a:p>
          <a:p>
            <a:pPr algn="l">
              <a:lnSpc>
                <a:spcPts val="1920"/>
              </a:lnSpc>
              <a:spcBef>
                <a:spcPts val="0"/>
              </a:spcBef>
              <a:spcAft>
                <a:spcPts val="0"/>
              </a:spcAft>
            </a:pPr>
            <a:r>
              <a:rPr sz="1600" b="0">
                <a:solidFill>
                  <a:srgbClr val="5D6F82"/>
                </a:solidFill>
                <a:latin typeface="Arial"/>
              </a:rPr>
              <a:t>Open Systems</a:t>
            </a:r>
          </a:p>
          <a:p>
            <a:pPr algn="l">
              <a:lnSpc>
                <a:spcPts val="1920"/>
              </a:lnSpc>
              <a:spcBef>
                <a:spcPts val="0"/>
              </a:spcBef>
              <a:spcAft>
                <a:spcPts val="0"/>
              </a:spcAft>
            </a:pPr>
            <a:r>
              <a:rPr sz="1600" b="0">
                <a:solidFill>
                  <a:srgbClr val="5D6F82"/>
                </a:solidFill>
                <a:latin typeface="Arial"/>
              </a:rPr>
              <a:t>PagBank</a:t>
            </a:r>
          </a:p>
        </p:txBody>
      </p:sp>
      <p:sp>
        <p:nvSpPr>
          <p:cNvPr id="59" name="TextBox 58"/>
          <p:cNvSpPr txBox="1"/>
          <p:nvPr/>
        </p:nvSpPr>
        <p:spPr>
          <a:xfrm>
            <a:off x="90678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18 JUL 2026</a:t>
            </a:r>
          </a:p>
        </p:txBody>
      </p:sp>
      <p:sp>
        <p:nvSpPr>
          <p:cNvPr id="60" name="Oval 59"/>
          <p:cNvSpPr/>
          <p:nvPr/>
        </p:nvSpPr>
        <p:spPr>
          <a:xfrm>
            <a:off x="10198100" y="2514600"/>
            <a:ext cx="254000" cy="254000"/>
          </a:xfrm>
          <a:prstGeom prst="ellipse">
            <a:avLst/>
          </a:prstGeom>
          <a:solidFill>
            <a:srgbClr val="F8FAFC"/>
          </a:solidFill>
          <a:ln w="254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274300" y="2590800"/>
            <a:ext cx="101600" cy="101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90678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9067800" y="2984500"/>
            <a:ext cx="2514600" cy="2552700"/>
          </a:xfrm>
          <a:prstGeom prst="roundRect">
            <a:avLst>
              <a:gd name="adj" fmla="val 4545"/>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9296400" y="2997200"/>
            <a:ext cx="20574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pic>
        <p:nvPicPr>
          <p:cNvPr id="65" name="Picture 64" descr="image.png"/>
          <p:cNvPicPr>
            <a:picLocks noChangeAspect="1"/>
          </p:cNvPicPr>
          <p:nvPr/>
        </p:nvPicPr>
        <p:blipFill>
          <a:blip r:embed="rId2"/>
          <a:stretch>
            <a:fillRect/>
          </a:stretch>
        </p:blipFill>
        <p:spPr>
          <a:xfrm>
            <a:off x="9296400" y="3181693"/>
            <a:ext cx="558800" cy="545413"/>
          </a:xfrm>
          <a:prstGeom prst="rect">
            <a:avLst/>
          </a:prstGeom>
        </p:spPr>
      </p:pic>
      <p:sp>
        <p:nvSpPr>
          <p:cNvPr id="66" name="TextBox 65"/>
          <p:cNvSpPr txBox="1"/>
          <p:nvPr/>
        </p:nvSpPr>
        <p:spPr>
          <a:xfrm>
            <a:off x="92964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FFFFFF"/>
                </a:solidFill>
                <a:latin typeface="Arial"/>
              </a:rPr>
              <a:t>CNCF</a:t>
            </a:r>
          </a:p>
          <a:p>
            <a:pPr algn="l">
              <a:lnSpc>
                <a:spcPts val="2484"/>
              </a:lnSpc>
              <a:spcBef>
                <a:spcPts val="0"/>
              </a:spcBef>
              <a:spcAft>
                <a:spcPts val="0"/>
              </a:spcAft>
            </a:pPr>
            <a:r>
              <a:rPr sz="2300" b="1">
                <a:solidFill>
                  <a:srgbClr val="FFFFFF"/>
                </a:solidFill>
                <a:latin typeface="Arial"/>
              </a:rPr>
              <a:t>Incubating</a:t>
            </a:r>
          </a:p>
        </p:txBody>
      </p:sp>
      <p:sp>
        <p:nvSpPr>
          <p:cNvPr id="67" name="TextBox 66"/>
          <p:cNvSpPr txBox="1"/>
          <p:nvPr/>
        </p:nvSpPr>
        <p:spPr>
          <a:xfrm>
            <a:off x="92964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B8C8D9"/>
                </a:solidFill>
                <a:latin typeface="Arial"/>
              </a:rPr>
              <a:t>A new milestone</a:t>
            </a:r>
          </a:p>
          <a:p>
            <a:pPr algn="l">
              <a:lnSpc>
                <a:spcPts val="1920"/>
              </a:lnSpc>
              <a:spcBef>
                <a:spcPts val="0"/>
              </a:spcBef>
              <a:spcAft>
                <a:spcPts val="0"/>
              </a:spcAft>
            </a:pPr>
            <a:r>
              <a:rPr sz="1600" b="0">
                <a:solidFill>
                  <a:srgbClr val="B8C8D9"/>
                </a:solidFill>
                <a:latin typeface="Arial"/>
              </a:rPr>
              <a:t>for the project</a:t>
            </a:r>
          </a:p>
          <a:p>
            <a:pPr algn="l">
              <a:lnSpc>
                <a:spcPts val="1920"/>
              </a:lnSpc>
              <a:spcBef>
                <a:spcPts val="0"/>
              </a:spcBef>
              <a:spcAft>
                <a:spcPts val="0"/>
              </a:spcAft>
            </a:pPr>
            <a:r>
              <a:rPr sz="1600" b="0">
                <a:solidFill>
                  <a:srgbClr val="B8C8D9"/>
                </a:solidFill>
                <a:latin typeface="Arial"/>
              </a:rPr>
              <a:t>and its community</a:t>
            </a:r>
          </a:p>
        </p:txBody>
      </p:sp>
      <p:sp>
        <p:nvSpPr>
          <p:cNvPr id="68" name="Rounded Rectangle 67"/>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Born from a production problem. Built with the community.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OPERATIONAL SOVEREIGNTY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07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Who controls each layer?</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Your data. Your workloads. Your traffic.</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235200"/>
            <a:ext cx="3454400" cy="3276600"/>
          </a:xfrm>
          <a:prstGeom prst="roundRect">
            <a:avLst>
              <a:gd name="adj" fmla="val 387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84400"/>
            <a:ext cx="3454400" cy="3276600"/>
          </a:xfrm>
          <a:prstGeom prst="roundRect">
            <a:avLst>
              <a:gd name="adj" fmla="val 387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914400" y="2197100"/>
            <a:ext cx="28448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4400" y="2451100"/>
            <a:ext cx="812800" cy="812800"/>
          </a:xfrm>
          <a:prstGeom prst="roundRect">
            <a:avLst>
              <a:gd name="adj" fmla="val 1875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51200" y="2451100"/>
            <a:ext cx="508000" cy="271780"/>
          </a:xfrm>
          <a:prstGeom prst="rect">
            <a:avLst/>
          </a:prstGeom>
          <a:noFill/>
        </p:spPr>
        <p:txBody>
          <a:bodyPr wrap="none" lIns="0" rIns="0" tIns="0" bIns="0" anchor="t">
            <a:noAutofit/>
          </a:bodyPr>
          <a:lstStyle/>
          <a:p>
            <a:pPr algn="r">
              <a:lnSpc>
                <a:spcPts val="1839"/>
              </a:lnSpc>
              <a:spcBef>
                <a:spcPts val="0"/>
              </a:spcBef>
              <a:spcAft>
                <a:spcPts val="0"/>
              </a:spcAft>
            </a:pPr>
            <a:r>
              <a:rPr sz="1600" b="1">
                <a:solidFill>
                  <a:srgbClr val="5D6F82"/>
                </a:solidFill>
                <a:latin typeface="Arial"/>
              </a:rPr>
              <a:t>01</a:t>
            </a:r>
          </a:p>
        </p:txBody>
      </p:sp>
      <p:sp>
        <p:nvSpPr>
          <p:cNvPr id="15" name="TextBox 14"/>
          <p:cNvSpPr txBox="1"/>
          <p:nvPr/>
        </p:nvSpPr>
        <p:spPr>
          <a:xfrm>
            <a:off x="914400" y="3517900"/>
            <a:ext cx="28448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DATA</a:t>
            </a:r>
          </a:p>
        </p:txBody>
      </p:sp>
      <p:sp>
        <p:nvSpPr>
          <p:cNvPr id="16" name="TextBox 15"/>
          <p:cNvSpPr txBox="1"/>
          <p:nvPr/>
        </p:nvSpPr>
        <p:spPr>
          <a:xfrm>
            <a:off x="914400" y="4089400"/>
            <a:ext cx="2844800" cy="689610"/>
          </a:xfrm>
          <a:prstGeom prst="rect">
            <a:avLst/>
          </a:prstGeom>
          <a:noFill/>
        </p:spPr>
        <p:txBody>
          <a:bodyPr wrap="none" lIns="0" rIns="0" tIns="0" bIns="0" anchor="t">
            <a:noAutofit/>
          </a:bodyPr>
          <a:lstStyle/>
          <a:p>
            <a:pPr algn="l">
              <a:lnSpc>
                <a:spcPts val="2565"/>
              </a:lnSpc>
              <a:spcBef>
                <a:spcPts val="0"/>
              </a:spcBef>
              <a:spcAft>
                <a:spcPts val="0"/>
              </a:spcAft>
            </a:pPr>
            <a:r>
              <a:rPr sz="1900" b="0">
                <a:solidFill>
                  <a:srgbClr val="5D6F82"/>
                </a:solidFill>
                <a:latin typeface="Arial"/>
              </a:rPr>
              <a:t>Where is it stored?</a:t>
            </a:r>
          </a:p>
          <a:p>
            <a:pPr algn="l">
              <a:lnSpc>
                <a:spcPts val="2565"/>
              </a:lnSpc>
              <a:spcBef>
                <a:spcPts val="0"/>
              </a:spcBef>
              <a:spcAft>
                <a:spcPts val="0"/>
              </a:spcAft>
            </a:pPr>
            <a:r>
              <a:rPr sz="1900" b="0">
                <a:solidFill>
                  <a:srgbClr val="5D6F82"/>
                </a:solidFill>
                <a:latin typeface="Arial"/>
              </a:rPr>
              <a:t>Who can access it?</a:t>
            </a:r>
          </a:p>
        </p:txBody>
      </p:sp>
      <p:cxnSp>
        <p:nvCxnSpPr>
          <p:cNvPr id="17" name="Connector 16"/>
          <p:cNvCxnSpPr/>
          <p:nvPr/>
        </p:nvCxnSpPr>
        <p:spPr>
          <a:xfrm>
            <a:off x="914400" y="4940300"/>
            <a:ext cx="2844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914400" y="5143500"/>
            <a:ext cx="2844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RESIDENCY · ACCESS</a:t>
            </a:r>
          </a:p>
        </p:txBody>
      </p:sp>
      <p:sp>
        <p:nvSpPr>
          <p:cNvPr id="19" name="Rounded Rectangle 18"/>
          <p:cNvSpPr/>
          <p:nvPr/>
        </p:nvSpPr>
        <p:spPr>
          <a:xfrm>
            <a:off x="4368800" y="2235200"/>
            <a:ext cx="3454400" cy="3276600"/>
          </a:xfrm>
          <a:prstGeom prst="roundRect">
            <a:avLst>
              <a:gd name="adj" fmla="val 387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368800" y="2184400"/>
            <a:ext cx="3454400" cy="3276600"/>
          </a:xfrm>
          <a:prstGeom prst="roundRect">
            <a:avLst>
              <a:gd name="adj" fmla="val 387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673600" y="2197100"/>
            <a:ext cx="28448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673600" y="2451100"/>
            <a:ext cx="812800" cy="812800"/>
          </a:xfrm>
          <a:prstGeom prst="roundRect">
            <a:avLst>
              <a:gd name="adj" fmla="val 1875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0400" y="2451100"/>
            <a:ext cx="508000" cy="271780"/>
          </a:xfrm>
          <a:prstGeom prst="rect">
            <a:avLst/>
          </a:prstGeom>
          <a:noFill/>
        </p:spPr>
        <p:txBody>
          <a:bodyPr wrap="none" lIns="0" rIns="0" tIns="0" bIns="0" anchor="t">
            <a:noAutofit/>
          </a:bodyPr>
          <a:lstStyle/>
          <a:p>
            <a:pPr algn="r">
              <a:lnSpc>
                <a:spcPts val="1839"/>
              </a:lnSpc>
              <a:spcBef>
                <a:spcPts val="0"/>
              </a:spcBef>
              <a:spcAft>
                <a:spcPts val="0"/>
              </a:spcAft>
            </a:pPr>
            <a:r>
              <a:rPr sz="1600" b="1">
                <a:solidFill>
                  <a:srgbClr val="5D6F82"/>
                </a:solidFill>
                <a:latin typeface="Arial"/>
              </a:rPr>
              <a:t>02</a:t>
            </a:r>
          </a:p>
        </p:txBody>
      </p:sp>
      <p:sp>
        <p:nvSpPr>
          <p:cNvPr id="24" name="TextBox 23"/>
          <p:cNvSpPr txBox="1"/>
          <p:nvPr/>
        </p:nvSpPr>
        <p:spPr>
          <a:xfrm>
            <a:off x="4673600" y="3517900"/>
            <a:ext cx="28448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RUNTIME</a:t>
            </a:r>
          </a:p>
        </p:txBody>
      </p:sp>
      <p:sp>
        <p:nvSpPr>
          <p:cNvPr id="25" name="TextBox 24"/>
          <p:cNvSpPr txBox="1"/>
          <p:nvPr/>
        </p:nvSpPr>
        <p:spPr>
          <a:xfrm>
            <a:off x="4673600" y="4089400"/>
            <a:ext cx="2844800" cy="689610"/>
          </a:xfrm>
          <a:prstGeom prst="rect">
            <a:avLst/>
          </a:prstGeom>
          <a:noFill/>
        </p:spPr>
        <p:txBody>
          <a:bodyPr wrap="none" lIns="0" rIns="0" tIns="0" bIns="0" anchor="t">
            <a:noAutofit/>
          </a:bodyPr>
          <a:lstStyle/>
          <a:p>
            <a:pPr algn="l">
              <a:lnSpc>
                <a:spcPts val="2565"/>
              </a:lnSpc>
              <a:spcBef>
                <a:spcPts val="0"/>
              </a:spcBef>
              <a:spcAft>
                <a:spcPts val="0"/>
              </a:spcAft>
            </a:pPr>
            <a:r>
              <a:rPr sz="1900" b="0">
                <a:solidFill>
                  <a:srgbClr val="5D6F82"/>
                </a:solidFill>
                <a:latin typeface="Arial"/>
              </a:rPr>
              <a:t>Where does it run?</a:t>
            </a:r>
          </a:p>
          <a:p>
            <a:pPr algn="l">
              <a:lnSpc>
                <a:spcPts val="2565"/>
              </a:lnSpc>
              <a:spcBef>
                <a:spcPts val="0"/>
              </a:spcBef>
              <a:spcAft>
                <a:spcPts val="0"/>
              </a:spcAft>
            </a:pPr>
            <a:r>
              <a:rPr sz="1900" b="0">
                <a:solidFill>
                  <a:srgbClr val="5D6F82"/>
                </a:solidFill>
                <a:latin typeface="Arial"/>
              </a:rPr>
              <a:t>Who can operate it?</a:t>
            </a:r>
          </a:p>
        </p:txBody>
      </p:sp>
      <p:cxnSp>
        <p:nvCxnSpPr>
          <p:cNvPr id="26" name="Connector 25"/>
          <p:cNvCxnSpPr/>
          <p:nvPr/>
        </p:nvCxnSpPr>
        <p:spPr>
          <a:xfrm>
            <a:off x="4673600" y="4940300"/>
            <a:ext cx="2844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673600" y="5143500"/>
            <a:ext cx="2844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PLACEMENT · OPERATIONS</a:t>
            </a:r>
          </a:p>
        </p:txBody>
      </p:sp>
      <p:sp>
        <p:nvSpPr>
          <p:cNvPr id="28" name="Rounded Rectangle 27"/>
          <p:cNvSpPr/>
          <p:nvPr/>
        </p:nvSpPr>
        <p:spPr>
          <a:xfrm>
            <a:off x="8128000" y="2133600"/>
            <a:ext cx="3454400" cy="3479800"/>
          </a:xfrm>
          <a:prstGeom prst="roundRect">
            <a:avLst>
              <a:gd name="adj" fmla="val 367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128000" y="2082800"/>
            <a:ext cx="3454400" cy="3479800"/>
          </a:xfrm>
          <a:prstGeom prst="roundRect">
            <a:avLst>
              <a:gd name="adj" fmla="val 367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8432800" y="2095500"/>
            <a:ext cx="28448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432800" y="2451100"/>
            <a:ext cx="812800" cy="812800"/>
          </a:xfrm>
          <a:prstGeom prst="roundRect">
            <a:avLst>
              <a:gd name="adj" fmla="val 18750"/>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769600" y="2451100"/>
            <a:ext cx="508000" cy="271780"/>
          </a:xfrm>
          <a:prstGeom prst="rect">
            <a:avLst/>
          </a:prstGeom>
          <a:noFill/>
        </p:spPr>
        <p:txBody>
          <a:bodyPr wrap="none" lIns="0" rIns="0" tIns="0" bIns="0" anchor="t">
            <a:noAutofit/>
          </a:bodyPr>
          <a:lstStyle/>
          <a:p>
            <a:pPr algn="r">
              <a:lnSpc>
                <a:spcPts val="1839"/>
              </a:lnSpc>
              <a:spcBef>
                <a:spcPts val="0"/>
              </a:spcBef>
              <a:spcAft>
                <a:spcPts val="0"/>
              </a:spcAft>
            </a:pPr>
            <a:r>
              <a:rPr sz="1600" b="1">
                <a:solidFill>
                  <a:srgbClr val="B8C8D9"/>
                </a:solidFill>
                <a:latin typeface="Arial"/>
              </a:rPr>
              <a:t>03</a:t>
            </a:r>
          </a:p>
        </p:txBody>
      </p:sp>
      <p:sp>
        <p:nvSpPr>
          <p:cNvPr id="33" name="TextBox 32"/>
          <p:cNvSpPr txBox="1"/>
          <p:nvPr/>
        </p:nvSpPr>
        <p:spPr>
          <a:xfrm>
            <a:off x="8432800" y="3517900"/>
            <a:ext cx="28448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TRAFFIC CONTROL</a:t>
            </a:r>
          </a:p>
        </p:txBody>
      </p:sp>
      <p:sp>
        <p:nvSpPr>
          <p:cNvPr id="34" name="TextBox 33"/>
          <p:cNvSpPr txBox="1"/>
          <p:nvPr/>
        </p:nvSpPr>
        <p:spPr>
          <a:xfrm>
            <a:off x="8432800" y="4089400"/>
            <a:ext cx="2844800" cy="689610"/>
          </a:xfrm>
          <a:prstGeom prst="rect">
            <a:avLst/>
          </a:prstGeom>
          <a:noFill/>
        </p:spPr>
        <p:txBody>
          <a:bodyPr wrap="none" lIns="0" rIns="0" tIns="0" bIns="0" anchor="t">
            <a:noAutofit/>
          </a:bodyPr>
          <a:lstStyle/>
          <a:p>
            <a:pPr algn="l">
              <a:lnSpc>
                <a:spcPts val="2565"/>
              </a:lnSpc>
              <a:spcBef>
                <a:spcPts val="0"/>
              </a:spcBef>
              <a:spcAft>
                <a:spcPts val="0"/>
              </a:spcAft>
            </a:pPr>
            <a:r>
              <a:rPr sz="1900" b="0">
                <a:solidFill>
                  <a:srgbClr val="B8C8D9"/>
                </a:solidFill>
                <a:latin typeface="Arial"/>
              </a:rPr>
              <a:t>Who controls DNS?</a:t>
            </a:r>
          </a:p>
          <a:p>
            <a:pPr algn="l">
              <a:lnSpc>
                <a:spcPts val="2565"/>
              </a:lnSpc>
              <a:spcBef>
                <a:spcPts val="0"/>
              </a:spcBef>
              <a:spcAft>
                <a:spcPts val="0"/>
              </a:spcAft>
            </a:pPr>
            <a:r>
              <a:rPr sz="1900" b="0">
                <a:solidFill>
                  <a:srgbClr val="B8C8D9"/>
                </a:solidFill>
                <a:latin typeface="Arial"/>
              </a:rPr>
              <a:t>Who steers failover?</a:t>
            </a:r>
          </a:p>
        </p:txBody>
      </p:sp>
      <p:cxnSp>
        <p:nvCxnSpPr>
          <p:cNvPr id="35" name="Connector 34"/>
          <p:cNvCxnSpPr/>
          <p:nvPr/>
        </p:nvCxnSpPr>
        <p:spPr>
          <a:xfrm>
            <a:off x="8432800" y="4940300"/>
            <a:ext cx="28448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432800" y="5143500"/>
            <a:ext cx="2844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THIS TALK: DNS + FAILOVER</a:t>
            </a:r>
          </a:p>
        </p:txBody>
      </p:sp>
      <p:sp>
        <p:nvSpPr>
          <p:cNvPr id="37" name="Oval 36"/>
          <p:cNvSpPr/>
          <p:nvPr/>
        </p:nvSpPr>
        <p:spPr>
          <a:xfrm>
            <a:off x="1066800" y="2895600"/>
            <a:ext cx="508000" cy="152400"/>
          </a:xfrm>
          <a:prstGeom prst="ellipse">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66800" y="2717800"/>
            <a:ext cx="508000" cy="254000"/>
          </a:xfrm>
          <a:prstGeom prst="rect">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1066800" y="2717800"/>
            <a:ext cx="0" cy="2540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574800" y="2717800"/>
            <a:ext cx="0" cy="2540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sp>
        <p:nvSpPr>
          <p:cNvPr id="41" name="Oval 40"/>
          <p:cNvSpPr/>
          <p:nvPr/>
        </p:nvSpPr>
        <p:spPr>
          <a:xfrm>
            <a:off x="1066800" y="2768600"/>
            <a:ext cx="508000" cy="152400"/>
          </a:xfrm>
          <a:prstGeom prst="ellipse">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066800" y="2641600"/>
            <a:ext cx="508000" cy="152400"/>
          </a:xfrm>
          <a:prstGeom prst="ellipse">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image.png"/>
          <p:cNvPicPr>
            <a:picLocks noChangeAspect="1"/>
          </p:cNvPicPr>
          <p:nvPr/>
        </p:nvPicPr>
        <p:blipFill>
          <a:blip r:embed="rId2"/>
          <a:stretch>
            <a:fillRect/>
          </a:stretch>
        </p:blipFill>
        <p:spPr>
          <a:xfrm>
            <a:off x="4826000" y="2603500"/>
            <a:ext cx="508000" cy="508000"/>
          </a:xfrm>
          <a:prstGeom prst="rect">
            <a:avLst/>
          </a:prstGeom>
        </p:spPr>
      </p:pic>
      <p:cxnSp>
        <p:nvCxnSpPr>
          <p:cNvPr id="44" name="Connector 43"/>
          <p:cNvCxnSpPr/>
          <p:nvPr/>
        </p:nvCxnSpPr>
        <p:spPr>
          <a:xfrm>
            <a:off x="8623300" y="2857500"/>
            <a:ext cx="190500" cy="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8813800" y="2692400"/>
            <a:ext cx="0" cy="1651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813800" y="2692400"/>
            <a:ext cx="228600" cy="0"/>
          </a:xfrm>
          <a:prstGeom prst="line">
            <a:avLst/>
          </a:prstGeom>
          <a:ln w="2540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813800" y="2857500"/>
            <a:ext cx="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8813800" y="3035300"/>
            <a:ext cx="228600" cy="0"/>
          </a:xfrm>
          <a:prstGeom prst="line">
            <a:avLst/>
          </a:prstGeom>
          <a:ln w="2540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8547100" y="2806700"/>
            <a:ext cx="101600" cy="1016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87400" y="5892800"/>
            <a:ext cx="106172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142338"/>
                </a:solidFill>
                <a:latin typeface="Arial"/>
              </a:rPr>
              <a:t>Sovereignty includes who can steer traffic during an outage.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 CONCRETE FAILOVER TEST</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08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Cluster A fails. Can users reach Cluster 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Cluster A is unavailable. Cluster B has ready workloads.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286000"/>
            <a:ext cx="3454400" cy="3403600"/>
          </a:xfrm>
          <a:prstGeom prst="roundRect">
            <a:avLst>
              <a:gd name="adj" fmla="val 373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235200"/>
            <a:ext cx="3454400" cy="3403600"/>
          </a:xfrm>
          <a:prstGeom prst="roundRect">
            <a:avLst>
              <a:gd name="adj" fmla="val 373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914400" y="2247900"/>
            <a:ext cx="28448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4400" y="2489200"/>
            <a:ext cx="812800" cy="812800"/>
          </a:xfrm>
          <a:prstGeom prst="roundRect">
            <a:avLst>
              <a:gd name="adj" fmla="val 1875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51200" y="2527300"/>
            <a:ext cx="508000" cy="271780"/>
          </a:xfrm>
          <a:prstGeom prst="rect">
            <a:avLst/>
          </a:prstGeom>
          <a:noFill/>
        </p:spPr>
        <p:txBody>
          <a:bodyPr wrap="none" lIns="0" rIns="0" tIns="0" bIns="0" anchor="t">
            <a:noAutofit/>
          </a:bodyPr>
          <a:lstStyle/>
          <a:p>
            <a:pPr algn="r">
              <a:lnSpc>
                <a:spcPts val="1839"/>
              </a:lnSpc>
              <a:spcBef>
                <a:spcPts val="0"/>
              </a:spcBef>
              <a:spcAft>
                <a:spcPts val="0"/>
              </a:spcAft>
            </a:pPr>
            <a:r>
              <a:rPr sz="1600" b="1">
                <a:solidFill>
                  <a:srgbClr val="5D6F82"/>
                </a:solidFill>
                <a:latin typeface="Arial"/>
              </a:rPr>
              <a:t>01</a:t>
            </a:r>
          </a:p>
        </p:txBody>
      </p:sp>
      <p:sp>
        <p:nvSpPr>
          <p:cNvPr id="15" name="TextBox 14"/>
          <p:cNvSpPr txBox="1"/>
          <p:nvPr/>
        </p:nvSpPr>
        <p:spPr>
          <a:xfrm>
            <a:off x="914400" y="3505200"/>
            <a:ext cx="2844800" cy="708660"/>
          </a:xfrm>
          <a:prstGeom prst="rect">
            <a:avLst/>
          </a:prstGeom>
          <a:noFill/>
        </p:spPr>
        <p:txBody>
          <a:bodyPr wrap="none" lIns="0" rIns="0" tIns="0" bIns="0" anchor="t">
            <a:noAutofit/>
          </a:bodyPr>
          <a:lstStyle/>
          <a:p>
            <a:pPr algn="l">
              <a:lnSpc>
                <a:spcPts val="2640"/>
              </a:lnSpc>
              <a:spcBef>
                <a:spcPts val="0"/>
              </a:spcBef>
              <a:spcAft>
                <a:spcPts val="0"/>
              </a:spcAft>
            </a:pPr>
            <a:r>
              <a:rPr sz="2400" b="1">
                <a:solidFill>
                  <a:srgbClr val="142338"/>
                </a:solidFill>
                <a:latin typeface="Arial"/>
              </a:rPr>
              <a:t>Can B safely</a:t>
            </a:r>
          </a:p>
          <a:p>
            <a:pPr algn="l">
              <a:lnSpc>
                <a:spcPts val="2640"/>
              </a:lnSpc>
              <a:spcBef>
                <a:spcPts val="0"/>
              </a:spcBef>
              <a:spcAft>
                <a:spcPts val="0"/>
              </a:spcAft>
            </a:pPr>
            <a:r>
              <a:rPr sz="2400" b="1">
                <a:solidFill>
                  <a:srgbClr val="142338"/>
                </a:solidFill>
                <a:latin typeface="Arial"/>
              </a:rPr>
              <a:t>serve the app?</a:t>
            </a:r>
          </a:p>
        </p:txBody>
      </p:sp>
      <p:cxnSp>
        <p:nvCxnSpPr>
          <p:cNvPr id="16" name="Connector 15"/>
          <p:cNvCxnSpPr/>
          <p:nvPr/>
        </p:nvCxnSpPr>
        <p:spPr>
          <a:xfrm>
            <a:off x="914400" y="4305300"/>
            <a:ext cx="2844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14400" y="4521200"/>
            <a:ext cx="2844800" cy="904875"/>
          </a:xfrm>
          <a:prstGeom prst="rect">
            <a:avLst/>
          </a:prstGeom>
          <a:noFill/>
        </p:spPr>
        <p:txBody>
          <a:bodyPr wrap="none" lIns="0" rIns="0" tIns="0" bIns="0" anchor="t">
            <a:noAutofit/>
          </a:bodyPr>
          <a:lstStyle/>
          <a:p>
            <a:pPr algn="l">
              <a:lnSpc>
                <a:spcPts val="2275"/>
              </a:lnSpc>
              <a:spcBef>
                <a:spcPts val="0"/>
              </a:spcBef>
              <a:spcAft>
                <a:spcPts val="0"/>
              </a:spcAft>
            </a:pPr>
            <a:r>
              <a:rPr sz="1750" b="0">
                <a:solidFill>
                  <a:srgbClr val="5D6F82"/>
                </a:solidFill>
                <a:latin typeface="Arial"/>
              </a:rPr>
              <a:t>Allowed location?</a:t>
            </a:r>
          </a:p>
          <a:p>
            <a:pPr algn="l">
              <a:lnSpc>
                <a:spcPts val="2275"/>
              </a:lnSpc>
              <a:spcBef>
                <a:spcPts val="0"/>
              </a:spcBef>
              <a:spcAft>
                <a:spcPts val="0"/>
              </a:spcAft>
            </a:pPr>
            <a:r>
              <a:rPr sz="1750" b="0">
                <a:solidFill>
                  <a:srgbClr val="5D6F82"/>
                </a:solidFill>
                <a:latin typeface="Arial"/>
              </a:rPr>
              <a:t>Data ready for the app?</a:t>
            </a:r>
          </a:p>
          <a:p>
            <a:pPr algn="l">
              <a:lnSpc>
                <a:spcPts val="2275"/>
              </a:lnSpc>
              <a:spcBef>
                <a:spcPts val="0"/>
              </a:spcBef>
              <a:spcAft>
                <a:spcPts val="0"/>
              </a:spcAft>
            </a:pPr>
            <a:r>
              <a:rPr sz="1750" b="0">
                <a:solidFill>
                  <a:srgbClr val="5D6F82"/>
                </a:solidFill>
                <a:latin typeface="Arial"/>
              </a:rPr>
              <a:t>Enough spare capacity?</a:t>
            </a:r>
          </a:p>
        </p:txBody>
      </p:sp>
      <p:sp>
        <p:nvSpPr>
          <p:cNvPr id="18" name="Rounded Rectangle 17"/>
          <p:cNvSpPr/>
          <p:nvPr/>
        </p:nvSpPr>
        <p:spPr>
          <a:xfrm>
            <a:off x="4368800" y="2286000"/>
            <a:ext cx="3454400" cy="3403600"/>
          </a:xfrm>
          <a:prstGeom prst="roundRect">
            <a:avLst>
              <a:gd name="adj" fmla="val 373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368800" y="2235200"/>
            <a:ext cx="3454400" cy="3403600"/>
          </a:xfrm>
          <a:prstGeom prst="roundRect">
            <a:avLst>
              <a:gd name="adj" fmla="val 373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4673600" y="2247900"/>
            <a:ext cx="28448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673600" y="2489200"/>
            <a:ext cx="812800" cy="812800"/>
          </a:xfrm>
          <a:prstGeom prst="roundRect">
            <a:avLst>
              <a:gd name="adj" fmla="val 1875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10400" y="2527300"/>
            <a:ext cx="508000" cy="271780"/>
          </a:xfrm>
          <a:prstGeom prst="rect">
            <a:avLst/>
          </a:prstGeom>
          <a:noFill/>
        </p:spPr>
        <p:txBody>
          <a:bodyPr wrap="none" lIns="0" rIns="0" tIns="0" bIns="0" anchor="t">
            <a:noAutofit/>
          </a:bodyPr>
          <a:lstStyle/>
          <a:p>
            <a:pPr algn="r">
              <a:lnSpc>
                <a:spcPts val="1839"/>
              </a:lnSpc>
              <a:spcBef>
                <a:spcPts val="0"/>
              </a:spcBef>
              <a:spcAft>
                <a:spcPts val="0"/>
              </a:spcAft>
            </a:pPr>
            <a:r>
              <a:rPr sz="1600" b="1">
                <a:solidFill>
                  <a:srgbClr val="5D6F82"/>
                </a:solidFill>
                <a:latin typeface="Arial"/>
              </a:rPr>
              <a:t>02</a:t>
            </a:r>
          </a:p>
        </p:txBody>
      </p:sp>
      <p:sp>
        <p:nvSpPr>
          <p:cNvPr id="23" name="TextBox 22"/>
          <p:cNvSpPr txBox="1"/>
          <p:nvPr/>
        </p:nvSpPr>
        <p:spPr>
          <a:xfrm>
            <a:off x="4673600" y="3505200"/>
            <a:ext cx="2844800" cy="708660"/>
          </a:xfrm>
          <a:prstGeom prst="rect">
            <a:avLst/>
          </a:prstGeom>
          <a:noFill/>
        </p:spPr>
        <p:txBody>
          <a:bodyPr wrap="none" lIns="0" rIns="0" tIns="0" bIns="0" anchor="t">
            <a:noAutofit/>
          </a:bodyPr>
          <a:lstStyle/>
          <a:p>
            <a:pPr algn="l">
              <a:lnSpc>
                <a:spcPts val="2640"/>
              </a:lnSpc>
              <a:spcBef>
                <a:spcPts val="0"/>
              </a:spcBef>
              <a:spcAft>
                <a:spcPts val="0"/>
              </a:spcAft>
            </a:pPr>
            <a:r>
              <a:rPr sz="2400" b="1">
                <a:solidFill>
                  <a:srgbClr val="142338"/>
                </a:solidFill>
                <a:latin typeface="Arial"/>
              </a:rPr>
              <a:t>Can DNS still</a:t>
            </a:r>
          </a:p>
          <a:p>
            <a:pPr algn="l">
              <a:lnSpc>
                <a:spcPts val="2640"/>
              </a:lnSpc>
              <a:spcBef>
                <a:spcPts val="0"/>
              </a:spcBef>
              <a:spcAft>
                <a:spcPts val="0"/>
              </a:spcAft>
            </a:pPr>
            <a:r>
              <a:rPr sz="2400" b="1">
                <a:solidFill>
                  <a:srgbClr val="142338"/>
                </a:solidFill>
                <a:latin typeface="Arial"/>
              </a:rPr>
              <a:t>steer traffic?</a:t>
            </a:r>
          </a:p>
        </p:txBody>
      </p:sp>
      <p:cxnSp>
        <p:nvCxnSpPr>
          <p:cNvPr id="24" name="Connector 23"/>
          <p:cNvCxnSpPr/>
          <p:nvPr/>
        </p:nvCxnSpPr>
        <p:spPr>
          <a:xfrm>
            <a:off x="4673600" y="4305300"/>
            <a:ext cx="2844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673600" y="4521200"/>
            <a:ext cx="2844800" cy="904875"/>
          </a:xfrm>
          <a:prstGeom prst="rect">
            <a:avLst/>
          </a:prstGeom>
          <a:noFill/>
        </p:spPr>
        <p:txBody>
          <a:bodyPr wrap="none" lIns="0" rIns="0" tIns="0" bIns="0" anchor="t">
            <a:noAutofit/>
          </a:bodyPr>
          <a:lstStyle/>
          <a:p>
            <a:pPr algn="l">
              <a:lnSpc>
                <a:spcPts val="2275"/>
              </a:lnSpc>
              <a:spcBef>
                <a:spcPts val="0"/>
              </a:spcBef>
              <a:spcAft>
                <a:spcPts val="0"/>
              </a:spcAft>
            </a:pPr>
            <a:r>
              <a:rPr sz="1750" b="0">
                <a:solidFill>
                  <a:srgbClr val="5D6F82"/>
                </a:solidFill>
                <a:latin typeface="Arial"/>
              </a:rPr>
              <a:t>Controller still running?</a:t>
            </a:r>
          </a:p>
          <a:p>
            <a:pPr algn="l">
              <a:lnSpc>
                <a:spcPts val="2275"/>
              </a:lnSpc>
              <a:spcBef>
                <a:spcPts val="0"/>
              </a:spcBef>
              <a:spcAft>
                <a:spcPts val="0"/>
              </a:spcAft>
            </a:pPr>
            <a:r>
              <a:rPr sz="1750" b="0">
                <a:solidFill>
                  <a:srgbClr val="5D6F82"/>
                </a:solidFill>
                <a:latin typeface="Arial"/>
              </a:rPr>
              <a:t>DNS authority reachable?</a:t>
            </a:r>
          </a:p>
          <a:p>
            <a:pPr algn="l">
              <a:lnSpc>
                <a:spcPts val="2275"/>
              </a:lnSpc>
              <a:spcBef>
                <a:spcPts val="0"/>
              </a:spcBef>
              <a:spcAft>
                <a:spcPts val="0"/>
              </a:spcAft>
            </a:pPr>
            <a:r>
              <a:rPr sz="1750" b="0">
                <a:solidFill>
                  <a:srgbClr val="5D6F82"/>
                </a:solidFill>
                <a:latin typeface="Arial"/>
              </a:rPr>
              <a:t>Team has recovery access?</a:t>
            </a:r>
          </a:p>
        </p:txBody>
      </p:sp>
      <p:sp>
        <p:nvSpPr>
          <p:cNvPr id="26" name="Rounded Rectangle 25"/>
          <p:cNvSpPr/>
          <p:nvPr/>
        </p:nvSpPr>
        <p:spPr>
          <a:xfrm>
            <a:off x="8128000" y="2286000"/>
            <a:ext cx="3454400" cy="3403600"/>
          </a:xfrm>
          <a:prstGeom prst="roundRect">
            <a:avLst>
              <a:gd name="adj" fmla="val 373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128000" y="2235200"/>
            <a:ext cx="3454400" cy="3403600"/>
          </a:xfrm>
          <a:prstGeom prst="roundRect">
            <a:avLst>
              <a:gd name="adj" fmla="val 373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a:off x="8432800" y="2247900"/>
            <a:ext cx="28448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432800" y="2489200"/>
            <a:ext cx="812800" cy="812800"/>
          </a:xfrm>
          <a:prstGeom prst="roundRect">
            <a:avLst>
              <a:gd name="adj" fmla="val 1875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769600" y="2527300"/>
            <a:ext cx="508000" cy="271780"/>
          </a:xfrm>
          <a:prstGeom prst="rect">
            <a:avLst/>
          </a:prstGeom>
          <a:noFill/>
        </p:spPr>
        <p:txBody>
          <a:bodyPr wrap="none" lIns="0" rIns="0" tIns="0" bIns="0" anchor="t">
            <a:noAutofit/>
          </a:bodyPr>
          <a:lstStyle/>
          <a:p>
            <a:pPr algn="r">
              <a:lnSpc>
                <a:spcPts val="1839"/>
              </a:lnSpc>
              <a:spcBef>
                <a:spcPts val="0"/>
              </a:spcBef>
              <a:spcAft>
                <a:spcPts val="0"/>
              </a:spcAft>
            </a:pPr>
            <a:r>
              <a:rPr sz="1600" b="1">
                <a:solidFill>
                  <a:srgbClr val="5D6F82"/>
                </a:solidFill>
                <a:latin typeface="Arial"/>
              </a:rPr>
              <a:t>03</a:t>
            </a:r>
          </a:p>
        </p:txBody>
      </p:sp>
      <p:sp>
        <p:nvSpPr>
          <p:cNvPr id="31" name="TextBox 30"/>
          <p:cNvSpPr txBox="1"/>
          <p:nvPr/>
        </p:nvSpPr>
        <p:spPr>
          <a:xfrm>
            <a:off x="8432800" y="3505200"/>
            <a:ext cx="2844800" cy="708660"/>
          </a:xfrm>
          <a:prstGeom prst="rect">
            <a:avLst/>
          </a:prstGeom>
          <a:noFill/>
        </p:spPr>
        <p:txBody>
          <a:bodyPr wrap="none" lIns="0" rIns="0" tIns="0" bIns="0" anchor="t">
            <a:noAutofit/>
          </a:bodyPr>
          <a:lstStyle/>
          <a:p>
            <a:pPr algn="l">
              <a:lnSpc>
                <a:spcPts val="2640"/>
              </a:lnSpc>
              <a:spcBef>
                <a:spcPts val="0"/>
              </a:spcBef>
              <a:spcAft>
                <a:spcPts val="0"/>
              </a:spcAft>
            </a:pPr>
            <a:r>
              <a:rPr sz="2400" b="1">
                <a:solidFill>
                  <a:srgbClr val="142338"/>
                </a:solidFill>
                <a:latin typeface="Arial"/>
              </a:rPr>
              <a:t>Do real</a:t>
            </a:r>
          </a:p>
          <a:p>
            <a:pPr algn="l">
              <a:lnSpc>
                <a:spcPts val="2640"/>
              </a:lnSpc>
              <a:spcBef>
                <a:spcPts val="0"/>
              </a:spcBef>
              <a:spcAft>
                <a:spcPts val="0"/>
              </a:spcAft>
            </a:pPr>
            <a:r>
              <a:rPr sz="2400" b="1">
                <a:solidFill>
                  <a:srgbClr val="142338"/>
                </a:solidFill>
                <a:latin typeface="Arial"/>
              </a:rPr>
              <a:t>requests succeed?</a:t>
            </a:r>
          </a:p>
        </p:txBody>
      </p:sp>
      <p:cxnSp>
        <p:nvCxnSpPr>
          <p:cNvPr id="32" name="Connector 31"/>
          <p:cNvCxnSpPr/>
          <p:nvPr/>
        </p:nvCxnSpPr>
        <p:spPr>
          <a:xfrm>
            <a:off x="8432800" y="4305300"/>
            <a:ext cx="2844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8432800" y="4521200"/>
            <a:ext cx="2844800" cy="904875"/>
          </a:xfrm>
          <a:prstGeom prst="rect">
            <a:avLst/>
          </a:prstGeom>
          <a:noFill/>
        </p:spPr>
        <p:txBody>
          <a:bodyPr wrap="none" lIns="0" rIns="0" tIns="0" bIns="0" anchor="t">
            <a:noAutofit/>
          </a:bodyPr>
          <a:lstStyle/>
          <a:p>
            <a:pPr algn="l">
              <a:lnSpc>
                <a:spcPts val="2275"/>
              </a:lnSpc>
              <a:spcBef>
                <a:spcPts val="0"/>
              </a:spcBef>
              <a:spcAft>
                <a:spcPts val="0"/>
              </a:spcAft>
            </a:pPr>
            <a:r>
              <a:rPr sz="1750" b="0">
                <a:solidFill>
                  <a:srgbClr val="5D6F82"/>
                </a:solidFill>
                <a:latin typeface="Arial"/>
              </a:rPr>
              <a:t>Check the DNS answer.</a:t>
            </a:r>
          </a:p>
          <a:p>
            <a:pPr algn="l">
              <a:lnSpc>
                <a:spcPts val="2275"/>
              </a:lnSpc>
              <a:spcBef>
                <a:spcPts val="0"/>
              </a:spcBef>
              <a:spcAft>
                <a:spcPts val="0"/>
              </a:spcAft>
            </a:pPr>
            <a:r>
              <a:rPr sz="1750" b="0">
                <a:solidFill>
                  <a:srgbClr val="5D6F82"/>
                </a:solidFill>
                <a:latin typeface="Arial"/>
              </a:rPr>
              <a:t>Send a real request.</a:t>
            </a:r>
          </a:p>
          <a:p>
            <a:pPr algn="l">
              <a:lnSpc>
                <a:spcPts val="2275"/>
              </a:lnSpc>
              <a:spcBef>
                <a:spcPts val="0"/>
              </a:spcBef>
              <a:spcAft>
                <a:spcPts val="0"/>
              </a:spcAft>
            </a:pPr>
            <a:r>
              <a:rPr sz="1750" b="0">
                <a:solidFill>
                  <a:srgbClr val="5D6F82"/>
                </a:solidFill>
                <a:latin typeface="Arial"/>
              </a:rPr>
              <a:t>Confirm the right response.</a:t>
            </a:r>
          </a:p>
        </p:txBody>
      </p:sp>
      <p:cxnSp>
        <p:nvCxnSpPr>
          <p:cNvPr id="34" name="Connector 33"/>
          <p:cNvCxnSpPr/>
          <p:nvPr/>
        </p:nvCxnSpPr>
        <p:spPr>
          <a:xfrm>
            <a:off x="1066800" y="2717800"/>
            <a:ext cx="508000" cy="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1186180" y="2672080"/>
            <a:ext cx="91440" cy="91440"/>
          </a:xfrm>
          <a:prstGeom prst="ellipse">
            <a:avLst/>
          </a:prstGeom>
          <a:solidFill>
            <a:srgbClr val="EAF0FB"/>
          </a:solidFill>
          <a:ln w="228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1066800" y="2895600"/>
            <a:ext cx="508000" cy="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1389380" y="2849880"/>
            <a:ext cx="91440" cy="91440"/>
          </a:xfrm>
          <a:prstGeom prst="ellipse">
            <a:avLst/>
          </a:prstGeom>
          <a:solidFill>
            <a:srgbClr val="EAF0FB"/>
          </a:solidFill>
          <a:ln w="228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1066800" y="3073400"/>
            <a:ext cx="508000" cy="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1224280" y="3027680"/>
            <a:ext cx="91440" cy="91440"/>
          </a:xfrm>
          <a:prstGeom prst="ellipse">
            <a:avLst/>
          </a:prstGeom>
          <a:solidFill>
            <a:srgbClr val="EAF0FB"/>
          </a:solidFill>
          <a:ln w="228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813300" y="2692400"/>
            <a:ext cx="533400" cy="406400"/>
          </a:xfrm>
          <a:prstGeom prst="roundRect">
            <a:avLst>
              <a:gd name="adj" fmla="val 12500"/>
            </a:avLst>
          </a:prstGeom>
          <a:solidFill>
            <a:srgbClr val="E8F4F3"/>
          </a:solidFill>
          <a:ln w="228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4914900" y="2806700"/>
            <a:ext cx="76200" cy="7620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4914900" y="2882900"/>
            <a:ext cx="76200" cy="7620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5080000" y="2959100"/>
            <a:ext cx="165100" cy="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024046" y="2740495"/>
            <a:ext cx="24125" cy="34455"/>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9048171" y="2774950"/>
            <a:ext cx="17776" cy="3812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9065947" y="2813070"/>
            <a:ext cx="10887" cy="40628"/>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9076834" y="2853698"/>
            <a:ext cx="3666" cy="41902"/>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9076834" y="2895600"/>
            <a:ext cx="3666" cy="41901"/>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9065947" y="2937501"/>
            <a:ext cx="10887" cy="40628"/>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a:off x="9048171" y="2978129"/>
            <a:ext cx="17776" cy="38121"/>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9024046" y="3016250"/>
            <a:ext cx="24125" cy="34454"/>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8994304" y="3050704"/>
            <a:ext cx="29742" cy="29742"/>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8959850" y="3080446"/>
            <a:ext cx="34454" cy="24125"/>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8921729" y="3104571"/>
            <a:ext cx="38121" cy="17776"/>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8881101" y="3122347"/>
            <a:ext cx="40628" cy="10887"/>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8839200" y="3133234"/>
            <a:ext cx="41901" cy="3666"/>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8797298" y="3133234"/>
            <a:ext cx="41902" cy="3666"/>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8756670" y="3122347"/>
            <a:ext cx="40628" cy="10887"/>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8718550" y="3104571"/>
            <a:ext cx="38120" cy="17776"/>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8684095" y="3080446"/>
            <a:ext cx="34455" cy="24125"/>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8654353" y="3050704"/>
            <a:ext cx="29742" cy="29742"/>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8630228" y="3016250"/>
            <a:ext cx="24125" cy="34454"/>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8612452" y="2978129"/>
            <a:ext cx="17776" cy="38121"/>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8601565" y="2937501"/>
            <a:ext cx="10887" cy="40628"/>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8597900" y="2895600"/>
            <a:ext cx="3665" cy="41901"/>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597900" y="2853698"/>
            <a:ext cx="3665" cy="41902"/>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8601565" y="2813070"/>
            <a:ext cx="10887" cy="40628"/>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8612452" y="2774950"/>
            <a:ext cx="17776" cy="3812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8630228" y="2740495"/>
            <a:ext cx="24125" cy="34455"/>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8654353" y="2710753"/>
            <a:ext cx="29742" cy="29742"/>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8684095" y="2686628"/>
            <a:ext cx="34455" cy="24125"/>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8718550" y="2668852"/>
            <a:ext cx="38120" cy="17776"/>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8756670" y="2657965"/>
            <a:ext cx="40628" cy="10887"/>
          </a:xfrm>
          <a:prstGeom prst="line">
            <a:avLst/>
          </a:prstGeom>
          <a:ln w="2286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8750300" y="2882900"/>
            <a:ext cx="63500" cy="63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8813800" y="2819400"/>
            <a:ext cx="127000" cy="1270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76" name="Rounded Rectangle 75"/>
          <p:cNvSpPr/>
          <p:nvPr/>
        </p:nvSpPr>
        <p:spPr>
          <a:xfrm>
            <a:off x="609600" y="5791200"/>
            <a:ext cx="10972800" cy="482600"/>
          </a:xfrm>
          <a:prstGeom prst="roundRect">
            <a:avLst>
              <a:gd name="adj" fmla="val 1578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12800" y="5892800"/>
            <a:ext cx="105664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Prove recovery with a successful application request.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CONTROL · DECISION MODEL</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09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Health informs traffic steering</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Readiness and strategy shape the DNS answer.</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cxnSp>
        <p:nvCxnSpPr>
          <p:cNvPr id="10" name="Connector 9"/>
          <p:cNvCxnSpPr/>
          <p:nvPr/>
        </p:nvCxnSpPr>
        <p:spPr>
          <a:xfrm>
            <a:off x="3962400" y="2971800"/>
            <a:ext cx="482600" cy="0"/>
          </a:xfrm>
          <a:prstGeom prst="line">
            <a:avLst/>
          </a:prstGeom>
          <a:ln w="22860">
            <a:solidFill>
              <a:srgbClr val="78A5F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4445000" y="2971800"/>
            <a:ext cx="0" cy="571500"/>
          </a:xfrm>
          <a:prstGeom prst="line">
            <a:avLst/>
          </a:prstGeom>
          <a:ln w="22860">
            <a:solidFill>
              <a:srgbClr val="78A5F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445000" y="3543300"/>
            <a:ext cx="609600" cy="0"/>
          </a:xfrm>
          <a:prstGeom prst="line">
            <a:avLst/>
          </a:prstGeom>
          <a:ln w="2286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7747000" y="2971800"/>
            <a:ext cx="482600" cy="0"/>
          </a:xfrm>
          <a:prstGeom prst="line">
            <a:avLst/>
          </a:prstGeom>
          <a:ln w="22860">
            <a:solidFill>
              <a:srgbClr val="6DD3C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747000" y="2971800"/>
            <a:ext cx="0" cy="571500"/>
          </a:xfrm>
          <a:prstGeom prst="line">
            <a:avLst/>
          </a:prstGeom>
          <a:ln w="22860">
            <a:solidFill>
              <a:srgbClr val="6DD3C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7137400" y="3543300"/>
            <a:ext cx="609600" cy="0"/>
          </a:xfrm>
          <a:prstGeom prst="line">
            <a:avLst/>
          </a:prstGeom>
          <a:ln w="2286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962400" y="4775200"/>
            <a:ext cx="482600" cy="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4445000" y="4254500"/>
            <a:ext cx="0" cy="52070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445000" y="4254500"/>
            <a:ext cx="609600" cy="0"/>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7747000" y="4775200"/>
            <a:ext cx="482600" cy="0"/>
          </a:xfrm>
          <a:prstGeom prst="line">
            <a:avLst/>
          </a:prstGeom>
          <a:ln w="22860">
            <a:solidFill>
              <a:srgbClr val="E5BD77"/>
            </a:solidFill>
            <a:prstDash val="dash"/>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7747000" y="4254500"/>
            <a:ext cx="0" cy="520700"/>
          </a:xfrm>
          <a:prstGeom prst="line">
            <a:avLst/>
          </a:prstGeom>
          <a:ln w="22860">
            <a:solidFill>
              <a:srgbClr val="E5BD77"/>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137400" y="4254500"/>
            <a:ext cx="609600" cy="0"/>
          </a:xfrm>
          <a:prstGeom prst="line">
            <a:avLst/>
          </a:prstGeom>
          <a:ln w="22860">
            <a:solidFill>
              <a:srgbClr val="E5BD77"/>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09600" y="2298700"/>
            <a:ext cx="3352800" cy="1447800"/>
          </a:xfrm>
          <a:prstGeom prst="roundRect">
            <a:avLst>
              <a:gd name="adj" fmla="val 8771"/>
            </a:avLst>
          </a:prstGeom>
          <a:solidFill>
            <a:srgbClr val="0A1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09600" y="2247900"/>
            <a:ext cx="3352800" cy="1447800"/>
          </a:xfrm>
          <a:prstGeom prst="roundRect">
            <a:avLst>
              <a:gd name="adj" fmla="val 8771"/>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838200" y="2260600"/>
            <a:ext cx="762000" cy="0"/>
          </a:xfrm>
          <a:prstGeom prst="line">
            <a:avLst/>
          </a:prstGeom>
          <a:ln w="31750">
            <a:solidFill>
              <a:srgbClr val="78A5FA"/>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397000" y="2501900"/>
            <a:ext cx="2286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78A5FA"/>
                </a:solidFill>
                <a:latin typeface="Arial"/>
              </a:rPr>
              <a:t>WHERE</a:t>
            </a:r>
          </a:p>
        </p:txBody>
      </p:sp>
      <p:sp>
        <p:nvSpPr>
          <p:cNvPr id="26" name="TextBox 25"/>
          <p:cNvSpPr txBox="1"/>
          <p:nvPr/>
        </p:nvSpPr>
        <p:spPr>
          <a:xfrm>
            <a:off x="838200" y="2946400"/>
            <a:ext cx="2895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Eligible clusters</a:t>
            </a:r>
          </a:p>
        </p:txBody>
      </p:sp>
      <p:sp>
        <p:nvSpPr>
          <p:cNvPr id="27" name="TextBox 26"/>
          <p:cNvSpPr txBox="1"/>
          <p:nvPr/>
        </p:nvSpPr>
        <p:spPr>
          <a:xfrm>
            <a:off x="838200" y="3352800"/>
            <a:ext cx="28956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B8C8D9"/>
                </a:solidFill>
                <a:latin typeface="Arial"/>
              </a:rPr>
              <a:t>Which clusters may serve traffic?</a:t>
            </a:r>
          </a:p>
        </p:txBody>
      </p:sp>
      <p:sp>
        <p:nvSpPr>
          <p:cNvPr id="28" name="Rounded Rectangle 27"/>
          <p:cNvSpPr/>
          <p:nvPr/>
        </p:nvSpPr>
        <p:spPr>
          <a:xfrm>
            <a:off x="8229600" y="2298700"/>
            <a:ext cx="3352800" cy="1447800"/>
          </a:xfrm>
          <a:prstGeom prst="roundRect">
            <a:avLst>
              <a:gd name="adj" fmla="val 8771"/>
            </a:avLst>
          </a:prstGeom>
          <a:solidFill>
            <a:srgbClr val="0A1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229600" y="2247900"/>
            <a:ext cx="3352800" cy="1447800"/>
          </a:xfrm>
          <a:prstGeom prst="roundRect">
            <a:avLst>
              <a:gd name="adj" fmla="val 8771"/>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8458200" y="2260600"/>
            <a:ext cx="762000" cy="0"/>
          </a:xfrm>
          <a:prstGeom prst="line">
            <a:avLst/>
          </a:prstGeom>
          <a:ln w="31750">
            <a:solidFill>
              <a:srgbClr val="6DD3C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017000" y="2501900"/>
            <a:ext cx="2286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6DD3CE"/>
                </a:solidFill>
                <a:latin typeface="Arial"/>
              </a:rPr>
              <a:t>WHEN</a:t>
            </a:r>
          </a:p>
        </p:txBody>
      </p:sp>
      <p:sp>
        <p:nvSpPr>
          <p:cNvPr id="32" name="TextBox 31"/>
          <p:cNvSpPr txBox="1"/>
          <p:nvPr/>
        </p:nvSpPr>
        <p:spPr>
          <a:xfrm>
            <a:off x="8458200" y="2946400"/>
            <a:ext cx="2895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Honest readiness</a:t>
            </a:r>
          </a:p>
        </p:txBody>
      </p:sp>
      <p:sp>
        <p:nvSpPr>
          <p:cNvPr id="33" name="TextBox 32"/>
          <p:cNvSpPr txBox="1"/>
          <p:nvPr/>
        </p:nvSpPr>
        <p:spPr>
          <a:xfrm>
            <a:off x="8458200" y="3352800"/>
            <a:ext cx="28956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B8C8D9"/>
                </a:solidFill>
                <a:latin typeface="Arial"/>
              </a:rPr>
              <a:t>When is the app ready?</a:t>
            </a:r>
          </a:p>
        </p:txBody>
      </p:sp>
      <p:sp>
        <p:nvSpPr>
          <p:cNvPr id="34" name="Rounded Rectangle 33"/>
          <p:cNvSpPr/>
          <p:nvPr/>
        </p:nvSpPr>
        <p:spPr>
          <a:xfrm>
            <a:off x="609600" y="4102100"/>
            <a:ext cx="3352800" cy="1447800"/>
          </a:xfrm>
          <a:prstGeom prst="roundRect">
            <a:avLst>
              <a:gd name="adj" fmla="val 8771"/>
            </a:avLst>
          </a:prstGeom>
          <a:solidFill>
            <a:srgbClr val="0A1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09600" y="4051300"/>
            <a:ext cx="3352800" cy="1447800"/>
          </a:xfrm>
          <a:prstGeom prst="roundRect">
            <a:avLst>
              <a:gd name="adj" fmla="val 8771"/>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838200" y="4064000"/>
            <a:ext cx="762000" cy="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1397000" y="4305300"/>
            <a:ext cx="2286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HOW</a:t>
            </a:r>
          </a:p>
        </p:txBody>
      </p:sp>
      <p:sp>
        <p:nvSpPr>
          <p:cNvPr id="38" name="TextBox 37"/>
          <p:cNvSpPr txBox="1"/>
          <p:nvPr/>
        </p:nvSpPr>
        <p:spPr>
          <a:xfrm>
            <a:off x="838200" y="4749800"/>
            <a:ext cx="2895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Traffic strategy</a:t>
            </a:r>
          </a:p>
        </p:txBody>
      </p:sp>
      <p:sp>
        <p:nvSpPr>
          <p:cNvPr id="39" name="TextBox 38"/>
          <p:cNvSpPr txBox="1"/>
          <p:nvPr/>
        </p:nvSpPr>
        <p:spPr>
          <a:xfrm>
            <a:off x="838200" y="5156200"/>
            <a:ext cx="28956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B8C8D9"/>
                </a:solidFill>
                <a:latin typeface="Arial"/>
              </a:rPr>
              <a:t>Prefer primary or share traffic</a:t>
            </a:r>
          </a:p>
        </p:txBody>
      </p:sp>
      <p:sp>
        <p:nvSpPr>
          <p:cNvPr id="40" name="Rounded Rectangle 39"/>
          <p:cNvSpPr/>
          <p:nvPr/>
        </p:nvSpPr>
        <p:spPr>
          <a:xfrm>
            <a:off x="8229600" y="4102100"/>
            <a:ext cx="3352800" cy="1447800"/>
          </a:xfrm>
          <a:prstGeom prst="roundRect">
            <a:avLst>
              <a:gd name="adj" fmla="val 8771"/>
            </a:avLst>
          </a:prstGeom>
          <a:solidFill>
            <a:srgbClr val="0A1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229600" y="4051300"/>
            <a:ext cx="3352800" cy="1447800"/>
          </a:xfrm>
          <a:prstGeom prst="roundRect">
            <a:avLst>
              <a:gd name="adj" fmla="val 8771"/>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8458200" y="4064000"/>
            <a:ext cx="762000" cy="0"/>
          </a:xfrm>
          <a:prstGeom prst="line">
            <a:avLst/>
          </a:prstGeom>
          <a:ln w="31750">
            <a:solidFill>
              <a:srgbClr val="E5BD77"/>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017000" y="4305300"/>
            <a:ext cx="2286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E5BD77"/>
                </a:solidFill>
                <a:latin typeface="Arial"/>
              </a:rPr>
              <a:t>WHO</a:t>
            </a:r>
          </a:p>
        </p:txBody>
      </p:sp>
      <p:sp>
        <p:nvSpPr>
          <p:cNvPr id="44" name="TextBox 43"/>
          <p:cNvSpPr txBox="1"/>
          <p:nvPr/>
        </p:nvSpPr>
        <p:spPr>
          <a:xfrm>
            <a:off x="8458200" y="4749800"/>
            <a:ext cx="2895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Change authority</a:t>
            </a:r>
          </a:p>
        </p:txBody>
      </p:sp>
      <p:sp>
        <p:nvSpPr>
          <p:cNvPr id="45" name="TextBox 44"/>
          <p:cNvSpPr txBox="1"/>
          <p:nvPr/>
        </p:nvSpPr>
        <p:spPr>
          <a:xfrm>
            <a:off x="8458200" y="5156200"/>
            <a:ext cx="28956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B8C8D9"/>
                </a:solidFill>
                <a:latin typeface="Arial"/>
              </a:rPr>
              <a:t>Who can change the rules?</a:t>
            </a:r>
          </a:p>
        </p:txBody>
      </p:sp>
      <p:sp>
        <p:nvSpPr>
          <p:cNvPr id="46" name="Oval 45"/>
          <p:cNvSpPr/>
          <p:nvPr/>
        </p:nvSpPr>
        <p:spPr>
          <a:xfrm>
            <a:off x="927100" y="2451100"/>
            <a:ext cx="228600" cy="228600"/>
          </a:xfrm>
          <a:prstGeom prst="ellipse">
            <a:avLst/>
          </a:prstGeom>
          <a:solidFill>
            <a:srgbClr val="1A3047"/>
          </a:solidFill>
          <a:ln w="22860">
            <a:solidFill>
              <a:srgbClr val="78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939800" y="2628900"/>
            <a:ext cx="101600" cy="139700"/>
          </a:xfrm>
          <a:prstGeom prst="line">
            <a:avLst/>
          </a:prstGeom>
          <a:ln w="22860">
            <a:solidFill>
              <a:srgbClr val="78A5F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041400" y="2628900"/>
            <a:ext cx="101600" cy="139700"/>
          </a:xfrm>
          <a:prstGeom prst="line">
            <a:avLst/>
          </a:prstGeom>
          <a:ln w="22860">
            <a:solidFill>
              <a:srgbClr val="78A5FA"/>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1008380" y="2532380"/>
            <a:ext cx="66040" cy="66040"/>
          </a:xfrm>
          <a:prstGeom prst="ellipse">
            <a:avLst/>
          </a:prstGeom>
          <a:solidFill>
            <a:srgbClr val="78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8445500" y="2590800"/>
            <a:ext cx="88900" cy="0"/>
          </a:xfrm>
          <a:prstGeom prst="line">
            <a:avLst/>
          </a:prstGeom>
          <a:ln w="22860">
            <a:solidFill>
              <a:srgbClr val="6DD3CE"/>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8534400" y="2476500"/>
            <a:ext cx="63500" cy="114300"/>
          </a:xfrm>
          <a:prstGeom prst="line">
            <a:avLst/>
          </a:prstGeom>
          <a:ln w="22860">
            <a:solidFill>
              <a:srgbClr val="6DD3CE"/>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597900" y="2476500"/>
            <a:ext cx="76200" cy="241300"/>
          </a:xfrm>
          <a:prstGeom prst="line">
            <a:avLst/>
          </a:prstGeom>
          <a:ln w="22860">
            <a:solidFill>
              <a:srgbClr val="6DD3CE"/>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8674100" y="2590800"/>
            <a:ext cx="63500" cy="127000"/>
          </a:xfrm>
          <a:prstGeom prst="line">
            <a:avLst/>
          </a:prstGeom>
          <a:ln w="22860">
            <a:solidFill>
              <a:srgbClr val="6DD3CE"/>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737600" y="2590800"/>
            <a:ext cx="127000" cy="0"/>
          </a:xfrm>
          <a:prstGeom prst="line">
            <a:avLst/>
          </a:prstGeom>
          <a:ln w="22860">
            <a:solidFill>
              <a:srgbClr val="6DD3CE"/>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825500" y="4419600"/>
            <a:ext cx="177800" cy="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1003300" y="4305300"/>
            <a:ext cx="0" cy="11430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003300" y="4305300"/>
            <a:ext cx="215900" cy="0"/>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003300" y="4419600"/>
            <a:ext cx="0" cy="12700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003300" y="4546600"/>
            <a:ext cx="215900" cy="0"/>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789940" y="4384040"/>
            <a:ext cx="71120" cy="71120"/>
          </a:xfrm>
          <a:prstGeom prst="ellipse">
            <a:avLst/>
          </a:prstGeom>
          <a:solidFill>
            <a:srgbClr val="F79B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flipV="1">
            <a:off x="8559800" y="4368800"/>
            <a:ext cx="0" cy="88900"/>
          </a:xfrm>
          <a:prstGeom prst="line">
            <a:avLst/>
          </a:prstGeom>
          <a:ln w="22860">
            <a:solidFill>
              <a:srgbClr val="E5BD77"/>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559800" y="4368800"/>
            <a:ext cx="0" cy="0"/>
          </a:xfrm>
          <a:prstGeom prst="line">
            <a:avLst/>
          </a:prstGeom>
          <a:ln w="22860">
            <a:solidFill>
              <a:srgbClr val="E5BD77"/>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559800" y="4348978"/>
            <a:ext cx="1952" cy="19822"/>
          </a:xfrm>
          <a:prstGeom prst="line">
            <a:avLst/>
          </a:prstGeom>
          <a:ln w="22860">
            <a:solidFill>
              <a:srgbClr val="E5BD77"/>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561752" y="4329919"/>
            <a:ext cx="5781" cy="19059"/>
          </a:xfrm>
          <a:prstGeom prst="line">
            <a:avLst/>
          </a:prstGeom>
          <a:ln w="22860">
            <a:solidFill>
              <a:srgbClr val="E5BD77"/>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8567533" y="4312354"/>
            <a:ext cx="9389" cy="17565"/>
          </a:xfrm>
          <a:prstGeom prst="line">
            <a:avLst/>
          </a:prstGeom>
          <a:ln w="22860">
            <a:solidFill>
              <a:srgbClr val="E5BD77"/>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576922" y="4296957"/>
            <a:ext cx="12635" cy="15397"/>
          </a:xfrm>
          <a:prstGeom prst="line">
            <a:avLst/>
          </a:prstGeom>
          <a:ln w="22860">
            <a:solidFill>
              <a:srgbClr val="E5BD77"/>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8589557" y="4284322"/>
            <a:ext cx="15397" cy="12635"/>
          </a:xfrm>
          <a:prstGeom prst="line">
            <a:avLst/>
          </a:prstGeom>
          <a:ln w="22860">
            <a:solidFill>
              <a:srgbClr val="E5BD77"/>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8604954" y="4274933"/>
            <a:ext cx="17565" cy="9389"/>
          </a:xfrm>
          <a:prstGeom prst="line">
            <a:avLst/>
          </a:prstGeom>
          <a:ln w="22860">
            <a:solidFill>
              <a:srgbClr val="E5BD77"/>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8622519" y="4269152"/>
            <a:ext cx="19059" cy="5781"/>
          </a:xfrm>
          <a:prstGeom prst="line">
            <a:avLst/>
          </a:prstGeom>
          <a:ln w="22860">
            <a:solidFill>
              <a:srgbClr val="E5BD77"/>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8641578" y="4267200"/>
            <a:ext cx="19822" cy="1952"/>
          </a:xfrm>
          <a:prstGeom prst="line">
            <a:avLst/>
          </a:prstGeom>
          <a:ln w="22860">
            <a:solidFill>
              <a:srgbClr val="E5BD77"/>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8661400" y="4267200"/>
            <a:ext cx="19821" cy="1952"/>
          </a:xfrm>
          <a:prstGeom prst="line">
            <a:avLst/>
          </a:prstGeom>
          <a:ln w="22860">
            <a:solidFill>
              <a:srgbClr val="E5BD77"/>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8681221" y="4269152"/>
            <a:ext cx="19059" cy="5781"/>
          </a:xfrm>
          <a:prstGeom prst="line">
            <a:avLst/>
          </a:prstGeom>
          <a:ln w="22860">
            <a:solidFill>
              <a:srgbClr val="E5BD77"/>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8700280" y="4274933"/>
            <a:ext cx="17565" cy="9389"/>
          </a:xfrm>
          <a:prstGeom prst="line">
            <a:avLst/>
          </a:prstGeom>
          <a:ln w="22860">
            <a:solidFill>
              <a:srgbClr val="E5BD77"/>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8717845" y="4284322"/>
            <a:ext cx="15397" cy="12635"/>
          </a:xfrm>
          <a:prstGeom prst="line">
            <a:avLst/>
          </a:prstGeom>
          <a:ln w="22860">
            <a:solidFill>
              <a:srgbClr val="E5BD77"/>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8733242" y="4296957"/>
            <a:ext cx="12635" cy="15397"/>
          </a:xfrm>
          <a:prstGeom prst="line">
            <a:avLst/>
          </a:prstGeom>
          <a:ln w="22860">
            <a:solidFill>
              <a:srgbClr val="E5BD77"/>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8745877" y="4312354"/>
            <a:ext cx="9389" cy="17565"/>
          </a:xfrm>
          <a:prstGeom prst="line">
            <a:avLst/>
          </a:prstGeom>
          <a:ln w="22860">
            <a:solidFill>
              <a:srgbClr val="E5BD77"/>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8755266" y="4329919"/>
            <a:ext cx="5781" cy="19059"/>
          </a:xfrm>
          <a:prstGeom prst="line">
            <a:avLst/>
          </a:prstGeom>
          <a:ln w="22860">
            <a:solidFill>
              <a:srgbClr val="E5BD77"/>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8761047" y="4348978"/>
            <a:ext cx="1953" cy="19822"/>
          </a:xfrm>
          <a:prstGeom prst="line">
            <a:avLst/>
          </a:prstGeom>
          <a:ln w="22860">
            <a:solidFill>
              <a:srgbClr val="E5BD77"/>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8763000" y="4368800"/>
            <a:ext cx="0" cy="88900"/>
          </a:xfrm>
          <a:prstGeom prst="line">
            <a:avLst/>
          </a:prstGeom>
          <a:ln w="22860">
            <a:solidFill>
              <a:srgbClr val="E5BD77"/>
            </a:solidFill>
          </a:ln>
        </p:spPr>
        <p:style>
          <a:lnRef idx="2">
            <a:schemeClr val="accent1"/>
          </a:lnRef>
          <a:fillRef idx="0">
            <a:schemeClr val="accent1"/>
          </a:fillRef>
          <a:effectRef idx="1">
            <a:schemeClr val="accent1"/>
          </a:effectRef>
          <a:fontRef idx="minor">
            <a:schemeClr val="tx1"/>
          </a:fontRef>
        </p:style>
      </p:cxnSp>
      <p:sp>
        <p:nvSpPr>
          <p:cNvPr id="80" name="Rounded Rectangle 79"/>
          <p:cNvSpPr/>
          <p:nvPr/>
        </p:nvSpPr>
        <p:spPr>
          <a:xfrm>
            <a:off x="8496300" y="4419600"/>
            <a:ext cx="330200" cy="241300"/>
          </a:xfrm>
          <a:prstGeom prst="roundRect">
            <a:avLst>
              <a:gd name="adj" fmla="val 15789"/>
            </a:avLst>
          </a:prstGeom>
          <a:solidFill>
            <a:srgbClr val="1A3047"/>
          </a:solidFill>
          <a:ln w="22860">
            <a:solidFill>
              <a:srgbClr val="E5BD7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8636000" y="4483100"/>
            <a:ext cx="50800" cy="50800"/>
          </a:xfrm>
          <a:prstGeom prst="ellipse">
            <a:avLst/>
          </a:prstGeom>
          <a:solidFill>
            <a:srgbClr val="E5B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2" name="Connector 81"/>
          <p:cNvCxnSpPr/>
          <p:nvPr/>
        </p:nvCxnSpPr>
        <p:spPr>
          <a:xfrm>
            <a:off x="8661400" y="4533900"/>
            <a:ext cx="0" cy="50800"/>
          </a:xfrm>
          <a:prstGeom prst="line">
            <a:avLst/>
          </a:prstGeom>
          <a:ln w="22860">
            <a:solidFill>
              <a:srgbClr val="E5BD77"/>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6096000" y="2705100"/>
            <a:ext cx="0" cy="152400"/>
          </a:xfrm>
          <a:prstGeom prst="line">
            <a:avLst/>
          </a:prstGeom>
          <a:ln w="2540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6096000" y="4940300"/>
            <a:ext cx="0" cy="228600"/>
          </a:xfrm>
          <a:prstGeom prst="line">
            <a:avLst/>
          </a:prstGeom>
          <a:ln w="2540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5054600" y="2857500"/>
            <a:ext cx="2082800" cy="2082800"/>
          </a:xfrm>
          <a:prstGeom prst="ellipse">
            <a:avLst/>
          </a:prstGeom>
          <a:solidFill>
            <a:srgbClr val="122B43"/>
          </a:solidFill>
          <a:ln w="12700">
            <a:solidFill>
              <a:srgbClr val="2346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68900" y="2971800"/>
            <a:ext cx="1854200" cy="1854200"/>
          </a:xfrm>
          <a:prstGeom prst="ellipse">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5283200" y="34544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B8C8D9"/>
                </a:solidFill>
                <a:latin typeface="Arial"/>
              </a:rPr>
              <a:t>TRAFFIC</a:t>
            </a:r>
          </a:p>
        </p:txBody>
      </p:sp>
      <p:sp>
        <p:nvSpPr>
          <p:cNvPr id="88" name="TextBox 87"/>
          <p:cNvSpPr txBox="1"/>
          <p:nvPr/>
        </p:nvSpPr>
        <p:spPr>
          <a:xfrm>
            <a:off x="5156200" y="3822700"/>
            <a:ext cx="1879600" cy="388620"/>
          </a:xfrm>
          <a:prstGeom prst="rect">
            <a:avLst/>
          </a:prstGeom>
          <a:noFill/>
        </p:spPr>
        <p:txBody>
          <a:bodyPr wrap="none" lIns="0" rIns="0" tIns="0" bIns="0" anchor="t">
            <a:noAutofit/>
          </a:bodyPr>
          <a:lstStyle/>
          <a:p>
            <a:pPr algn="ctr">
              <a:lnSpc>
                <a:spcPts val="2760"/>
              </a:lnSpc>
              <a:spcBef>
                <a:spcPts val="0"/>
              </a:spcBef>
              <a:spcAft>
                <a:spcPts val="0"/>
              </a:spcAft>
            </a:pPr>
            <a:r>
              <a:rPr sz="2400" b="1">
                <a:solidFill>
                  <a:srgbClr val="FFFFFF"/>
                </a:solidFill>
                <a:latin typeface="Arial"/>
              </a:rPr>
              <a:t>STEERING</a:t>
            </a:r>
          </a:p>
        </p:txBody>
      </p:sp>
      <p:sp>
        <p:nvSpPr>
          <p:cNvPr id="89" name="TextBox 88"/>
          <p:cNvSpPr txBox="1"/>
          <p:nvPr/>
        </p:nvSpPr>
        <p:spPr>
          <a:xfrm>
            <a:off x="5257800" y="4343400"/>
            <a:ext cx="1676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6DD3CE"/>
                </a:solidFill>
                <a:latin typeface="Arial"/>
              </a:rPr>
              <a:t>Choose targets</a:t>
            </a:r>
          </a:p>
        </p:txBody>
      </p:sp>
      <p:sp>
        <p:nvSpPr>
          <p:cNvPr id="90" name="Rounded Rectangle 89"/>
          <p:cNvSpPr/>
          <p:nvPr/>
        </p:nvSpPr>
        <p:spPr>
          <a:xfrm>
            <a:off x="4902200" y="2146300"/>
            <a:ext cx="2387600" cy="558800"/>
          </a:xfrm>
          <a:prstGeom prst="roundRect">
            <a:avLst>
              <a:gd name="adj" fmla="val 18181"/>
            </a:avLst>
          </a:prstGeom>
          <a:solidFill>
            <a:srgbClr val="153B43"/>
          </a:solidFill>
          <a:ln w="12700">
            <a:solidFill>
              <a:srgbClr val="2F66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1" name="Connector 90"/>
          <p:cNvCxnSpPr/>
          <p:nvPr/>
        </p:nvCxnSpPr>
        <p:spPr>
          <a:xfrm>
            <a:off x="5080000" y="2438400"/>
            <a:ext cx="63500" cy="0"/>
          </a:xfrm>
          <a:prstGeom prst="line">
            <a:avLst/>
          </a:prstGeom>
          <a:ln w="22860">
            <a:solidFill>
              <a:srgbClr val="6DD3C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5143500" y="2324100"/>
            <a:ext cx="50800" cy="114300"/>
          </a:xfrm>
          <a:prstGeom prst="line">
            <a:avLst/>
          </a:prstGeom>
          <a:ln w="22860">
            <a:solidFill>
              <a:srgbClr val="6DD3CE"/>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5194300" y="2324100"/>
            <a:ext cx="63500" cy="203200"/>
          </a:xfrm>
          <a:prstGeom prst="line">
            <a:avLst/>
          </a:prstGeom>
          <a:ln w="22860">
            <a:solidFill>
              <a:srgbClr val="6DD3CE"/>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5257800" y="2438400"/>
            <a:ext cx="50800" cy="88900"/>
          </a:xfrm>
          <a:prstGeom prst="line">
            <a:avLst/>
          </a:prstGeom>
          <a:ln w="22860">
            <a:solidFill>
              <a:srgbClr val="6DD3CE"/>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5308600" y="2438400"/>
            <a:ext cx="63500" cy="0"/>
          </a:xfrm>
          <a:prstGeom prst="line">
            <a:avLst/>
          </a:prstGeom>
          <a:ln w="22860">
            <a:solidFill>
              <a:srgbClr val="6DD3CE"/>
            </a:solidFill>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5499100" y="2298700"/>
            <a:ext cx="16256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FFFFFF"/>
                </a:solidFill>
                <a:latin typeface="Arial"/>
              </a:rPr>
              <a:t>Health signal</a:t>
            </a:r>
          </a:p>
        </p:txBody>
      </p:sp>
      <p:sp>
        <p:nvSpPr>
          <p:cNvPr id="97" name="Rounded Rectangle 96"/>
          <p:cNvSpPr/>
          <p:nvPr/>
        </p:nvSpPr>
        <p:spPr>
          <a:xfrm>
            <a:off x="4902200" y="5168900"/>
            <a:ext cx="2387600" cy="457200"/>
          </a:xfrm>
          <a:prstGeom prst="roundRect">
            <a:avLst>
              <a:gd name="adj" fmla="val 22222"/>
            </a:avLst>
          </a:prstGeom>
          <a:solidFill>
            <a:srgbClr val="153B43"/>
          </a:solidFill>
          <a:ln w="12700">
            <a:solidFill>
              <a:srgbClr val="2F66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5080000" y="5270500"/>
            <a:ext cx="2032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6DD3CE"/>
                </a:solidFill>
                <a:latin typeface="Arial"/>
              </a:rPr>
              <a:t>DNS answer</a:t>
            </a:r>
          </a:p>
        </p:txBody>
      </p:sp>
      <p:sp>
        <p:nvSpPr>
          <p:cNvPr id="99" name="Rounded Rectangle 98"/>
          <p:cNvSpPr/>
          <p:nvPr/>
        </p:nvSpPr>
        <p:spPr>
          <a:xfrm>
            <a:off x="609600" y="5816600"/>
            <a:ext cx="10972800" cy="457200"/>
          </a:xfrm>
          <a:prstGeom prst="roundRect">
            <a:avLst>
              <a:gd name="adj" fmla="val 13888"/>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The same failure signal can lead to different traffic decisions.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REQUEST PATH</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10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DNS selects an address. The client connects.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413000"/>
            <a:ext cx="2286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9600" y="2413000"/>
            <a:ext cx="50800" cy="965200"/>
          </a:xfrm>
          <a:prstGeom prst="rect">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2578100"/>
            <a:ext cx="1905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Client</a:t>
            </a:r>
          </a:p>
        </p:txBody>
      </p:sp>
      <p:sp>
        <p:nvSpPr>
          <p:cNvPr id="12" name="Rounded Rectangle 11"/>
          <p:cNvSpPr/>
          <p:nvPr/>
        </p:nvSpPr>
        <p:spPr>
          <a:xfrm>
            <a:off x="4635500" y="2413000"/>
            <a:ext cx="2667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6355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38700" y="2578100"/>
            <a:ext cx="2286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Resolver</a:t>
            </a:r>
          </a:p>
        </p:txBody>
      </p:sp>
      <p:sp>
        <p:nvSpPr>
          <p:cNvPr id="15" name="TextBox 14"/>
          <p:cNvSpPr txBox="1"/>
          <p:nvPr/>
        </p:nvSpPr>
        <p:spPr>
          <a:xfrm>
            <a:off x="4838700" y="2946400"/>
            <a:ext cx="2286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Caches answers</a:t>
            </a:r>
          </a:p>
        </p:txBody>
      </p:sp>
      <p:sp>
        <p:nvSpPr>
          <p:cNvPr id="16" name="Rounded Rectangle 15"/>
          <p:cNvSpPr/>
          <p:nvPr/>
        </p:nvSpPr>
        <p:spPr>
          <a:xfrm>
            <a:off x="9042400" y="2413000"/>
            <a:ext cx="2540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424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2"/>
          <a:stretch>
            <a:fillRect/>
          </a:stretch>
        </p:blipFill>
        <p:spPr>
          <a:xfrm>
            <a:off x="9194800" y="2616200"/>
            <a:ext cx="558800" cy="558800"/>
          </a:xfrm>
          <a:prstGeom prst="rect">
            <a:avLst/>
          </a:prstGeom>
        </p:spPr>
      </p:pic>
      <p:sp>
        <p:nvSpPr>
          <p:cNvPr id="19" name="TextBox 18"/>
          <p:cNvSpPr txBox="1"/>
          <p:nvPr/>
        </p:nvSpPr>
        <p:spPr>
          <a:xfrm>
            <a:off x="9880600" y="2578100"/>
            <a:ext cx="1524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20" name="TextBox 19"/>
          <p:cNvSpPr txBox="1"/>
          <p:nvPr/>
        </p:nvSpPr>
        <p:spPr>
          <a:xfrm>
            <a:off x="9880600" y="2946400"/>
            <a:ext cx="152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a:t>
            </a:r>
          </a:p>
        </p:txBody>
      </p:sp>
      <p:cxnSp>
        <p:nvCxnSpPr>
          <p:cNvPr id="21" name="Connector 20"/>
          <p:cNvCxnSpPr/>
          <p:nvPr/>
        </p:nvCxnSpPr>
        <p:spPr>
          <a:xfrm>
            <a:off x="28956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3025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73025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8956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9718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6" name="TextBox 25"/>
          <p:cNvSpPr txBox="1"/>
          <p:nvPr/>
        </p:nvSpPr>
        <p:spPr>
          <a:xfrm>
            <a:off x="73406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7" name="TextBox 26"/>
          <p:cNvSpPr txBox="1"/>
          <p:nvPr/>
        </p:nvSpPr>
        <p:spPr>
          <a:xfrm>
            <a:off x="29972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8" name="TextBox 27"/>
          <p:cNvSpPr txBox="1"/>
          <p:nvPr/>
        </p:nvSpPr>
        <p:spPr>
          <a:xfrm>
            <a:off x="73660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9" name="Rounded Rectangle 28"/>
          <p:cNvSpPr/>
          <p:nvPr/>
        </p:nvSpPr>
        <p:spPr>
          <a:xfrm>
            <a:off x="8648700" y="4445000"/>
            <a:ext cx="2933700" cy="990600"/>
          </a:xfrm>
          <a:prstGeom prst="roundRect">
            <a:avLst>
              <a:gd name="adj" fmla="val 897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648700" y="4445000"/>
            <a:ext cx="50800" cy="9906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51900" y="4610100"/>
            <a:ext cx="25527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Selected cluster</a:t>
            </a:r>
          </a:p>
        </p:txBody>
      </p:sp>
      <p:sp>
        <p:nvSpPr>
          <p:cNvPr id="32" name="TextBox 31"/>
          <p:cNvSpPr txBox="1"/>
          <p:nvPr/>
        </p:nvSpPr>
        <p:spPr>
          <a:xfrm>
            <a:off x="8851900" y="4978400"/>
            <a:ext cx="25527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Gateway / Ingress</a:t>
            </a:r>
          </a:p>
        </p:txBody>
      </p:sp>
      <p:cxnSp>
        <p:nvCxnSpPr>
          <p:cNvPr id="33" name="Connector 32"/>
          <p:cNvCxnSpPr/>
          <p:nvPr/>
        </p:nvCxnSpPr>
        <p:spPr>
          <a:xfrm>
            <a:off x="1752600" y="3378200"/>
            <a:ext cx="0" cy="1574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752600" y="4953000"/>
            <a:ext cx="6896100" cy="0"/>
          </a:xfrm>
          <a:prstGeom prst="line">
            <a:avLst/>
          </a:prstGeom>
          <a:ln w="3810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429000" y="4495800"/>
            <a:ext cx="4572000" cy="388620"/>
          </a:xfrm>
          <a:prstGeom prst="rect">
            <a:avLst/>
          </a:prstGeom>
          <a:noFill/>
        </p:spPr>
        <p:txBody>
          <a:bodyPr wrap="none" lIns="0" rIns="0" tIns="0" bIns="0" anchor="t">
            <a:noAutofit/>
          </a:bodyPr>
          <a:lstStyle/>
          <a:p>
            <a:pPr algn="ctr">
              <a:lnSpc>
                <a:spcPts val="2760"/>
              </a:lnSpc>
              <a:spcBef>
                <a:spcPts val="0"/>
              </a:spcBef>
              <a:spcAft>
                <a:spcPts val="0"/>
              </a:spcAft>
            </a:pPr>
            <a:r>
              <a:rPr sz="2400" b="1">
                <a:solidFill>
                  <a:srgbClr val="CF0035"/>
                </a:solidFill>
                <a:latin typeface="Arial"/>
              </a:rPr>
              <a:t>Application connection</a:t>
            </a:r>
          </a:p>
        </p:txBody>
      </p:sp>
      <p:sp>
        <p:nvSpPr>
          <p:cNvPr id="36" name="Rounded Rectangle 35"/>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DNS is outside the application data path.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AVAILABILITY MODEL</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11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recovery is one part of availability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DNS failover, data recovery, and sessions need separate plans.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209800"/>
            <a:ext cx="70358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59000"/>
            <a:ext cx="7035800" cy="3429000"/>
          </a:xfrm>
          <a:prstGeom prst="roundRect">
            <a:avLst>
              <a:gd name="adj" fmla="val 370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2"/>
          <a:stretch>
            <a:fillRect/>
          </a:stretch>
        </p:blipFill>
        <p:spPr>
          <a:xfrm>
            <a:off x="863600" y="2367676"/>
            <a:ext cx="457200" cy="446247"/>
          </a:xfrm>
          <a:prstGeom prst="rect">
            <a:avLst/>
          </a:prstGeom>
        </p:spPr>
      </p:pic>
      <p:sp>
        <p:nvSpPr>
          <p:cNvPr id="13" name="TextBox 12"/>
          <p:cNvSpPr txBox="1"/>
          <p:nvPr/>
        </p:nvSpPr>
        <p:spPr>
          <a:xfrm>
            <a:off x="1473200" y="2476500"/>
            <a:ext cx="5918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k8gb · TRAFFIC STEERING</a:t>
            </a:r>
          </a:p>
        </p:txBody>
      </p:sp>
      <p:cxnSp>
        <p:nvCxnSpPr>
          <p:cNvPr id="14" name="Connector 13"/>
          <p:cNvCxnSpPr/>
          <p:nvPr/>
        </p:nvCxnSpPr>
        <p:spPr>
          <a:xfrm>
            <a:off x="863600" y="2959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701800" y="3149600"/>
            <a:ext cx="2540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FAILURE</a:t>
            </a:r>
          </a:p>
        </p:txBody>
      </p:sp>
      <p:sp>
        <p:nvSpPr>
          <p:cNvPr id="16" name="TextBox 15"/>
          <p:cNvSpPr txBox="1"/>
          <p:nvPr/>
        </p:nvSpPr>
        <p:spPr>
          <a:xfrm>
            <a:off x="5105400" y="3149600"/>
            <a:ext cx="2286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DNS RESPONSE</a:t>
            </a:r>
          </a:p>
        </p:txBody>
      </p:sp>
      <p:cxnSp>
        <p:nvCxnSpPr>
          <p:cNvPr id="17" name="Connector 16"/>
          <p:cNvCxnSpPr/>
          <p:nvPr/>
        </p:nvCxnSpPr>
        <p:spPr>
          <a:xfrm>
            <a:off x="863600" y="4356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63600" y="3479800"/>
            <a:ext cx="685800" cy="685800"/>
          </a:xfrm>
          <a:prstGeom prst="roundRect">
            <a:avLst>
              <a:gd name="adj" fmla="val 1851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1800" y="35052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APPLICATION</a:t>
            </a:r>
          </a:p>
        </p:txBody>
      </p:sp>
      <p:sp>
        <p:nvSpPr>
          <p:cNvPr id="20" name="TextBox 19"/>
          <p:cNvSpPr txBox="1"/>
          <p:nvPr/>
        </p:nvSpPr>
        <p:spPr>
          <a:xfrm>
            <a:off x="1701800" y="39243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Readiness lost</a:t>
            </a:r>
          </a:p>
        </p:txBody>
      </p:sp>
      <p:cxnSp>
        <p:nvCxnSpPr>
          <p:cNvPr id="21" name="Connector 20"/>
          <p:cNvCxnSpPr/>
          <p:nvPr/>
        </p:nvCxnSpPr>
        <p:spPr>
          <a:xfrm>
            <a:off x="4419600" y="3810000"/>
            <a:ext cx="4826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105400" y="35814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2762C8"/>
                </a:solidFill>
                <a:latin typeface="Arial"/>
              </a:rPr>
              <a:t>Exclude unready</a:t>
            </a:r>
          </a:p>
          <a:p>
            <a:pPr algn="l">
              <a:lnSpc>
                <a:spcPts val="2250"/>
              </a:lnSpc>
              <a:spcBef>
                <a:spcPts val="0"/>
              </a:spcBef>
              <a:spcAft>
                <a:spcPts val="0"/>
              </a:spcAft>
            </a:pPr>
            <a:r>
              <a:rPr sz="1800" b="1">
                <a:solidFill>
                  <a:srgbClr val="2762C8"/>
                </a:solidFill>
                <a:latin typeface="Arial"/>
              </a:rPr>
              <a:t>targets</a:t>
            </a:r>
          </a:p>
        </p:txBody>
      </p:sp>
      <p:sp>
        <p:nvSpPr>
          <p:cNvPr id="23" name="Rounded Rectangle 22"/>
          <p:cNvSpPr/>
          <p:nvPr/>
        </p:nvSpPr>
        <p:spPr>
          <a:xfrm>
            <a:off x="863600" y="4597400"/>
            <a:ext cx="685800" cy="685800"/>
          </a:xfrm>
          <a:prstGeom prst="roundRect">
            <a:avLst>
              <a:gd name="adj" fmla="val 18518"/>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01800" y="46228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CLUSTER / REGION</a:t>
            </a:r>
          </a:p>
        </p:txBody>
      </p:sp>
      <p:sp>
        <p:nvSpPr>
          <p:cNvPr id="25" name="TextBox 24"/>
          <p:cNvSpPr txBox="1"/>
          <p:nvPr/>
        </p:nvSpPr>
        <p:spPr>
          <a:xfrm>
            <a:off x="1701800" y="50419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Cluster unavailable</a:t>
            </a:r>
          </a:p>
        </p:txBody>
      </p:sp>
      <p:cxnSp>
        <p:nvCxnSpPr>
          <p:cNvPr id="26" name="Connector 25"/>
          <p:cNvCxnSpPr/>
          <p:nvPr/>
        </p:nvCxnSpPr>
        <p:spPr>
          <a:xfrm>
            <a:off x="4419600" y="4927600"/>
            <a:ext cx="4826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105400" y="46990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087F85"/>
                </a:solidFill>
                <a:latin typeface="Arial"/>
              </a:rPr>
              <a:t>Publish healthy</a:t>
            </a:r>
          </a:p>
          <a:p>
            <a:pPr algn="l">
              <a:lnSpc>
                <a:spcPts val="2250"/>
              </a:lnSpc>
              <a:spcBef>
                <a:spcPts val="0"/>
              </a:spcBef>
              <a:spcAft>
                <a:spcPts val="0"/>
              </a:spcAft>
            </a:pPr>
            <a:r>
              <a:rPr sz="1800" b="1">
                <a:solidFill>
                  <a:srgbClr val="087F85"/>
                </a:solidFill>
                <a:latin typeface="Arial"/>
              </a:rPr>
              <a:t>cluster targets</a:t>
            </a:r>
          </a:p>
        </p:txBody>
      </p:sp>
      <p:sp>
        <p:nvSpPr>
          <p:cNvPr id="28" name="Rounded Rectangle 27"/>
          <p:cNvSpPr/>
          <p:nvPr/>
        </p:nvSpPr>
        <p:spPr>
          <a:xfrm>
            <a:off x="990600" y="3581400"/>
            <a:ext cx="431800" cy="393700"/>
          </a:xfrm>
          <a:prstGeom prst="roundRect">
            <a:avLst>
              <a:gd name="adj" fmla="val 12903"/>
            </a:avLst>
          </a:prstGeom>
          <a:solidFill>
            <a:srgbClr val="FFFFFF"/>
          </a:solidFill>
          <a:ln w="2032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990600" y="3683000"/>
            <a:ext cx="431800" cy="0"/>
          </a:xfrm>
          <a:prstGeom prst="line">
            <a:avLst/>
          </a:prstGeom>
          <a:ln w="16510">
            <a:solidFill>
              <a:srgbClr val="2762C8"/>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038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023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65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pic>
        <p:nvPicPr>
          <p:cNvPr id="35" name="Picture 34" descr="image.png"/>
          <p:cNvPicPr>
            <a:picLocks noChangeAspect="1"/>
          </p:cNvPicPr>
          <p:nvPr/>
        </p:nvPicPr>
        <p:blipFill>
          <a:blip r:embed="rId3"/>
          <a:stretch>
            <a:fillRect/>
          </a:stretch>
        </p:blipFill>
        <p:spPr>
          <a:xfrm>
            <a:off x="939800" y="4673600"/>
            <a:ext cx="533400" cy="533400"/>
          </a:xfrm>
          <a:prstGeom prst="rect">
            <a:avLst/>
          </a:prstGeom>
        </p:spPr>
      </p:pic>
      <p:sp>
        <p:nvSpPr>
          <p:cNvPr id="36" name="Rounded Rectangle 35"/>
          <p:cNvSpPr/>
          <p:nvPr/>
        </p:nvSpPr>
        <p:spPr>
          <a:xfrm>
            <a:off x="7950200" y="2209800"/>
            <a:ext cx="36322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950200" y="2159000"/>
            <a:ext cx="3632200" cy="3429000"/>
          </a:xfrm>
          <a:prstGeom prst="roundRect">
            <a:avLst>
              <a:gd name="adj" fmla="val 370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8255000" y="2171700"/>
            <a:ext cx="30226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255000" y="2451100"/>
            <a:ext cx="3022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APPLICATION RESPONSIBILITY</a:t>
            </a:r>
          </a:p>
        </p:txBody>
      </p:sp>
      <p:sp>
        <p:nvSpPr>
          <p:cNvPr id="40" name="Rounded Rectangle 39"/>
          <p:cNvSpPr/>
          <p:nvPr/>
        </p:nvSpPr>
        <p:spPr>
          <a:xfrm>
            <a:off x="8255000" y="2870200"/>
            <a:ext cx="812800" cy="812800"/>
          </a:xfrm>
          <a:prstGeom prst="roundRect">
            <a:avLst>
              <a:gd name="adj" fmla="val 18750"/>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07400" y="3340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07400" y="3162300"/>
            <a:ext cx="508000" cy="2540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8407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915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8407400" y="3213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07400" y="3086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55000" y="3873500"/>
            <a:ext cx="30226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STATEFUL DATA</a:t>
            </a:r>
          </a:p>
        </p:txBody>
      </p:sp>
      <p:sp>
        <p:nvSpPr>
          <p:cNvPr id="48" name="TextBox 47"/>
          <p:cNvSpPr txBox="1"/>
          <p:nvPr/>
        </p:nvSpPr>
        <p:spPr>
          <a:xfrm>
            <a:off x="8255000" y="4394200"/>
            <a:ext cx="30226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B8C8D9"/>
                </a:solidFill>
                <a:latin typeface="Arial"/>
              </a:rPr>
              <a:t>Replication, fencing,</a:t>
            </a:r>
          </a:p>
          <a:p>
            <a:pPr algn="l">
              <a:lnSpc>
                <a:spcPts val="2250"/>
              </a:lnSpc>
              <a:spcBef>
                <a:spcPts val="0"/>
              </a:spcBef>
              <a:spcAft>
                <a:spcPts val="0"/>
              </a:spcAft>
            </a:pPr>
            <a:r>
              <a:rPr sz="1800" b="0">
                <a:solidFill>
                  <a:srgbClr val="B8C8D9"/>
                </a:solidFill>
                <a:latin typeface="Arial"/>
              </a:rPr>
              <a:t>and recovery are yours.</a:t>
            </a:r>
          </a:p>
        </p:txBody>
      </p:sp>
      <p:cxnSp>
        <p:nvCxnSpPr>
          <p:cNvPr id="49" name="Connector 48"/>
          <p:cNvCxnSpPr/>
          <p:nvPr/>
        </p:nvCxnSpPr>
        <p:spPr>
          <a:xfrm>
            <a:off x="8255000" y="5054600"/>
            <a:ext cx="30226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255000" y="5207000"/>
            <a:ext cx="30226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F79BB0"/>
                </a:solidFill>
                <a:latin typeface="Arial"/>
              </a:rPr>
              <a:t>Plan session recovery too.</a:t>
            </a:r>
          </a:p>
        </p:txBody>
      </p:sp>
      <p:sp>
        <p:nvSpPr>
          <p:cNvPr id="51" name="Rounded Rectangle 50"/>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800" y="5905500"/>
            <a:ext cx="105664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Traffic recovery ≠ data recovery ≠ session continuity.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TRAFFIC STEERING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12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Choose how eligible clusters are used</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Illustrative DNS selections across Kubernetes clusters.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55800"/>
            <a:ext cx="5334000" cy="1727200"/>
          </a:xfrm>
          <a:prstGeom prst="roundRect">
            <a:avLst>
              <a:gd name="adj" fmla="val 661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38200" y="1968500"/>
            <a:ext cx="1041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382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FAILOVER</a:t>
            </a:r>
          </a:p>
        </p:txBody>
      </p:sp>
      <p:sp>
        <p:nvSpPr>
          <p:cNvPr id="14" name="TextBox 13"/>
          <p:cNvSpPr txBox="1"/>
          <p:nvPr/>
        </p:nvSpPr>
        <p:spPr>
          <a:xfrm>
            <a:off x="8382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FFFFF"/>
                </a:solidFill>
                <a:latin typeface="Arial"/>
              </a:rPr>
              <a:t>Prefer primary</a:t>
            </a:r>
          </a:p>
        </p:txBody>
      </p:sp>
      <p:sp>
        <p:nvSpPr>
          <p:cNvPr id="15" name="TextBox 14"/>
          <p:cNvSpPr txBox="1"/>
          <p:nvPr/>
        </p:nvSpPr>
        <p:spPr>
          <a:xfrm>
            <a:off x="8382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Return to primary on recovery</a:t>
            </a:r>
          </a:p>
        </p:txBody>
      </p:sp>
      <p:sp>
        <p:nvSpPr>
          <p:cNvPr id="16" name="TextBox 15"/>
          <p:cNvSpPr txBox="1"/>
          <p:nvPr/>
        </p:nvSpPr>
        <p:spPr>
          <a:xfrm>
            <a:off x="37084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PRIMARY</a:t>
            </a:r>
          </a:p>
        </p:txBody>
      </p:sp>
      <p:sp>
        <p:nvSpPr>
          <p:cNvPr id="17" name="TextBox 16"/>
          <p:cNvSpPr txBox="1"/>
          <p:nvPr/>
        </p:nvSpPr>
        <p:spPr>
          <a:xfrm>
            <a:off x="49276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BACKUP</a:t>
            </a:r>
          </a:p>
        </p:txBody>
      </p:sp>
      <p:cxnSp>
        <p:nvCxnSpPr>
          <p:cNvPr id="18" name="Connector 17"/>
          <p:cNvCxnSpPr/>
          <p:nvPr/>
        </p:nvCxnSpPr>
        <p:spPr>
          <a:xfrm flipH="1" flipV="1">
            <a:off x="4127500" y="2717800"/>
            <a:ext cx="406400" cy="266700"/>
          </a:xfrm>
          <a:prstGeom prst="line">
            <a:avLst/>
          </a:prstGeom>
          <a:ln w="19050">
            <a:solidFill>
              <a:srgbClr val="F79BB0"/>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889500" y="2717800"/>
            <a:ext cx="457200" cy="266700"/>
          </a:xfrm>
          <a:prstGeom prst="line">
            <a:avLst/>
          </a:prstGeom>
          <a:ln w="317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810000" y="2273300"/>
            <a:ext cx="635000" cy="457200"/>
          </a:xfrm>
          <a:prstGeom prst="roundRect">
            <a:avLst>
              <a:gd name="adj" fmla="val 13888"/>
            </a:avLst>
          </a:prstGeom>
          <a:solidFill>
            <a:srgbClr val="FBE9EE"/>
          </a:solidFill>
          <a:ln w="12700">
            <a:solidFill>
              <a:srgbClr val="EAC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2"/>
          <a:stretch>
            <a:fillRect/>
          </a:stretch>
        </p:blipFill>
        <p:spPr>
          <a:xfrm>
            <a:off x="3860800" y="2362200"/>
            <a:ext cx="279400" cy="279400"/>
          </a:xfrm>
          <a:prstGeom prst="rect">
            <a:avLst/>
          </a:prstGeom>
        </p:spPr>
      </p:pic>
      <p:sp>
        <p:nvSpPr>
          <p:cNvPr id="22" name="TextBox 21"/>
          <p:cNvSpPr txBox="1"/>
          <p:nvPr/>
        </p:nvSpPr>
        <p:spPr>
          <a:xfrm>
            <a:off x="41529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23" name="Rounded Rectangle 22"/>
          <p:cNvSpPr/>
          <p:nvPr/>
        </p:nvSpPr>
        <p:spPr>
          <a:xfrm>
            <a:off x="5029200" y="22733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mage.png"/>
          <p:cNvPicPr>
            <a:picLocks noChangeAspect="1"/>
          </p:cNvPicPr>
          <p:nvPr/>
        </p:nvPicPr>
        <p:blipFill>
          <a:blip r:embed="rId2"/>
          <a:stretch>
            <a:fillRect/>
          </a:stretch>
        </p:blipFill>
        <p:spPr>
          <a:xfrm>
            <a:off x="5080000" y="2362200"/>
            <a:ext cx="279400" cy="279400"/>
          </a:xfrm>
          <a:prstGeom prst="rect">
            <a:avLst/>
          </a:prstGeom>
        </p:spPr>
      </p:pic>
      <p:sp>
        <p:nvSpPr>
          <p:cNvPr id="25" name="TextBox 24"/>
          <p:cNvSpPr txBox="1"/>
          <p:nvPr/>
        </p:nvSpPr>
        <p:spPr>
          <a:xfrm>
            <a:off x="53721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26" name="Connector 25"/>
          <p:cNvCxnSpPr/>
          <p:nvPr/>
        </p:nvCxnSpPr>
        <p:spPr>
          <a:xfrm>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56100" y="2984500"/>
            <a:ext cx="711200" cy="279400"/>
          </a:xfrm>
          <a:prstGeom prst="roundRect">
            <a:avLst>
              <a:gd name="adj" fmla="val 2272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069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30" name="Rounded Rectangle 29"/>
          <p:cNvSpPr/>
          <p:nvPr/>
        </p:nvSpPr>
        <p:spPr>
          <a:xfrm>
            <a:off x="62484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48400" y="19558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6477000" y="19685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770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ROUND ROBIN</a:t>
            </a:r>
          </a:p>
        </p:txBody>
      </p:sp>
      <p:sp>
        <p:nvSpPr>
          <p:cNvPr id="34" name="TextBox 33"/>
          <p:cNvSpPr txBox="1"/>
          <p:nvPr/>
        </p:nvSpPr>
        <p:spPr>
          <a:xfrm>
            <a:off x="64770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Use healthy clusters</a:t>
            </a:r>
          </a:p>
        </p:txBody>
      </p:sp>
      <p:sp>
        <p:nvSpPr>
          <p:cNvPr id="35" name="TextBox 34"/>
          <p:cNvSpPr txBox="1"/>
          <p:nvPr/>
        </p:nvSpPr>
        <p:spPr>
          <a:xfrm>
            <a:off x="64770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Active / active DNS answers</a:t>
            </a:r>
          </a:p>
        </p:txBody>
      </p:sp>
      <p:cxnSp>
        <p:nvCxnSpPr>
          <p:cNvPr id="36" name="Connector 35"/>
          <p:cNvCxnSpPr/>
          <p:nvPr/>
        </p:nvCxnSpPr>
        <p:spPr>
          <a:xfrm flipH="1" flipV="1">
            <a:off x="9588500" y="2743200"/>
            <a:ext cx="7620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2710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2"/>
          <a:stretch>
            <a:fillRect/>
          </a:stretch>
        </p:blipFill>
        <p:spPr>
          <a:xfrm>
            <a:off x="9321800" y="2374900"/>
            <a:ext cx="279400" cy="279400"/>
          </a:xfrm>
          <a:prstGeom prst="rect">
            <a:avLst/>
          </a:prstGeom>
        </p:spPr>
      </p:pic>
      <p:sp>
        <p:nvSpPr>
          <p:cNvPr id="39" name="TextBox 38"/>
          <p:cNvSpPr txBox="1"/>
          <p:nvPr/>
        </p:nvSpPr>
        <p:spPr>
          <a:xfrm>
            <a:off x="96139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cxnSp>
        <p:nvCxnSpPr>
          <p:cNvPr id="40" name="Connector 39"/>
          <p:cNvCxnSpPr/>
          <p:nvPr/>
        </p:nvCxnSpPr>
        <p:spPr>
          <a:xfrm flipH="1" flipV="1">
            <a:off x="10325100" y="2743200"/>
            <a:ext cx="254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00076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2"/>
          <a:stretch>
            <a:fillRect/>
          </a:stretch>
        </p:blipFill>
        <p:spPr>
          <a:xfrm>
            <a:off x="10058400" y="2374900"/>
            <a:ext cx="279400" cy="279400"/>
          </a:xfrm>
          <a:prstGeom prst="rect">
            <a:avLst/>
          </a:prstGeom>
        </p:spPr>
      </p:pic>
      <p:sp>
        <p:nvSpPr>
          <p:cNvPr id="43" name="TextBox 42"/>
          <p:cNvSpPr txBox="1"/>
          <p:nvPr/>
        </p:nvSpPr>
        <p:spPr>
          <a:xfrm>
            <a:off x="103505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44" name="Connector 43"/>
          <p:cNvCxnSpPr/>
          <p:nvPr/>
        </p:nvCxnSpPr>
        <p:spPr>
          <a:xfrm flipV="1">
            <a:off x="10350500" y="2743200"/>
            <a:ext cx="7112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07442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2"/>
          <a:stretch>
            <a:fillRect/>
          </a:stretch>
        </p:blipFill>
        <p:spPr>
          <a:xfrm>
            <a:off x="10795000" y="2374900"/>
            <a:ext cx="279400" cy="279400"/>
          </a:xfrm>
          <a:prstGeom prst="rect">
            <a:avLst/>
          </a:prstGeom>
        </p:spPr>
      </p:pic>
      <p:sp>
        <p:nvSpPr>
          <p:cNvPr id="47" name="TextBox 46"/>
          <p:cNvSpPr txBox="1"/>
          <p:nvPr/>
        </p:nvSpPr>
        <p:spPr>
          <a:xfrm>
            <a:off x="110871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C</a:t>
            </a:r>
          </a:p>
        </p:txBody>
      </p:sp>
      <p:sp>
        <p:nvSpPr>
          <p:cNvPr id="48" name="Rounded Rectangle 47"/>
          <p:cNvSpPr/>
          <p:nvPr/>
        </p:nvSpPr>
        <p:spPr>
          <a:xfrm>
            <a:off x="9994900" y="29845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457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50" name="Rounded Rectangle 49"/>
          <p:cNvSpPr/>
          <p:nvPr/>
        </p:nvSpPr>
        <p:spPr>
          <a:xfrm>
            <a:off x="6096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096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a:off x="838200" y="3924300"/>
            <a:ext cx="1041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382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WEIGHTED ROUND ROBIN</a:t>
            </a:r>
          </a:p>
        </p:txBody>
      </p:sp>
      <p:sp>
        <p:nvSpPr>
          <p:cNvPr id="54" name="TextBox 53"/>
          <p:cNvSpPr txBox="1"/>
          <p:nvPr/>
        </p:nvSpPr>
        <p:spPr>
          <a:xfrm>
            <a:off x="8382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Express preference</a:t>
            </a:r>
          </a:p>
        </p:txBody>
      </p:sp>
      <p:sp>
        <p:nvSpPr>
          <p:cNvPr id="55" name="TextBox 54"/>
          <p:cNvSpPr txBox="1"/>
          <p:nvPr/>
        </p:nvSpPr>
        <p:spPr>
          <a:xfrm>
            <a:off x="8382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Request shares are approximate</a:t>
            </a:r>
          </a:p>
        </p:txBody>
      </p:sp>
      <p:cxnSp>
        <p:nvCxnSpPr>
          <p:cNvPr id="56" name="Connector 55"/>
          <p:cNvCxnSpPr/>
          <p:nvPr/>
        </p:nvCxnSpPr>
        <p:spPr>
          <a:xfrm flipH="1" flipV="1">
            <a:off x="3949700" y="4699000"/>
            <a:ext cx="762000" cy="2413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36322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image.png"/>
          <p:cNvPicPr>
            <a:picLocks noChangeAspect="1"/>
          </p:cNvPicPr>
          <p:nvPr/>
        </p:nvPicPr>
        <p:blipFill>
          <a:blip r:embed="rId2"/>
          <a:stretch>
            <a:fillRect/>
          </a:stretch>
        </p:blipFill>
        <p:spPr>
          <a:xfrm>
            <a:off x="3683000" y="4330700"/>
            <a:ext cx="279400" cy="279400"/>
          </a:xfrm>
          <a:prstGeom prst="rect">
            <a:avLst/>
          </a:prstGeom>
        </p:spPr>
      </p:pic>
      <p:sp>
        <p:nvSpPr>
          <p:cNvPr id="59" name="TextBox 58"/>
          <p:cNvSpPr txBox="1"/>
          <p:nvPr/>
        </p:nvSpPr>
        <p:spPr>
          <a:xfrm>
            <a:off x="39751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w=2</a:t>
            </a:r>
          </a:p>
        </p:txBody>
      </p:sp>
      <p:cxnSp>
        <p:nvCxnSpPr>
          <p:cNvPr id="60" name="Connector 59"/>
          <p:cNvCxnSpPr/>
          <p:nvPr/>
        </p:nvCxnSpPr>
        <p:spPr>
          <a:xfrm flipH="1" flipV="1">
            <a:off x="4686300" y="4699000"/>
            <a:ext cx="25400" cy="241300"/>
          </a:xfrm>
          <a:prstGeom prst="line">
            <a:avLst/>
          </a:prstGeom>
          <a:ln w="381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43688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2" name="Picture 61" descr="image.png"/>
          <p:cNvPicPr>
            <a:picLocks noChangeAspect="1"/>
          </p:cNvPicPr>
          <p:nvPr/>
        </p:nvPicPr>
        <p:blipFill>
          <a:blip r:embed="rId2"/>
          <a:stretch>
            <a:fillRect/>
          </a:stretch>
        </p:blipFill>
        <p:spPr>
          <a:xfrm>
            <a:off x="4419600" y="4330700"/>
            <a:ext cx="279400" cy="279400"/>
          </a:xfrm>
          <a:prstGeom prst="rect">
            <a:avLst/>
          </a:prstGeom>
        </p:spPr>
      </p:pic>
      <p:sp>
        <p:nvSpPr>
          <p:cNvPr id="63" name="TextBox 62"/>
          <p:cNvSpPr txBox="1"/>
          <p:nvPr/>
        </p:nvSpPr>
        <p:spPr>
          <a:xfrm>
            <a:off x="47117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w=3</a:t>
            </a:r>
          </a:p>
        </p:txBody>
      </p:sp>
      <p:cxnSp>
        <p:nvCxnSpPr>
          <p:cNvPr id="64" name="Connector 63"/>
          <p:cNvCxnSpPr/>
          <p:nvPr/>
        </p:nvCxnSpPr>
        <p:spPr>
          <a:xfrm flipV="1">
            <a:off x="4711700" y="4699000"/>
            <a:ext cx="711200" cy="241300"/>
          </a:xfrm>
          <a:prstGeom prst="line">
            <a:avLst/>
          </a:prstGeom>
          <a:ln w="635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1054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image.png"/>
          <p:cNvPicPr>
            <a:picLocks noChangeAspect="1"/>
          </p:cNvPicPr>
          <p:nvPr/>
        </p:nvPicPr>
        <p:blipFill>
          <a:blip r:embed="rId2"/>
          <a:stretch>
            <a:fillRect/>
          </a:stretch>
        </p:blipFill>
        <p:spPr>
          <a:xfrm>
            <a:off x="5156200" y="4330700"/>
            <a:ext cx="279400" cy="279400"/>
          </a:xfrm>
          <a:prstGeom prst="rect">
            <a:avLst/>
          </a:prstGeom>
        </p:spPr>
      </p:pic>
      <p:sp>
        <p:nvSpPr>
          <p:cNvPr id="67" name="TextBox 66"/>
          <p:cNvSpPr txBox="1"/>
          <p:nvPr/>
        </p:nvSpPr>
        <p:spPr>
          <a:xfrm>
            <a:off x="54483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w=5</a:t>
            </a:r>
          </a:p>
        </p:txBody>
      </p:sp>
      <p:sp>
        <p:nvSpPr>
          <p:cNvPr id="68" name="TextBox 67"/>
          <p:cNvSpPr txBox="1"/>
          <p:nvPr/>
        </p:nvSpPr>
        <p:spPr>
          <a:xfrm>
            <a:off x="3632200" y="4025900"/>
            <a:ext cx="210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5D6F82"/>
                </a:solidFill>
                <a:latin typeface="Arial"/>
              </a:rPr>
              <a:t>RELATIVE WEIGHTS</a:t>
            </a:r>
          </a:p>
        </p:txBody>
      </p:sp>
      <p:sp>
        <p:nvSpPr>
          <p:cNvPr id="69" name="Rounded Rectangle 68"/>
          <p:cNvSpPr/>
          <p:nvPr/>
        </p:nvSpPr>
        <p:spPr>
          <a:xfrm>
            <a:off x="4356100" y="49403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406900" y="49911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71" name="Rounded Rectangle 70"/>
          <p:cNvSpPr/>
          <p:nvPr/>
        </p:nvSpPr>
        <p:spPr>
          <a:xfrm>
            <a:off x="62484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62484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6477000" y="39243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64770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GEOIP</a:t>
            </a:r>
          </a:p>
        </p:txBody>
      </p:sp>
      <p:sp>
        <p:nvSpPr>
          <p:cNvPr id="75" name="TextBox 74"/>
          <p:cNvSpPr txBox="1"/>
          <p:nvPr/>
        </p:nvSpPr>
        <p:spPr>
          <a:xfrm>
            <a:off x="64770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Map client subnets</a:t>
            </a:r>
          </a:p>
        </p:txBody>
      </p:sp>
      <p:sp>
        <p:nvSpPr>
          <p:cNvPr id="76" name="TextBox 75"/>
          <p:cNvSpPr txBox="1"/>
          <p:nvPr/>
        </p:nvSpPr>
        <p:spPr>
          <a:xfrm>
            <a:off x="64770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Needs GeoIP data + ECS</a:t>
            </a:r>
          </a:p>
        </p:txBody>
      </p:sp>
      <p:cxnSp>
        <p:nvCxnSpPr>
          <p:cNvPr id="77" name="Connector 76"/>
          <p:cNvCxnSpPr/>
          <p:nvPr/>
        </p:nvCxnSpPr>
        <p:spPr>
          <a:xfrm flipV="1">
            <a:off x="9728200" y="4699000"/>
            <a:ext cx="0" cy="2286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94107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9" name="Picture 78" descr="image.png"/>
          <p:cNvPicPr>
            <a:picLocks noChangeAspect="1"/>
          </p:cNvPicPr>
          <p:nvPr/>
        </p:nvPicPr>
        <p:blipFill>
          <a:blip r:embed="rId2"/>
          <a:stretch>
            <a:fillRect/>
          </a:stretch>
        </p:blipFill>
        <p:spPr>
          <a:xfrm>
            <a:off x="9461500" y="4330700"/>
            <a:ext cx="279400" cy="279400"/>
          </a:xfrm>
          <a:prstGeom prst="rect">
            <a:avLst/>
          </a:prstGeom>
        </p:spPr>
      </p:pic>
      <p:sp>
        <p:nvSpPr>
          <p:cNvPr id="80" name="TextBox 79"/>
          <p:cNvSpPr txBox="1"/>
          <p:nvPr/>
        </p:nvSpPr>
        <p:spPr>
          <a:xfrm>
            <a:off x="97536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81" name="Rounded Rectangle 80"/>
          <p:cNvSpPr/>
          <p:nvPr/>
        </p:nvSpPr>
        <p:spPr>
          <a:xfrm>
            <a:off x="9296400" y="4927600"/>
            <a:ext cx="8636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3472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2762C8"/>
                </a:solidFill>
                <a:latin typeface="Arial"/>
              </a:rPr>
              <a:t>Subnet A</a:t>
            </a:r>
          </a:p>
        </p:txBody>
      </p:sp>
      <p:cxnSp>
        <p:nvCxnSpPr>
          <p:cNvPr id="83" name="Connector 82"/>
          <p:cNvCxnSpPr/>
          <p:nvPr/>
        </p:nvCxnSpPr>
        <p:spPr>
          <a:xfrm flipV="1">
            <a:off x="10947400" y="4699000"/>
            <a:ext cx="0" cy="2286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629900" y="42418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5" name="Picture 84" descr="image.png"/>
          <p:cNvPicPr>
            <a:picLocks noChangeAspect="1"/>
          </p:cNvPicPr>
          <p:nvPr/>
        </p:nvPicPr>
        <p:blipFill>
          <a:blip r:embed="rId2"/>
          <a:stretch>
            <a:fillRect/>
          </a:stretch>
        </p:blipFill>
        <p:spPr>
          <a:xfrm>
            <a:off x="10680700" y="4330700"/>
            <a:ext cx="279400" cy="279400"/>
          </a:xfrm>
          <a:prstGeom prst="rect">
            <a:avLst/>
          </a:prstGeom>
        </p:spPr>
      </p:pic>
      <p:sp>
        <p:nvSpPr>
          <p:cNvPr id="86" name="TextBox 85"/>
          <p:cNvSpPr txBox="1"/>
          <p:nvPr/>
        </p:nvSpPr>
        <p:spPr>
          <a:xfrm>
            <a:off x="109728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sp>
        <p:nvSpPr>
          <p:cNvPr id="87" name="Rounded Rectangle 86"/>
          <p:cNvSpPr/>
          <p:nvPr/>
        </p:nvSpPr>
        <p:spPr>
          <a:xfrm>
            <a:off x="10515600" y="4927600"/>
            <a:ext cx="863600" cy="292100"/>
          </a:xfrm>
          <a:prstGeom prst="roundRect">
            <a:avLst>
              <a:gd name="adj" fmla="val 2173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5664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087F85"/>
                </a:solidFill>
                <a:latin typeface="Arial"/>
              </a:rPr>
              <a:t>Subnet B</a:t>
            </a:r>
          </a:p>
        </p:txBody>
      </p:sp>
      <p:sp>
        <p:nvSpPr>
          <p:cNvPr id="89" name="Rounded Rectangle 8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All modes change DNS answers, not existing connections.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UNDER THE HOOD</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13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Three components. Three distinct jobs.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png"/>
          <p:cNvPicPr>
            <a:picLocks noChangeAspect="1"/>
          </p:cNvPicPr>
          <p:nvPr/>
        </p:nvPicPr>
        <p:blipFill>
          <a:blip r:embed="rId2"/>
          <a:stretch>
            <a:fillRect/>
          </a:stretch>
        </p:blipFill>
        <p:spPr>
          <a:xfrm>
            <a:off x="965200" y="2474752"/>
            <a:ext cx="914400" cy="892494"/>
          </a:xfrm>
          <a:prstGeom prst="rect">
            <a:avLst/>
          </a:prstGeom>
        </p:spPr>
      </p:pic>
      <p:sp>
        <p:nvSpPr>
          <p:cNvPr id="11" name="TextBox 10"/>
          <p:cNvSpPr txBox="1"/>
          <p:nvPr/>
        </p:nvSpPr>
        <p:spPr>
          <a:xfrm>
            <a:off x="863600"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k8gb controller</a:t>
            </a:r>
          </a:p>
        </p:txBody>
      </p:sp>
      <p:sp>
        <p:nvSpPr>
          <p:cNvPr id="12" name="TextBox 11"/>
          <p:cNvSpPr txBox="1"/>
          <p:nvPr/>
        </p:nvSpPr>
        <p:spPr>
          <a:xfrm>
            <a:off x="863600"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Readiness + policy</a:t>
            </a:r>
          </a:p>
          <a:p>
            <a:pPr algn="l">
              <a:lnSpc>
                <a:spcPts val="2600"/>
              </a:lnSpc>
              <a:spcBef>
                <a:spcPts val="0"/>
              </a:spcBef>
              <a:spcAft>
                <a:spcPts val="0"/>
              </a:spcAft>
            </a:pPr>
            <a:r>
              <a:rPr sz="2000" b="0">
                <a:solidFill>
                  <a:srgbClr val="5D6F82"/>
                </a:solidFill>
                <a:latin typeface="Arial"/>
              </a:rPr>
              <a:t>→ eligible targets</a:t>
            </a:r>
          </a:p>
        </p:txBody>
      </p:sp>
      <p:sp>
        <p:nvSpPr>
          <p:cNvPr id="13" name="Rounded Rectangle 12"/>
          <p:cNvSpPr/>
          <p:nvPr/>
        </p:nvSpPr>
        <p:spPr>
          <a:xfrm>
            <a:off x="4334933"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4639733" y="2413000"/>
            <a:ext cx="1016000" cy="1016000"/>
          </a:xfrm>
          <a:prstGeom prst="rect">
            <a:avLst/>
          </a:prstGeom>
        </p:spPr>
      </p:pic>
      <p:sp>
        <p:nvSpPr>
          <p:cNvPr id="15" name="TextBox 14"/>
          <p:cNvSpPr txBox="1"/>
          <p:nvPr/>
        </p:nvSpPr>
        <p:spPr>
          <a:xfrm>
            <a:off x="4588933"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CoreDNS</a:t>
            </a:r>
          </a:p>
        </p:txBody>
      </p:sp>
      <p:sp>
        <p:nvSpPr>
          <p:cNvPr id="16" name="TextBox 15"/>
          <p:cNvSpPr txBox="1"/>
          <p:nvPr/>
        </p:nvSpPr>
        <p:spPr>
          <a:xfrm>
            <a:off x="4588933"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Delegated zone</a:t>
            </a:r>
          </a:p>
          <a:p>
            <a:pPr algn="l">
              <a:lnSpc>
                <a:spcPts val="2600"/>
              </a:lnSpc>
              <a:spcBef>
                <a:spcPts val="0"/>
              </a:spcBef>
              <a:spcAft>
                <a:spcPts val="0"/>
              </a:spcAft>
            </a:pPr>
            <a:r>
              <a:rPr sz="2000" b="0">
                <a:solidFill>
                  <a:srgbClr val="5D6F82"/>
                </a:solidFill>
                <a:latin typeface="Arial"/>
              </a:rPr>
              <a:t>→ DNS answers</a:t>
            </a:r>
          </a:p>
        </p:txBody>
      </p:sp>
      <p:sp>
        <p:nvSpPr>
          <p:cNvPr id="17" name="Rounded Rectangle 16"/>
          <p:cNvSpPr/>
          <p:nvPr/>
        </p:nvSpPr>
        <p:spPr>
          <a:xfrm>
            <a:off x="8060266"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4"/>
          <a:stretch>
            <a:fillRect/>
          </a:stretch>
        </p:blipFill>
        <p:spPr>
          <a:xfrm>
            <a:off x="8314618" y="2362200"/>
            <a:ext cx="1116895" cy="1117600"/>
          </a:xfrm>
          <a:prstGeom prst="rect">
            <a:avLst/>
          </a:prstGeom>
        </p:spPr>
      </p:pic>
      <p:sp>
        <p:nvSpPr>
          <p:cNvPr id="19" name="TextBox 18"/>
          <p:cNvSpPr txBox="1"/>
          <p:nvPr/>
        </p:nvSpPr>
        <p:spPr>
          <a:xfrm>
            <a:off x="8314266"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ExternalDNS</a:t>
            </a:r>
          </a:p>
        </p:txBody>
      </p:sp>
      <p:sp>
        <p:nvSpPr>
          <p:cNvPr id="20" name="TextBox 19"/>
          <p:cNvSpPr txBox="1"/>
          <p:nvPr/>
        </p:nvSpPr>
        <p:spPr>
          <a:xfrm>
            <a:off x="8314266"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Delegation state</a:t>
            </a:r>
          </a:p>
          <a:p>
            <a:pPr algn="l">
              <a:lnSpc>
                <a:spcPts val="2600"/>
              </a:lnSpc>
              <a:spcBef>
                <a:spcPts val="0"/>
              </a:spcBef>
              <a:spcAft>
                <a:spcPts val="0"/>
              </a:spcAft>
            </a:pPr>
            <a:r>
              <a:rPr sz="2000" b="0">
                <a:solidFill>
                  <a:srgbClr val="5D6F82"/>
                </a:solidFill>
                <a:latin typeface="Arial"/>
              </a:rPr>
              <a:t>→ parent DNS updates</a:t>
            </a:r>
          </a:p>
        </p:txBody>
      </p:sp>
      <p:sp>
        <p:nvSpPr>
          <p:cNvPr id="21" name="Rounded Rectangle 20"/>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Decide locally. Answer authoritatively. Delegate explicitly.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REFERENCE ARCHITECTURE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14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Independent clusters, shared DNS contract</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3568700" y="1562100"/>
            <a:ext cx="5054600" cy="698500"/>
          </a:xfrm>
          <a:prstGeom prst="roundRect">
            <a:avLst>
              <a:gd name="adj" fmla="val 1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59200" y="1638300"/>
            <a:ext cx="46736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Parent DNS  ·  example.com</a:t>
            </a:r>
          </a:p>
        </p:txBody>
      </p:sp>
      <p:sp>
        <p:nvSpPr>
          <p:cNvPr id="11" name="TextBox 10"/>
          <p:cNvSpPr txBox="1"/>
          <p:nvPr/>
        </p:nvSpPr>
        <p:spPr>
          <a:xfrm>
            <a:off x="3759200" y="2006600"/>
            <a:ext cx="46736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B8C8D9"/>
                </a:solidFill>
                <a:latin typeface="Arial"/>
              </a:rPr>
              <a:t>NS + address updates</a:t>
            </a:r>
          </a:p>
        </p:txBody>
      </p:sp>
      <p:sp>
        <p:nvSpPr>
          <p:cNvPr id="12" name="Rounded Rectangle 11"/>
          <p:cNvSpPr/>
          <p:nvPr/>
        </p:nvSpPr>
        <p:spPr>
          <a:xfrm>
            <a:off x="9359900" y="1562100"/>
            <a:ext cx="2222500" cy="698500"/>
          </a:xfrm>
          <a:prstGeom prst="roundRect">
            <a:avLst>
              <a:gd name="adj" fmla="val 1272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12300" y="1689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2 OF N CLUSTERS</a:t>
            </a:r>
          </a:p>
        </p:txBody>
      </p:sp>
      <p:sp>
        <p:nvSpPr>
          <p:cNvPr id="14" name="TextBox 13"/>
          <p:cNvSpPr txBox="1"/>
          <p:nvPr/>
        </p:nvSpPr>
        <p:spPr>
          <a:xfrm>
            <a:off x="9512300" y="1943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Shown for clarity</a:t>
            </a:r>
          </a:p>
        </p:txBody>
      </p:sp>
      <p:sp>
        <p:nvSpPr>
          <p:cNvPr id="15" name="Rounded Rectangle 14"/>
          <p:cNvSpPr/>
          <p:nvPr/>
        </p:nvSpPr>
        <p:spPr>
          <a:xfrm>
            <a:off x="6096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9600" y="2476500"/>
            <a:ext cx="4902200" cy="406400"/>
          </a:xfrm>
          <a:prstGeom prst="rect">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74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2762C8"/>
                </a:solidFill>
                <a:latin typeface="Arial"/>
              </a:rPr>
              <a:t>CLUSTER A</a:t>
            </a:r>
          </a:p>
        </p:txBody>
      </p:sp>
      <p:sp>
        <p:nvSpPr>
          <p:cNvPr id="18" name="Rounded Rectangle 17"/>
          <p:cNvSpPr/>
          <p:nvPr/>
        </p:nvSpPr>
        <p:spPr>
          <a:xfrm>
            <a:off x="16764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1765460" y="2933700"/>
            <a:ext cx="507679" cy="508000"/>
          </a:xfrm>
          <a:prstGeom prst="rect">
            <a:avLst/>
          </a:prstGeom>
        </p:spPr>
      </p:pic>
      <p:sp>
        <p:nvSpPr>
          <p:cNvPr id="20" name="TextBox 19"/>
          <p:cNvSpPr txBox="1"/>
          <p:nvPr/>
        </p:nvSpPr>
        <p:spPr>
          <a:xfrm>
            <a:off x="23749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ExternalDNS</a:t>
            </a:r>
          </a:p>
        </p:txBody>
      </p:sp>
      <p:cxnSp>
        <p:nvCxnSpPr>
          <p:cNvPr id="21" name="Connector 20"/>
          <p:cNvCxnSpPr/>
          <p:nvPr/>
        </p:nvCxnSpPr>
        <p:spPr>
          <a:xfrm flipV="1">
            <a:off x="3060700" y="1917700"/>
            <a:ext cx="0" cy="101600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060700" y="1917700"/>
            <a:ext cx="508000" cy="0"/>
          </a:xfrm>
          <a:prstGeom prst="line">
            <a:avLst/>
          </a:prstGeom>
          <a:ln w="2286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38200" y="3543300"/>
            <a:ext cx="4445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 ready endpoints</a:t>
            </a:r>
          </a:p>
        </p:txBody>
      </p:sp>
      <p:sp>
        <p:nvSpPr>
          <p:cNvPr id="24" name="Rounded Rectangle 23"/>
          <p:cNvSpPr/>
          <p:nvPr/>
        </p:nvSpPr>
        <p:spPr>
          <a:xfrm>
            <a:off x="838200" y="4076700"/>
            <a:ext cx="1778000" cy="635000"/>
          </a:xfrm>
          <a:prstGeom prst="roundRect">
            <a:avLst>
              <a:gd name="adj" fmla="val 14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8200" y="4076700"/>
            <a:ext cx="50800" cy="635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3"/>
          <a:stretch>
            <a:fillRect/>
          </a:stretch>
        </p:blipFill>
        <p:spPr>
          <a:xfrm>
            <a:off x="990600" y="4183472"/>
            <a:ext cx="431800" cy="421455"/>
          </a:xfrm>
          <a:prstGeom prst="rect">
            <a:avLst/>
          </a:prstGeom>
        </p:spPr>
      </p:pic>
      <p:sp>
        <p:nvSpPr>
          <p:cNvPr id="27" name="TextBox 26"/>
          <p:cNvSpPr txBox="1"/>
          <p:nvPr/>
        </p:nvSpPr>
        <p:spPr>
          <a:xfrm>
            <a:off x="1549400" y="4241800"/>
            <a:ext cx="889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28" name="Rounded Rectangle 27"/>
          <p:cNvSpPr/>
          <p:nvPr/>
        </p:nvSpPr>
        <p:spPr>
          <a:xfrm>
            <a:off x="3124200" y="4076700"/>
            <a:ext cx="2159000" cy="635000"/>
          </a:xfrm>
          <a:prstGeom prst="roundRect">
            <a:avLst>
              <a:gd name="adj" fmla="val 14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4200" y="4076700"/>
            <a:ext cx="50800" cy="635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mage.png"/>
          <p:cNvPicPr>
            <a:picLocks noChangeAspect="1"/>
          </p:cNvPicPr>
          <p:nvPr/>
        </p:nvPicPr>
        <p:blipFill>
          <a:blip r:embed="rId4"/>
          <a:stretch>
            <a:fillRect/>
          </a:stretch>
        </p:blipFill>
        <p:spPr>
          <a:xfrm>
            <a:off x="3276600" y="4178300"/>
            <a:ext cx="431800" cy="431800"/>
          </a:xfrm>
          <a:prstGeom prst="rect">
            <a:avLst/>
          </a:prstGeom>
        </p:spPr>
      </p:pic>
      <p:sp>
        <p:nvSpPr>
          <p:cNvPr id="31" name="TextBox 30"/>
          <p:cNvSpPr txBox="1"/>
          <p:nvPr/>
        </p:nvSpPr>
        <p:spPr>
          <a:xfrm>
            <a:off x="3835400" y="4241800"/>
            <a:ext cx="127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32" name="Connector 31"/>
          <p:cNvCxnSpPr/>
          <p:nvPr/>
        </p:nvCxnSpPr>
        <p:spPr>
          <a:xfrm>
            <a:off x="2616200" y="4381500"/>
            <a:ext cx="5080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336800" y="3848100"/>
            <a:ext cx="1066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DNS state</a:t>
            </a:r>
          </a:p>
        </p:txBody>
      </p:sp>
      <p:sp>
        <p:nvSpPr>
          <p:cNvPr id="34" name="TextBox 33"/>
          <p:cNvSpPr txBox="1"/>
          <p:nvPr/>
        </p:nvSpPr>
        <p:spPr>
          <a:xfrm>
            <a:off x="838200" y="4965700"/>
            <a:ext cx="4445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Authoritative application zone</a:t>
            </a:r>
          </a:p>
        </p:txBody>
      </p:sp>
      <p:sp>
        <p:nvSpPr>
          <p:cNvPr id="35" name="Rounded Rectangle 34"/>
          <p:cNvSpPr/>
          <p:nvPr/>
        </p:nvSpPr>
        <p:spPr>
          <a:xfrm>
            <a:off x="66802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680200" y="2476500"/>
            <a:ext cx="4902200" cy="406400"/>
          </a:xfrm>
          <a:prstGeom prst="rect">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rPr>
              <a:t>CLUSTER B</a:t>
            </a:r>
          </a:p>
        </p:txBody>
      </p:sp>
      <p:sp>
        <p:nvSpPr>
          <p:cNvPr id="38" name="Rounded Rectangle 37"/>
          <p:cNvSpPr/>
          <p:nvPr/>
        </p:nvSpPr>
        <p:spPr>
          <a:xfrm>
            <a:off x="77470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image.png"/>
          <p:cNvPicPr>
            <a:picLocks noChangeAspect="1"/>
          </p:cNvPicPr>
          <p:nvPr/>
        </p:nvPicPr>
        <p:blipFill>
          <a:blip r:embed="rId2"/>
          <a:stretch>
            <a:fillRect/>
          </a:stretch>
        </p:blipFill>
        <p:spPr>
          <a:xfrm>
            <a:off x="7836060" y="2933700"/>
            <a:ext cx="507679" cy="508000"/>
          </a:xfrm>
          <a:prstGeom prst="rect">
            <a:avLst/>
          </a:prstGeom>
        </p:spPr>
      </p:pic>
      <p:sp>
        <p:nvSpPr>
          <p:cNvPr id="40" name="TextBox 39"/>
          <p:cNvSpPr txBox="1"/>
          <p:nvPr/>
        </p:nvSpPr>
        <p:spPr>
          <a:xfrm>
            <a:off x="84455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ExternalDNS</a:t>
            </a:r>
          </a:p>
        </p:txBody>
      </p:sp>
      <p:cxnSp>
        <p:nvCxnSpPr>
          <p:cNvPr id="41" name="Connector 40"/>
          <p:cNvCxnSpPr/>
          <p:nvPr/>
        </p:nvCxnSpPr>
        <p:spPr>
          <a:xfrm flipV="1">
            <a:off x="9131300" y="1917700"/>
            <a:ext cx="0" cy="10160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8623300" y="1917700"/>
            <a:ext cx="508000" cy="0"/>
          </a:xfrm>
          <a:prstGeom prst="line">
            <a:avLst/>
          </a:prstGeom>
          <a:ln w="2286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908800" y="3543300"/>
            <a:ext cx="4445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 ready endpoints</a:t>
            </a:r>
          </a:p>
        </p:txBody>
      </p:sp>
      <p:sp>
        <p:nvSpPr>
          <p:cNvPr id="44" name="Rounded Rectangle 43"/>
          <p:cNvSpPr/>
          <p:nvPr/>
        </p:nvSpPr>
        <p:spPr>
          <a:xfrm>
            <a:off x="6908800" y="4076700"/>
            <a:ext cx="1778000" cy="635000"/>
          </a:xfrm>
          <a:prstGeom prst="roundRect">
            <a:avLst>
              <a:gd name="adj" fmla="val 14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908800" y="4076700"/>
            <a:ext cx="50800" cy="635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3"/>
          <a:stretch>
            <a:fillRect/>
          </a:stretch>
        </p:blipFill>
        <p:spPr>
          <a:xfrm>
            <a:off x="7061200" y="4183472"/>
            <a:ext cx="431800" cy="421455"/>
          </a:xfrm>
          <a:prstGeom prst="rect">
            <a:avLst/>
          </a:prstGeom>
        </p:spPr>
      </p:pic>
      <p:sp>
        <p:nvSpPr>
          <p:cNvPr id="47" name="TextBox 46"/>
          <p:cNvSpPr txBox="1"/>
          <p:nvPr/>
        </p:nvSpPr>
        <p:spPr>
          <a:xfrm>
            <a:off x="7620000" y="4241800"/>
            <a:ext cx="889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48" name="Rounded Rectangle 47"/>
          <p:cNvSpPr/>
          <p:nvPr/>
        </p:nvSpPr>
        <p:spPr>
          <a:xfrm>
            <a:off x="9194800" y="4076700"/>
            <a:ext cx="2159000" cy="635000"/>
          </a:xfrm>
          <a:prstGeom prst="roundRect">
            <a:avLst>
              <a:gd name="adj" fmla="val 14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194800" y="4076700"/>
            <a:ext cx="50800" cy="635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image.png"/>
          <p:cNvPicPr>
            <a:picLocks noChangeAspect="1"/>
          </p:cNvPicPr>
          <p:nvPr/>
        </p:nvPicPr>
        <p:blipFill>
          <a:blip r:embed="rId4"/>
          <a:stretch>
            <a:fillRect/>
          </a:stretch>
        </p:blipFill>
        <p:spPr>
          <a:xfrm>
            <a:off x="9347200" y="4178300"/>
            <a:ext cx="431800" cy="431800"/>
          </a:xfrm>
          <a:prstGeom prst="rect">
            <a:avLst/>
          </a:prstGeom>
        </p:spPr>
      </p:pic>
      <p:sp>
        <p:nvSpPr>
          <p:cNvPr id="51" name="TextBox 50"/>
          <p:cNvSpPr txBox="1"/>
          <p:nvPr/>
        </p:nvSpPr>
        <p:spPr>
          <a:xfrm>
            <a:off x="9906000" y="4241800"/>
            <a:ext cx="127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52" name="Connector 51"/>
          <p:cNvCxnSpPr/>
          <p:nvPr/>
        </p:nvCxnSpPr>
        <p:spPr>
          <a:xfrm>
            <a:off x="8686800" y="4381500"/>
            <a:ext cx="5080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407400" y="3848100"/>
            <a:ext cx="1066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DNS state</a:t>
            </a:r>
          </a:p>
        </p:txBody>
      </p:sp>
      <p:sp>
        <p:nvSpPr>
          <p:cNvPr id="54" name="TextBox 53"/>
          <p:cNvSpPr txBox="1"/>
          <p:nvPr/>
        </p:nvSpPr>
        <p:spPr>
          <a:xfrm>
            <a:off x="6908800" y="4965700"/>
            <a:ext cx="4445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Authoritative application zone</a:t>
            </a:r>
          </a:p>
        </p:txBody>
      </p:sp>
      <p:cxnSp>
        <p:nvCxnSpPr>
          <p:cNvPr id="55" name="Connector 54"/>
          <p:cNvCxnSpPr/>
          <p:nvPr/>
        </p:nvCxnSpPr>
        <p:spPr>
          <a:xfrm flipH="1">
            <a:off x="431800" y="4394200"/>
            <a:ext cx="406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431800" y="4394200"/>
            <a:ext cx="0" cy="11684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431800" y="5562600"/>
            <a:ext cx="11328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11760200" y="4394200"/>
            <a:ext cx="0" cy="11684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11353800" y="4394200"/>
            <a:ext cx="406400" cy="0"/>
          </a:xfrm>
          <a:prstGeom prst="line">
            <a:avLst/>
          </a:prstGeom>
          <a:ln w="22860">
            <a:solidFill>
              <a:srgbClr val="CF003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3175000" y="5664200"/>
            <a:ext cx="5842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CF0035"/>
                </a:solidFill>
                <a:latin typeface="Arial"/>
              </a:rPr>
              <a:t>Peer health is learned through DNS</a:t>
            </a:r>
          </a:p>
        </p:txBody>
      </p:sp>
      <p:sp>
        <p:nvSpPr>
          <p:cNvPr id="61" name="TextBox 60"/>
          <p:cNvSpPr txBox="1"/>
          <p:nvPr/>
        </p:nvSpPr>
        <p:spPr>
          <a:xfrm>
            <a:off x="609600" y="6083300"/>
            <a:ext cx="10972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One direction shown; each controller queries peer CoreDNS.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CURRENT IMPLEMENTATION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15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Two k8gb reconciliation loops feed DNS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TextBox 8"/>
          <p:cNvSpPr txBox="1"/>
          <p:nvPr/>
        </p:nvSpPr>
        <p:spPr>
          <a:xfrm>
            <a:off x="609600" y="1828800"/>
            <a:ext cx="7239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ZONE MEMBERSHIP + DELEGATION</a:t>
            </a:r>
          </a:p>
        </p:txBody>
      </p:sp>
      <p:sp>
        <p:nvSpPr>
          <p:cNvPr id="10" name="TextBox 9"/>
          <p:cNvSpPr txBox="1"/>
          <p:nvPr/>
        </p:nvSpPr>
        <p:spPr>
          <a:xfrm>
            <a:off x="8458200" y="1828800"/>
            <a:ext cx="31242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5D6F82"/>
                </a:solidFill>
                <a:latin typeface="Arial"/>
              </a:rPr>
              <a:t>ExternalDNS provider path</a:t>
            </a:r>
          </a:p>
        </p:txBody>
      </p:sp>
      <p:cxnSp>
        <p:nvCxnSpPr>
          <p:cNvPr id="11" name="Connector 10"/>
          <p:cNvCxnSpPr/>
          <p:nvPr/>
        </p:nvCxnSpPr>
        <p:spPr>
          <a:xfrm>
            <a:off x="3721100" y="2654300"/>
            <a:ext cx="7874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74000" y="2654300"/>
            <a:ext cx="5842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20300" y="3098800"/>
            <a:ext cx="0" cy="3302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721100" y="2921000"/>
            <a:ext cx="393700" cy="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14800" y="2921000"/>
            <a:ext cx="0" cy="93980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114800" y="3860800"/>
            <a:ext cx="3937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302000" y="3098800"/>
            <a:ext cx="0" cy="1727200"/>
          </a:xfrm>
          <a:prstGeom prst="line">
            <a:avLst/>
          </a:prstGeom>
          <a:ln w="2286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09600" y="22098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96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2800" y="23749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ZoneDelegation</a:t>
            </a:r>
          </a:p>
        </p:txBody>
      </p:sp>
      <p:sp>
        <p:nvSpPr>
          <p:cNvPr id="21" name="TextBox 20"/>
          <p:cNvSpPr txBox="1"/>
          <p:nvPr/>
        </p:nvSpPr>
        <p:spPr>
          <a:xfrm>
            <a:off x="812800" y="27432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Zone + DNS-server state</a:t>
            </a:r>
          </a:p>
        </p:txBody>
      </p:sp>
      <p:sp>
        <p:nvSpPr>
          <p:cNvPr id="22" name="Rounded Rectangle 21"/>
          <p:cNvSpPr/>
          <p:nvPr/>
        </p:nvSpPr>
        <p:spPr>
          <a:xfrm>
            <a:off x="4508500" y="22098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085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11700" y="23749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25" name="TextBox 24"/>
          <p:cNvSpPr txBox="1"/>
          <p:nvPr/>
        </p:nvSpPr>
        <p:spPr>
          <a:xfrm>
            <a:off x="4711700" y="27432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Delegation NS + addresses</a:t>
            </a:r>
          </a:p>
        </p:txBody>
      </p:sp>
      <p:sp>
        <p:nvSpPr>
          <p:cNvPr id="26" name="Rounded Rectangle 25"/>
          <p:cNvSpPr/>
          <p:nvPr/>
        </p:nvSpPr>
        <p:spPr>
          <a:xfrm>
            <a:off x="8458200" y="22098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582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mage.png"/>
          <p:cNvPicPr>
            <a:picLocks noChangeAspect="1"/>
          </p:cNvPicPr>
          <p:nvPr/>
        </p:nvPicPr>
        <p:blipFill>
          <a:blip r:embed="rId2"/>
          <a:stretch>
            <a:fillRect/>
          </a:stretch>
        </p:blipFill>
        <p:spPr>
          <a:xfrm>
            <a:off x="8610776" y="2374900"/>
            <a:ext cx="558447" cy="558800"/>
          </a:xfrm>
          <a:prstGeom prst="rect">
            <a:avLst/>
          </a:prstGeom>
        </p:spPr>
      </p:pic>
      <p:sp>
        <p:nvSpPr>
          <p:cNvPr id="29" name="TextBox 28"/>
          <p:cNvSpPr txBox="1"/>
          <p:nvPr/>
        </p:nvSpPr>
        <p:spPr>
          <a:xfrm>
            <a:off x="9296400" y="23749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ExternalDNS</a:t>
            </a:r>
          </a:p>
        </p:txBody>
      </p:sp>
      <p:sp>
        <p:nvSpPr>
          <p:cNvPr id="30" name="TextBox 29"/>
          <p:cNvSpPr txBox="1"/>
          <p:nvPr/>
        </p:nvSpPr>
        <p:spPr>
          <a:xfrm>
            <a:off x="9296400" y="27432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Sync parent records</a:t>
            </a:r>
          </a:p>
        </p:txBody>
      </p:sp>
      <p:sp>
        <p:nvSpPr>
          <p:cNvPr id="31" name="TextBox 30"/>
          <p:cNvSpPr txBox="1"/>
          <p:nvPr/>
        </p:nvSpPr>
        <p:spPr>
          <a:xfrm>
            <a:off x="4508500" y="3187700"/>
            <a:ext cx="33655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Zone configuration</a:t>
            </a:r>
          </a:p>
        </p:txBody>
      </p:sp>
      <p:sp>
        <p:nvSpPr>
          <p:cNvPr id="32" name="Rounded Rectangle 31"/>
          <p:cNvSpPr/>
          <p:nvPr/>
        </p:nvSpPr>
        <p:spPr>
          <a:xfrm>
            <a:off x="4508500" y="3429000"/>
            <a:ext cx="33655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085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mage.png"/>
          <p:cNvPicPr>
            <a:picLocks noChangeAspect="1"/>
          </p:cNvPicPr>
          <p:nvPr/>
        </p:nvPicPr>
        <p:blipFill>
          <a:blip r:embed="rId3"/>
          <a:stretch>
            <a:fillRect/>
          </a:stretch>
        </p:blipFill>
        <p:spPr>
          <a:xfrm>
            <a:off x="4660900" y="3581400"/>
            <a:ext cx="558800" cy="558800"/>
          </a:xfrm>
          <a:prstGeom prst="rect">
            <a:avLst/>
          </a:prstGeom>
        </p:spPr>
      </p:pic>
      <p:sp>
        <p:nvSpPr>
          <p:cNvPr id="35" name="TextBox 34"/>
          <p:cNvSpPr txBox="1"/>
          <p:nvPr/>
        </p:nvSpPr>
        <p:spPr>
          <a:xfrm>
            <a:off x="5346700" y="3594100"/>
            <a:ext cx="2349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36" name="TextBox 35"/>
          <p:cNvSpPr txBox="1"/>
          <p:nvPr/>
        </p:nvSpPr>
        <p:spPr>
          <a:xfrm>
            <a:off x="5346700" y="3962400"/>
            <a:ext cx="2349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Activate delegated zone</a:t>
            </a:r>
          </a:p>
        </p:txBody>
      </p:sp>
      <p:sp>
        <p:nvSpPr>
          <p:cNvPr id="37" name="TextBox 36"/>
          <p:cNvSpPr txBox="1"/>
          <p:nvPr/>
        </p:nvSpPr>
        <p:spPr>
          <a:xfrm>
            <a:off x="8458200" y="3187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Parent delegation</a:t>
            </a:r>
          </a:p>
        </p:txBody>
      </p:sp>
      <p:sp>
        <p:nvSpPr>
          <p:cNvPr id="38" name="Rounded Rectangle 37"/>
          <p:cNvSpPr/>
          <p:nvPr/>
        </p:nvSpPr>
        <p:spPr>
          <a:xfrm>
            <a:off x="8458200" y="3429000"/>
            <a:ext cx="31242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4582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61400" y="3594100"/>
            <a:ext cx="2743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Parent DNS</a:t>
            </a:r>
          </a:p>
        </p:txBody>
      </p:sp>
      <p:sp>
        <p:nvSpPr>
          <p:cNvPr id="41" name="TextBox 40"/>
          <p:cNvSpPr txBox="1"/>
          <p:nvPr/>
        </p:nvSpPr>
        <p:spPr>
          <a:xfrm>
            <a:off x="8661400" y="3962400"/>
            <a:ext cx="2743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NS + address records</a:t>
            </a:r>
          </a:p>
        </p:txBody>
      </p:sp>
      <p:sp>
        <p:nvSpPr>
          <p:cNvPr id="42" name="TextBox 41"/>
          <p:cNvSpPr txBox="1"/>
          <p:nvPr/>
        </p:nvSpPr>
        <p:spPr>
          <a:xfrm>
            <a:off x="990600" y="3759200"/>
            <a:ext cx="2159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087F85"/>
                </a:solidFill>
                <a:latin typeface="Arial"/>
              </a:rPr>
              <a:t>Peer DNS IPs</a:t>
            </a:r>
          </a:p>
        </p:txBody>
      </p:sp>
      <p:sp>
        <p:nvSpPr>
          <p:cNvPr id="43" name="TextBox 42"/>
          <p:cNvSpPr txBox="1"/>
          <p:nvPr/>
        </p:nvSpPr>
        <p:spPr>
          <a:xfrm>
            <a:off x="609600" y="4470400"/>
            <a:ext cx="10795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APPLICATION ANSWERS</a:t>
            </a:r>
          </a:p>
        </p:txBody>
      </p:sp>
      <p:sp>
        <p:nvSpPr>
          <p:cNvPr id="44" name="Rounded Rectangle 43"/>
          <p:cNvSpPr/>
          <p:nvPr/>
        </p:nvSpPr>
        <p:spPr>
          <a:xfrm>
            <a:off x="609600" y="48260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96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2800" y="49911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Gslb + readiness</a:t>
            </a:r>
          </a:p>
        </p:txBody>
      </p:sp>
      <p:sp>
        <p:nvSpPr>
          <p:cNvPr id="47" name="TextBox 46"/>
          <p:cNvSpPr txBox="1"/>
          <p:nvPr/>
        </p:nvSpPr>
        <p:spPr>
          <a:xfrm>
            <a:off x="812800" y="53594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Strategy + ready endpoints</a:t>
            </a:r>
          </a:p>
        </p:txBody>
      </p:sp>
      <p:sp>
        <p:nvSpPr>
          <p:cNvPr id="48" name="Rounded Rectangle 47"/>
          <p:cNvSpPr/>
          <p:nvPr/>
        </p:nvSpPr>
        <p:spPr>
          <a:xfrm>
            <a:off x="4508500" y="48260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085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11700" y="49911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51" name="TextBox 50"/>
          <p:cNvSpPr txBox="1"/>
          <p:nvPr/>
        </p:nvSpPr>
        <p:spPr>
          <a:xfrm>
            <a:off x="4711700" y="53594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Eligible application IPs</a:t>
            </a:r>
          </a:p>
        </p:txBody>
      </p:sp>
      <p:sp>
        <p:nvSpPr>
          <p:cNvPr id="52" name="Rounded Rectangle 51"/>
          <p:cNvSpPr/>
          <p:nvPr/>
        </p:nvSpPr>
        <p:spPr>
          <a:xfrm>
            <a:off x="8458200" y="48260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4582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image.png"/>
          <p:cNvPicPr>
            <a:picLocks noChangeAspect="1"/>
          </p:cNvPicPr>
          <p:nvPr/>
        </p:nvPicPr>
        <p:blipFill>
          <a:blip r:embed="rId3"/>
          <a:stretch>
            <a:fillRect/>
          </a:stretch>
        </p:blipFill>
        <p:spPr>
          <a:xfrm>
            <a:off x="8610600" y="4991100"/>
            <a:ext cx="558800" cy="558800"/>
          </a:xfrm>
          <a:prstGeom prst="rect">
            <a:avLst/>
          </a:prstGeom>
        </p:spPr>
      </p:pic>
      <p:sp>
        <p:nvSpPr>
          <p:cNvPr id="55" name="TextBox 54"/>
          <p:cNvSpPr txBox="1"/>
          <p:nvPr/>
        </p:nvSpPr>
        <p:spPr>
          <a:xfrm>
            <a:off x="9296400" y="49911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56" name="TextBox 55"/>
          <p:cNvSpPr txBox="1"/>
          <p:nvPr/>
        </p:nvSpPr>
        <p:spPr>
          <a:xfrm>
            <a:off x="9296400" y="53594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 answers</a:t>
            </a:r>
          </a:p>
        </p:txBody>
      </p:sp>
      <p:cxnSp>
        <p:nvCxnSpPr>
          <p:cNvPr id="57" name="Connector 56"/>
          <p:cNvCxnSpPr/>
          <p:nvPr/>
        </p:nvCxnSpPr>
        <p:spPr>
          <a:xfrm>
            <a:off x="3721100" y="5270500"/>
            <a:ext cx="7874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874000" y="5270500"/>
            <a:ext cx="5842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09600" y="6057900"/>
            <a:ext cx="10972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0">
                <a:solidFill>
                  <a:srgbClr val="5D6F82"/>
                </a:solidFill>
                <a:latin typeface="Arial"/>
              </a:rPr>
              <a:t>Membership refresh and application reconciliation run separately.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DECLARATIVE CONFIGURATION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16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steering with a declarative manifest</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is a Kubernetes custom resource.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05000"/>
            <a:ext cx="7112000" cy="3860800"/>
          </a:xfrm>
          <a:prstGeom prst="roundRect">
            <a:avLst>
              <a:gd name="adj" fmla="val 328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854200"/>
            <a:ext cx="7112000" cy="3860800"/>
          </a:xfrm>
          <a:prstGeom prst="roundRect">
            <a:avLst>
              <a:gd name="adj" fmla="val 328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1854200"/>
            <a:ext cx="7112000" cy="381000"/>
          </a:xfrm>
          <a:prstGeom prst="roundRect">
            <a:avLst>
              <a:gd name="adj" fmla="val 33333"/>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9600" y="2057400"/>
            <a:ext cx="7112000" cy="1778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63600" y="1943100"/>
            <a:ext cx="152400" cy="203200"/>
          </a:xfrm>
          <a:prstGeom prst="roundRect">
            <a:avLst>
              <a:gd name="adj" fmla="val 16666"/>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901700" y="20066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01700" y="20701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193800" y="1943100"/>
            <a:ext cx="2794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FFFFFF"/>
                </a:solidFill>
                <a:latin typeface="Courier New"/>
              </a:rPr>
              <a:t>gslb.yaml</a:t>
            </a:r>
          </a:p>
        </p:txBody>
      </p:sp>
      <p:sp>
        <p:nvSpPr>
          <p:cNvPr id="18" name="TextBox 17"/>
          <p:cNvSpPr txBox="1"/>
          <p:nvPr/>
        </p:nvSpPr>
        <p:spPr>
          <a:xfrm>
            <a:off x="4292600" y="1981200"/>
            <a:ext cx="3175000" cy="184150"/>
          </a:xfrm>
          <a:prstGeom prst="rect">
            <a:avLst/>
          </a:prstGeom>
          <a:noFill/>
        </p:spPr>
        <p:txBody>
          <a:bodyPr wrap="none" lIns="0" rIns="0" tIns="0" bIns="0" anchor="t">
            <a:noAutofit/>
          </a:bodyPr>
          <a:lstStyle/>
          <a:p>
            <a:pPr algn="r">
              <a:lnSpc>
                <a:spcPts val="1150"/>
              </a:lnSpc>
              <a:spcBef>
                <a:spcPts val="0"/>
              </a:spcBef>
              <a:spcAft>
                <a:spcPts val="0"/>
              </a:spcAft>
            </a:pPr>
            <a:r>
              <a:rPr sz="1000" b="1">
                <a:solidFill>
                  <a:srgbClr val="B8C8D9"/>
                </a:solidFill>
                <a:latin typeface="Arial"/>
              </a:rPr>
              <a:t>KUBERNETES CUSTOM RESOURCE</a:t>
            </a:r>
          </a:p>
        </p:txBody>
      </p:sp>
      <p:cxnSp>
        <p:nvCxnSpPr>
          <p:cNvPr id="19" name="Connector 18"/>
          <p:cNvCxnSpPr/>
          <p:nvPr/>
        </p:nvCxnSpPr>
        <p:spPr>
          <a:xfrm>
            <a:off x="609600" y="2235200"/>
            <a:ext cx="71120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7400" y="4826000"/>
            <a:ext cx="6756400" cy="825500"/>
          </a:xfrm>
          <a:prstGeom prst="roundRect">
            <a:avLst>
              <a:gd name="adj" fmla="val 9230"/>
            </a:avLst>
          </a:prstGeom>
          <a:solidFill>
            <a:srgbClr val="153B43"/>
          </a:solidFill>
          <a:ln w="12700">
            <a:solidFill>
              <a:srgbClr val="2F66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7400" y="4902200"/>
            <a:ext cx="38100" cy="673100"/>
          </a:xfrm>
          <a:prstGeom prst="rect">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1700" y="238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01</a:t>
            </a:r>
          </a:p>
        </p:txBody>
      </p:sp>
      <p:sp>
        <p:nvSpPr>
          <p:cNvPr id="23" name="TextBox 22"/>
          <p:cNvSpPr txBox="1"/>
          <p:nvPr/>
        </p:nvSpPr>
        <p:spPr>
          <a:xfrm>
            <a:off x="1282700" y="2336800"/>
            <a:ext cx="155727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apiVersion: </a:t>
            </a:r>
          </a:p>
        </p:txBody>
      </p:sp>
      <p:sp>
        <p:nvSpPr>
          <p:cNvPr id="24" name="TextBox 23"/>
          <p:cNvSpPr txBox="1"/>
          <p:nvPr/>
        </p:nvSpPr>
        <p:spPr>
          <a:xfrm>
            <a:off x="2837433" y="2336800"/>
            <a:ext cx="460476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k8gb.io/v1beta1</a:t>
            </a:r>
          </a:p>
        </p:txBody>
      </p:sp>
      <p:sp>
        <p:nvSpPr>
          <p:cNvPr id="25" name="TextBox 24"/>
          <p:cNvSpPr txBox="1"/>
          <p:nvPr/>
        </p:nvSpPr>
        <p:spPr>
          <a:xfrm>
            <a:off x="901700" y="264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02</a:t>
            </a:r>
          </a:p>
        </p:txBody>
      </p:sp>
      <p:sp>
        <p:nvSpPr>
          <p:cNvPr id="26" name="TextBox 25"/>
          <p:cNvSpPr txBox="1"/>
          <p:nvPr/>
        </p:nvSpPr>
        <p:spPr>
          <a:xfrm>
            <a:off x="1282700" y="2590800"/>
            <a:ext cx="77990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kind: </a:t>
            </a:r>
          </a:p>
        </p:txBody>
      </p:sp>
      <p:sp>
        <p:nvSpPr>
          <p:cNvPr id="27" name="TextBox 26"/>
          <p:cNvSpPr txBox="1"/>
          <p:nvPr/>
        </p:nvSpPr>
        <p:spPr>
          <a:xfrm>
            <a:off x="2060066" y="2590800"/>
            <a:ext cx="538213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Gslb</a:t>
            </a:r>
          </a:p>
        </p:txBody>
      </p:sp>
      <p:sp>
        <p:nvSpPr>
          <p:cNvPr id="28" name="TextBox 27"/>
          <p:cNvSpPr txBox="1"/>
          <p:nvPr/>
        </p:nvSpPr>
        <p:spPr>
          <a:xfrm>
            <a:off x="901700" y="289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03</a:t>
            </a:r>
          </a:p>
        </p:txBody>
      </p:sp>
      <p:sp>
        <p:nvSpPr>
          <p:cNvPr id="29" name="TextBox 28"/>
          <p:cNvSpPr txBox="1"/>
          <p:nvPr/>
        </p:nvSpPr>
        <p:spPr>
          <a:xfrm>
            <a:off x="1282700" y="2844800"/>
            <a:ext cx="11685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metadata:</a:t>
            </a:r>
          </a:p>
        </p:txBody>
      </p:sp>
      <p:sp>
        <p:nvSpPr>
          <p:cNvPr id="30" name="TextBox 29"/>
          <p:cNvSpPr txBox="1"/>
          <p:nvPr/>
        </p:nvSpPr>
        <p:spPr>
          <a:xfrm>
            <a:off x="901700" y="314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04</a:t>
            </a:r>
          </a:p>
        </p:txBody>
      </p:sp>
      <p:sp>
        <p:nvSpPr>
          <p:cNvPr id="31" name="TextBox 30"/>
          <p:cNvSpPr txBox="1"/>
          <p:nvPr/>
        </p:nvSpPr>
        <p:spPr>
          <a:xfrm>
            <a:off x="1282700" y="3098800"/>
            <a:ext cx="1039028"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32" name="TextBox 31"/>
          <p:cNvSpPr txBox="1"/>
          <p:nvPr/>
        </p:nvSpPr>
        <p:spPr>
          <a:xfrm>
            <a:off x="2319188" y="3098800"/>
            <a:ext cx="51230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test-gslb-failover</a:t>
            </a:r>
          </a:p>
        </p:txBody>
      </p:sp>
      <p:sp>
        <p:nvSpPr>
          <p:cNvPr id="33" name="TextBox 32"/>
          <p:cNvSpPr txBox="1"/>
          <p:nvPr/>
        </p:nvSpPr>
        <p:spPr>
          <a:xfrm>
            <a:off x="901700" y="340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05</a:t>
            </a:r>
          </a:p>
        </p:txBody>
      </p:sp>
      <p:sp>
        <p:nvSpPr>
          <p:cNvPr id="34" name="TextBox 33"/>
          <p:cNvSpPr txBox="1"/>
          <p:nvPr/>
        </p:nvSpPr>
        <p:spPr>
          <a:xfrm>
            <a:off x="1282700" y="3352800"/>
            <a:ext cx="1686834"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namespace: </a:t>
            </a:r>
          </a:p>
        </p:txBody>
      </p:sp>
      <p:sp>
        <p:nvSpPr>
          <p:cNvPr id="35" name="TextBox 34"/>
          <p:cNvSpPr txBox="1"/>
          <p:nvPr/>
        </p:nvSpPr>
        <p:spPr>
          <a:xfrm>
            <a:off x="2966994" y="3352800"/>
            <a:ext cx="447520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a:t>
            </a:r>
          </a:p>
        </p:txBody>
      </p:sp>
      <p:sp>
        <p:nvSpPr>
          <p:cNvPr id="36" name="TextBox 35"/>
          <p:cNvSpPr txBox="1"/>
          <p:nvPr/>
        </p:nvSpPr>
        <p:spPr>
          <a:xfrm>
            <a:off x="901700" y="365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06</a:t>
            </a:r>
          </a:p>
        </p:txBody>
      </p:sp>
      <p:sp>
        <p:nvSpPr>
          <p:cNvPr id="37" name="TextBox 36"/>
          <p:cNvSpPr txBox="1"/>
          <p:nvPr/>
        </p:nvSpPr>
        <p:spPr>
          <a:xfrm>
            <a:off x="1282700" y="3606800"/>
            <a:ext cx="65034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spec:</a:t>
            </a:r>
          </a:p>
        </p:txBody>
      </p:sp>
      <p:sp>
        <p:nvSpPr>
          <p:cNvPr id="38" name="TextBox 37"/>
          <p:cNvSpPr txBox="1"/>
          <p:nvPr/>
        </p:nvSpPr>
        <p:spPr>
          <a:xfrm>
            <a:off x="901700" y="391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07</a:t>
            </a:r>
          </a:p>
        </p:txBody>
      </p:sp>
      <p:sp>
        <p:nvSpPr>
          <p:cNvPr id="39" name="TextBox 38"/>
          <p:cNvSpPr txBox="1"/>
          <p:nvPr/>
        </p:nvSpPr>
        <p:spPr>
          <a:xfrm>
            <a:off x="1282700" y="3860800"/>
            <a:ext cx="181639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resourceRef:</a:t>
            </a:r>
          </a:p>
        </p:txBody>
      </p:sp>
      <p:sp>
        <p:nvSpPr>
          <p:cNvPr id="40" name="TextBox 39"/>
          <p:cNvSpPr txBox="1"/>
          <p:nvPr/>
        </p:nvSpPr>
        <p:spPr>
          <a:xfrm>
            <a:off x="901700" y="416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08</a:t>
            </a:r>
          </a:p>
        </p:txBody>
      </p:sp>
      <p:sp>
        <p:nvSpPr>
          <p:cNvPr id="41" name="TextBox 40"/>
          <p:cNvSpPr txBox="1"/>
          <p:nvPr/>
        </p:nvSpPr>
        <p:spPr>
          <a:xfrm>
            <a:off x="1282700" y="4114800"/>
            <a:ext cx="2075517"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apiVersion: </a:t>
            </a:r>
          </a:p>
        </p:txBody>
      </p:sp>
      <p:sp>
        <p:nvSpPr>
          <p:cNvPr id="42" name="TextBox 41"/>
          <p:cNvSpPr txBox="1"/>
          <p:nvPr/>
        </p:nvSpPr>
        <p:spPr>
          <a:xfrm>
            <a:off x="3355677" y="4114800"/>
            <a:ext cx="4086522"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gateway.networking.k8s.io/v1</a:t>
            </a:r>
          </a:p>
        </p:txBody>
      </p:sp>
      <p:sp>
        <p:nvSpPr>
          <p:cNvPr id="43" name="TextBox 42"/>
          <p:cNvSpPr txBox="1"/>
          <p:nvPr/>
        </p:nvSpPr>
        <p:spPr>
          <a:xfrm>
            <a:off x="901700" y="441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09</a:t>
            </a:r>
          </a:p>
        </p:txBody>
      </p:sp>
      <p:sp>
        <p:nvSpPr>
          <p:cNvPr id="44" name="TextBox 43"/>
          <p:cNvSpPr txBox="1"/>
          <p:nvPr/>
        </p:nvSpPr>
        <p:spPr>
          <a:xfrm>
            <a:off x="1282700" y="4368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kind: </a:t>
            </a:r>
          </a:p>
        </p:txBody>
      </p:sp>
      <p:sp>
        <p:nvSpPr>
          <p:cNvPr id="45" name="TextBox 44"/>
          <p:cNvSpPr txBox="1"/>
          <p:nvPr/>
        </p:nvSpPr>
        <p:spPr>
          <a:xfrm>
            <a:off x="2578310" y="4368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HTTPRoute</a:t>
            </a:r>
          </a:p>
        </p:txBody>
      </p:sp>
      <p:sp>
        <p:nvSpPr>
          <p:cNvPr id="46" name="TextBox 45"/>
          <p:cNvSpPr txBox="1"/>
          <p:nvPr/>
        </p:nvSpPr>
        <p:spPr>
          <a:xfrm>
            <a:off x="901700" y="467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10</a:t>
            </a:r>
          </a:p>
        </p:txBody>
      </p:sp>
      <p:sp>
        <p:nvSpPr>
          <p:cNvPr id="47" name="TextBox 46"/>
          <p:cNvSpPr txBox="1"/>
          <p:nvPr/>
        </p:nvSpPr>
        <p:spPr>
          <a:xfrm>
            <a:off x="1282700" y="4622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48" name="TextBox 47"/>
          <p:cNvSpPr txBox="1"/>
          <p:nvPr/>
        </p:nvSpPr>
        <p:spPr>
          <a:xfrm>
            <a:off x="2578310" y="4622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payments</a:t>
            </a:r>
          </a:p>
        </p:txBody>
      </p:sp>
      <p:sp>
        <p:nvSpPr>
          <p:cNvPr id="49" name="TextBox 48"/>
          <p:cNvSpPr txBox="1"/>
          <p:nvPr/>
        </p:nvSpPr>
        <p:spPr>
          <a:xfrm>
            <a:off x="901700" y="492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11</a:t>
            </a:r>
          </a:p>
        </p:txBody>
      </p:sp>
      <p:sp>
        <p:nvSpPr>
          <p:cNvPr id="50" name="TextBox 49"/>
          <p:cNvSpPr txBox="1"/>
          <p:nvPr/>
        </p:nvSpPr>
        <p:spPr>
          <a:xfrm>
            <a:off x="1282700" y="4876800"/>
            <a:ext cx="14277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strategy:</a:t>
            </a:r>
          </a:p>
        </p:txBody>
      </p:sp>
      <p:sp>
        <p:nvSpPr>
          <p:cNvPr id="51" name="TextBox 50"/>
          <p:cNvSpPr txBox="1"/>
          <p:nvPr/>
        </p:nvSpPr>
        <p:spPr>
          <a:xfrm>
            <a:off x="901700" y="518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12</a:t>
            </a:r>
          </a:p>
        </p:txBody>
      </p:sp>
      <p:sp>
        <p:nvSpPr>
          <p:cNvPr id="52" name="TextBox 51"/>
          <p:cNvSpPr txBox="1"/>
          <p:nvPr/>
        </p:nvSpPr>
        <p:spPr>
          <a:xfrm>
            <a:off x="1282700" y="5130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type: </a:t>
            </a:r>
          </a:p>
        </p:txBody>
      </p:sp>
      <p:sp>
        <p:nvSpPr>
          <p:cNvPr id="53" name="TextBox 52"/>
          <p:cNvSpPr txBox="1"/>
          <p:nvPr/>
        </p:nvSpPr>
        <p:spPr>
          <a:xfrm>
            <a:off x="2578310" y="5130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failover</a:t>
            </a:r>
          </a:p>
        </p:txBody>
      </p:sp>
      <p:sp>
        <p:nvSpPr>
          <p:cNvPr id="54" name="TextBox 53"/>
          <p:cNvSpPr txBox="1"/>
          <p:nvPr/>
        </p:nvSpPr>
        <p:spPr>
          <a:xfrm>
            <a:off x="901700" y="543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13</a:t>
            </a:r>
          </a:p>
        </p:txBody>
      </p:sp>
      <p:sp>
        <p:nvSpPr>
          <p:cNvPr id="55" name="TextBox 54"/>
          <p:cNvSpPr txBox="1"/>
          <p:nvPr/>
        </p:nvSpPr>
        <p:spPr>
          <a:xfrm>
            <a:off x="1282700" y="5384800"/>
            <a:ext cx="24642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primaryGeoTag: </a:t>
            </a:r>
          </a:p>
        </p:txBody>
      </p:sp>
      <p:sp>
        <p:nvSpPr>
          <p:cNvPr id="56" name="TextBox 55"/>
          <p:cNvSpPr txBox="1"/>
          <p:nvPr/>
        </p:nvSpPr>
        <p:spPr>
          <a:xfrm>
            <a:off x="3744360" y="5384800"/>
            <a:ext cx="369783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eu</a:t>
            </a:r>
          </a:p>
        </p:txBody>
      </p:sp>
      <p:sp>
        <p:nvSpPr>
          <p:cNvPr id="57" name="Rounded Rectangle 56"/>
          <p:cNvSpPr/>
          <p:nvPr/>
        </p:nvSpPr>
        <p:spPr>
          <a:xfrm>
            <a:off x="8102600" y="1905000"/>
            <a:ext cx="3479800" cy="1752600"/>
          </a:xfrm>
          <a:prstGeom prst="roundRect">
            <a:avLst>
              <a:gd name="adj" fmla="val 65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8102600" y="1854200"/>
            <a:ext cx="3479800" cy="1752600"/>
          </a:xfrm>
          <a:prstGeom prst="roundRect">
            <a:avLst>
              <a:gd name="adj" fmla="val 65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8356600" y="1866900"/>
            <a:ext cx="9398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60" name="Picture 59" descr="image.png"/>
          <p:cNvPicPr>
            <a:picLocks noChangeAspect="1"/>
          </p:cNvPicPr>
          <p:nvPr/>
        </p:nvPicPr>
        <p:blipFill>
          <a:blip r:embed="rId2"/>
          <a:stretch>
            <a:fillRect/>
          </a:stretch>
        </p:blipFill>
        <p:spPr>
          <a:xfrm>
            <a:off x="8356600" y="2095500"/>
            <a:ext cx="406400" cy="406400"/>
          </a:xfrm>
          <a:prstGeom prst="rect">
            <a:avLst/>
          </a:prstGeom>
        </p:spPr>
      </p:pic>
      <p:sp>
        <p:nvSpPr>
          <p:cNvPr id="61" name="TextBox 60"/>
          <p:cNvSpPr txBox="1"/>
          <p:nvPr/>
        </p:nvSpPr>
        <p:spPr>
          <a:xfrm>
            <a:off x="8940800" y="2146300"/>
            <a:ext cx="2387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Prefer cluster eu</a:t>
            </a:r>
          </a:p>
        </p:txBody>
      </p:sp>
      <p:sp>
        <p:nvSpPr>
          <p:cNvPr id="62" name="TextBox 61"/>
          <p:cNvSpPr txBox="1"/>
          <p:nvPr/>
        </p:nvSpPr>
        <p:spPr>
          <a:xfrm>
            <a:off x="8356600" y="2794000"/>
            <a:ext cx="29718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5D6F82"/>
                </a:solidFill>
                <a:latin typeface="Arial"/>
              </a:rPr>
              <a:t>While it has</a:t>
            </a:r>
          </a:p>
          <a:p>
            <a:pPr algn="l">
              <a:lnSpc>
                <a:spcPts val="2250"/>
              </a:lnSpc>
              <a:spcBef>
                <a:spcPts val="0"/>
              </a:spcBef>
              <a:spcAft>
                <a:spcPts val="0"/>
              </a:spcAft>
            </a:pPr>
            <a:r>
              <a:rPr sz="1800" b="0">
                <a:solidFill>
                  <a:srgbClr val="5D6F82"/>
                </a:solidFill>
                <a:latin typeface="Arial"/>
              </a:rPr>
              <a:t>eligible targets.</a:t>
            </a:r>
          </a:p>
        </p:txBody>
      </p:sp>
      <p:sp>
        <p:nvSpPr>
          <p:cNvPr id="63" name="Rounded Rectangle 62"/>
          <p:cNvSpPr/>
          <p:nvPr/>
        </p:nvSpPr>
        <p:spPr>
          <a:xfrm>
            <a:off x="8102600" y="3835400"/>
            <a:ext cx="3479800" cy="1930400"/>
          </a:xfrm>
          <a:prstGeom prst="roundRect">
            <a:avLst>
              <a:gd name="adj" fmla="val 59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8102600" y="3784600"/>
            <a:ext cx="3479800" cy="1930400"/>
          </a:xfrm>
          <a:prstGeom prst="roundRect">
            <a:avLst>
              <a:gd name="adj" fmla="val 59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356600" y="3797300"/>
            <a:ext cx="9398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8356600" y="4000500"/>
            <a:ext cx="29718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Deploy per cluster</a:t>
            </a:r>
          </a:p>
        </p:txBody>
      </p:sp>
      <p:sp>
        <p:nvSpPr>
          <p:cNvPr id="67" name="TextBox 66"/>
          <p:cNvSpPr txBox="1"/>
          <p:nvPr/>
        </p:nvSpPr>
        <p:spPr>
          <a:xfrm>
            <a:off x="8356600" y="4406900"/>
            <a:ext cx="2971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Same configuration</a:t>
            </a:r>
          </a:p>
        </p:txBody>
      </p:sp>
      <p:cxnSp>
        <p:nvCxnSpPr>
          <p:cNvPr id="68" name="Connector 67"/>
          <p:cNvCxnSpPr/>
          <p:nvPr/>
        </p:nvCxnSpPr>
        <p:spPr>
          <a:xfrm>
            <a:off x="9842500" y="4660900"/>
            <a:ext cx="0" cy="7620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90170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017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8425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668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8356600" y="4826000"/>
            <a:ext cx="1320800" cy="355600"/>
          </a:xfrm>
          <a:prstGeom prst="roundRect">
            <a:avLst>
              <a:gd name="adj" fmla="val 1785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4" name="Picture 73" descr="image.png"/>
          <p:cNvPicPr>
            <a:picLocks noChangeAspect="1"/>
          </p:cNvPicPr>
          <p:nvPr/>
        </p:nvPicPr>
        <p:blipFill>
          <a:blip r:embed="rId2"/>
          <a:stretch>
            <a:fillRect/>
          </a:stretch>
        </p:blipFill>
        <p:spPr>
          <a:xfrm>
            <a:off x="8470900" y="4864100"/>
            <a:ext cx="279400" cy="279400"/>
          </a:xfrm>
          <a:prstGeom prst="rect">
            <a:avLst/>
          </a:prstGeom>
        </p:spPr>
      </p:pic>
      <p:sp>
        <p:nvSpPr>
          <p:cNvPr id="75" name="TextBox 74"/>
          <p:cNvSpPr txBox="1"/>
          <p:nvPr/>
        </p:nvSpPr>
        <p:spPr>
          <a:xfrm>
            <a:off x="8890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eu</a:t>
            </a:r>
          </a:p>
        </p:txBody>
      </p:sp>
      <p:sp>
        <p:nvSpPr>
          <p:cNvPr id="76" name="Rounded Rectangle 75"/>
          <p:cNvSpPr/>
          <p:nvPr/>
        </p:nvSpPr>
        <p:spPr>
          <a:xfrm>
            <a:off x="10007600" y="4826000"/>
            <a:ext cx="1320800" cy="355600"/>
          </a:xfrm>
          <a:prstGeom prst="roundRect">
            <a:avLst>
              <a:gd name="adj" fmla="val 17857"/>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7" name="Picture 76" descr="image.png"/>
          <p:cNvPicPr>
            <a:picLocks noChangeAspect="1"/>
          </p:cNvPicPr>
          <p:nvPr/>
        </p:nvPicPr>
        <p:blipFill>
          <a:blip r:embed="rId2"/>
          <a:stretch>
            <a:fillRect/>
          </a:stretch>
        </p:blipFill>
        <p:spPr>
          <a:xfrm>
            <a:off x="10121900" y="4864100"/>
            <a:ext cx="279400" cy="279400"/>
          </a:xfrm>
          <a:prstGeom prst="rect">
            <a:avLst/>
          </a:prstGeom>
        </p:spPr>
      </p:pic>
      <p:sp>
        <p:nvSpPr>
          <p:cNvPr id="78" name="TextBox 77"/>
          <p:cNvSpPr txBox="1"/>
          <p:nvPr/>
        </p:nvSpPr>
        <p:spPr>
          <a:xfrm>
            <a:off x="10541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us</a:t>
            </a:r>
          </a:p>
        </p:txBody>
      </p:sp>
      <p:sp>
        <p:nvSpPr>
          <p:cNvPr id="79" name="TextBox 78"/>
          <p:cNvSpPr txBox="1"/>
          <p:nvPr/>
        </p:nvSpPr>
        <p:spPr>
          <a:xfrm>
            <a:off x="8280400" y="5384800"/>
            <a:ext cx="31242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5D6F82"/>
                </a:solidFill>
                <a:latin typeface="Arial"/>
              </a:rPr>
              <a:t>Each cluster observes health locally.</a:t>
            </a:r>
          </a:p>
        </p:txBody>
      </p:sp>
      <p:sp>
        <p:nvSpPr>
          <p:cNvPr id="80" name="Rounded Rectangle 7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The route, zone, and matching geotags are prerequisites.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DNS OWNERSHIP</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17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Delegation is the authority boundary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Parent DNS delegates the zone. CoreDNS answers application lookups.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937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32000"/>
            <a:ext cx="3937000" cy="2844800"/>
          </a:xfrm>
          <a:prstGeom prst="roundRect">
            <a:avLst>
              <a:gd name="adj" fmla="val 446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044700"/>
            <a:ext cx="13081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89000" y="2286000"/>
            <a:ext cx="2794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PARENT ZONE</a:t>
            </a:r>
          </a:p>
        </p:txBody>
      </p:sp>
      <p:sp>
        <p:nvSpPr>
          <p:cNvPr id="14" name="TextBox 13"/>
          <p:cNvSpPr txBox="1"/>
          <p:nvPr/>
        </p:nvSpPr>
        <p:spPr>
          <a:xfrm>
            <a:off x="889000" y="2578100"/>
            <a:ext cx="2921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example.com</a:t>
            </a:r>
          </a:p>
        </p:txBody>
      </p:sp>
      <p:sp>
        <p:nvSpPr>
          <p:cNvPr id="15" name="Oval 14"/>
          <p:cNvSpPr/>
          <p:nvPr/>
        </p:nvSpPr>
        <p:spPr>
          <a:xfrm>
            <a:off x="3848100" y="2349500"/>
            <a:ext cx="482600" cy="482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924300" y="2425700"/>
            <a:ext cx="330200" cy="330200"/>
          </a:xfrm>
          <a:prstGeom prst="ellipse">
            <a:avLst/>
          </a:prstGeom>
          <a:solidFill>
            <a:srgbClr val="EAF0FB"/>
          </a:solidFill>
          <a:ln w="1524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013200" y="2425700"/>
            <a:ext cx="152400" cy="330200"/>
          </a:xfrm>
          <a:prstGeom prst="ellipse">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3924300" y="2590800"/>
            <a:ext cx="3302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949700" y="25146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949700" y="26670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9000" y="3086100"/>
            <a:ext cx="33782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3600" y="3251200"/>
            <a:ext cx="3429000" cy="1143000"/>
          </a:xfrm>
          <a:prstGeom prst="roundRect">
            <a:avLst>
              <a:gd name="adj" fmla="val 777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1400" y="3378200"/>
            <a:ext cx="30734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NS RECORDS FOR</a:t>
            </a:r>
          </a:p>
        </p:txBody>
      </p:sp>
      <p:sp>
        <p:nvSpPr>
          <p:cNvPr id="24" name="TextBox 23"/>
          <p:cNvSpPr txBox="1"/>
          <p:nvPr/>
        </p:nvSpPr>
        <p:spPr>
          <a:xfrm>
            <a:off x="1041400" y="3606800"/>
            <a:ext cx="30734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142338"/>
                </a:solidFill>
                <a:latin typeface="Courier New"/>
              </a:rPr>
              <a:t>gslb.example.com</a:t>
            </a:r>
          </a:p>
        </p:txBody>
      </p:sp>
      <p:sp>
        <p:nvSpPr>
          <p:cNvPr id="25" name="Rounded Rectangle 24"/>
          <p:cNvSpPr/>
          <p:nvPr/>
        </p:nvSpPr>
        <p:spPr>
          <a:xfrm>
            <a:off x="1041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68400" y="4070350"/>
            <a:ext cx="76200" cy="762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6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2762C8"/>
                </a:solidFill>
                <a:latin typeface="Courier New"/>
              </a:rPr>
              <a:t>ns-a</a:t>
            </a:r>
          </a:p>
        </p:txBody>
      </p:sp>
      <p:sp>
        <p:nvSpPr>
          <p:cNvPr id="28" name="Rounded Rectangle 27"/>
          <p:cNvSpPr/>
          <p:nvPr/>
        </p:nvSpPr>
        <p:spPr>
          <a:xfrm>
            <a:off x="2565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692400" y="4070350"/>
            <a:ext cx="76200" cy="762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70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087F85"/>
                </a:solidFill>
                <a:latin typeface="Courier New"/>
              </a:rPr>
              <a:t>ns-b</a:t>
            </a:r>
          </a:p>
        </p:txBody>
      </p:sp>
      <p:sp>
        <p:nvSpPr>
          <p:cNvPr id="31" name="TextBox 30"/>
          <p:cNvSpPr txBox="1"/>
          <p:nvPr/>
        </p:nvSpPr>
        <p:spPr>
          <a:xfrm>
            <a:off x="863600" y="4559300"/>
            <a:ext cx="34290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5D6F82"/>
                </a:solidFill>
                <a:latin typeface="Arial"/>
              </a:rPr>
              <a:t>Nameserver addresses published too.</a:t>
            </a:r>
          </a:p>
        </p:txBody>
      </p:sp>
      <p:cxnSp>
        <p:nvCxnSpPr>
          <p:cNvPr id="32" name="Connector 31"/>
          <p:cNvCxnSpPr/>
          <p:nvPr/>
        </p:nvCxnSpPr>
        <p:spPr>
          <a:xfrm>
            <a:off x="5397500" y="2146300"/>
            <a:ext cx="0" cy="2590800"/>
          </a:xfrm>
          <a:prstGeom prst="line">
            <a:avLst/>
          </a:prstGeom>
          <a:ln w="15240">
            <a:solidFill>
              <a:srgbClr val="E7BCC7"/>
            </a:solidFill>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635500" y="3136900"/>
            <a:ext cx="152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DELEGATES</a:t>
            </a:r>
          </a:p>
        </p:txBody>
      </p:sp>
      <p:cxnSp>
        <p:nvCxnSpPr>
          <p:cNvPr id="34" name="Connector 33"/>
          <p:cNvCxnSpPr/>
          <p:nvPr/>
        </p:nvCxnSpPr>
        <p:spPr>
          <a:xfrm>
            <a:off x="4546600" y="3632200"/>
            <a:ext cx="1701800" cy="0"/>
          </a:xfrm>
          <a:prstGeom prst="line">
            <a:avLst/>
          </a:prstGeom>
          <a:ln w="3175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080000" y="3467100"/>
            <a:ext cx="635000" cy="330200"/>
          </a:xfrm>
          <a:prstGeom prst="roundRect">
            <a:avLst>
              <a:gd name="adj" fmla="val 23076"/>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68900" y="3517900"/>
            <a:ext cx="45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NS</a:t>
            </a:r>
          </a:p>
        </p:txBody>
      </p:sp>
      <p:sp>
        <p:nvSpPr>
          <p:cNvPr id="37" name="Rounded Rectangle 36"/>
          <p:cNvSpPr/>
          <p:nvPr/>
        </p:nvSpPr>
        <p:spPr>
          <a:xfrm>
            <a:off x="6248400" y="2082800"/>
            <a:ext cx="5334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248400" y="2032000"/>
            <a:ext cx="5334000" cy="2844800"/>
          </a:xfrm>
          <a:prstGeom prst="roundRect">
            <a:avLst>
              <a:gd name="adj" fmla="val 4464"/>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27800" y="2044700"/>
            <a:ext cx="17780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527800" y="2286000"/>
            <a:ext cx="4775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6DD3CE"/>
                </a:solidFill>
                <a:latin typeface="Arial"/>
              </a:rPr>
              <a:t>DELEGATED ZONE</a:t>
            </a:r>
          </a:p>
        </p:txBody>
      </p:sp>
      <p:sp>
        <p:nvSpPr>
          <p:cNvPr id="41" name="TextBox 40"/>
          <p:cNvSpPr txBox="1"/>
          <p:nvPr/>
        </p:nvSpPr>
        <p:spPr>
          <a:xfrm>
            <a:off x="6527800" y="2578100"/>
            <a:ext cx="47752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gslb.example.com</a:t>
            </a:r>
          </a:p>
        </p:txBody>
      </p:sp>
      <p:sp>
        <p:nvSpPr>
          <p:cNvPr id="42" name="Rounded Rectangle 41"/>
          <p:cNvSpPr/>
          <p:nvPr/>
        </p:nvSpPr>
        <p:spPr>
          <a:xfrm>
            <a:off x="65024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802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CLUSTER A</a:t>
            </a:r>
          </a:p>
        </p:txBody>
      </p:sp>
      <p:sp>
        <p:nvSpPr>
          <p:cNvPr id="44" name="TextBox 43"/>
          <p:cNvSpPr txBox="1"/>
          <p:nvPr/>
        </p:nvSpPr>
        <p:spPr>
          <a:xfrm>
            <a:off x="78994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ns-a</a:t>
            </a:r>
          </a:p>
        </p:txBody>
      </p:sp>
      <p:pic>
        <p:nvPicPr>
          <p:cNvPr id="45" name="Picture 44" descr="image.png"/>
          <p:cNvPicPr>
            <a:picLocks noChangeAspect="1"/>
          </p:cNvPicPr>
          <p:nvPr/>
        </p:nvPicPr>
        <p:blipFill>
          <a:blip r:embed="rId2"/>
          <a:stretch>
            <a:fillRect/>
          </a:stretch>
        </p:blipFill>
        <p:spPr>
          <a:xfrm>
            <a:off x="6680200" y="3733800"/>
            <a:ext cx="431800" cy="431800"/>
          </a:xfrm>
          <a:prstGeom prst="rect">
            <a:avLst/>
          </a:prstGeom>
        </p:spPr>
      </p:pic>
      <p:sp>
        <p:nvSpPr>
          <p:cNvPr id="46" name="TextBox 45"/>
          <p:cNvSpPr txBox="1"/>
          <p:nvPr/>
        </p:nvSpPr>
        <p:spPr>
          <a:xfrm>
            <a:off x="72390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47" name="Rounded Rectangle 46"/>
          <p:cNvSpPr/>
          <p:nvPr/>
        </p:nvSpPr>
        <p:spPr>
          <a:xfrm>
            <a:off x="90043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21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CLUSTER B</a:t>
            </a:r>
          </a:p>
        </p:txBody>
      </p:sp>
      <p:sp>
        <p:nvSpPr>
          <p:cNvPr id="49" name="TextBox 48"/>
          <p:cNvSpPr txBox="1"/>
          <p:nvPr/>
        </p:nvSpPr>
        <p:spPr>
          <a:xfrm>
            <a:off x="104013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ns-b</a:t>
            </a:r>
          </a:p>
        </p:txBody>
      </p:sp>
      <p:pic>
        <p:nvPicPr>
          <p:cNvPr id="50" name="Picture 49" descr="image.png"/>
          <p:cNvPicPr>
            <a:picLocks noChangeAspect="1"/>
          </p:cNvPicPr>
          <p:nvPr/>
        </p:nvPicPr>
        <p:blipFill>
          <a:blip r:embed="rId2"/>
          <a:stretch>
            <a:fillRect/>
          </a:stretch>
        </p:blipFill>
        <p:spPr>
          <a:xfrm>
            <a:off x="9182100" y="3733800"/>
            <a:ext cx="431800" cy="431800"/>
          </a:xfrm>
          <a:prstGeom prst="rect">
            <a:avLst/>
          </a:prstGeom>
        </p:spPr>
      </p:pic>
      <p:sp>
        <p:nvSpPr>
          <p:cNvPr id="51" name="TextBox 50"/>
          <p:cNvSpPr txBox="1"/>
          <p:nvPr/>
        </p:nvSpPr>
        <p:spPr>
          <a:xfrm>
            <a:off x="97409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52" name="TextBox 51"/>
          <p:cNvSpPr txBox="1"/>
          <p:nvPr/>
        </p:nvSpPr>
        <p:spPr>
          <a:xfrm>
            <a:off x="6527800" y="4508500"/>
            <a:ext cx="4775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Both serve the same application zone.</a:t>
            </a:r>
          </a:p>
        </p:txBody>
      </p:sp>
      <p:sp>
        <p:nvSpPr>
          <p:cNvPr id="53" name="Rounded Rectangle 52"/>
          <p:cNvSpPr/>
          <p:nvPr/>
        </p:nvSpPr>
        <p:spPr>
          <a:xfrm>
            <a:off x="609600" y="5118100"/>
            <a:ext cx="10972800" cy="571500"/>
          </a:xfrm>
          <a:prstGeom prst="roundRect">
            <a:avLst>
              <a:gd name="adj" fmla="val 1555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00100" y="5257800"/>
            <a:ext cx="3937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76300" y="5295900"/>
            <a:ext cx="241300" cy="242569"/>
          </a:xfrm>
          <a:prstGeom prst="rect">
            <a:avLst/>
          </a:prstGeom>
          <a:noFill/>
        </p:spPr>
        <p:txBody>
          <a:bodyPr wrap="none" lIns="0" rIns="0" tIns="0" bIns="0" anchor="t">
            <a:noAutofit/>
          </a:bodyPr>
          <a:lstStyle/>
          <a:p>
            <a:pPr algn="ctr">
              <a:lnSpc>
                <a:spcPts val="1609"/>
              </a:lnSpc>
              <a:spcBef>
                <a:spcPts val="0"/>
              </a:spcBef>
              <a:spcAft>
                <a:spcPts val="0"/>
              </a:spcAft>
            </a:pPr>
            <a:r>
              <a:rPr sz="1400" b="1">
                <a:solidFill>
                  <a:srgbClr val="2762C8"/>
                </a:solidFill>
                <a:latin typeface="Arial"/>
              </a:rPr>
              <a:t>A</a:t>
            </a:r>
          </a:p>
        </p:txBody>
      </p:sp>
      <p:sp>
        <p:nvSpPr>
          <p:cNvPr id="56" name="TextBox 55"/>
          <p:cNvSpPr txBox="1"/>
          <p:nvPr/>
        </p:nvSpPr>
        <p:spPr>
          <a:xfrm>
            <a:off x="1358900" y="5245100"/>
            <a:ext cx="472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app.gslb.example.com</a:t>
            </a:r>
          </a:p>
        </p:txBody>
      </p:sp>
      <p:cxnSp>
        <p:nvCxnSpPr>
          <p:cNvPr id="57" name="Connector 56"/>
          <p:cNvCxnSpPr/>
          <p:nvPr/>
        </p:nvCxnSpPr>
        <p:spPr>
          <a:xfrm>
            <a:off x="6121400" y="5410200"/>
            <a:ext cx="850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277100" y="5245100"/>
            <a:ext cx="4000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087F85"/>
                </a:solidFill>
                <a:latin typeface="Arial"/>
              </a:rPr>
              <a:t>Eligible application IPs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Own the name, the delegation, and DNS recovery.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DNS PORTABILITY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18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Choose parent DNS. Keep traffic steering.</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Managed or self-hosted: the application zone stays with CoreDNS.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46300"/>
            <a:ext cx="5181600" cy="1917700"/>
          </a:xfrm>
          <a:prstGeom prst="roundRect">
            <a:avLst>
              <a:gd name="adj" fmla="val 662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95500"/>
            <a:ext cx="5181600" cy="1917700"/>
          </a:xfrm>
          <a:prstGeom prst="roundRect">
            <a:avLst>
              <a:gd name="adj" fmla="val 662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914400" y="2108200"/>
            <a:ext cx="45720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4400" y="2349500"/>
            <a:ext cx="812800" cy="812800"/>
          </a:xfrm>
          <a:prstGeom prst="roundRect">
            <a:avLst>
              <a:gd name="adj" fmla="val 1875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30400" y="2374900"/>
            <a:ext cx="3556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Managed DNS</a:t>
            </a:r>
          </a:p>
        </p:txBody>
      </p:sp>
      <p:sp>
        <p:nvSpPr>
          <p:cNvPr id="15" name="TextBox 14"/>
          <p:cNvSpPr txBox="1"/>
          <p:nvPr/>
        </p:nvSpPr>
        <p:spPr>
          <a:xfrm>
            <a:off x="1930400" y="2819400"/>
            <a:ext cx="35560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5D6F82"/>
                </a:solidFill>
                <a:latin typeface="Arial"/>
              </a:rPr>
              <a:t>Operated by your provider</a:t>
            </a:r>
          </a:p>
        </p:txBody>
      </p:sp>
      <p:sp>
        <p:nvSpPr>
          <p:cNvPr id="16" name="Rounded Rectangle 15"/>
          <p:cNvSpPr/>
          <p:nvPr/>
        </p:nvSpPr>
        <p:spPr>
          <a:xfrm>
            <a:off x="914400" y="3403600"/>
            <a:ext cx="4572000" cy="3937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6800" y="3467100"/>
            <a:ext cx="426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2762C8"/>
                </a:solidFill>
                <a:latin typeface="Arial"/>
              </a:rPr>
              <a:t>Provider API</a:t>
            </a:r>
          </a:p>
        </p:txBody>
      </p:sp>
      <p:sp>
        <p:nvSpPr>
          <p:cNvPr id="18" name="Rounded Rectangle 17"/>
          <p:cNvSpPr/>
          <p:nvPr/>
        </p:nvSpPr>
        <p:spPr>
          <a:xfrm>
            <a:off x="6400800" y="2146300"/>
            <a:ext cx="5181600" cy="1917700"/>
          </a:xfrm>
          <a:prstGeom prst="roundRect">
            <a:avLst>
              <a:gd name="adj" fmla="val 662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2095500"/>
            <a:ext cx="5181600" cy="1917700"/>
          </a:xfrm>
          <a:prstGeom prst="roundRect">
            <a:avLst>
              <a:gd name="adj" fmla="val 662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705600" y="2108200"/>
            <a:ext cx="45720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705600" y="2349500"/>
            <a:ext cx="812800" cy="812800"/>
          </a:xfrm>
          <a:prstGeom prst="roundRect">
            <a:avLst>
              <a:gd name="adj" fmla="val 1875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21600" y="2374900"/>
            <a:ext cx="3556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Self-hosted DNS</a:t>
            </a:r>
          </a:p>
        </p:txBody>
      </p:sp>
      <p:sp>
        <p:nvSpPr>
          <p:cNvPr id="23" name="TextBox 22"/>
          <p:cNvSpPr txBox="1"/>
          <p:nvPr/>
        </p:nvSpPr>
        <p:spPr>
          <a:xfrm>
            <a:off x="7721600" y="2819400"/>
            <a:ext cx="35560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5D6F82"/>
                </a:solidFill>
                <a:latin typeface="Arial"/>
              </a:rPr>
              <a:t>Operated by your team · BIND9</a:t>
            </a:r>
          </a:p>
        </p:txBody>
      </p:sp>
      <p:sp>
        <p:nvSpPr>
          <p:cNvPr id="24" name="Rounded Rectangle 23"/>
          <p:cNvSpPr/>
          <p:nvPr/>
        </p:nvSpPr>
        <p:spPr>
          <a:xfrm>
            <a:off x="6705600" y="3403600"/>
            <a:ext cx="4572000" cy="3937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0" y="3467100"/>
            <a:ext cx="426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087F85"/>
                </a:solidFill>
                <a:latin typeface="Arial"/>
              </a:rPr>
              <a:t>RFC 2136 + TSIG</a:t>
            </a:r>
          </a:p>
        </p:txBody>
      </p:sp>
      <p:sp>
        <p:nvSpPr>
          <p:cNvPr id="26" name="Oval 25"/>
          <p:cNvSpPr/>
          <p:nvPr/>
        </p:nvSpPr>
        <p:spPr>
          <a:xfrm>
            <a:off x="1003300" y="2654300"/>
            <a:ext cx="254000" cy="2540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117600" y="2489200"/>
            <a:ext cx="330200" cy="3302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333500" y="2628900"/>
            <a:ext cx="279400" cy="279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30300" y="2768600"/>
            <a:ext cx="342900" cy="1397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858000" y="2489200"/>
            <a:ext cx="508000" cy="127000"/>
          </a:xfrm>
          <a:prstGeom prst="roundRect">
            <a:avLst>
              <a:gd name="adj" fmla="val 20000"/>
            </a:avLst>
          </a:prstGeom>
          <a:solidFill>
            <a:srgbClr val="FFFFFF"/>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6934200" y="2552700"/>
            <a:ext cx="1778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7258050" y="2533650"/>
            <a:ext cx="38100" cy="381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58000" y="2679700"/>
            <a:ext cx="508000" cy="127000"/>
          </a:xfrm>
          <a:prstGeom prst="roundRect">
            <a:avLst>
              <a:gd name="adj" fmla="val 20000"/>
            </a:avLst>
          </a:prstGeom>
          <a:solidFill>
            <a:srgbClr val="FFFFFF"/>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6934200" y="2743200"/>
            <a:ext cx="1778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7258050" y="2724150"/>
            <a:ext cx="38100" cy="381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858000" y="2870200"/>
            <a:ext cx="508000" cy="127000"/>
          </a:xfrm>
          <a:prstGeom prst="roundRect">
            <a:avLst>
              <a:gd name="adj" fmla="val 20000"/>
            </a:avLst>
          </a:prstGeom>
          <a:solidFill>
            <a:srgbClr val="FFFFFF"/>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Connector 36"/>
          <p:cNvCxnSpPr/>
          <p:nvPr/>
        </p:nvCxnSpPr>
        <p:spPr>
          <a:xfrm>
            <a:off x="6934200" y="2933700"/>
            <a:ext cx="1778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7258050" y="2914650"/>
            <a:ext cx="38100" cy="381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918200" y="2857500"/>
            <a:ext cx="355600" cy="355600"/>
          </a:xfrm>
          <a:prstGeom prst="ellipse">
            <a:avLst/>
          </a:prstGeom>
          <a:solidFill>
            <a:srgbClr val="F8FAFC"/>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18200" y="2959100"/>
            <a:ext cx="355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5D6F82"/>
                </a:solidFill>
                <a:latin typeface="Arial"/>
              </a:rPr>
              <a:t>OR</a:t>
            </a:r>
          </a:p>
        </p:txBody>
      </p:sp>
      <p:cxnSp>
        <p:nvCxnSpPr>
          <p:cNvPr id="41" name="Connector 40"/>
          <p:cNvCxnSpPr/>
          <p:nvPr/>
        </p:nvCxnSpPr>
        <p:spPr>
          <a:xfrm flipV="1">
            <a:off x="5181600" y="4229100"/>
            <a:ext cx="0" cy="21590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3200400" y="4229100"/>
            <a:ext cx="1981200" cy="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3200400" y="4013200"/>
            <a:ext cx="0" cy="215900"/>
          </a:xfrm>
          <a:prstGeom prst="line">
            <a:avLst/>
          </a:prstGeom>
          <a:ln w="2286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010400" y="4229100"/>
            <a:ext cx="0" cy="2159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010400" y="4229100"/>
            <a:ext cx="1981200" cy="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8991600" y="4013200"/>
            <a:ext cx="0" cy="215900"/>
          </a:xfrm>
          <a:prstGeom prst="line">
            <a:avLst/>
          </a:prstGeom>
          <a:ln w="2286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4216400" y="4445000"/>
            <a:ext cx="3759200" cy="660400"/>
          </a:xfrm>
          <a:prstGeom prst="roundRect">
            <a:avLst>
              <a:gd name="adj" fmla="val 1538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image.png"/>
          <p:cNvPicPr>
            <a:picLocks noChangeAspect="1"/>
          </p:cNvPicPr>
          <p:nvPr/>
        </p:nvPicPr>
        <p:blipFill>
          <a:blip r:embed="rId2"/>
          <a:stretch>
            <a:fillRect/>
          </a:stretch>
        </p:blipFill>
        <p:spPr>
          <a:xfrm>
            <a:off x="4394348" y="4546600"/>
            <a:ext cx="469603" cy="469900"/>
          </a:xfrm>
          <a:prstGeom prst="rect">
            <a:avLst/>
          </a:prstGeom>
        </p:spPr>
      </p:pic>
      <p:sp>
        <p:nvSpPr>
          <p:cNvPr id="49" name="TextBox 48"/>
          <p:cNvSpPr txBox="1"/>
          <p:nvPr/>
        </p:nvSpPr>
        <p:spPr>
          <a:xfrm>
            <a:off x="5041900" y="4521200"/>
            <a:ext cx="27432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ExternalDNS</a:t>
            </a:r>
          </a:p>
        </p:txBody>
      </p:sp>
      <p:sp>
        <p:nvSpPr>
          <p:cNvPr id="50" name="TextBox 49"/>
          <p:cNvSpPr txBox="1"/>
          <p:nvPr/>
        </p:nvSpPr>
        <p:spPr>
          <a:xfrm>
            <a:off x="5041900" y="4851400"/>
            <a:ext cx="2743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Arial"/>
              </a:rPr>
              <a:t>Updates parent-zone delegation</a:t>
            </a:r>
          </a:p>
        </p:txBody>
      </p:sp>
      <p:sp>
        <p:nvSpPr>
          <p:cNvPr id="51" name="Rounded Rectangle 50"/>
          <p:cNvSpPr/>
          <p:nvPr/>
        </p:nvSpPr>
        <p:spPr>
          <a:xfrm>
            <a:off x="609600" y="5321300"/>
            <a:ext cx="10972800" cy="952500"/>
          </a:xfrm>
          <a:prstGeom prst="roundRect">
            <a:avLst>
              <a:gd name="adj" fmla="val 10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63600" y="5461000"/>
            <a:ext cx="6350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B8C8D9"/>
                </a:solidFill>
                <a:latin typeface="Arial"/>
              </a:rPr>
              <a:t>SAME TRAFFIC STEERING IN EVERY CLUSTER</a:t>
            </a:r>
          </a:p>
        </p:txBody>
      </p:sp>
      <p:pic>
        <p:nvPicPr>
          <p:cNvPr id="53" name="Picture 52" descr="image.png"/>
          <p:cNvPicPr>
            <a:picLocks noChangeAspect="1"/>
          </p:cNvPicPr>
          <p:nvPr/>
        </p:nvPicPr>
        <p:blipFill>
          <a:blip r:embed="rId3"/>
          <a:stretch>
            <a:fillRect/>
          </a:stretch>
        </p:blipFill>
        <p:spPr>
          <a:xfrm>
            <a:off x="863600" y="5732415"/>
            <a:ext cx="393700" cy="384268"/>
          </a:xfrm>
          <a:prstGeom prst="rect">
            <a:avLst/>
          </a:prstGeom>
        </p:spPr>
      </p:pic>
      <p:sp>
        <p:nvSpPr>
          <p:cNvPr id="54" name="TextBox 53"/>
          <p:cNvSpPr txBox="1"/>
          <p:nvPr/>
        </p:nvSpPr>
        <p:spPr>
          <a:xfrm>
            <a:off x="1422400" y="5715000"/>
            <a:ext cx="24892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FFFFF"/>
                </a:solidFill>
                <a:latin typeface="Arial"/>
              </a:rPr>
              <a:t>Gslb + k8gb</a:t>
            </a:r>
          </a:p>
        </p:txBody>
      </p:sp>
      <p:cxnSp>
        <p:nvCxnSpPr>
          <p:cNvPr id="55" name="Connector 54"/>
          <p:cNvCxnSpPr/>
          <p:nvPr/>
        </p:nvCxnSpPr>
        <p:spPr>
          <a:xfrm>
            <a:off x="4013200" y="5930900"/>
            <a:ext cx="711200" cy="0"/>
          </a:xfrm>
          <a:prstGeom prst="line">
            <a:avLst/>
          </a:prstGeom>
          <a:ln w="22860">
            <a:solidFill>
              <a:srgbClr val="B8C8D9"/>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56" name="Picture 55" descr="image.png"/>
          <p:cNvPicPr>
            <a:picLocks noChangeAspect="1"/>
          </p:cNvPicPr>
          <p:nvPr/>
        </p:nvPicPr>
        <p:blipFill>
          <a:blip r:embed="rId4"/>
          <a:stretch>
            <a:fillRect/>
          </a:stretch>
        </p:blipFill>
        <p:spPr>
          <a:xfrm>
            <a:off x="4953000" y="5727700"/>
            <a:ext cx="393700" cy="393700"/>
          </a:xfrm>
          <a:prstGeom prst="rect">
            <a:avLst/>
          </a:prstGeom>
        </p:spPr>
      </p:pic>
      <p:sp>
        <p:nvSpPr>
          <p:cNvPr id="57" name="TextBox 56"/>
          <p:cNvSpPr txBox="1"/>
          <p:nvPr/>
        </p:nvSpPr>
        <p:spPr>
          <a:xfrm>
            <a:off x="5499100" y="5715000"/>
            <a:ext cx="18923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FFFFF"/>
                </a:solidFill>
                <a:latin typeface="Arial"/>
              </a:rPr>
              <a:t>CoreDNS</a:t>
            </a:r>
          </a:p>
        </p:txBody>
      </p:sp>
      <p:cxnSp>
        <p:nvCxnSpPr>
          <p:cNvPr id="58" name="Connector 57"/>
          <p:cNvCxnSpPr/>
          <p:nvPr/>
        </p:nvCxnSpPr>
        <p:spPr>
          <a:xfrm>
            <a:off x="7569200" y="5562600"/>
            <a:ext cx="0" cy="52070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7848600" y="5499100"/>
            <a:ext cx="345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Your choice of parent DNS.</a:t>
            </a:r>
          </a:p>
        </p:txBody>
      </p:sp>
      <p:sp>
        <p:nvSpPr>
          <p:cNvPr id="60" name="TextBox 59"/>
          <p:cNvSpPr txBox="1"/>
          <p:nvPr/>
        </p:nvSpPr>
        <p:spPr>
          <a:xfrm>
            <a:off x="7848600" y="5854700"/>
            <a:ext cx="34544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B8C8D9"/>
                </a:solidFill>
                <a:latin typeface="Arial"/>
              </a:rPr>
              <a:t>Your Gslb strategy stays the same.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FAILOVER / 01</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19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Normal operation: both authorities prefer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Both applications are ready. Cluster A is the preferred target.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FAILOVER / 02</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20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loses ready targets: publish 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unready; its DNS authority is still available.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UNREADY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25" name="Oval 24"/>
          <p:cNvSpPr/>
          <p:nvPr/>
        </p:nvSpPr>
        <p:spPr>
          <a:xfrm>
            <a:off x="45847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42" name="Oval 41"/>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FAILOVER / 03</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21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recovers: the strategy returns to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ready again. The primary preference returns.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DNS REALITY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22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new DNS answer is not an instant switch</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Detection, DNS publication and client recovery happen at different times.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28800" y="3556000"/>
            <a:ext cx="56896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8400" y="3556000"/>
            <a:ext cx="2844800" cy="0"/>
          </a:xfrm>
          <a:prstGeom prst="line">
            <a:avLst/>
          </a:prstGeom>
          <a:ln w="2540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96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FAILURE</a:t>
            </a:r>
          </a:p>
        </p:txBody>
      </p:sp>
      <p:sp>
        <p:nvSpPr>
          <p:cNvPr id="13" name="Rounded Rectangle 12"/>
          <p:cNvSpPr/>
          <p:nvPr/>
        </p:nvSpPr>
        <p:spPr>
          <a:xfrm>
            <a:off x="1447800" y="2489200"/>
            <a:ext cx="762000" cy="736600"/>
          </a:xfrm>
          <a:prstGeom prst="roundRect">
            <a:avLst>
              <a:gd name="adj" fmla="val 20689"/>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689100" y="3416300"/>
            <a:ext cx="279400" cy="279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637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01</a:t>
            </a:r>
          </a:p>
        </p:txBody>
      </p:sp>
      <p:sp>
        <p:nvSpPr>
          <p:cNvPr id="16" name="TextBox 15"/>
          <p:cNvSpPr txBox="1"/>
          <p:nvPr/>
        </p:nvSpPr>
        <p:spPr>
          <a:xfrm>
            <a:off x="6096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Workload or</a:t>
            </a:r>
          </a:p>
          <a:p>
            <a:pPr algn="ctr">
              <a:lnSpc>
                <a:spcPts val="2500"/>
              </a:lnSpc>
              <a:spcBef>
                <a:spcPts val="0"/>
              </a:spcBef>
              <a:spcAft>
                <a:spcPts val="0"/>
              </a:spcAft>
            </a:pPr>
            <a:r>
              <a:rPr sz="2000" b="0">
                <a:solidFill>
                  <a:srgbClr val="142338"/>
                </a:solidFill>
                <a:latin typeface="Arial"/>
              </a:rPr>
              <a:t>cluster fails</a:t>
            </a:r>
          </a:p>
        </p:txBody>
      </p:sp>
      <p:sp>
        <p:nvSpPr>
          <p:cNvPr id="17" name="TextBox 16"/>
          <p:cNvSpPr txBox="1"/>
          <p:nvPr/>
        </p:nvSpPr>
        <p:spPr>
          <a:xfrm>
            <a:off x="34544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2762C8"/>
                </a:solidFill>
                <a:latin typeface="Arial"/>
              </a:rPr>
              <a:t>DETECTION</a:t>
            </a:r>
          </a:p>
        </p:txBody>
      </p:sp>
      <p:sp>
        <p:nvSpPr>
          <p:cNvPr id="18" name="Rounded Rectangle 17"/>
          <p:cNvSpPr/>
          <p:nvPr/>
        </p:nvSpPr>
        <p:spPr>
          <a:xfrm>
            <a:off x="4292600" y="2489200"/>
            <a:ext cx="762000" cy="736600"/>
          </a:xfrm>
          <a:prstGeom prst="roundRect">
            <a:avLst>
              <a:gd name="adj" fmla="val 2068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33900" y="3416300"/>
            <a:ext cx="279400" cy="279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85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02</a:t>
            </a:r>
          </a:p>
        </p:txBody>
      </p:sp>
      <p:sp>
        <p:nvSpPr>
          <p:cNvPr id="21" name="TextBox 20"/>
          <p:cNvSpPr txBox="1"/>
          <p:nvPr/>
        </p:nvSpPr>
        <p:spPr>
          <a:xfrm>
            <a:off x="34544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Readiness +</a:t>
            </a:r>
          </a:p>
          <a:p>
            <a:pPr algn="ctr">
              <a:lnSpc>
                <a:spcPts val="2500"/>
              </a:lnSpc>
              <a:spcBef>
                <a:spcPts val="0"/>
              </a:spcBef>
              <a:spcAft>
                <a:spcPts val="0"/>
              </a:spcAft>
            </a:pPr>
            <a:r>
              <a:rPr sz="2000" b="0">
                <a:solidFill>
                  <a:srgbClr val="142338"/>
                </a:solidFill>
                <a:latin typeface="Arial"/>
              </a:rPr>
              <a:t>reconciliation</a:t>
            </a:r>
          </a:p>
        </p:txBody>
      </p:sp>
      <p:sp>
        <p:nvSpPr>
          <p:cNvPr id="22" name="TextBox 21"/>
          <p:cNvSpPr txBox="1"/>
          <p:nvPr/>
        </p:nvSpPr>
        <p:spPr>
          <a:xfrm>
            <a:off x="62992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PUBLICATION</a:t>
            </a:r>
          </a:p>
        </p:txBody>
      </p:sp>
      <p:sp>
        <p:nvSpPr>
          <p:cNvPr id="23" name="Rounded Rectangle 22"/>
          <p:cNvSpPr/>
          <p:nvPr/>
        </p:nvSpPr>
        <p:spPr>
          <a:xfrm>
            <a:off x="7137400" y="2489200"/>
            <a:ext cx="762000" cy="736600"/>
          </a:xfrm>
          <a:prstGeom prst="roundRect">
            <a:avLst>
              <a:gd name="adj" fmla="val 2068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78700" y="3416300"/>
            <a:ext cx="279400" cy="2794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533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03</a:t>
            </a:r>
          </a:p>
        </p:txBody>
      </p:sp>
      <p:sp>
        <p:nvSpPr>
          <p:cNvPr id="26" name="TextBox 25"/>
          <p:cNvSpPr txBox="1"/>
          <p:nvPr/>
        </p:nvSpPr>
        <p:spPr>
          <a:xfrm>
            <a:off x="62992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Authority serves</a:t>
            </a:r>
          </a:p>
          <a:p>
            <a:pPr algn="ctr">
              <a:lnSpc>
                <a:spcPts val="2500"/>
              </a:lnSpc>
              <a:spcBef>
                <a:spcPts val="0"/>
              </a:spcBef>
              <a:spcAft>
                <a:spcPts val="0"/>
              </a:spcAft>
            </a:pPr>
            <a:r>
              <a:rPr sz="2000" b="0">
                <a:solidFill>
                  <a:srgbClr val="142338"/>
                </a:solidFill>
                <a:latin typeface="Arial"/>
              </a:rPr>
              <a:t>new answer</a:t>
            </a:r>
          </a:p>
        </p:txBody>
      </p:sp>
      <p:sp>
        <p:nvSpPr>
          <p:cNvPr id="27" name="TextBox 26"/>
          <p:cNvSpPr txBox="1"/>
          <p:nvPr/>
        </p:nvSpPr>
        <p:spPr>
          <a:xfrm>
            <a:off x="91440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CLIENT</a:t>
            </a:r>
          </a:p>
        </p:txBody>
      </p:sp>
      <p:sp>
        <p:nvSpPr>
          <p:cNvPr id="28" name="Rounded Rectangle 27"/>
          <p:cNvSpPr/>
          <p:nvPr/>
        </p:nvSpPr>
        <p:spPr>
          <a:xfrm>
            <a:off x="9982200" y="2489200"/>
            <a:ext cx="762000" cy="736600"/>
          </a:xfrm>
          <a:prstGeom prst="roundRect">
            <a:avLst>
              <a:gd name="adj" fmla="val 20689"/>
            </a:avLst>
          </a:prstGeom>
          <a:solidFill>
            <a:srgbClr val="E9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23500" y="3416300"/>
            <a:ext cx="279400" cy="279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981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04</a:t>
            </a:r>
          </a:p>
        </p:txBody>
      </p:sp>
      <p:sp>
        <p:nvSpPr>
          <p:cNvPr id="31" name="TextBox 30"/>
          <p:cNvSpPr txBox="1"/>
          <p:nvPr/>
        </p:nvSpPr>
        <p:spPr>
          <a:xfrm>
            <a:off x="91440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Cache refresh +</a:t>
            </a:r>
          </a:p>
          <a:p>
            <a:pPr algn="ctr">
              <a:lnSpc>
                <a:spcPts val="2500"/>
              </a:lnSpc>
              <a:spcBef>
                <a:spcPts val="0"/>
              </a:spcBef>
              <a:spcAft>
                <a:spcPts val="0"/>
              </a:spcAft>
            </a:pPr>
            <a:r>
              <a:rPr sz="2000" b="0">
                <a:solidFill>
                  <a:srgbClr val="142338"/>
                </a:solidFill>
                <a:latin typeface="Arial"/>
              </a:rPr>
              <a:t>connection retries</a:t>
            </a:r>
          </a:p>
        </p:txBody>
      </p:sp>
      <p:cxnSp>
        <p:nvCxnSpPr>
          <p:cNvPr id="32" name="Connector 31"/>
          <p:cNvCxnSpPr/>
          <p:nvPr/>
        </p:nvCxnSpPr>
        <p:spPr>
          <a:xfrm>
            <a:off x="18288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600200" y="3035300"/>
            <a:ext cx="457200" cy="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6002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828800" y="2768600"/>
            <a:ext cx="0" cy="1397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1811020" y="2954020"/>
            <a:ext cx="35560" cy="3556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419600" y="2667000"/>
            <a:ext cx="508000" cy="368300"/>
          </a:xfrm>
          <a:prstGeom prst="roundRect">
            <a:avLst>
              <a:gd name="adj" fmla="val 13793"/>
            </a:avLst>
          </a:prstGeom>
          <a:solidFill>
            <a:srgbClr val="FFFFFF"/>
          </a:solidFill>
          <a:ln w="1905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4470400" y="2870200"/>
            <a:ext cx="889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559300" y="2768600"/>
            <a:ext cx="508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610100" y="2768600"/>
            <a:ext cx="76200" cy="1778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686300" y="2832100"/>
            <a:ext cx="63500" cy="1143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749800" y="2832100"/>
            <a:ext cx="1270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pic>
        <p:nvPicPr>
          <p:cNvPr id="43" name="Picture 42" descr="image.png"/>
          <p:cNvPicPr>
            <a:picLocks noChangeAspect="1"/>
          </p:cNvPicPr>
          <p:nvPr/>
        </p:nvPicPr>
        <p:blipFill>
          <a:blip r:embed="rId2"/>
          <a:stretch>
            <a:fillRect/>
          </a:stretch>
        </p:blipFill>
        <p:spPr>
          <a:xfrm>
            <a:off x="7277100" y="2616200"/>
            <a:ext cx="482600" cy="482600"/>
          </a:xfrm>
          <a:prstGeom prst="rect">
            <a:avLst/>
          </a:prstGeom>
        </p:spPr>
      </p:pic>
      <p:sp>
        <p:nvSpPr>
          <p:cNvPr id="44" name="Rounded Rectangle 43"/>
          <p:cNvSpPr/>
          <p:nvPr/>
        </p:nvSpPr>
        <p:spPr>
          <a:xfrm>
            <a:off x="10109200" y="2654300"/>
            <a:ext cx="508000" cy="393700"/>
          </a:xfrm>
          <a:prstGeom prst="roundRect">
            <a:avLst>
              <a:gd name="adj" fmla="val 12903"/>
            </a:avLst>
          </a:prstGeom>
          <a:solidFill>
            <a:srgbClr val="FFFFFF"/>
          </a:solidFill>
          <a:ln w="19050">
            <a:solidFill>
              <a:srgbClr val="1423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10109200" y="2768600"/>
            <a:ext cx="508000" cy="0"/>
          </a:xfrm>
          <a:prstGeom prst="line">
            <a:avLst/>
          </a:prstGeom>
          <a:ln w="13970">
            <a:solidFill>
              <a:srgbClr val="14233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10172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2362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299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10223500" y="2908300"/>
            <a:ext cx="76200" cy="508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0299700" y="2844800"/>
            <a:ext cx="165100" cy="1143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128000" y="3124200"/>
            <a:ext cx="16256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087F85"/>
                </a:solidFill>
                <a:latin typeface="Arial"/>
              </a:rPr>
              <a:t>CLIENT DELAY</a:t>
            </a:r>
          </a:p>
        </p:txBody>
      </p:sp>
      <p:sp>
        <p:nvSpPr>
          <p:cNvPr id="52" name="Oval 51"/>
          <p:cNvSpPr/>
          <p:nvPr/>
        </p:nvSpPr>
        <p:spPr>
          <a:xfrm>
            <a:off x="8788400" y="3403600"/>
            <a:ext cx="304800" cy="304800"/>
          </a:xfrm>
          <a:prstGeom prst="ellipse">
            <a:avLst/>
          </a:prstGeom>
          <a:solidFill>
            <a:srgbClr val="F8FAFC"/>
          </a:solidFill>
          <a:ln w="1905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8940800" y="3454400"/>
            <a:ext cx="0" cy="1016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940800" y="3556000"/>
            <a:ext cx="76200" cy="381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09600" y="4953000"/>
            <a:ext cx="52832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TIMING VARIES</a:t>
            </a:r>
          </a:p>
        </p:txBody>
      </p:sp>
      <p:sp>
        <p:nvSpPr>
          <p:cNvPr id="56" name="TextBox 55"/>
          <p:cNvSpPr txBox="1"/>
          <p:nvPr/>
        </p:nvSpPr>
        <p:spPr>
          <a:xfrm>
            <a:off x="609600" y="5168900"/>
            <a:ext cx="5283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Readiness · reconciliation · caches · retries</a:t>
            </a:r>
          </a:p>
        </p:txBody>
      </p:sp>
      <p:sp>
        <p:nvSpPr>
          <p:cNvPr id="57" name="Rounded Rectangle 56"/>
          <p:cNvSpPr/>
          <p:nvPr/>
        </p:nvSpPr>
        <p:spPr>
          <a:xfrm>
            <a:off x="6299200" y="4953000"/>
            <a:ext cx="5283200" cy="533400"/>
          </a:xfrm>
          <a:prstGeom prst="roundRect">
            <a:avLst>
              <a:gd name="adj" fmla="val 16666"/>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77000" y="5105400"/>
            <a:ext cx="4927600" cy="285750"/>
          </a:xfrm>
          <a:prstGeom prst="rect">
            <a:avLst/>
          </a:prstGeom>
          <a:noFill/>
        </p:spPr>
        <p:txBody>
          <a:bodyPr wrap="none" lIns="0" rIns="0" tIns="0" bIns="0" anchor="t">
            <a:noAutofit/>
          </a:bodyPr>
          <a:lstStyle/>
          <a:p>
            <a:pPr algn="ctr">
              <a:lnSpc>
                <a:spcPts val="1800"/>
              </a:lnSpc>
              <a:spcBef>
                <a:spcPts val="0"/>
              </a:spcBef>
              <a:spcAft>
                <a:spcPts val="0"/>
              </a:spcAft>
            </a:pPr>
            <a:r>
              <a:rPr sz="1800" b="1">
                <a:solidFill>
                  <a:srgbClr val="087F85"/>
                </a:solidFill>
                <a:latin typeface="Arial"/>
              </a:rPr>
              <a:t>New DNS answer ≠ recovered clients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Measure recovery at the resolver and application.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HEALTH SIGNALS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23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Readiness must mean safe to receive traffic</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Kubernetes runs the probes. k8gb reads EndpointSlice readiness.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46300"/>
            <a:ext cx="3225800" cy="1917700"/>
          </a:xfrm>
          <a:prstGeom prst="roundRect">
            <a:avLst>
              <a:gd name="adj" fmla="val 662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95500"/>
            <a:ext cx="3225800" cy="1917700"/>
          </a:xfrm>
          <a:prstGeom prst="roundRect">
            <a:avLst>
              <a:gd name="adj" fmla="val 662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63600" y="2108200"/>
            <a:ext cx="27178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38200" y="2311400"/>
            <a:ext cx="546100" cy="546100"/>
          </a:xfrm>
          <a:prstGeom prst="roundRect">
            <a:avLst>
              <a:gd name="adj" fmla="val 2093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24000" y="2413000"/>
            <a:ext cx="20828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Pod readiness</a:t>
            </a:r>
          </a:p>
        </p:txBody>
      </p:sp>
      <p:cxnSp>
        <p:nvCxnSpPr>
          <p:cNvPr id="15" name="Connector 14"/>
          <p:cNvCxnSpPr/>
          <p:nvPr/>
        </p:nvCxnSpPr>
        <p:spPr>
          <a:xfrm>
            <a:off x="3835400" y="3086100"/>
            <a:ext cx="6477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483100" y="2146300"/>
            <a:ext cx="3225800" cy="1917700"/>
          </a:xfrm>
          <a:prstGeom prst="roundRect">
            <a:avLst>
              <a:gd name="adj" fmla="val 662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83100" y="2095500"/>
            <a:ext cx="3225800" cy="1917700"/>
          </a:xfrm>
          <a:prstGeom prst="roundRect">
            <a:avLst>
              <a:gd name="adj" fmla="val 662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737100" y="2108200"/>
            <a:ext cx="27178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711700" y="2311400"/>
            <a:ext cx="546100" cy="546100"/>
          </a:xfrm>
          <a:prstGeom prst="roundRect">
            <a:avLst>
              <a:gd name="adj" fmla="val 2093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97500" y="2413000"/>
            <a:ext cx="20828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Host health</a:t>
            </a:r>
          </a:p>
        </p:txBody>
      </p:sp>
      <p:sp>
        <p:nvSpPr>
          <p:cNvPr id="21" name="TextBox 20"/>
          <p:cNvSpPr txBox="1"/>
          <p:nvPr/>
        </p:nvSpPr>
        <p:spPr>
          <a:xfrm>
            <a:off x="4737100" y="2997200"/>
            <a:ext cx="2717800" cy="586740"/>
          </a:xfrm>
          <a:prstGeom prst="rect">
            <a:avLst/>
          </a:prstGeom>
          <a:noFill/>
        </p:spPr>
        <p:txBody>
          <a:bodyPr wrap="none" lIns="0" rIns="0" tIns="0" bIns="0" anchor="t">
            <a:noAutofit/>
          </a:bodyPr>
          <a:lstStyle/>
          <a:p>
            <a:pPr algn="l">
              <a:lnSpc>
                <a:spcPts val="2160"/>
              </a:lnSpc>
              <a:spcBef>
                <a:spcPts val="0"/>
              </a:spcBef>
              <a:spcAft>
                <a:spcPts val="0"/>
              </a:spcAft>
            </a:pPr>
            <a:r>
              <a:rPr sz="1800" b="0">
                <a:solidFill>
                  <a:srgbClr val="5D6F82"/>
                </a:solidFill>
                <a:latin typeface="Arial"/>
              </a:rPr>
              <a:t>Combine Services</a:t>
            </a:r>
          </a:p>
          <a:p>
            <a:pPr algn="l">
              <a:lnSpc>
                <a:spcPts val="2160"/>
              </a:lnSpc>
              <a:spcBef>
                <a:spcPts val="0"/>
              </a:spcBef>
              <a:spcAft>
                <a:spcPts val="0"/>
              </a:spcAft>
            </a:pPr>
            <a:r>
              <a:rPr sz="1800" b="0">
                <a:solidFill>
                  <a:srgbClr val="5D6F82"/>
                </a:solidFill>
                <a:latin typeface="Arial"/>
              </a:rPr>
              <a:t>for the same host.</a:t>
            </a:r>
          </a:p>
        </p:txBody>
      </p:sp>
      <p:cxnSp>
        <p:nvCxnSpPr>
          <p:cNvPr id="22" name="Connector 21"/>
          <p:cNvCxnSpPr/>
          <p:nvPr/>
        </p:nvCxnSpPr>
        <p:spPr>
          <a:xfrm>
            <a:off x="7708900" y="3086100"/>
            <a:ext cx="6477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356600" y="2146300"/>
            <a:ext cx="3225800" cy="1917700"/>
          </a:xfrm>
          <a:prstGeom prst="roundRect">
            <a:avLst>
              <a:gd name="adj" fmla="val 662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356600" y="2095500"/>
            <a:ext cx="3225800" cy="1917700"/>
          </a:xfrm>
          <a:prstGeom prst="roundRect">
            <a:avLst>
              <a:gd name="adj" fmla="val 662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8610600" y="2108200"/>
            <a:ext cx="27178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585200" y="2311400"/>
            <a:ext cx="546100" cy="546100"/>
          </a:xfrm>
          <a:prstGeom prst="roundRect">
            <a:avLst>
              <a:gd name="adj" fmla="val 2093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71000" y="2413000"/>
            <a:ext cx="20828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Gslb targets</a:t>
            </a:r>
          </a:p>
        </p:txBody>
      </p:sp>
      <p:sp>
        <p:nvSpPr>
          <p:cNvPr id="28" name="TextBox 27"/>
          <p:cNvSpPr txBox="1"/>
          <p:nvPr/>
        </p:nvSpPr>
        <p:spPr>
          <a:xfrm>
            <a:off x="8610600" y="2997200"/>
            <a:ext cx="2717800" cy="586740"/>
          </a:xfrm>
          <a:prstGeom prst="rect">
            <a:avLst/>
          </a:prstGeom>
          <a:noFill/>
        </p:spPr>
        <p:txBody>
          <a:bodyPr wrap="none" lIns="0" rIns="0" tIns="0" bIns="0" anchor="t">
            <a:noAutofit/>
          </a:bodyPr>
          <a:lstStyle/>
          <a:p>
            <a:pPr algn="l">
              <a:lnSpc>
                <a:spcPts val="2160"/>
              </a:lnSpc>
              <a:spcBef>
                <a:spcPts val="0"/>
              </a:spcBef>
              <a:spcAft>
                <a:spcPts val="0"/>
              </a:spcAft>
            </a:pPr>
            <a:r>
              <a:rPr sz="1800" b="0">
                <a:solidFill>
                  <a:srgbClr val="5D6F82"/>
                </a:solidFill>
                <a:latin typeface="Arial"/>
              </a:rPr>
              <a:t>Local health informs</a:t>
            </a:r>
          </a:p>
          <a:p>
            <a:pPr algn="l">
              <a:lnSpc>
                <a:spcPts val="2160"/>
              </a:lnSpc>
              <a:spcBef>
                <a:spcPts val="0"/>
              </a:spcBef>
              <a:spcAft>
                <a:spcPts val="0"/>
              </a:spcAft>
            </a:pPr>
            <a:r>
              <a:rPr sz="1800" b="0">
                <a:solidFill>
                  <a:srgbClr val="5D6F82"/>
                </a:solidFill>
                <a:latin typeface="Arial"/>
              </a:rPr>
              <a:t>target selection.</a:t>
            </a:r>
          </a:p>
        </p:txBody>
      </p:sp>
      <p:pic>
        <p:nvPicPr>
          <p:cNvPr id="29" name="Picture 28" descr="image.png"/>
          <p:cNvPicPr>
            <a:picLocks noChangeAspect="1"/>
          </p:cNvPicPr>
          <p:nvPr/>
        </p:nvPicPr>
        <p:blipFill>
          <a:blip r:embed="rId2"/>
          <a:stretch>
            <a:fillRect/>
          </a:stretch>
        </p:blipFill>
        <p:spPr>
          <a:xfrm>
            <a:off x="889000" y="2362200"/>
            <a:ext cx="444500" cy="444500"/>
          </a:xfrm>
          <a:prstGeom prst="rect">
            <a:avLst/>
          </a:prstGeom>
        </p:spPr>
      </p:pic>
      <p:sp>
        <p:nvSpPr>
          <p:cNvPr id="30" name="TextBox 29"/>
          <p:cNvSpPr txBox="1"/>
          <p:nvPr/>
        </p:nvSpPr>
        <p:spPr>
          <a:xfrm>
            <a:off x="863600" y="2971800"/>
            <a:ext cx="27178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2762C8"/>
                </a:solidFill>
                <a:latin typeface="Courier New"/>
              </a:rPr>
              <a:t>readinessProbe</a:t>
            </a:r>
          </a:p>
        </p:txBody>
      </p:sp>
      <p:sp>
        <p:nvSpPr>
          <p:cNvPr id="31" name="TextBox 30"/>
          <p:cNvSpPr txBox="1"/>
          <p:nvPr/>
        </p:nvSpPr>
        <p:spPr>
          <a:xfrm>
            <a:off x="863600" y="3263900"/>
            <a:ext cx="27178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5D6F82"/>
                </a:solidFill>
                <a:latin typeface="Arial"/>
              </a:rPr>
              <a:t>↓ Pod Ready</a:t>
            </a:r>
          </a:p>
        </p:txBody>
      </p:sp>
      <p:sp>
        <p:nvSpPr>
          <p:cNvPr id="32" name="TextBox 31"/>
          <p:cNvSpPr txBox="1"/>
          <p:nvPr/>
        </p:nvSpPr>
        <p:spPr>
          <a:xfrm>
            <a:off x="863600" y="3556000"/>
            <a:ext cx="2717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 EndpointSlice readiness</a:t>
            </a:r>
          </a:p>
        </p:txBody>
      </p:sp>
      <p:cxnSp>
        <p:nvCxnSpPr>
          <p:cNvPr id="33" name="Connector 32"/>
          <p:cNvCxnSpPr/>
          <p:nvPr/>
        </p:nvCxnSpPr>
        <p:spPr>
          <a:xfrm>
            <a:off x="4838700" y="2425700"/>
            <a:ext cx="1651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003800" y="2425700"/>
            <a:ext cx="0" cy="15240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003800" y="2578100"/>
            <a:ext cx="1270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4791710" y="2391410"/>
            <a:ext cx="68580" cy="68580"/>
          </a:xfrm>
          <a:prstGeom prst="ellipse">
            <a:avLst/>
          </a:prstGeom>
          <a:solidFill>
            <a:srgbClr val="E8F4F3"/>
          </a:solidFill>
          <a:ln w="1524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Connector 36"/>
          <p:cNvCxnSpPr/>
          <p:nvPr/>
        </p:nvCxnSpPr>
        <p:spPr>
          <a:xfrm>
            <a:off x="4838700" y="2578100"/>
            <a:ext cx="1651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5003800" y="2578100"/>
            <a:ext cx="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003800" y="2578100"/>
            <a:ext cx="1270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4791710" y="2543810"/>
            <a:ext cx="68580" cy="68580"/>
          </a:xfrm>
          <a:prstGeom prst="ellipse">
            <a:avLst/>
          </a:prstGeom>
          <a:solidFill>
            <a:srgbClr val="E8F4F3"/>
          </a:solidFill>
          <a:ln w="1524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4838700" y="2730500"/>
            <a:ext cx="1651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5003800" y="2578100"/>
            <a:ext cx="0" cy="15240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5003800" y="2578100"/>
            <a:ext cx="1270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4791710" y="2696210"/>
            <a:ext cx="68580" cy="68580"/>
          </a:xfrm>
          <a:prstGeom prst="ellipse">
            <a:avLst/>
          </a:prstGeom>
          <a:solidFill>
            <a:srgbClr val="E8F4F3"/>
          </a:solidFill>
          <a:ln w="1524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5080000" y="2527300"/>
            <a:ext cx="101600" cy="1016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4737100" y="3632200"/>
            <a:ext cx="1587500" cy="317500"/>
          </a:xfrm>
          <a:prstGeom prst="roundRect">
            <a:avLst>
              <a:gd name="adj" fmla="val 480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800600" y="3683000"/>
            <a:ext cx="14605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087F85"/>
                </a:solidFill>
                <a:latin typeface="Arial"/>
              </a:rPr>
              <a:t>Any (default)</a:t>
            </a:r>
          </a:p>
        </p:txBody>
      </p:sp>
      <p:sp>
        <p:nvSpPr>
          <p:cNvPr id="48" name="Rounded Rectangle 47"/>
          <p:cNvSpPr/>
          <p:nvPr/>
        </p:nvSpPr>
        <p:spPr>
          <a:xfrm>
            <a:off x="6464300" y="3632200"/>
            <a:ext cx="990600" cy="317500"/>
          </a:xfrm>
          <a:prstGeom prst="roundRect">
            <a:avLst>
              <a:gd name="adj" fmla="val 480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27800" y="3683000"/>
            <a:ext cx="863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087F85"/>
                </a:solidFill>
                <a:latin typeface="Arial"/>
              </a:rPr>
              <a:t>All</a:t>
            </a:r>
          </a:p>
        </p:txBody>
      </p:sp>
      <p:pic>
        <p:nvPicPr>
          <p:cNvPr id="50" name="Picture 49" descr="image.png"/>
          <p:cNvPicPr>
            <a:picLocks noChangeAspect="1"/>
          </p:cNvPicPr>
          <p:nvPr/>
        </p:nvPicPr>
        <p:blipFill>
          <a:blip r:embed="rId3"/>
          <a:stretch>
            <a:fillRect/>
          </a:stretch>
        </p:blipFill>
        <p:spPr>
          <a:xfrm>
            <a:off x="8636000" y="2367524"/>
            <a:ext cx="444500" cy="433851"/>
          </a:xfrm>
          <a:prstGeom prst="rect">
            <a:avLst/>
          </a:prstGeom>
        </p:spPr>
      </p:pic>
      <p:sp>
        <p:nvSpPr>
          <p:cNvPr id="51" name="TextBox 50"/>
          <p:cNvSpPr txBox="1"/>
          <p:nvPr/>
        </p:nvSpPr>
        <p:spPr>
          <a:xfrm>
            <a:off x="8610600" y="3733800"/>
            <a:ext cx="27178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ELIGIBLE APPLICATION IPs</a:t>
            </a:r>
          </a:p>
        </p:txBody>
      </p:sp>
      <p:sp>
        <p:nvSpPr>
          <p:cNvPr id="52" name="Rounded Rectangle 51"/>
          <p:cNvSpPr/>
          <p:nvPr/>
        </p:nvSpPr>
        <p:spPr>
          <a:xfrm>
            <a:off x="609600" y="4318000"/>
            <a:ext cx="10972800" cy="1308100"/>
          </a:xfrm>
          <a:prstGeom prst="roundRect">
            <a:avLst>
              <a:gd name="adj" fmla="val 873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89000" y="4483100"/>
            <a:ext cx="10414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Can this instance handle the real request?</a:t>
            </a:r>
          </a:p>
        </p:txBody>
      </p:sp>
      <p:sp>
        <p:nvSpPr>
          <p:cNvPr id="54" name="TextBox 53"/>
          <p:cNvSpPr txBox="1"/>
          <p:nvPr/>
        </p:nvSpPr>
        <p:spPr>
          <a:xfrm>
            <a:off x="1397000" y="5092700"/>
            <a:ext cx="29972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B8C8D9"/>
                </a:solidFill>
                <a:latin typeface="Arial"/>
              </a:rPr>
              <a:t>Database role</a:t>
            </a:r>
          </a:p>
        </p:txBody>
      </p:sp>
      <p:sp>
        <p:nvSpPr>
          <p:cNvPr id="55" name="TextBox 54"/>
          <p:cNvSpPr txBox="1"/>
          <p:nvPr/>
        </p:nvSpPr>
        <p:spPr>
          <a:xfrm>
            <a:off x="4978400" y="5092700"/>
            <a:ext cx="29972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B8C8D9"/>
                </a:solidFill>
                <a:latin typeface="Arial"/>
              </a:rPr>
              <a:t>Critical dependencies</a:t>
            </a:r>
          </a:p>
        </p:txBody>
      </p:sp>
      <p:sp>
        <p:nvSpPr>
          <p:cNvPr id="56" name="TextBox 55"/>
          <p:cNvSpPr txBox="1"/>
          <p:nvPr/>
        </p:nvSpPr>
        <p:spPr>
          <a:xfrm>
            <a:off x="8991600" y="5092700"/>
            <a:ext cx="29972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B8C8D9"/>
                </a:solidFill>
                <a:latin typeface="Arial"/>
              </a:rPr>
              <a:t>Correct result</a:t>
            </a:r>
          </a:p>
        </p:txBody>
      </p:sp>
      <p:sp>
        <p:nvSpPr>
          <p:cNvPr id="57" name="Rectangle 56"/>
          <p:cNvSpPr/>
          <p:nvPr/>
        </p:nvSpPr>
        <p:spPr>
          <a:xfrm>
            <a:off x="914400" y="5105400"/>
            <a:ext cx="279400" cy="203200"/>
          </a:xfrm>
          <a:prstGeom prst="rect">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914400" y="5257800"/>
            <a:ext cx="279400" cy="101600"/>
          </a:xfrm>
          <a:prstGeom prst="ellipse">
            <a:avLst/>
          </a:prstGeom>
          <a:solidFill>
            <a:srgbClr val="142338"/>
          </a:solidFill>
          <a:ln w="15240">
            <a:solidFill>
              <a:srgbClr val="6DD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914400" y="5105400"/>
            <a:ext cx="0" cy="203200"/>
          </a:xfrm>
          <a:prstGeom prst="line">
            <a:avLst/>
          </a:prstGeom>
          <a:ln w="15240">
            <a:solidFill>
              <a:srgbClr val="6DD3CE"/>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193800" y="5105400"/>
            <a:ext cx="0" cy="203200"/>
          </a:xfrm>
          <a:prstGeom prst="line">
            <a:avLst/>
          </a:prstGeom>
          <a:ln w="15240">
            <a:solidFill>
              <a:srgbClr val="6DD3CE"/>
            </a:solidFill>
          </a:ln>
        </p:spPr>
        <p:style>
          <a:lnRef idx="2">
            <a:schemeClr val="accent1"/>
          </a:lnRef>
          <a:fillRef idx="0">
            <a:schemeClr val="accent1"/>
          </a:fillRef>
          <a:effectRef idx="1">
            <a:schemeClr val="accent1"/>
          </a:effectRef>
          <a:fontRef idx="minor">
            <a:schemeClr val="tx1"/>
          </a:fontRef>
        </p:style>
      </p:cxnSp>
      <p:sp>
        <p:nvSpPr>
          <p:cNvPr id="61" name="Oval 60"/>
          <p:cNvSpPr/>
          <p:nvPr/>
        </p:nvSpPr>
        <p:spPr>
          <a:xfrm>
            <a:off x="914400" y="5054600"/>
            <a:ext cx="279400" cy="101600"/>
          </a:xfrm>
          <a:prstGeom prst="ellipse">
            <a:avLst/>
          </a:prstGeom>
          <a:solidFill>
            <a:srgbClr val="142338"/>
          </a:solidFill>
          <a:ln w="15240">
            <a:solidFill>
              <a:srgbClr val="6DD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2" name="Connector 61"/>
          <p:cNvCxnSpPr/>
          <p:nvPr/>
        </p:nvCxnSpPr>
        <p:spPr>
          <a:xfrm>
            <a:off x="4521200" y="5130800"/>
            <a:ext cx="114300" cy="101600"/>
          </a:xfrm>
          <a:prstGeom prst="line">
            <a:avLst/>
          </a:prstGeom>
          <a:ln w="16510">
            <a:solidFill>
              <a:srgbClr val="6DD3CE"/>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4635500" y="5092700"/>
            <a:ext cx="139700" cy="139700"/>
          </a:xfrm>
          <a:prstGeom prst="line">
            <a:avLst/>
          </a:prstGeom>
          <a:ln w="16510">
            <a:solidFill>
              <a:srgbClr val="6DD3CE"/>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4635500" y="5232400"/>
            <a:ext cx="152400" cy="101600"/>
          </a:xfrm>
          <a:prstGeom prst="line">
            <a:avLst/>
          </a:prstGeom>
          <a:ln w="16510">
            <a:solidFill>
              <a:srgbClr val="6DD3CE"/>
            </a:solidFill>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4483100" y="5092700"/>
            <a:ext cx="76200" cy="76200"/>
          </a:xfrm>
          <a:prstGeom prst="ellipse">
            <a:avLst/>
          </a:prstGeom>
          <a:solidFill>
            <a:srgbClr val="142338"/>
          </a:solidFill>
          <a:ln w="15240">
            <a:solidFill>
              <a:srgbClr val="6DD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4597400" y="5194300"/>
            <a:ext cx="76200" cy="76200"/>
          </a:xfrm>
          <a:prstGeom prst="ellipse">
            <a:avLst/>
          </a:prstGeom>
          <a:solidFill>
            <a:srgbClr val="142338"/>
          </a:solidFill>
          <a:ln w="15240">
            <a:solidFill>
              <a:srgbClr val="6DD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737100" y="5054600"/>
            <a:ext cx="76200" cy="76200"/>
          </a:xfrm>
          <a:prstGeom prst="ellipse">
            <a:avLst/>
          </a:prstGeom>
          <a:solidFill>
            <a:srgbClr val="142338"/>
          </a:solidFill>
          <a:ln w="15240">
            <a:solidFill>
              <a:srgbClr val="6DD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749800" y="5295900"/>
            <a:ext cx="76200" cy="76200"/>
          </a:xfrm>
          <a:prstGeom prst="ellipse">
            <a:avLst/>
          </a:prstGeom>
          <a:solidFill>
            <a:srgbClr val="142338"/>
          </a:solidFill>
          <a:ln w="15240">
            <a:solidFill>
              <a:srgbClr val="6DD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8521700" y="5054600"/>
            <a:ext cx="304800" cy="317500"/>
          </a:xfrm>
          <a:prstGeom prst="roundRect">
            <a:avLst>
              <a:gd name="adj" fmla="val 12500"/>
            </a:avLst>
          </a:prstGeom>
          <a:solidFill>
            <a:srgbClr val="142338"/>
          </a:solidFill>
          <a:ln w="15240">
            <a:solidFill>
              <a:srgbClr val="6DD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0" name="Connector 69"/>
          <p:cNvCxnSpPr/>
          <p:nvPr/>
        </p:nvCxnSpPr>
        <p:spPr>
          <a:xfrm>
            <a:off x="8597900" y="5130800"/>
            <a:ext cx="152400" cy="0"/>
          </a:xfrm>
          <a:prstGeom prst="line">
            <a:avLst/>
          </a:prstGeom>
          <a:ln w="15240">
            <a:solidFill>
              <a:srgbClr val="6DD3CE"/>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8597900" y="5245100"/>
            <a:ext cx="50800" cy="50800"/>
          </a:xfrm>
          <a:prstGeom prst="line">
            <a:avLst/>
          </a:prstGeom>
          <a:ln w="20320">
            <a:solidFill>
              <a:srgbClr val="6DD3CE"/>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8648700" y="5194300"/>
            <a:ext cx="101600" cy="101600"/>
          </a:xfrm>
          <a:prstGeom prst="line">
            <a:avLst/>
          </a:prstGeom>
          <a:ln w="20320">
            <a:solidFill>
              <a:srgbClr val="6DD3CE"/>
            </a:solidFill>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HTTP 200 is useful only when it means ready to serve.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DEGRADED STATES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24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Green infrastructure can hide a broken service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Example: the health endpoint passes, but a payment write fails.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33600"/>
            <a:ext cx="4191000" cy="3454400"/>
          </a:xfrm>
          <a:prstGeom prst="roundRect">
            <a:avLst>
              <a:gd name="adj" fmla="val 367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82800"/>
            <a:ext cx="4191000" cy="3454400"/>
          </a:xfrm>
          <a:prstGeom prst="roundRect">
            <a:avLst>
              <a:gd name="adj" fmla="val 367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095500"/>
            <a:ext cx="3632200" cy="0"/>
          </a:xfrm>
          <a:prstGeom prst="line">
            <a:avLst/>
          </a:prstGeom>
          <a:ln w="38100">
            <a:solidFill>
              <a:srgbClr val="177C5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89000" y="2324100"/>
            <a:ext cx="3632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177C58"/>
                </a:solidFill>
                <a:latin typeface="Arial"/>
              </a:rPr>
              <a:t>HEALTH CHECKS PASS</a:t>
            </a:r>
          </a:p>
        </p:txBody>
      </p:sp>
      <p:sp>
        <p:nvSpPr>
          <p:cNvPr id="14" name="TextBox 13"/>
          <p:cNvSpPr txBox="1"/>
          <p:nvPr/>
        </p:nvSpPr>
        <p:spPr>
          <a:xfrm>
            <a:off x="1473200" y="2832100"/>
            <a:ext cx="27178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Pods ready</a:t>
            </a:r>
          </a:p>
        </p:txBody>
      </p:sp>
      <p:sp>
        <p:nvSpPr>
          <p:cNvPr id="15" name="TextBox 14"/>
          <p:cNvSpPr txBox="1"/>
          <p:nvPr/>
        </p:nvSpPr>
        <p:spPr>
          <a:xfrm>
            <a:off x="1473200" y="31750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Arial"/>
              </a:rPr>
              <a:t>Readiness probe passes</a:t>
            </a:r>
          </a:p>
        </p:txBody>
      </p:sp>
      <p:sp>
        <p:nvSpPr>
          <p:cNvPr id="16" name="Oval 15"/>
          <p:cNvSpPr/>
          <p:nvPr/>
        </p:nvSpPr>
        <p:spPr>
          <a:xfrm>
            <a:off x="4305300" y="2946400"/>
            <a:ext cx="228600" cy="228600"/>
          </a:xfrm>
          <a:prstGeom prst="ellipse">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4368800" y="3060700"/>
            <a:ext cx="38100" cy="3810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4406900" y="3022600"/>
            <a:ext cx="63500" cy="7620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89000" y="3467100"/>
            <a:ext cx="3632200" cy="0"/>
          </a:xfrm>
          <a:prstGeom prst="line">
            <a:avLst/>
          </a:prstGeom>
          <a:ln w="10160">
            <a:solidFill>
              <a:srgbClr val="DAE2E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473200" y="3644900"/>
            <a:ext cx="27178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DNS resolves</a:t>
            </a:r>
          </a:p>
        </p:txBody>
      </p:sp>
      <p:sp>
        <p:nvSpPr>
          <p:cNvPr id="21" name="TextBox 20"/>
          <p:cNvSpPr txBox="1"/>
          <p:nvPr/>
        </p:nvSpPr>
        <p:spPr>
          <a:xfrm>
            <a:off x="1473200" y="39878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Arial"/>
              </a:rPr>
              <a:t>Application address found</a:t>
            </a:r>
          </a:p>
        </p:txBody>
      </p:sp>
      <p:sp>
        <p:nvSpPr>
          <p:cNvPr id="22" name="Oval 21"/>
          <p:cNvSpPr/>
          <p:nvPr/>
        </p:nvSpPr>
        <p:spPr>
          <a:xfrm>
            <a:off x="4305300" y="3759200"/>
            <a:ext cx="228600" cy="228600"/>
          </a:xfrm>
          <a:prstGeom prst="ellipse">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4368800" y="3873500"/>
            <a:ext cx="38100" cy="3810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4406900" y="3835400"/>
            <a:ext cx="63500" cy="7620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89000" y="4279900"/>
            <a:ext cx="3632200" cy="0"/>
          </a:xfrm>
          <a:prstGeom prst="line">
            <a:avLst/>
          </a:prstGeom>
          <a:ln w="10160">
            <a:solidFill>
              <a:srgbClr val="DAE2EA"/>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473200" y="4457700"/>
            <a:ext cx="27178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HTTP 200</a:t>
            </a:r>
          </a:p>
        </p:txBody>
      </p:sp>
      <p:sp>
        <p:nvSpPr>
          <p:cNvPr id="27" name="TextBox 26"/>
          <p:cNvSpPr txBox="1"/>
          <p:nvPr/>
        </p:nvSpPr>
        <p:spPr>
          <a:xfrm>
            <a:off x="1473200" y="48006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Courier New"/>
              </a:rPr>
              <a:t>GET /healthz</a:t>
            </a:r>
          </a:p>
        </p:txBody>
      </p:sp>
      <p:sp>
        <p:nvSpPr>
          <p:cNvPr id="28" name="Oval 27"/>
          <p:cNvSpPr/>
          <p:nvPr/>
        </p:nvSpPr>
        <p:spPr>
          <a:xfrm>
            <a:off x="4305300" y="4572000"/>
            <a:ext cx="228600" cy="228600"/>
          </a:xfrm>
          <a:prstGeom prst="ellipse">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4368800" y="4686300"/>
            <a:ext cx="38100" cy="3810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406900" y="4648200"/>
            <a:ext cx="63500" cy="7620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pic>
        <p:nvPicPr>
          <p:cNvPr id="31" name="Picture 30" descr="image.png"/>
          <p:cNvPicPr>
            <a:picLocks noChangeAspect="1"/>
          </p:cNvPicPr>
          <p:nvPr/>
        </p:nvPicPr>
        <p:blipFill>
          <a:blip r:embed="rId2"/>
          <a:stretch>
            <a:fillRect/>
          </a:stretch>
        </p:blipFill>
        <p:spPr>
          <a:xfrm>
            <a:off x="889000" y="2844800"/>
            <a:ext cx="419100" cy="419100"/>
          </a:xfrm>
          <a:prstGeom prst="rect">
            <a:avLst/>
          </a:prstGeom>
        </p:spPr>
      </p:pic>
      <p:pic>
        <p:nvPicPr>
          <p:cNvPr id="32" name="Picture 31" descr="image.png"/>
          <p:cNvPicPr>
            <a:picLocks noChangeAspect="1"/>
          </p:cNvPicPr>
          <p:nvPr/>
        </p:nvPicPr>
        <p:blipFill>
          <a:blip r:embed="rId3"/>
          <a:stretch>
            <a:fillRect/>
          </a:stretch>
        </p:blipFill>
        <p:spPr>
          <a:xfrm>
            <a:off x="889000" y="3657600"/>
            <a:ext cx="419100" cy="419100"/>
          </a:xfrm>
          <a:prstGeom prst="rect">
            <a:avLst/>
          </a:prstGeom>
        </p:spPr>
      </p:pic>
      <p:sp>
        <p:nvSpPr>
          <p:cNvPr id="33" name="Rounded Rectangle 32"/>
          <p:cNvSpPr/>
          <p:nvPr/>
        </p:nvSpPr>
        <p:spPr>
          <a:xfrm>
            <a:off x="889000" y="4470400"/>
            <a:ext cx="419100" cy="419100"/>
          </a:xfrm>
          <a:prstGeom prst="roundRect">
            <a:avLst>
              <a:gd name="adj" fmla="val 21212"/>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952500" y="4686300"/>
            <a:ext cx="76200" cy="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028700" y="4584700"/>
            <a:ext cx="38100" cy="10160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66800" y="4584700"/>
            <a:ext cx="63500" cy="19050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130300" y="4648200"/>
            <a:ext cx="50800" cy="12700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181100" y="4648200"/>
            <a:ext cx="63500" cy="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4978400" y="3581400"/>
            <a:ext cx="457200" cy="457200"/>
          </a:xfrm>
          <a:prstGeom prst="ellipse">
            <a:avLst/>
          </a:prstGeom>
          <a:solidFill>
            <a:srgbClr val="F8FAFC"/>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978400" y="3581400"/>
            <a:ext cx="457200" cy="432434"/>
          </a:xfrm>
          <a:prstGeom prst="rect">
            <a:avLst/>
          </a:prstGeom>
          <a:noFill/>
        </p:spPr>
        <p:txBody>
          <a:bodyPr wrap="none" lIns="0" rIns="0" tIns="0" bIns="0" anchor="t">
            <a:noAutofit/>
          </a:bodyPr>
          <a:lstStyle/>
          <a:p>
            <a:pPr algn="ctr">
              <a:lnSpc>
                <a:spcPts val="3104"/>
              </a:lnSpc>
              <a:spcBef>
                <a:spcPts val="0"/>
              </a:spcBef>
              <a:spcAft>
                <a:spcPts val="0"/>
              </a:spcAft>
            </a:pPr>
            <a:r>
              <a:rPr sz="2700" b="1">
                <a:solidFill>
                  <a:srgbClr val="5D6F82"/>
                </a:solidFill>
                <a:latin typeface="Arial"/>
              </a:rPr>
              <a:t>≠</a:t>
            </a:r>
          </a:p>
        </p:txBody>
      </p:sp>
      <p:sp>
        <p:nvSpPr>
          <p:cNvPr id="41" name="Rounded Rectangle 40"/>
          <p:cNvSpPr/>
          <p:nvPr/>
        </p:nvSpPr>
        <p:spPr>
          <a:xfrm>
            <a:off x="5613400" y="2133600"/>
            <a:ext cx="5969000" cy="3454400"/>
          </a:xfrm>
          <a:prstGeom prst="roundRect">
            <a:avLst>
              <a:gd name="adj" fmla="val 367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613400" y="2082800"/>
            <a:ext cx="5969000" cy="3454400"/>
          </a:xfrm>
          <a:prstGeom prst="roundRect">
            <a:avLst>
              <a:gd name="adj" fmla="val 367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892800" y="2324100"/>
            <a:ext cx="5410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REAL REQUEST</a:t>
            </a:r>
          </a:p>
        </p:txBody>
      </p:sp>
      <p:sp>
        <p:nvSpPr>
          <p:cNvPr id="44" name="TextBox 43"/>
          <p:cNvSpPr txBox="1"/>
          <p:nvPr/>
        </p:nvSpPr>
        <p:spPr>
          <a:xfrm>
            <a:off x="5892800" y="2603500"/>
            <a:ext cx="54102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Payment cannot be saved</a:t>
            </a:r>
          </a:p>
        </p:txBody>
      </p:sp>
      <p:sp>
        <p:nvSpPr>
          <p:cNvPr id="45" name="Rounded Rectangle 44"/>
          <p:cNvSpPr/>
          <p:nvPr/>
        </p:nvSpPr>
        <p:spPr>
          <a:xfrm>
            <a:off x="5892800" y="3302000"/>
            <a:ext cx="2286000" cy="1016000"/>
          </a:xfrm>
          <a:prstGeom prst="roundRect">
            <a:avLst>
              <a:gd name="adj" fmla="val 875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017000" y="3302000"/>
            <a:ext cx="2286000" cy="1016000"/>
          </a:xfrm>
          <a:prstGeom prst="roundRect">
            <a:avLst>
              <a:gd name="adj" fmla="val 875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096000" y="3479800"/>
            <a:ext cx="292100" cy="241300"/>
          </a:xfrm>
          <a:prstGeom prst="roundRect">
            <a:avLst>
              <a:gd name="adj" fmla="val 15789"/>
            </a:avLst>
          </a:prstGeom>
          <a:solidFill>
            <a:srgbClr val="FFFFFF"/>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6096000" y="3556000"/>
            <a:ext cx="2921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149340" y="3507740"/>
            <a:ext cx="20320" cy="2032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00140" y="3507740"/>
            <a:ext cx="20320" cy="2032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250940" y="3507740"/>
            <a:ext cx="20320" cy="2032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02400" y="3467100"/>
            <a:ext cx="14859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Payment API</a:t>
            </a:r>
          </a:p>
        </p:txBody>
      </p:sp>
      <p:sp>
        <p:nvSpPr>
          <p:cNvPr id="53" name="TextBox 52"/>
          <p:cNvSpPr txBox="1"/>
          <p:nvPr/>
        </p:nvSpPr>
        <p:spPr>
          <a:xfrm>
            <a:off x="6096000" y="3924300"/>
            <a:ext cx="187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Courier New"/>
              </a:rPr>
              <a:t>POST /payments</a:t>
            </a:r>
          </a:p>
        </p:txBody>
      </p:sp>
      <p:sp>
        <p:nvSpPr>
          <p:cNvPr id="54" name="Rectangle 53"/>
          <p:cNvSpPr/>
          <p:nvPr/>
        </p:nvSpPr>
        <p:spPr>
          <a:xfrm>
            <a:off x="9220200" y="3530600"/>
            <a:ext cx="266700" cy="152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220200" y="3632200"/>
            <a:ext cx="266700" cy="88900"/>
          </a:xfrm>
          <a:prstGeom prst="ellipse">
            <a:avLst/>
          </a:prstGeom>
          <a:solidFill>
            <a:srgbClr val="FFFFFF"/>
          </a:solidFill>
          <a:ln w="1524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a:off x="9220200" y="3517900"/>
            <a:ext cx="0" cy="158750"/>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486900" y="3517900"/>
            <a:ext cx="0" cy="158750"/>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9220200" y="3467100"/>
            <a:ext cx="266700" cy="88900"/>
          </a:xfrm>
          <a:prstGeom prst="ellipse">
            <a:avLst/>
          </a:prstGeom>
          <a:solidFill>
            <a:srgbClr val="FFFFFF"/>
          </a:solidFill>
          <a:ln w="1524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588500" y="3467100"/>
            <a:ext cx="1524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Database</a:t>
            </a:r>
          </a:p>
        </p:txBody>
      </p:sp>
      <p:sp>
        <p:nvSpPr>
          <p:cNvPr id="60" name="Rounded Rectangle 59"/>
          <p:cNvSpPr/>
          <p:nvPr/>
        </p:nvSpPr>
        <p:spPr>
          <a:xfrm>
            <a:off x="9220200" y="3886200"/>
            <a:ext cx="18796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283700" y="3937000"/>
            <a:ext cx="1752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CF0035"/>
                </a:solidFill>
                <a:latin typeface="Arial"/>
              </a:rPr>
              <a:t>READ-ONLY</a:t>
            </a:r>
          </a:p>
        </p:txBody>
      </p:sp>
      <p:sp>
        <p:nvSpPr>
          <p:cNvPr id="62" name="TextBox 61"/>
          <p:cNvSpPr txBox="1"/>
          <p:nvPr/>
        </p:nvSpPr>
        <p:spPr>
          <a:xfrm>
            <a:off x="8229600" y="3403600"/>
            <a:ext cx="7366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WRITE</a:t>
            </a:r>
          </a:p>
        </p:txBody>
      </p:sp>
      <p:cxnSp>
        <p:nvCxnSpPr>
          <p:cNvPr id="63" name="Connector 62"/>
          <p:cNvCxnSpPr/>
          <p:nvPr/>
        </p:nvCxnSpPr>
        <p:spPr>
          <a:xfrm>
            <a:off x="8178800" y="3810000"/>
            <a:ext cx="292100" cy="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8724900" y="3810000"/>
            <a:ext cx="292100" cy="0"/>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534400" y="3746500"/>
            <a:ext cx="127000" cy="1270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534400" y="3746500"/>
            <a:ext cx="127000" cy="1270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5892800" y="4559300"/>
            <a:ext cx="5410200" cy="546100"/>
          </a:xfrm>
          <a:prstGeom prst="roundRect">
            <a:avLst>
              <a:gd name="adj" fmla="val 13953"/>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6070600" y="4705350"/>
            <a:ext cx="254000" cy="2540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9" name="Connector 68"/>
          <p:cNvCxnSpPr/>
          <p:nvPr/>
        </p:nvCxnSpPr>
        <p:spPr>
          <a:xfrm>
            <a:off x="6146800" y="478155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6146800" y="478155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6477000" y="4673600"/>
            <a:ext cx="4572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CF0035"/>
                </a:solidFill>
                <a:latin typeface="Arial"/>
              </a:rPr>
              <a:t>Payment failed</a:t>
            </a:r>
          </a:p>
        </p:txBody>
      </p:sp>
      <p:sp>
        <p:nvSpPr>
          <p:cNvPr id="72" name="TextBox 71"/>
          <p:cNvSpPr txBox="1"/>
          <p:nvPr/>
        </p:nvSpPr>
        <p:spPr>
          <a:xfrm>
            <a:off x="5892800" y="5232400"/>
            <a:ext cx="54102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B8C8D9"/>
                </a:solidFill>
                <a:latin typeface="Arial"/>
              </a:rPr>
              <a:t>The database rejects the write.</a:t>
            </a:r>
          </a:p>
        </p:txBody>
      </p:sp>
      <p:sp>
        <p:nvSpPr>
          <p:cNvPr id="73" name="Rounded Rectangle 72"/>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A passing health check should mean the real operation can succeed.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THE DANGEROUS EDGE CASE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25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A partition can create two correct-looking answers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Both applications are ready. Clients can still reach both DNS authorities.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10" name="Rounded Rectangle 9"/>
          <p:cNvSpPr/>
          <p:nvPr/>
        </p:nvSpPr>
        <p:spPr>
          <a:xfrm>
            <a:off x="6096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89000" y="2146300"/>
            <a:ext cx="4343400" cy="0"/>
          </a:xfrm>
          <a:prstGeom prst="line">
            <a:avLst/>
          </a:prstGeom>
          <a:ln w="38100">
            <a:solidFill>
              <a:srgbClr val="78A5FA"/>
            </a:solidFill>
          </a:ln>
        </p:spPr>
        <p:style>
          <a:lnRef idx="2">
            <a:schemeClr val="accent1"/>
          </a:lnRef>
          <a:fillRef idx="0">
            <a:schemeClr val="accent1"/>
          </a:fillRef>
          <a:effectRef idx="1">
            <a:schemeClr val="accent1"/>
          </a:effectRef>
          <a:fontRef idx="minor">
            <a:schemeClr val="tx1"/>
          </a:fontRef>
        </p:style>
      </p:cxnSp>
      <p:pic>
        <p:nvPicPr>
          <p:cNvPr id="12" name="Picture 11" descr="image.png"/>
          <p:cNvPicPr>
            <a:picLocks noChangeAspect="1"/>
          </p:cNvPicPr>
          <p:nvPr/>
        </p:nvPicPr>
        <p:blipFill>
          <a:blip r:embed="rId2"/>
          <a:stretch>
            <a:fillRect/>
          </a:stretch>
        </p:blipFill>
        <p:spPr>
          <a:xfrm>
            <a:off x="889000" y="2374900"/>
            <a:ext cx="546100" cy="546100"/>
          </a:xfrm>
          <a:prstGeom prst="rect">
            <a:avLst/>
          </a:prstGeom>
        </p:spPr>
      </p:pic>
      <p:sp>
        <p:nvSpPr>
          <p:cNvPr id="13" name="TextBox 12"/>
          <p:cNvSpPr txBox="1"/>
          <p:nvPr/>
        </p:nvSpPr>
        <p:spPr>
          <a:xfrm>
            <a:off x="16129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A</a:t>
            </a:r>
          </a:p>
        </p:txBody>
      </p:sp>
      <p:sp>
        <p:nvSpPr>
          <p:cNvPr id="14" name="TextBox 13"/>
          <p:cNvSpPr txBox="1"/>
          <p:nvPr/>
        </p:nvSpPr>
        <p:spPr>
          <a:xfrm>
            <a:off x="8890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PRIMARY APPLICATION</a:t>
            </a:r>
          </a:p>
        </p:txBody>
      </p:sp>
      <p:sp>
        <p:nvSpPr>
          <p:cNvPr id="15" name="Rounded Rectangle 14"/>
          <p:cNvSpPr/>
          <p:nvPr/>
        </p:nvSpPr>
        <p:spPr>
          <a:xfrm>
            <a:off x="38100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735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17" name="Rounded Rectangle 16"/>
          <p:cNvSpPr/>
          <p:nvPr/>
        </p:nvSpPr>
        <p:spPr>
          <a:xfrm>
            <a:off x="8890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3"/>
          <a:stretch>
            <a:fillRect/>
          </a:stretch>
        </p:blipFill>
        <p:spPr>
          <a:xfrm>
            <a:off x="1016000" y="3725663"/>
            <a:ext cx="381000" cy="371872"/>
          </a:xfrm>
          <a:prstGeom prst="rect">
            <a:avLst/>
          </a:prstGeom>
        </p:spPr>
      </p:pic>
      <p:sp>
        <p:nvSpPr>
          <p:cNvPr id="19" name="TextBox 18"/>
          <p:cNvSpPr txBox="1"/>
          <p:nvPr/>
        </p:nvSpPr>
        <p:spPr>
          <a:xfrm>
            <a:off x="15240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20" name="Connector 19"/>
          <p:cNvCxnSpPr/>
          <p:nvPr/>
        </p:nvCxnSpPr>
        <p:spPr>
          <a:xfrm>
            <a:off x="2489200" y="3924300"/>
            <a:ext cx="762000" cy="0"/>
          </a:xfrm>
          <a:prstGeom prst="line">
            <a:avLst/>
          </a:prstGeom>
          <a:ln w="2286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2512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png"/>
          <p:cNvPicPr>
            <a:picLocks noChangeAspect="1"/>
          </p:cNvPicPr>
          <p:nvPr/>
        </p:nvPicPr>
        <p:blipFill>
          <a:blip r:embed="rId4"/>
          <a:stretch>
            <a:fillRect/>
          </a:stretch>
        </p:blipFill>
        <p:spPr>
          <a:xfrm>
            <a:off x="3378200" y="3721100"/>
            <a:ext cx="381000" cy="381000"/>
          </a:xfrm>
          <a:prstGeom prst="rect">
            <a:avLst/>
          </a:prstGeom>
        </p:spPr>
      </p:pic>
      <p:sp>
        <p:nvSpPr>
          <p:cNvPr id="23" name="TextBox 22"/>
          <p:cNvSpPr txBox="1"/>
          <p:nvPr/>
        </p:nvSpPr>
        <p:spPr>
          <a:xfrm>
            <a:off x="38862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24" name="Connector 23"/>
          <p:cNvCxnSpPr/>
          <p:nvPr/>
        </p:nvCxnSpPr>
        <p:spPr>
          <a:xfrm>
            <a:off x="4241800" y="4241800"/>
            <a:ext cx="0" cy="241300"/>
          </a:xfrm>
          <a:prstGeom prst="line">
            <a:avLst/>
          </a:prstGeom>
          <a:ln w="1905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AUTHORITATIVE ANSWER</a:t>
            </a:r>
          </a:p>
        </p:txBody>
      </p:sp>
      <p:sp>
        <p:nvSpPr>
          <p:cNvPr id="27" name="TextBox 26"/>
          <p:cNvSpPr txBox="1"/>
          <p:nvPr/>
        </p:nvSpPr>
        <p:spPr>
          <a:xfrm>
            <a:off x="10922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A</a:t>
            </a:r>
          </a:p>
        </p:txBody>
      </p:sp>
      <p:sp>
        <p:nvSpPr>
          <p:cNvPr id="28" name="Oval 27"/>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30" name="Rounded Rectangle 29"/>
          <p:cNvSpPr/>
          <p:nvPr/>
        </p:nvSpPr>
        <p:spPr>
          <a:xfrm>
            <a:off x="66802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6959600" y="2146300"/>
            <a:ext cx="4343400" cy="0"/>
          </a:xfrm>
          <a:prstGeom prst="line">
            <a:avLst/>
          </a:prstGeom>
          <a:ln w="38100">
            <a:solidFill>
              <a:srgbClr val="6DD3CE"/>
            </a:solidFill>
          </a:ln>
        </p:spPr>
        <p:style>
          <a:lnRef idx="2">
            <a:schemeClr val="accent1"/>
          </a:lnRef>
          <a:fillRef idx="0">
            <a:schemeClr val="accent1"/>
          </a:fillRef>
          <a:effectRef idx="1">
            <a:schemeClr val="accent1"/>
          </a:effectRef>
          <a:fontRef idx="minor">
            <a:schemeClr val="tx1"/>
          </a:fontRef>
        </p:style>
      </p:cxnSp>
      <p:pic>
        <p:nvPicPr>
          <p:cNvPr id="32" name="Picture 31" descr="image.png"/>
          <p:cNvPicPr>
            <a:picLocks noChangeAspect="1"/>
          </p:cNvPicPr>
          <p:nvPr/>
        </p:nvPicPr>
        <p:blipFill>
          <a:blip r:embed="rId2"/>
          <a:stretch>
            <a:fillRect/>
          </a:stretch>
        </p:blipFill>
        <p:spPr>
          <a:xfrm>
            <a:off x="6959600" y="2374900"/>
            <a:ext cx="546100" cy="546100"/>
          </a:xfrm>
          <a:prstGeom prst="rect">
            <a:avLst/>
          </a:prstGeom>
        </p:spPr>
      </p:pic>
      <p:sp>
        <p:nvSpPr>
          <p:cNvPr id="33" name="TextBox 32"/>
          <p:cNvSpPr txBox="1"/>
          <p:nvPr/>
        </p:nvSpPr>
        <p:spPr>
          <a:xfrm>
            <a:off x="76835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B</a:t>
            </a:r>
          </a:p>
        </p:txBody>
      </p:sp>
      <p:sp>
        <p:nvSpPr>
          <p:cNvPr id="34" name="TextBox 33"/>
          <p:cNvSpPr txBox="1"/>
          <p:nvPr/>
        </p:nvSpPr>
        <p:spPr>
          <a:xfrm>
            <a:off x="69596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SECONDARY APPLICATION</a:t>
            </a:r>
          </a:p>
        </p:txBody>
      </p:sp>
      <p:sp>
        <p:nvSpPr>
          <p:cNvPr id="35" name="Rounded Rectangle 34"/>
          <p:cNvSpPr/>
          <p:nvPr/>
        </p:nvSpPr>
        <p:spPr>
          <a:xfrm>
            <a:off x="98806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441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37" name="Rounded Rectangle 36"/>
          <p:cNvSpPr/>
          <p:nvPr/>
        </p:nvSpPr>
        <p:spPr>
          <a:xfrm>
            <a:off x="69596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3"/>
          <a:stretch>
            <a:fillRect/>
          </a:stretch>
        </p:blipFill>
        <p:spPr>
          <a:xfrm>
            <a:off x="7086600" y="3725663"/>
            <a:ext cx="381000" cy="371872"/>
          </a:xfrm>
          <a:prstGeom prst="rect">
            <a:avLst/>
          </a:prstGeom>
        </p:spPr>
      </p:pic>
      <p:sp>
        <p:nvSpPr>
          <p:cNvPr id="39" name="TextBox 38"/>
          <p:cNvSpPr txBox="1"/>
          <p:nvPr/>
        </p:nvSpPr>
        <p:spPr>
          <a:xfrm>
            <a:off x="75946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40" name="Connector 39"/>
          <p:cNvCxnSpPr/>
          <p:nvPr/>
        </p:nvCxnSpPr>
        <p:spPr>
          <a:xfrm>
            <a:off x="8559800" y="3924300"/>
            <a:ext cx="762000" cy="0"/>
          </a:xfrm>
          <a:prstGeom prst="line">
            <a:avLst/>
          </a:prstGeom>
          <a:ln w="2286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3218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4"/>
          <a:stretch>
            <a:fillRect/>
          </a:stretch>
        </p:blipFill>
        <p:spPr>
          <a:xfrm>
            <a:off x="9448800" y="3721100"/>
            <a:ext cx="381000" cy="381000"/>
          </a:xfrm>
          <a:prstGeom prst="rect">
            <a:avLst/>
          </a:prstGeom>
        </p:spPr>
      </p:pic>
      <p:sp>
        <p:nvSpPr>
          <p:cNvPr id="43" name="TextBox 42"/>
          <p:cNvSpPr txBox="1"/>
          <p:nvPr/>
        </p:nvSpPr>
        <p:spPr>
          <a:xfrm>
            <a:off x="99568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44" name="Connector 43"/>
          <p:cNvCxnSpPr/>
          <p:nvPr/>
        </p:nvCxnSpPr>
        <p:spPr>
          <a:xfrm>
            <a:off x="10312400" y="4241800"/>
            <a:ext cx="0" cy="241300"/>
          </a:xfrm>
          <a:prstGeom prst="line">
            <a:avLst/>
          </a:prstGeom>
          <a:ln w="190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AUTHORITATIVE ANSWER</a:t>
            </a:r>
          </a:p>
        </p:txBody>
      </p:sp>
      <p:sp>
        <p:nvSpPr>
          <p:cNvPr id="47" name="TextBox 46"/>
          <p:cNvSpPr txBox="1"/>
          <p:nvPr/>
        </p:nvSpPr>
        <p:spPr>
          <a:xfrm>
            <a:off x="71628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B</a:t>
            </a:r>
          </a:p>
        </p:txBody>
      </p:sp>
      <p:sp>
        <p:nvSpPr>
          <p:cNvPr id="48" name="Oval 47"/>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50" name="Connector 49"/>
          <p:cNvCxnSpPr/>
          <p:nvPr/>
        </p:nvCxnSpPr>
        <p:spPr>
          <a:xfrm flipH="1">
            <a:off x="5232400" y="3924300"/>
            <a:ext cx="1727200" cy="0"/>
          </a:xfrm>
          <a:prstGeom prst="line">
            <a:avLst/>
          </a:prstGeom>
          <a:ln w="25400">
            <a:solidFill>
              <a:srgbClr val="F79BB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511800" y="34925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PEER QUERY</a:t>
            </a:r>
          </a:p>
        </p:txBody>
      </p:sp>
      <p:sp>
        <p:nvSpPr>
          <p:cNvPr id="52" name="Oval 51"/>
          <p:cNvSpPr/>
          <p:nvPr/>
        </p:nvSpPr>
        <p:spPr>
          <a:xfrm>
            <a:off x="5930900" y="3759200"/>
            <a:ext cx="330200" cy="330200"/>
          </a:xfrm>
          <a:prstGeom prst="ellipse">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842000" y="4635500"/>
            <a:ext cx="508000" cy="476250"/>
          </a:xfrm>
          <a:prstGeom prst="rect">
            <a:avLst/>
          </a:prstGeom>
          <a:noFill/>
        </p:spPr>
        <p:txBody>
          <a:bodyPr wrap="none" lIns="0" rIns="0" tIns="0" bIns="0" anchor="t">
            <a:noAutofit/>
          </a:bodyPr>
          <a:lstStyle/>
          <a:p>
            <a:pPr algn="ctr">
              <a:lnSpc>
                <a:spcPts val="3450"/>
              </a:lnSpc>
              <a:spcBef>
                <a:spcPts val="0"/>
              </a:spcBef>
              <a:spcAft>
                <a:spcPts val="0"/>
              </a:spcAft>
            </a:pPr>
            <a:r>
              <a:rPr sz="3000" b="1">
                <a:solidFill>
                  <a:srgbClr val="F79BB0"/>
                </a:solidFill>
                <a:latin typeface="Arial"/>
              </a:rPr>
              <a:t>≠</a:t>
            </a:r>
          </a:p>
        </p:txBody>
      </p:sp>
      <p:sp>
        <p:nvSpPr>
          <p:cNvPr id="56" name="TextBox 55"/>
          <p:cNvSpPr txBox="1"/>
          <p:nvPr/>
        </p:nvSpPr>
        <p:spPr>
          <a:xfrm>
            <a:off x="1625600" y="5524500"/>
            <a:ext cx="8940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F79BB0"/>
                </a:solidFill>
                <a:latin typeface="Arial"/>
              </a:rPr>
              <a:t>B cannot obtain A’s peer-health answer.</a:t>
            </a:r>
          </a:p>
        </p:txBody>
      </p:sp>
      <p:sp>
        <p:nvSpPr>
          <p:cNvPr id="57" name="Rounded Rectangle 56"/>
          <p:cNvSpPr/>
          <p:nvPr/>
        </p:nvSpPr>
        <p:spPr>
          <a:xfrm>
            <a:off x="609600" y="5930900"/>
            <a:ext cx="10972800" cy="457200"/>
          </a:xfrm>
          <a:prstGeom prst="roundRect">
            <a:avLst>
              <a:gd name="adj" fmla="val 13888"/>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7400" y="60071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A failed health query does not prove the application is down.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OBSERVABILITY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26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Compare the answers your users can receive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During a partition, compare the same hostname from each viewpoint.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19300"/>
            <a:ext cx="6756400" cy="3581400"/>
          </a:xfrm>
          <a:prstGeom prst="roundRect">
            <a:avLst>
              <a:gd name="adj" fmla="val 319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9000" y="2247900"/>
            <a:ext cx="6197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CF0035"/>
                </a:solidFill>
                <a:latin typeface="Arial"/>
              </a:rPr>
              <a:t>ILLUSTRATIVE PARTITION</a:t>
            </a:r>
          </a:p>
        </p:txBody>
      </p:sp>
      <p:sp>
        <p:nvSpPr>
          <p:cNvPr id="12" name="Rounded Rectangle 11"/>
          <p:cNvSpPr/>
          <p:nvPr/>
        </p:nvSpPr>
        <p:spPr>
          <a:xfrm>
            <a:off x="889000" y="2667000"/>
            <a:ext cx="482600" cy="482600"/>
          </a:xfrm>
          <a:prstGeom prst="roundRect">
            <a:avLst>
              <a:gd name="adj" fmla="val 1842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mage.png"/>
          <p:cNvPicPr>
            <a:picLocks noChangeAspect="1"/>
          </p:cNvPicPr>
          <p:nvPr/>
        </p:nvPicPr>
        <p:blipFill>
          <a:blip r:embed="rId2"/>
          <a:stretch>
            <a:fillRect/>
          </a:stretch>
        </p:blipFill>
        <p:spPr>
          <a:xfrm>
            <a:off x="952500" y="2730500"/>
            <a:ext cx="355600" cy="355600"/>
          </a:xfrm>
          <a:prstGeom prst="rect">
            <a:avLst/>
          </a:prstGeom>
        </p:spPr>
      </p:pic>
      <p:sp>
        <p:nvSpPr>
          <p:cNvPr id="14" name="TextBox 13"/>
          <p:cNvSpPr txBox="1"/>
          <p:nvPr/>
        </p:nvSpPr>
        <p:spPr>
          <a:xfrm>
            <a:off x="1524000" y="27686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 A</a:t>
            </a:r>
          </a:p>
        </p:txBody>
      </p:sp>
      <p:sp>
        <p:nvSpPr>
          <p:cNvPr id="15" name="Rounded Rectangle 14"/>
          <p:cNvSpPr/>
          <p:nvPr/>
        </p:nvSpPr>
        <p:spPr>
          <a:xfrm>
            <a:off x="4508500" y="2667000"/>
            <a:ext cx="2578100" cy="482600"/>
          </a:xfrm>
          <a:prstGeom prst="roundRect">
            <a:avLst>
              <a:gd name="adj" fmla="val 1842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5500" y="27813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2762C8"/>
                </a:solidFill>
                <a:latin typeface="Arial"/>
              </a:rPr>
              <a:t>Cluster A IPs</a:t>
            </a:r>
          </a:p>
        </p:txBody>
      </p:sp>
      <p:cxnSp>
        <p:nvCxnSpPr>
          <p:cNvPr id="17" name="Connector 16"/>
          <p:cNvCxnSpPr/>
          <p:nvPr/>
        </p:nvCxnSpPr>
        <p:spPr>
          <a:xfrm>
            <a:off x="889000" y="32512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89000" y="3365500"/>
            <a:ext cx="482600" cy="482600"/>
          </a:xfrm>
          <a:prstGeom prst="roundRect">
            <a:avLst>
              <a:gd name="adj" fmla="val 1842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952500" y="3429000"/>
            <a:ext cx="355600" cy="355600"/>
          </a:xfrm>
          <a:prstGeom prst="rect">
            <a:avLst/>
          </a:prstGeom>
        </p:spPr>
      </p:pic>
      <p:sp>
        <p:nvSpPr>
          <p:cNvPr id="20" name="TextBox 19"/>
          <p:cNvSpPr txBox="1"/>
          <p:nvPr/>
        </p:nvSpPr>
        <p:spPr>
          <a:xfrm>
            <a:off x="1524000" y="34671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 B</a:t>
            </a:r>
          </a:p>
        </p:txBody>
      </p:sp>
      <p:sp>
        <p:nvSpPr>
          <p:cNvPr id="21" name="Rounded Rectangle 20"/>
          <p:cNvSpPr/>
          <p:nvPr/>
        </p:nvSpPr>
        <p:spPr>
          <a:xfrm>
            <a:off x="4508500" y="3365500"/>
            <a:ext cx="2578100" cy="482600"/>
          </a:xfrm>
          <a:prstGeom prst="roundRect">
            <a:avLst>
              <a:gd name="adj" fmla="val 1842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35500" y="34798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087F85"/>
                </a:solidFill>
                <a:latin typeface="Arial"/>
              </a:rPr>
              <a:t>Cluster B IPs</a:t>
            </a:r>
          </a:p>
        </p:txBody>
      </p:sp>
      <p:cxnSp>
        <p:nvCxnSpPr>
          <p:cNvPr id="23" name="Connector 22"/>
          <p:cNvCxnSpPr/>
          <p:nvPr/>
        </p:nvCxnSpPr>
        <p:spPr>
          <a:xfrm>
            <a:off x="889000" y="39497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89000" y="4064000"/>
            <a:ext cx="482600" cy="482600"/>
          </a:xfrm>
          <a:prstGeom prst="roundRect">
            <a:avLst>
              <a:gd name="adj" fmla="val 18421"/>
            </a:avLst>
          </a:prstGeom>
          <a:solidFill>
            <a:srgbClr val="EF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90600" y="4165600"/>
            <a:ext cx="279400" cy="279400"/>
          </a:xfrm>
          <a:prstGeom prst="ellipse">
            <a:avLst/>
          </a:prstGeom>
          <a:solidFill>
            <a:srgbClr val="EFF3F7"/>
          </a:solidFill>
          <a:ln w="19050">
            <a:solidFill>
              <a:srgbClr val="5D6F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1130300" y="4216400"/>
            <a:ext cx="0" cy="88900"/>
          </a:xfrm>
          <a:prstGeom prst="line">
            <a:avLst/>
          </a:prstGeom>
          <a:ln w="19050">
            <a:solidFill>
              <a:srgbClr val="5D6F82"/>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30300" y="4305300"/>
            <a:ext cx="76200" cy="38100"/>
          </a:xfrm>
          <a:prstGeom prst="line">
            <a:avLst/>
          </a:prstGeom>
          <a:ln w="19050">
            <a:solidFill>
              <a:srgbClr val="5D6F8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524000" y="41656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Resolver cache</a:t>
            </a:r>
          </a:p>
        </p:txBody>
      </p:sp>
      <p:sp>
        <p:nvSpPr>
          <p:cNvPr id="29" name="Rounded Rectangle 28"/>
          <p:cNvSpPr/>
          <p:nvPr/>
        </p:nvSpPr>
        <p:spPr>
          <a:xfrm>
            <a:off x="4508500" y="4064000"/>
            <a:ext cx="2578100" cy="482600"/>
          </a:xfrm>
          <a:prstGeom prst="roundRect">
            <a:avLst>
              <a:gd name="adj" fmla="val 18421"/>
            </a:avLst>
          </a:prstGeom>
          <a:solidFill>
            <a:srgbClr val="EF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5500" y="41783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5D6F82"/>
                </a:solidFill>
                <a:latin typeface="Arial"/>
              </a:rPr>
              <a:t>May still return A</a:t>
            </a:r>
          </a:p>
        </p:txBody>
      </p:sp>
      <p:cxnSp>
        <p:nvCxnSpPr>
          <p:cNvPr id="31" name="Connector 30"/>
          <p:cNvCxnSpPr/>
          <p:nvPr/>
        </p:nvCxnSpPr>
        <p:spPr>
          <a:xfrm>
            <a:off x="889000" y="46482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89000" y="4762500"/>
            <a:ext cx="482600" cy="482600"/>
          </a:xfrm>
          <a:prstGeom prst="roundRect">
            <a:avLst>
              <a:gd name="adj" fmla="val 1842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90600" y="4876800"/>
            <a:ext cx="279400" cy="254000"/>
          </a:xfrm>
          <a:prstGeom prst="roundRect">
            <a:avLst>
              <a:gd name="adj" fmla="val 15000"/>
            </a:avLst>
          </a:prstGeom>
          <a:solidFill>
            <a:srgbClr val="FFFFFF"/>
          </a:solidFill>
          <a:ln w="1651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990600" y="4953000"/>
            <a:ext cx="279400" cy="0"/>
          </a:xfrm>
          <a:prstGeom prst="line">
            <a:avLst/>
          </a:prstGeom>
          <a:ln w="12700">
            <a:solidFill>
              <a:srgbClr val="CF0035"/>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1028700" y="4902200"/>
            <a:ext cx="25400" cy="25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1054100" y="5029200"/>
            <a:ext cx="50800" cy="50800"/>
          </a:xfrm>
          <a:prstGeom prst="line">
            <a:avLst/>
          </a:prstGeom>
          <a:ln w="1905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104900" y="4991100"/>
            <a:ext cx="101600" cy="88900"/>
          </a:xfrm>
          <a:prstGeom prst="line">
            <a:avLst/>
          </a:prstGeom>
          <a:ln w="19050">
            <a:solidFill>
              <a:srgbClr val="CF0035"/>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524000" y="48641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Real request</a:t>
            </a:r>
          </a:p>
        </p:txBody>
      </p:sp>
      <p:sp>
        <p:nvSpPr>
          <p:cNvPr id="39" name="Rounded Rectangle 38"/>
          <p:cNvSpPr/>
          <p:nvPr/>
        </p:nvSpPr>
        <p:spPr>
          <a:xfrm>
            <a:off x="4508500" y="4762500"/>
            <a:ext cx="2578100" cy="482600"/>
          </a:xfrm>
          <a:prstGeom prst="roundRect">
            <a:avLst>
              <a:gd name="adj" fmla="val 1842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635500" y="48768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CF0035"/>
                </a:solidFill>
                <a:latin typeface="Arial"/>
              </a:rPr>
              <a:t>Verify the result</a:t>
            </a:r>
          </a:p>
        </p:txBody>
      </p:sp>
      <p:sp>
        <p:nvSpPr>
          <p:cNvPr id="41" name="Rounded Rectangle 40"/>
          <p:cNvSpPr/>
          <p:nvPr/>
        </p:nvSpPr>
        <p:spPr>
          <a:xfrm>
            <a:off x="7670800" y="2019300"/>
            <a:ext cx="3911600" cy="2133600"/>
          </a:xfrm>
          <a:prstGeom prst="roundRect">
            <a:avLst>
              <a:gd name="adj" fmla="val 535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24800" y="2247900"/>
            <a:ext cx="3403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Correlate the signals</a:t>
            </a:r>
          </a:p>
        </p:txBody>
      </p:sp>
      <p:sp>
        <p:nvSpPr>
          <p:cNvPr id="43" name="Oval 42"/>
          <p:cNvSpPr/>
          <p:nvPr/>
        </p:nvSpPr>
        <p:spPr>
          <a:xfrm>
            <a:off x="7937500" y="2857500"/>
            <a:ext cx="101600" cy="101600"/>
          </a:xfrm>
          <a:prstGeom prst="ellipse">
            <a:avLst/>
          </a:prstGeom>
          <a:solidFill>
            <a:srgbClr val="78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78800" y="27813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Pod readiness</a:t>
            </a:r>
          </a:p>
        </p:txBody>
      </p:sp>
      <p:sp>
        <p:nvSpPr>
          <p:cNvPr id="45" name="Oval 44"/>
          <p:cNvSpPr/>
          <p:nvPr/>
        </p:nvSpPr>
        <p:spPr>
          <a:xfrm>
            <a:off x="7937500" y="3263900"/>
            <a:ext cx="101600" cy="101600"/>
          </a:xfrm>
          <a:prstGeom prst="ellipse">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78800" y="31877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k8gb errors and logs</a:t>
            </a:r>
          </a:p>
        </p:txBody>
      </p:sp>
      <p:sp>
        <p:nvSpPr>
          <p:cNvPr id="47" name="Oval 46"/>
          <p:cNvSpPr/>
          <p:nvPr/>
        </p:nvSpPr>
        <p:spPr>
          <a:xfrm>
            <a:off x="7937500" y="3670300"/>
            <a:ext cx="101600" cy="101600"/>
          </a:xfrm>
          <a:prstGeom prst="ellipse">
            <a:avLst/>
          </a:prstGeom>
          <a:solidFill>
            <a:srgbClr val="F79B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178800" y="35941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Application results</a:t>
            </a:r>
          </a:p>
        </p:txBody>
      </p:sp>
      <p:sp>
        <p:nvSpPr>
          <p:cNvPr id="49" name="Rounded Rectangle 48"/>
          <p:cNvSpPr/>
          <p:nvPr/>
        </p:nvSpPr>
        <p:spPr>
          <a:xfrm>
            <a:off x="7670800" y="4330700"/>
            <a:ext cx="3911600" cy="1270000"/>
          </a:xfrm>
          <a:prstGeom prst="roundRect">
            <a:avLst>
              <a:gd name="adj" fmla="val 9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24800" y="4495800"/>
            <a:ext cx="340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METRIC EXAMPLE · ONE HOSTNAME</a:t>
            </a:r>
          </a:p>
        </p:txBody>
      </p:sp>
      <p:pic>
        <p:nvPicPr>
          <p:cNvPr id="51" name="Picture 50" descr="image.png"/>
          <p:cNvPicPr>
            <a:picLocks noChangeAspect="1"/>
          </p:cNvPicPr>
          <p:nvPr/>
        </p:nvPicPr>
        <p:blipFill>
          <a:blip r:embed="rId3"/>
          <a:stretch>
            <a:fillRect/>
          </a:stretch>
        </p:blipFill>
        <p:spPr>
          <a:xfrm>
            <a:off x="7924800" y="4787900"/>
            <a:ext cx="368300" cy="368300"/>
          </a:xfrm>
          <a:prstGeom prst="rect">
            <a:avLst/>
          </a:prstGeom>
        </p:spPr>
      </p:pic>
      <p:sp>
        <p:nvSpPr>
          <p:cNvPr id="52" name="TextBox 51"/>
          <p:cNvSpPr txBox="1"/>
          <p:nvPr/>
        </p:nvSpPr>
        <p:spPr>
          <a:xfrm>
            <a:off x="8445500" y="4813300"/>
            <a:ext cx="28829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1 cluster → 3 healthy IPs</a:t>
            </a:r>
          </a:p>
        </p:txBody>
      </p:sp>
      <p:sp>
        <p:nvSpPr>
          <p:cNvPr id="53" name="TextBox 52"/>
          <p:cNvSpPr txBox="1"/>
          <p:nvPr/>
        </p:nvSpPr>
        <p:spPr>
          <a:xfrm>
            <a:off x="7924800" y="5245100"/>
            <a:ext cx="34036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5D6F82"/>
                </a:solidFill>
                <a:latin typeface="Arial"/>
              </a:rPr>
              <a:t>Healthy-record count: 3</a:t>
            </a:r>
          </a:p>
        </p:txBody>
      </p:sp>
      <p:sp>
        <p:nvSpPr>
          <p:cNvPr id="54" name="Rounded Rectangle 53"/>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Query both authorities. Check the cache. Test a real request.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RESILIENCE TESTING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27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Perform end-to-end resilience tests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 is primary, B is healthy. Change one condition at a time.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1549400" y="19685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CHANGE ONE CONDITION</a:t>
            </a:r>
          </a:p>
        </p:txBody>
      </p:sp>
      <p:sp>
        <p:nvSpPr>
          <p:cNvPr id="11" name="TextBox 10"/>
          <p:cNvSpPr txBox="1"/>
          <p:nvPr/>
        </p:nvSpPr>
        <p:spPr>
          <a:xfrm>
            <a:off x="6807200" y="1968500"/>
            <a:ext cx="4495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VERIFY DNS + APPLICATION</a:t>
            </a:r>
          </a:p>
        </p:txBody>
      </p:sp>
      <p:sp>
        <p:nvSpPr>
          <p:cNvPr id="12" name="Rounded Rectangle 11"/>
          <p:cNvSpPr/>
          <p:nvPr/>
        </p:nvSpPr>
        <p:spPr>
          <a:xfrm>
            <a:off x="609600" y="23114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09600" y="22733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22300" y="2438400"/>
            <a:ext cx="0" cy="43180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12800" y="2400300"/>
            <a:ext cx="508000" cy="508000"/>
          </a:xfrm>
          <a:prstGeom prst="roundRect">
            <a:avLst>
              <a:gd name="adj" fmla="val 200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39800" y="2514600"/>
            <a:ext cx="254000" cy="279400"/>
          </a:xfrm>
          <a:prstGeom prst="roundRect">
            <a:avLst>
              <a:gd name="adj" fmla="val 15000"/>
            </a:avLst>
          </a:prstGeom>
          <a:solidFill>
            <a:srgbClr val="FFFFFF"/>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939800" y="2590800"/>
            <a:ext cx="2540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977900" y="2540000"/>
            <a:ext cx="25400" cy="25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8700" y="2540000"/>
            <a:ext cx="25400" cy="25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016000" y="2641600"/>
            <a:ext cx="1016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016000" y="2641600"/>
            <a:ext cx="1016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549400" y="23749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Remove A’s ready endpoints</a:t>
            </a:r>
          </a:p>
        </p:txBody>
      </p:sp>
      <p:sp>
        <p:nvSpPr>
          <p:cNvPr id="23" name="TextBox 22"/>
          <p:cNvSpPr txBox="1"/>
          <p:nvPr/>
        </p:nvSpPr>
        <p:spPr>
          <a:xfrm>
            <a:off x="1562100" y="27305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01 · WORKLOAD FAILURE</a:t>
            </a:r>
          </a:p>
        </p:txBody>
      </p:sp>
      <p:cxnSp>
        <p:nvCxnSpPr>
          <p:cNvPr id="24" name="Connector 23"/>
          <p:cNvCxnSpPr/>
          <p:nvPr/>
        </p:nvCxnSpPr>
        <p:spPr>
          <a:xfrm>
            <a:off x="6172200" y="2654300"/>
            <a:ext cx="2794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604000" y="2349500"/>
            <a:ext cx="4826000" cy="609600"/>
          </a:xfrm>
          <a:prstGeom prst="roundRect">
            <a:avLst>
              <a:gd name="adj" fmla="val 125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07200" y="24003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2762C8"/>
                </a:solidFill>
                <a:latin typeface="Arial"/>
              </a:rPr>
              <a:t>Both DNS answers → B</a:t>
            </a:r>
          </a:p>
        </p:txBody>
      </p:sp>
      <p:sp>
        <p:nvSpPr>
          <p:cNvPr id="27" name="TextBox 26"/>
          <p:cNvSpPr txBox="1"/>
          <p:nvPr/>
        </p:nvSpPr>
        <p:spPr>
          <a:xfrm>
            <a:off x="6807200" y="27051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Verify successful requests to B.</a:t>
            </a:r>
          </a:p>
        </p:txBody>
      </p:sp>
      <p:sp>
        <p:nvSpPr>
          <p:cNvPr id="28" name="Rounded Rectangle 27"/>
          <p:cNvSpPr/>
          <p:nvPr/>
        </p:nvSpPr>
        <p:spPr>
          <a:xfrm>
            <a:off x="609600" y="31750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09600" y="31369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622300" y="3302000"/>
            <a:ext cx="0" cy="43180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12800" y="3263900"/>
            <a:ext cx="508000" cy="508000"/>
          </a:xfrm>
          <a:prstGeom prst="roundRect">
            <a:avLst>
              <a:gd name="adj" fmla="val 200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2"/>
          <a:stretch>
            <a:fillRect/>
          </a:stretch>
        </p:blipFill>
        <p:spPr>
          <a:xfrm>
            <a:off x="876300" y="3327400"/>
            <a:ext cx="381000" cy="381000"/>
          </a:xfrm>
          <a:prstGeom prst="rect">
            <a:avLst/>
          </a:prstGeom>
        </p:spPr>
      </p:pic>
      <p:sp>
        <p:nvSpPr>
          <p:cNvPr id="33" name="TextBox 32"/>
          <p:cNvSpPr txBox="1"/>
          <p:nvPr/>
        </p:nvSpPr>
        <p:spPr>
          <a:xfrm>
            <a:off x="1549400" y="32385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Make cluster A unavailable</a:t>
            </a:r>
          </a:p>
        </p:txBody>
      </p:sp>
      <p:sp>
        <p:nvSpPr>
          <p:cNvPr id="34" name="TextBox 33"/>
          <p:cNvSpPr txBox="1"/>
          <p:nvPr/>
        </p:nvSpPr>
        <p:spPr>
          <a:xfrm>
            <a:off x="1562100" y="35941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02 · CLUSTER FAILURE</a:t>
            </a:r>
          </a:p>
        </p:txBody>
      </p:sp>
      <p:cxnSp>
        <p:nvCxnSpPr>
          <p:cNvPr id="35" name="Connector 34"/>
          <p:cNvCxnSpPr/>
          <p:nvPr/>
        </p:nvCxnSpPr>
        <p:spPr>
          <a:xfrm>
            <a:off x="6172200" y="3517900"/>
            <a:ext cx="2794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6604000" y="3213100"/>
            <a:ext cx="4826000" cy="6096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07200" y="32639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087F85"/>
                </a:solidFill>
                <a:latin typeface="Arial"/>
              </a:rPr>
              <a:t>B serves DNS and application</a:t>
            </a:r>
          </a:p>
        </p:txBody>
      </p:sp>
      <p:sp>
        <p:nvSpPr>
          <p:cNvPr id="38" name="TextBox 37"/>
          <p:cNvSpPr txBox="1"/>
          <p:nvPr/>
        </p:nvSpPr>
        <p:spPr>
          <a:xfrm>
            <a:off x="6807200" y="35687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Test through a client resolver.</a:t>
            </a:r>
          </a:p>
        </p:txBody>
      </p:sp>
      <p:sp>
        <p:nvSpPr>
          <p:cNvPr id="39" name="Rounded Rectangle 38"/>
          <p:cNvSpPr/>
          <p:nvPr/>
        </p:nvSpPr>
        <p:spPr>
          <a:xfrm>
            <a:off x="609600" y="40386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09600" y="40005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622300" y="4165600"/>
            <a:ext cx="0" cy="431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12800" y="4127500"/>
            <a:ext cx="508000" cy="508000"/>
          </a:xfrm>
          <a:prstGeom prst="roundRect">
            <a:avLst>
              <a:gd name="adj" fmla="val 20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914400" y="4381500"/>
            <a:ext cx="304800" cy="0"/>
          </a:xfrm>
          <a:prstGeom prst="line">
            <a:avLst/>
          </a:prstGeom>
          <a:ln w="19050">
            <a:solidFill>
              <a:srgbClr val="CF0035"/>
            </a:solidFill>
            <a:prstDash val="dash"/>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876300" y="4343400"/>
            <a:ext cx="76200" cy="76200"/>
          </a:xfrm>
          <a:prstGeom prst="ellipse">
            <a:avLst/>
          </a:prstGeom>
          <a:solidFill>
            <a:srgbClr val="FBE9EE"/>
          </a:solidFill>
          <a:ln w="1905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181100" y="4343400"/>
            <a:ext cx="76200" cy="76200"/>
          </a:xfrm>
          <a:prstGeom prst="ellipse">
            <a:avLst/>
          </a:prstGeom>
          <a:solidFill>
            <a:srgbClr val="FBE9EE"/>
          </a:solidFill>
          <a:ln w="1905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77900" y="4292600"/>
            <a:ext cx="177800" cy="177800"/>
          </a:xfrm>
          <a:prstGeom prst="ellipse">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1016000" y="4330700"/>
            <a:ext cx="101600" cy="1016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016000" y="4330700"/>
            <a:ext cx="101600" cy="1016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1549400" y="41021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Block B’s peer-health lookup</a:t>
            </a:r>
          </a:p>
        </p:txBody>
      </p:sp>
      <p:sp>
        <p:nvSpPr>
          <p:cNvPr id="50" name="TextBox 49"/>
          <p:cNvSpPr txBox="1"/>
          <p:nvPr/>
        </p:nvSpPr>
        <p:spPr>
          <a:xfrm>
            <a:off x="1562100" y="44577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CF0035"/>
                </a:solidFill>
                <a:latin typeface="Arial"/>
              </a:rPr>
              <a:t>03 · PEER DNS PARTITION</a:t>
            </a:r>
          </a:p>
        </p:txBody>
      </p:sp>
      <p:cxnSp>
        <p:nvCxnSpPr>
          <p:cNvPr id="51" name="Connector 50"/>
          <p:cNvCxnSpPr/>
          <p:nvPr/>
        </p:nvCxnSpPr>
        <p:spPr>
          <a:xfrm>
            <a:off x="6172200" y="4381500"/>
            <a:ext cx="279400" cy="0"/>
          </a:xfrm>
          <a:prstGeom prst="line">
            <a:avLst/>
          </a:prstGeom>
          <a:ln w="2032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6604000" y="4076700"/>
            <a:ext cx="4826000" cy="609600"/>
          </a:xfrm>
          <a:prstGeom prst="roundRect">
            <a:avLst>
              <a:gd name="adj" fmla="val 125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07200" y="41275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CF0035"/>
                </a:solidFill>
                <a:latin typeface="Arial"/>
              </a:rPr>
              <a:t>A answers A · B answers B</a:t>
            </a:r>
          </a:p>
        </p:txBody>
      </p:sp>
      <p:sp>
        <p:nvSpPr>
          <p:cNvPr id="54" name="TextBox 53"/>
          <p:cNvSpPr txBox="1"/>
          <p:nvPr/>
        </p:nvSpPr>
        <p:spPr>
          <a:xfrm>
            <a:off x="6807200" y="44323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Check the impact on real requests.</a:t>
            </a:r>
          </a:p>
        </p:txBody>
      </p:sp>
      <p:sp>
        <p:nvSpPr>
          <p:cNvPr id="55" name="Rounded Rectangle 54"/>
          <p:cNvSpPr/>
          <p:nvPr/>
        </p:nvSpPr>
        <p:spPr>
          <a:xfrm>
            <a:off x="609600" y="49022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09600" y="48641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622300" y="5029200"/>
            <a:ext cx="0" cy="431800"/>
          </a:xfrm>
          <a:prstGeom prst="line">
            <a:avLst/>
          </a:prstGeom>
          <a:ln w="38100">
            <a:solidFill>
              <a:srgbClr val="177C58"/>
            </a:solidFill>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812800" y="4991100"/>
            <a:ext cx="508000" cy="508000"/>
          </a:xfrm>
          <a:prstGeom prst="roundRect">
            <a:avLst>
              <a:gd name="adj" fmla="val 20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1193273" y="5138975"/>
            <a:ext cx="16025" cy="22744"/>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209298" y="5161719"/>
            <a:ext cx="11977" cy="2511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221275" y="5186831"/>
            <a:ext cx="7591" cy="26766"/>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228866" y="5213597"/>
            <a:ext cx="2989" cy="2766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1230156" y="5241258"/>
            <a:ext cx="1699" cy="2777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1223819" y="5269028"/>
            <a:ext cx="6337" cy="2709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a:off x="1213023" y="5296118"/>
            <a:ext cx="10796" cy="2564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1198074" y="5321760"/>
            <a:ext cx="14949" cy="2346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1179397" y="5345225"/>
            <a:ext cx="18677" cy="2062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1157523" y="5365846"/>
            <a:ext cx="21874" cy="1719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1133073" y="5383039"/>
            <a:ext cx="24450" cy="1327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a:off x="1106741" y="5396314"/>
            <a:ext cx="26332" cy="898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a:off x="1079274" y="5405295"/>
            <a:ext cx="27467" cy="443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1051453" y="5409485"/>
            <a:ext cx="27821" cy="24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1024068" y="5404574"/>
            <a:ext cx="27385" cy="491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997897" y="5395134"/>
            <a:ext cx="26171" cy="944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973682" y="5381434"/>
            <a:ext cx="24215" cy="1370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952111" y="5363863"/>
            <a:ext cx="21571" cy="1757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933798" y="5342918"/>
            <a:ext cx="18313" cy="2094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919261" y="5319196"/>
            <a:ext cx="14537" cy="2372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908914" y="5293370"/>
            <a:ext cx="10347" cy="25826"/>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flipV="1">
            <a:off x="903050" y="5266173"/>
            <a:ext cx="5864" cy="27197"/>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flipV="1">
            <a:off x="901836" y="5238378"/>
            <a:ext cx="1214" cy="2779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1836" y="5210773"/>
            <a:ext cx="3471" cy="2760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905307" y="5184144"/>
            <a:ext cx="8057" cy="26629"/>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913364" y="5159245"/>
            <a:ext cx="12414" cy="24899"/>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925778" y="5136784"/>
            <a:ext cx="16419" cy="2246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942197" y="5117399"/>
            <a:ext cx="19957" cy="1938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962154" y="5101641"/>
            <a:ext cx="22929" cy="15758"/>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985083" y="5089956"/>
            <a:ext cx="25249" cy="11685"/>
          </a:xfrm>
          <a:prstGeom prst="line">
            <a:avLst/>
          </a:prstGeom>
          <a:ln w="20320">
            <a:solidFill>
              <a:srgbClr val="177C5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90600" y="5245100"/>
            <a:ext cx="50800" cy="50800"/>
          </a:xfrm>
          <a:prstGeom prst="line">
            <a:avLst/>
          </a:prstGeom>
          <a:ln w="2286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041400" y="5181600"/>
            <a:ext cx="101600" cy="114300"/>
          </a:xfrm>
          <a:prstGeom prst="line">
            <a:avLst/>
          </a:prstGeom>
          <a:ln w="22860">
            <a:solidFill>
              <a:srgbClr val="177C58"/>
            </a:solidFill>
          </a:ln>
        </p:spPr>
        <p:style>
          <a:lnRef idx="2">
            <a:schemeClr val="accent1"/>
          </a:lnRef>
          <a:fillRef idx="0">
            <a:schemeClr val="accent1"/>
          </a:fillRef>
          <a:effectRef idx="1">
            <a:schemeClr val="accent1"/>
          </a:effectRef>
          <a:fontRef idx="minor">
            <a:schemeClr val="tx1"/>
          </a:fontRef>
        </p:style>
      </p:cxnSp>
      <p:sp>
        <p:nvSpPr>
          <p:cNvPr id="91" name="TextBox 90"/>
          <p:cNvSpPr txBox="1"/>
          <p:nvPr/>
        </p:nvSpPr>
        <p:spPr>
          <a:xfrm>
            <a:off x="1549400" y="49657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Restore A’s readiness</a:t>
            </a:r>
          </a:p>
        </p:txBody>
      </p:sp>
      <p:sp>
        <p:nvSpPr>
          <p:cNvPr id="92" name="TextBox 91"/>
          <p:cNvSpPr txBox="1"/>
          <p:nvPr/>
        </p:nvSpPr>
        <p:spPr>
          <a:xfrm>
            <a:off x="1562100" y="53213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177C58"/>
                </a:solidFill>
                <a:latin typeface="Arial"/>
              </a:rPr>
              <a:t>04 · RECOVERY</a:t>
            </a:r>
          </a:p>
        </p:txBody>
      </p:sp>
      <p:cxnSp>
        <p:nvCxnSpPr>
          <p:cNvPr id="93" name="Connector 92"/>
          <p:cNvCxnSpPr/>
          <p:nvPr/>
        </p:nvCxnSpPr>
        <p:spPr>
          <a:xfrm>
            <a:off x="6172200" y="5245100"/>
            <a:ext cx="279400" cy="0"/>
          </a:xfrm>
          <a:prstGeom prst="line">
            <a:avLst/>
          </a:prstGeom>
          <a:ln w="20320">
            <a:solidFill>
              <a:srgbClr val="177C5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Rounded Rectangle 93"/>
          <p:cNvSpPr/>
          <p:nvPr/>
        </p:nvSpPr>
        <p:spPr>
          <a:xfrm>
            <a:off x="6604000" y="4940300"/>
            <a:ext cx="4826000" cy="609600"/>
          </a:xfrm>
          <a:prstGeom prst="roundRect">
            <a:avLst>
              <a:gd name="adj" fmla="val 125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807200" y="49911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77C58"/>
                </a:solidFill>
                <a:latin typeface="Arial"/>
              </a:rPr>
              <a:t>Both DNS answers → A</a:t>
            </a:r>
          </a:p>
        </p:txBody>
      </p:sp>
      <p:sp>
        <p:nvSpPr>
          <p:cNvPr id="96" name="TextBox 95"/>
          <p:cNvSpPr txBox="1"/>
          <p:nvPr/>
        </p:nvSpPr>
        <p:spPr>
          <a:xfrm>
            <a:off x="6807200" y="52959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Check requests and data correctness.</a:t>
            </a:r>
          </a:p>
        </p:txBody>
      </p:sp>
      <p:sp>
        <p:nvSpPr>
          <p:cNvPr id="97" name="Rounded Rectangle 96"/>
          <p:cNvSpPr/>
          <p:nvPr/>
        </p:nvSpPr>
        <p:spPr>
          <a:xfrm>
            <a:off x="609600" y="58674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787400" y="59690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Time DNS convergence and the return of successful requests.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REAL-WORLD ADOPTION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28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Resilience in production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Millennium bcp · Results reported in a CNCF case study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8915400" y="762746"/>
            <a:ext cx="2667000" cy="874806"/>
          </a:xfrm>
          <a:prstGeom prst="rect">
            <a:avLst/>
          </a:prstGeom>
        </p:spPr>
      </p:pic>
      <p:sp>
        <p:nvSpPr>
          <p:cNvPr id="11" name="Rounded Rectangle 10"/>
          <p:cNvSpPr/>
          <p:nvPr/>
        </p:nvSpPr>
        <p:spPr>
          <a:xfrm>
            <a:off x="609600" y="2133600"/>
            <a:ext cx="5334000" cy="3378200"/>
          </a:xfrm>
          <a:prstGeom prst="roundRect">
            <a:avLst>
              <a:gd name="adj" fmla="val 375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082800"/>
            <a:ext cx="5334000" cy="3378200"/>
          </a:xfrm>
          <a:prstGeom prst="roundRect">
            <a:avLst>
              <a:gd name="adj" fmla="val 375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914400" y="2095500"/>
            <a:ext cx="4724400" cy="0"/>
          </a:xfrm>
          <a:prstGeom prst="line">
            <a:avLst/>
          </a:prstGeom>
          <a:ln w="38100">
            <a:solidFill>
              <a:srgbClr val="D1005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2362200"/>
            <a:ext cx="4724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DNS INCIDENT RESPONSE</a:t>
            </a:r>
          </a:p>
        </p:txBody>
      </p:sp>
      <p:sp>
        <p:nvSpPr>
          <p:cNvPr id="15" name="TextBox 14"/>
          <p:cNvSpPr txBox="1"/>
          <p:nvPr/>
        </p:nvSpPr>
        <p:spPr>
          <a:xfrm>
            <a:off x="876300" y="2641600"/>
            <a:ext cx="4762500" cy="1682750"/>
          </a:xfrm>
          <a:prstGeom prst="rect">
            <a:avLst/>
          </a:prstGeom>
          <a:noFill/>
        </p:spPr>
        <p:txBody>
          <a:bodyPr wrap="none" lIns="0" rIns="0" tIns="0" bIns="0" anchor="t">
            <a:noAutofit/>
          </a:bodyPr>
          <a:lstStyle/>
          <a:p>
            <a:pPr algn="l">
              <a:lnSpc>
                <a:spcPts val="12190"/>
              </a:lnSpc>
              <a:spcBef>
                <a:spcPts val="0"/>
              </a:spcBef>
              <a:spcAft>
                <a:spcPts val="0"/>
              </a:spcAft>
            </a:pPr>
            <a:r>
              <a:rPr sz="10600" b="1">
                <a:solidFill>
                  <a:srgbClr val="FFFFFF"/>
                </a:solidFill>
                <a:latin typeface="Arial"/>
              </a:rPr>
              <a:t>70%</a:t>
            </a:r>
          </a:p>
        </p:txBody>
      </p:sp>
      <p:sp>
        <p:nvSpPr>
          <p:cNvPr id="16" name="TextBox 15"/>
          <p:cNvSpPr txBox="1"/>
          <p:nvPr/>
        </p:nvSpPr>
        <p:spPr>
          <a:xfrm>
            <a:off x="939800" y="4330700"/>
            <a:ext cx="46736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shorter response times</a:t>
            </a:r>
          </a:p>
        </p:txBody>
      </p:sp>
      <p:sp>
        <p:nvSpPr>
          <p:cNvPr id="17" name="TextBox 16"/>
          <p:cNvSpPr txBox="1"/>
          <p:nvPr/>
        </p:nvSpPr>
        <p:spPr>
          <a:xfrm>
            <a:off x="939800" y="4826000"/>
            <a:ext cx="46736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B8C8D9"/>
                </a:solidFill>
                <a:latin typeface="Arial"/>
              </a:rPr>
              <a:t>for DNS-related incidents</a:t>
            </a:r>
          </a:p>
        </p:txBody>
      </p:sp>
      <p:sp>
        <p:nvSpPr>
          <p:cNvPr id="18" name="Rounded Rectangle 17"/>
          <p:cNvSpPr/>
          <p:nvPr/>
        </p:nvSpPr>
        <p:spPr>
          <a:xfrm>
            <a:off x="6248400" y="2133600"/>
            <a:ext cx="5334000" cy="1524000"/>
          </a:xfrm>
          <a:prstGeom prst="roundRect">
            <a:avLst>
              <a:gd name="adj" fmla="val 8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8400" y="2082800"/>
            <a:ext cx="5334000" cy="1524000"/>
          </a:xfrm>
          <a:prstGeom prst="roundRect">
            <a:avLst>
              <a:gd name="adj" fmla="val 8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7800" y="2209800"/>
            <a:ext cx="1016000" cy="1047750"/>
          </a:xfrm>
          <a:prstGeom prst="rect">
            <a:avLst/>
          </a:prstGeom>
          <a:noFill/>
        </p:spPr>
        <p:txBody>
          <a:bodyPr wrap="none" lIns="0" rIns="0" tIns="0" bIns="0" anchor="t">
            <a:noAutofit/>
          </a:bodyPr>
          <a:lstStyle/>
          <a:p>
            <a:pPr algn="l">
              <a:lnSpc>
                <a:spcPts val="7589"/>
              </a:lnSpc>
              <a:spcBef>
                <a:spcPts val="0"/>
              </a:spcBef>
              <a:spcAft>
                <a:spcPts val="0"/>
              </a:spcAft>
            </a:pPr>
            <a:r>
              <a:rPr sz="6600" b="1">
                <a:solidFill>
                  <a:srgbClr val="2762C8"/>
                </a:solidFill>
                <a:latin typeface="Arial"/>
              </a:rPr>
              <a:t>5</a:t>
            </a:r>
          </a:p>
        </p:txBody>
      </p:sp>
      <p:sp>
        <p:nvSpPr>
          <p:cNvPr id="21" name="TextBox 20"/>
          <p:cNvSpPr txBox="1"/>
          <p:nvPr/>
        </p:nvSpPr>
        <p:spPr>
          <a:xfrm>
            <a:off x="7721600" y="2336800"/>
            <a:ext cx="3556000" cy="461644"/>
          </a:xfrm>
          <a:prstGeom prst="rect">
            <a:avLst/>
          </a:prstGeom>
          <a:noFill/>
        </p:spPr>
        <p:txBody>
          <a:bodyPr wrap="none" lIns="0" rIns="0" tIns="0" bIns="0" anchor="t">
            <a:noAutofit/>
          </a:bodyPr>
          <a:lstStyle/>
          <a:p>
            <a:pPr algn="l">
              <a:lnSpc>
                <a:spcPts val="3334"/>
              </a:lnSpc>
              <a:spcBef>
                <a:spcPts val="0"/>
              </a:spcBef>
              <a:spcAft>
                <a:spcPts val="0"/>
              </a:spcAft>
            </a:pPr>
            <a:r>
              <a:rPr sz="2900" b="1">
                <a:solidFill>
                  <a:srgbClr val="142338"/>
                </a:solidFill>
                <a:latin typeface="Arial"/>
              </a:rPr>
              <a:t>regions</a:t>
            </a:r>
          </a:p>
        </p:txBody>
      </p:sp>
      <p:sp>
        <p:nvSpPr>
          <p:cNvPr id="22" name="TextBox 21"/>
          <p:cNvSpPr txBox="1"/>
          <p:nvPr/>
        </p:nvSpPr>
        <p:spPr>
          <a:xfrm>
            <a:off x="7721600" y="2857500"/>
            <a:ext cx="3556000" cy="556260"/>
          </a:xfrm>
          <a:prstGeom prst="rect">
            <a:avLst/>
          </a:prstGeom>
          <a:noFill/>
        </p:spPr>
        <p:txBody>
          <a:bodyPr wrap="none" lIns="0" rIns="0" tIns="0" bIns="0" anchor="t">
            <a:noAutofit/>
          </a:bodyPr>
          <a:lstStyle/>
          <a:p>
            <a:pPr algn="l">
              <a:lnSpc>
                <a:spcPts val="2039"/>
              </a:lnSpc>
              <a:spcBef>
                <a:spcPts val="0"/>
              </a:spcBef>
              <a:spcAft>
                <a:spcPts val="0"/>
              </a:spcAft>
            </a:pPr>
            <a:r>
              <a:rPr sz="1700" b="0">
                <a:solidFill>
                  <a:srgbClr val="5D6F82"/>
                </a:solidFill>
                <a:latin typeface="Arial"/>
              </a:rPr>
              <a:t>Two cloud providers</a:t>
            </a:r>
          </a:p>
          <a:p>
            <a:pPr algn="l">
              <a:lnSpc>
                <a:spcPts val="2039"/>
              </a:lnSpc>
              <a:spcBef>
                <a:spcPts val="0"/>
              </a:spcBef>
              <a:spcAft>
                <a:spcPts val="0"/>
              </a:spcAft>
            </a:pPr>
            <a:r>
              <a:rPr sz="1700" b="0">
                <a:solidFill>
                  <a:srgbClr val="5D6F82"/>
                </a:solidFill>
                <a:latin typeface="Arial"/>
              </a:rPr>
              <a:t>+ on-premises</a:t>
            </a:r>
          </a:p>
        </p:txBody>
      </p:sp>
      <p:cxnSp>
        <p:nvCxnSpPr>
          <p:cNvPr id="23" name="Connector 22"/>
          <p:cNvCxnSpPr/>
          <p:nvPr/>
        </p:nvCxnSpPr>
        <p:spPr>
          <a:xfrm>
            <a:off x="6642100" y="3403600"/>
            <a:ext cx="812800" cy="0"/>
          </a:xfrm>
          <a:prstGeom prst="line">
            <a:avLst/>
          </a:prstGeom>
          <a:ln w="1905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597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008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0040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207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104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8400" y="3886200"/>
            <a:ext cx="5334000" cy="1625600"/>
          </a:xfrm>
          <a:prstGeom prst="roundRect">
            <a:avLst>
              <a:gd name="adj" fmla="val 781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48400" y="3835400"/>
            <a:ext cx="5334000" cy="1625600"/>
          </a:xfrm>
          <a:prstGeom prst="roundRect">
            <a:avLst>
              <a:gd name="adj" fmla="val 781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53200" y="4127500"/>
            <a:ext cx="609600" cy="609600"/>
          </a:xfrm>
          <a:prstGeom prst="roundRect">
            <a:avLst>
              <a:gd name="adj" fmla="val 20833"/>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667500" y="4241800"/>
            <a:ext cx="381000" cy="3810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6756400" y="4432300"/>
            <a:ext cx="76200" cy="762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832600" y="4343400"/>
            <a:ext cx="139700" cy="1651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416800" y="4089400"/>
            <a:ext cx="3860800" cy="432434"/>
          </a:xfrm>
          <a:prstGeom prst="rect">
            <a:avLst/>
          </a:prstGeom>
          <a:noFill/>
        </p:spPr>
        <p:txBody>
          <a:bodyPr wrap="none" lIns="0" rIns="0" tIns="0" bIns="0" anchor="t">
            <a:noAutofit/>
          </a:bodyPr>
          <a:lstStyle/>
          <a:p>
            <a:pPr algn="l">
              <a:lnSpc>
                <a:spcPts val="3104"/>
              </a:lnSpc>
              <a:spcBef>
                <a:spcPts val="0"/>
              </a:spcBef>
              <a:spcAft>
                <a:spcPts val="0"/>
              </a:spcAft>
            </a:pPr>
            <a:r>
              <a:rPr sz="2700" b="1">
                <a:solidFill>
                  <a:srgbClr val="087F85"/>
                </a:solidFill>
                <a:latin typeface="Arial"/>
              </a:rPr>
              <a:t>Zero downtime</a:t>
            </a:r>
          </a:p>
        </p:txBody>
      </p:sp>
      <p:sp>
        <p:nvSpPr>
          <p:cNvPr id="36" name="TextBox 35"/>
          <p:cNvSpPr txBox="1"/>
          <p:nvPr/>
        </p:nvSpPr>
        <p:spPr>
          <a:xfrm>
            <a:off x="7416800" y="4686300"/>
            <a:ext cx="3860800" cy="617220"/>
          </a:xfrm>
          <a:prstGeom prst="rect">
            <a:avLst/>
          </a:prstGeom>
          <a:noFill/>
        </p:spPr>
        <p:txBody>
          <a:bodyPr wrap="none" lIns="0" rIns="0" tIns="0" bIns="0" anchor="t">
            <a:noAutofit/>
          </a:bodyPr>
          <a:lstStyle/>
          <a:p>
            <a:pPr algn="l">
              <a:lnSpc>
                <a:spcPts val="2280"/>
              </a:lnSpc>
              <a:spcBef>
                <a:spcPts val="0"/>
              </a:spcBef>
              <a:spcAft>
                <a:spcPts val="0"/>
              </a:spcAft>
            </a:pPr>
            <a:r>
              <a:rPr sz="1900" b="0">
                <a:solidFill>
                  <a:srgbClr val="5D6F82"/>
                </a:solidFill>
                <a:latin typeface="Arial"/>
              </a:rPr>
              <a:t>Reported during regional</a:t>
            </a:r>
          </a:p>
          <a:p>
            <a:pPr algn="l">
              <a:lnSpc>
                <a:spcPts val="2280"/>
              </a:lnSpc>
              <a:spcBef>
                <a:spcPts val="0"/>
              </a:spcBef>
              <a:spcAft>
                <a:spcPts val="0"/>
              </a:spcAft>
            </a:pPr>
            <a:r>
              <a:rPr sz="1900" b="0">
                <a:solidFill>
                  <a:srgbClr val="5D6F82"/>
                </a:solidFill>
                <a:latin typeface="Arial"/>
              </a:rPr>
              <a:t>failover tests</a:t>
            </a:r>
          </a:p>
        </p:txBody>
      </p:sp>
      <p:sp>
        <p:nvSpPr>
          <p:cNvPr id="37" name="TextBox 36"/>
          <p:cNvSpPr txBox="1"/>
          <p:nvPr/>
        </p:nvSpPr>
        <p:spPr>
          <a:xfrm>
            <a:off x="609600" y="5613400"/>
            <a:ext cx="54610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Arial"/>
              </a:rPr>
              <a:t>CNCF case study · 16 September 2025</a:t>
            </a:r>
          </a:p>
        </p:txBody>
      </p:sp>
      <p:sp>
        <p:nvSpPr>
          <p:cNvPr id="38" name="TextBox 37"/>
          <p:cNvSpPr txBox="1"/>
          <p:nvPr/>
        </p:nvSpPr>
        <p:spPr>
          <a:xfrm>
            <a:off x="6248400" y="5613400"/>
            <a:ext cx="5334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2762C8"/>
                </a:solidFill>
                <a:latin typeface="Arial"/>
              </a:rPr>
              <a:t>cncf.io/case-studies/millennium-bcp</a:t>
            </a:r>
          </a:p>
        </p:txBody>
      </p:sp>
      <p:sp>
        <p:nvSpPr>
          <p:cNvPr id="39" name="Rounded Rectangle 38"/>
          <p:cNvSpPr/>
          <p:nvPr/>
        </p:nvSpPr>
        <p:spPr>
          <a:xfrm>
            <a:off x="609600" y="58928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7400" y="59690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Published results from Millennium bcp’s deployment.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LIVE DEMONSTRATION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29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One hostname. Two clusters.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All local. Two application clusters represent different locations.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cxnSp>
        <p:nvCxnSpPr>
          <p:cNvPr id="10" name="Connector 9"/>
          <p:cNvCxnSpPr/>
          <p:nvPr/>
        </p:nvCxnSpPr>
        <p:spPr>
          <a:xfrm flipH="1">
            <a:off x="2844800" y="2590800"/>
            <a:ext cx="1346200" cy="0"/>
          </a:xfrm>
          <a:prstGeom prst="line">
            <a:avLst/>
          </a:prstGeom>
          <a:ln w="2159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4800" y="2590800"/>
            <a:ext cx="0" cy="914400"/>
          </a:xfrm>
          <a:prstGeom prst="line">
            <a:avLst/>
          </a:prstGeom>
          <a:ln w="21590">
            <a:solidFill>
              <a:srgbClr val="83AD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1000" y="2590800"/>
            <a:ext cx="13462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347200" y="2590800"/>
            <a:ext cx="0" cy="914400"/>
          </a:xfrm>
          <a:prstGeom prst="line">
            <a:avLst/>
          </a:prstGeom>
          <a:ln w="21590">
            <a:solidFill>
              <a:srgbClr val="66CB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89000" y="29845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NS delegation</a:t>
            </a:r>
          </a:p>
        </p:txBody>
      </p:sp>
      <p:sp>
        <p:nvSpPr>
          <p:cNvPr id="15" name="TextBox 14"/>
          <p:cNvSpPr txBox="1"/>
          <p:nvPr/>
        </p:nvSpPr>
        <p:spPr>
          <a:xfrm>
            <a:off x="9601200" y="29845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NS delegation</a:t>
            </a:r>
          </a:p>
        </p:txBody>
      </p:sp>
      <p:sp>
        <p:nvSpPr>
          <p:cNvPr id="16" name="Rounded Rectangle 15"/>
          <p:cNvSpPr/>
          <p:nvPr/>
        </p:nvSpPr>
        <p:spPr>
          <a:xfrm>
            <a:off x="4191000" y="2108200"/>
            <a:ext cx="3810000" cy="965200"/>
          </a:xfrm>
          <a:prstGeom prst="roundRect">
            <a:avLst>
              <a:gd name="adj" fmla="val 1315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19600" y="23114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483100" y="23685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798060" y="23533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19600" y="24765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483100" y="25336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798060" y="25184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19600" y="26416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4483100" y="26987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798060" y="26835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92700" y="2260600"/>
            <a:ext cx="26797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Local BIND9</a:t>
            </a:r>
          </a:p>
        </p:txBody>
      </p:sp>
      <p:sp>
        <p:nvSpPr>
          <p:cNvPr id="27" name="TextBox 26"/>
          <p:cNvSpPr txBox="1"/>
          <p:nvPr/>
        </p:nvSpPr>
        <p:spPr>
          <a:xfrm>
            <a:off x="5092700" y="2679700"/>
            <a:ext cx="26797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Parent DNS · example.com</a:t>
            </a:r>
          </a:p>
        </p:txBody>
      </p:sp>
      <p:sp>
        <p:nvSpPr>
          <p:cNvPr id="28" name="TextBox 27"/>
          <p:cNvSpPr txBox="1"/>
          <p:nvPr/>
        </p:nvSpPr>
        <p:spPr>
          <a:xfrm>
            <a:off x="4064000" y="3175000"/>
            <a:ext cx="406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B8C8D9"/>
                </a:solidFill>
                <a:latin typeface="Arial"/>
              </a:rPr>
              <a:t>Delegates cloud.example.com</a:t>
            </a:r>
          </a:p>
        </p:txBody>
      </p:sp>
      <p:sp>
        <p:nvSpPr>
          <p:cNvPr id="29" name="Rounded Rectangle 28"/>
          <p:cNvSpPr/>
          <p:nvPr/>
        </p:nvSpPr>
        <p:spPr>
          <a:xfrm>
            <a:off x="6096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838200" y="3517900"/>
            <a:ext cx="4013200" cy="0"/>
          </a:xfrm>
          <a:prstGeom prst="line">
            <a:avLst/>
          </a:prstGeom>
          <a:ln w="30480">
            <a:solidFill>
              <a:srgbClr val="83ADFF"/>
            </a:solidFill>
          </a:ln>
        </p:spPr>
        <p:style>
          <a:lnRef idx="2">
            <a:schemeClr val="accent1"/>
          </a:lnRef>
          <a:fillRef idx="0">
            <a:schemeClr val="accent1"/>
          </a:fillRef>
          <a:effectRef idx="1">
            <a:schemeClr val="accent1"/>
          </a:effectRef>
          <a:fontRef idx="minor">
            <a:schemeClr val="tx1"/>
          </a:fontRef>
        </p:style>
      </p:cxnSp>
      <p:pic>
        <p:nvPicPr>
          <p:cNvPr id="31" name="Picture 30" descr="image.png"/>
          <p:cNvPicPr>
            <a:picLocks noChangeAspect="1"/>
          </p:cNvPicPr>
          <p:nvPr/>
        </p:nvPicPr>
        <p:blipFill>
          <a:blip r:embed="rId2"/>
          <a:stretch>
            <a:fillRect/>
          </a:stretch>
        </p:blipFill>
        <p:spPr>
          <a:xfrm>
            <a:off x="838200" y="3657600"/>
            <a:ext cx="469900" cy="469900"/>
          </a:xfrm>
          <a:prstGeom prst="rect">
            <a:avLst/>
          </a:prstGeom>
        </p:spPr>
      </p:pic>
      <p:sp>
        <p:nvSpPr>
          <p:cNvPr id="32" name="TextBox 31"/>
          <p:cNvSpPr txBox="1"/>
          <p:nvPr/>
        </p:nvSpPr>
        <p:spPr>
          <a:xfrm>
            <a:off x="14732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A</a:t>
            </a:r>
          </a:p>
        </p:txBody>
      </p:sp>
      <p:sp>
        <p:nvSpPr>
          <p:cNvPr id="33" name="Rounded Rectangle 32"/>
          <p:cNvSpPr/>
          <p:nvPr/>
        </p:nvSpPr>
        <p:spPr>
          <a:xfrm>
            <a:off x="3683000" y="3632200"/>
            <a:ext cx="1168400" cy="317500"/>
          </a:xfrm>
          <a:prstGeom prst="roundRect">
            <a:avLst>
              <a:gd name="adj" fmla="val 48000"/>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7465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83ADFF"/>
                </a:solidFill>
                <a:latin typeface="Arial"/>
              </a:rPr>
              <a:t>PRIMARY</a:t>
            </a:r>
          </a:p>
        </p:txBody>
      </p:sp>
      <p:sp>
        <p:nvSpPr>
          <p:cNvPr id="35" name="TextBox 34"/>
          <p:cNvSpPr txBox="1"/>
          <p:nvPr/>
        </p:nvSpPr>
        <p:spPr>
          <a:xfrm>
            <a:off x="14732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Location A · geotag eu</a:t>
            </a:r>
          </a:p>
        </p:txBody>
      </p:sp>
      <p:cxnSp>
        <p:nvCxnSpPr>
          <p:cNvPr id="36" name="Connector 35"/>
          <p:cNvCxnSpPr/>
          <p:nvPr/>
        </p:nvCxnSpPr>
        <p:spPr>
          <a:xfrm>
            <a:off x="8636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863600" y="4487207"/>
            <a:ext cx="342899" cy="334685"/>
          </a:xfrm>
          <a:prstGeom prst="rect">
            <a:avLst/>
          </a:prstGeom>
        </p:spPr>
      </p:pic>
      <p:sp>
        <p:nvSpPr>
          <p:cNvPr id="38" name="TextBox 37"/>
          <p:cNvSpPr txBox="1"/>
          <p:nvPr/>
        </p:nvSpPr>
        <p:spPr>
          <a:xfrm>
            <a:off x="13208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39" name="Picture 38" descr="image.png"/>
          <p:cNvPicPr>
            <a:picLocks noChangeAspect="1"/>
          </p:cNvPicPr>
          <p:nvPr/>
        </p:nvPicPr>
        <p:blipFill>
          <a:blip r:embed="rId4"/>
          <a:stretch>
            <a:fillRect/>
          </a:stretch>
        </p:blipFill>
        <p:spPr>
          <a:xfrm>
            <a:off x="2755900" y="4483100"/>
            <a:ext cx="342900" cy="342900"/>
          </a:xfrm>
          <a:prstGeom prst="rect">
            <a:avLst/>
          </a:prstGeom>
        </p:spPr>
      </p:pic>
      <p:sp>
        <p:nvSpPr>
          <p:cNvPr id="40" name="TextBox 39"/>
          <p:cNvSpPr txBox="1"/>
          <p:nvPr/>
        </p:nvSpPr>
        <p:spPr>
          <a:xfrm>
            <a:off x="32131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41" name="Rounded Rectangle 40"/>
          <p:cNvSpPr/>
          <p:nvPr/>
        </p:nvSpPr>
        <p:spPr>
          <a:xfrm>
            <a:off x="8636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8636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1938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sp>
        <p:nvSpPr>
          <p:cNvPr id="44" name="Rounded Rectangle 43"/>
          <p:cNvSpPr/>
          <p:nvPr/>
        </p:nvSpPr>
        <p:spPr>
          <a:xfrm>
            <a:off x="71120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7340600" y="3517900"/>
            <a:ext cx="4013200" cy="0"/>
          </a:xfrm>
          <a:prstGeom prst="line">
            <a:avLst/>
          </a:prstGeom>
          <a:ln w="30480">
            <a:solidFill>
              <a:srgbClr val="66CBC9"/>
            </a:solidFill>
          </a:ln>
        </p:spPr>
        <p:style>
          <a:lnRef idx="2">
            <a:schemeClr val="accent1"/>
          </a:lnRef>
          <a:fillRef idx="0">
            <a:schemeClr val="accent1"/>
          </a:fillRef>
          <a:effectRef idx="1">
            <a:schemeClr val="accent1"/>
          </a:effectRef>
          <a:fontRef idx="minor">
            <a:schemeClr val="tx1"/>
          </a:fontRef>
        </p:style>
      </p:cxnSp>
      <p:pic>
        <p:nvPicPr>
          <p:cNvPr id="46" name="Picture 45" descr="image.png"/>
          <p:cNvPicPr>
            <a:picLocks noChangeAspect="1"/>
          </p:cNvPicPr>
          <p:nvPr/>
        </p:nvPicPr>
        <p:blipFill>
          <a:blip r:embed="rId2"/>
          <a:stretch>
            <a:fillRect/>
          </a:stretch>
        </p:blipFill>
        <p:spPr>
          <a:xfrm>
            <a:off x="7340600" y="3657600"/>
            <a:ext cx="469900" cy="469900"/>
          </a:xfrm>
          <a:prstGeom prst="rect">
            <a:avLst/>
          </a:prstGeom>
        </p:spPr>
      </p:pic>
      <p:sp>
        <p:nvSpPr>
          <p:cNvPr id="47" name="TextBox 46"/>
          <p:cNvSpPr txBox="1"/>
          <p:nvPr/>
        </p:nvSpPr>
        <p:spPr>
          <a:xfrm>
            <a:off x="79756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B</a:t>
            </a:r>
          </a:p>
        </p:txBody>
      </p:sp>
      <p:sp>
        <p:nvSpPr>
          <p:cNvPr id="48" name="Rounded Rectangle 47"/>
          <p:cNvSpPr/>
          <p:nvPr/>
        </p:nvSpPr>
        <p:spPr>
          <a:xfrm>
            <a:off x="10185400" y="3632200"/>
            <a:ext cx="1168400" cy="317500"/>
          </a:xfrm>
          <a:prstGeom prst="roundRect">
            <a:avLst>
              <a:gd name="adj" fmla="val 48000"/>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89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66CBC9"/>
                </a:solidFill>
                <a:latin typeface="Arial"/>
              </a:rPr>
              <a:t>SECONDARY</a:t>
            </a:r>
          </a:p>
        </p:txBody>
      </p:sp>
      <p:sp>
        <p:nvSpPr>
          <p:cNvPr id="50" name="TextBox 49"/>
          <p:cNvSpPr txBox="1"/>
          <p:nvPr/>
        </p:nvSpPr>
        <p:spPr>
          <a:xfrm>
            <a:off x="79756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Location B · geotag us</a:t>
            </a:r>
          </a:p>
        </p:txBody>
      </p:sp>
      <p:cxnSp>
        <p:nvCxnSpPr>
          <p:cNvPr id="51" name="Connector 50"/>
          <p:cNvCxnSpPr/>
          <p:nvPr/>
        </p:nvCxnSpPr>
        <p:spPr>
          <a:xfrm>
            <a:off x="73660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52" name="Picture 51" descr="image.png"/>
          <p:cNvPicPr>
            <a:picLocks noChangeAspect="1"/>
          </p:cNvPicPr>
          <p:nvPr/>
        </p:nvPicPr>
        <p:blipFill>
          <a:blip r:embed="rId3"/>
          <a:stretch>
            <a:fillRect/>
          </a:stretch>
        </p:blipFill>
        <p:spPr>
          <a:xfrm>
            <a:off x="7366000" y="4487207"/>
            <a:ext cx="342899" cy="334685"/>
          </a:xfrm>
          <a:prstGeom prst="rect">
            <a:avLst/>
          </a:prstGeom>
        </p:spPr>
      </p:pic>
      <p:sp>
        <p:nvSpPr>
          <p:cNvPr id="53" name="TextBox 52"/>
          <p:cNvSpPr txBox="1"/>
          <p:nvPr/>
        </p:nvSpPr>
        <p:spPr>
          <a:xfrm>
            <a:off x="78232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54" name="Picture 53" descr="image.png"/>
          <p:cNvPicPr>
            <a:picLocks noChangeAspect="1"/>
          </p:cNvPicPr>
          <p:nvPr/>
        </p:nvPicPr>
        <p:blipFill>
          <a:blip r:embed="rId4"/>
          <a:stretch>
            <a:fillRect/>
          </a:stretch>
        </p:blipFill>
        <p:spPr>
          <a:xfrm>
            <a:off x="9258300" y="4483100"/>
            <a:ext cx="342900" cy="342900"/>
          </a:xfrm>
          <a:prstGeom prst="rect">
            <a:avLst/>
          </a:prstGeom>
        </p:spPr>
      </p:pic>
      <p:sp>
        <p:nvSpPr>
          <p:cNvPr id="55" name="TextBox 54"/>
          <p:cNvSpPr txBox="1"/>
          <p:nvPr/>
        </p:nvSpPr>
        <p:spPr>
          <a:xfrm>
            <a:off x="97155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56" name="Rounded Rectangle 55"/>
          <p:cNvSpPr/>
          <p:nvPr/>
        </p:nvSpPr>
        <p:spPr>
          <a:xfrm>
            <a:off x="73660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73660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6962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cxnSp>
        <p:nvCxnSpPr>
          <p:cNvPr id="59" name="Connector 58"/>
          <p:cNvCxnSpPr/>
          <p:nvPr/>
        </p:nvCxnSpPr>
        <p:spPr>
          <a:xfrm flipH="1">
            <a:off x="2844800" y="5689600"/>
            <a:ext cx="1346200" cy="0"/>
          </a:xfrm>
          <a:prstGeom prst="line">
            <a:avLst/>
          </a:prstGeom>
          <a:ln w="19050">
            <a:solidFill>
              <a:srgbClr val="83ADFF"/>
            </a:solidFill>
            <a:prstDash val="dash"/>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844800" y="5232400"/>
            <a:ext cx="0" cy="457200"/>
          </a:xfrm>
          <a:prstGeom prst="line">
            <a:avLst/>
          </a:prstGeom>
          <a:ln w="19050">
            <a:solidFill>
              <a:srgbClr val="83ADF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001000" y="5689600"/>
            <a:ext cx="1346200" cy="0"/>
          </a:xfrm>
          <a:prstGeom prst="line">
            <a:avLst/>
          </a:prstGeom>
          <a:ln w="19050">
            <a:solidFill>
              <a:srgbClr val="66CBC9"/>
            </a:solidFill>
            <a:prstDash val="dash"/>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9347200" y="5232400"/>
            <a:ext cx="0" cy="457200"/>
          </a:xfrm>
          <a:prstGeom prst="line">
            <a:avLst/>
          </a:prstGeom>
          <a:ln w="19050">
            <a:solidFill>
              <a:srgbClr val="66CBC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863600" y="55118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DNS + HTTP</a:t>
            </a:r>
          </a:p>
        </p:txBody>
      </p:sp>
      <p:sp>
        <p:nvSpPr>
          <p:cNvPr id="64" name="TextBox 63"/>
          <p:cNvSpPr txBox="1"/>
          <p:nvPr/>
        </p:nvSpPr>
        <p:spPr>
          <a:xfrm>
            <a:off x="9626600" y="55118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DNS + HTTP</a:t>
            </a:r>
          </a:p>
        </p:txBody>
      </p:sp>
      <p:sp>
        <p:nvSpPr>
          <p:cNvPr id="65" name="Rounded Rectangle 64"/>
          <p:cNvSpPr/>
          <p:nvPr/>
        </p:nvSpPr>
        <p:spPr>
          <a:xfrm>
            <a:off x="4191000" y="5397500"/>
            <a:ext cx="3810000" cy="622300"/>
          </a:xfrm>
          <a:prstGeom prst="roundRect">
            <a:avLst>
              <a:gd name="adj" fmla="val 1632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4406900" y="5524500"/>
            <a:ext cx="444500" cy="342900"/>
          </a:xfrm>
          <a:prstGeom prst="roundRect">
            <a:avLst>
              <a:gd name="adj" fmla="val 14814"/>
            </a:avLst>
          </a:prstGeom>
          <a:solidFill>
            <a:srgbClr val="1A3047"/>
          </a:solidFill>
          <a:ln w="1524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a:off x="4495800" y="56134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4495800" y="56769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4610100" y="5740400"/>
            <a:ext cx="1270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5041900" y="5461000"/>
            <a:ext cx="2730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FFFFFF"/>
                </a:solidFill>
                <a:latin typeface="Arial"/>
              </a:rPr>
              <a:t>CLI dashboard</a:t>
            </a:r>
          </a:p>
        </p:txBody>
      </p:sp>
      <p:sp>
        <p:nvSpPr>
          <p:cNvPr id="71" name="TextBox 70"/>
          <p:cNvSpPr txBox="1"/>
          <p:nvPr/>
        </p:nvSpPr>
        <p:spPr>
          <a:xfrm>
            <a:off x="5041900" y="5765800"/>
            <a:ext cx="2730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B8C8D9"/>
                </a:solidFill>
                <a:latin typeface="Arial"/>
              </a:rPr>
              <a:t>DNS · cache · HTTP responses</a:t>
            </a:r>
          </a:p>
        </p:txBody>
      </p:sp>
      <p:sp>
        <p:nvSpPr>
          <p:cNvPr id="72" name="TextBox 71"/>
          <p:cNvSpPr txBox="1"/>
          <p:nvPr/>
        </p:nvSpPr>
        <p:spPr>
          <a:xfrm>
            <a:off x="609600" y="6134100"/>
            <a:ext cx="10972800" cy="254000"/>
          </a:xfrm>
          <a:prstGeom prst="rect">
            <a:avLst/>
          </a:prstGeom>
          <a:noFill/>
        </p:spPr>
        <p:txBody>
          <a:bodyPr wrap="none" lIns="0" rIns="0" tIns="0" bIns="0" anchor="t">
            <a:noAutofit/>
          </a:bodyPr>
          <a:lstStyle/>
          <a:p>
            <a:pPr algn="ctr">
              <a:lnSpc>
                <a:spcPts val="1600"/>
              </a:lnSpc>
              <a:spcBef>
                <a:spcPts val="0"/>
              </a:spcBef>
              <a:spcAft>
                <a:spcPts val="0"/>
              </a:spcAft>
            </a:pPr>
            <a:r>
              <a:rPr sz="1600" b="1">
                <a:solidFill>
                  <a:srgbClr val="FFFFFF"/>
                </a:solidFill>
                <a:latin typeface="Arial"/>
              </a:rPr>
              <a:t>Observe A → remove A’s ready targets → watch B → restore 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DEMO DEBRIEF</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30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What did the demo actually prove?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Traffic steering, observed through DNS and fresh HTTP requests.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33600"/>
            <a:ext cx="6350000" cy="3454400"/>
          </a:xfrm>
          <a:prstGeom prst="roundRect">
            <a:avLst>
              <a:gd name="adj" fmla="val 367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82800"/>
            <a:ext cx="6350000" cy="3454400"/>
          </a:xfrm>
          <a:prstGeom prst="roundRect">
            <a:avLst>
              <a:gd name="adj" fmla="val 367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9000" y="2311400"/>
            <a:ext cx="57912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B8C8D9"/>
                </a:solidFill>
                <a:latin typeface="Arial"/>
              </a:rPr>
              <a:t>DEMO SEQUENCE</a:t>
            </a:r>
          </a:p>
        </p:txBody>
      </p:sp>
      <p:sp>
        <p:nvSpPr>
          <p:cNvPr id="13" name="TextBox 12"/>
          <p:cNvSpPr txBox="1"/>
          <p:nvPr/>
        </p:nvSpPr>
        <p:spPr>
          <a:xfrm>
            <a:off x="889000" y="2603500"/>
            <a:ext cx="57912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One hostname. A → B → A.</a:t>
            </a:r>
          </a:p>
        </p:txBody>
      </p:sp>
      <p:sp>
        <p:nvSpPr>
          <p:cNvPr id="14" name="Rounded Rectangle 13"/>
          <p:cNvSpPr/>
          <p:nvPr/>
        </p:nvSpPr>
        <p:spPr>
          <a:xfrm>
            <a:off x="889000" y="3200400"/>
            <a:ext cx="1524000" cy="1358900"/>
          </a:xfrm>
          <a:prstGeom prst="roundRect">
            <a:avLst>
              <a:gd name="adj" fmla="val 7476"/>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1066800" y="3213100"/>
            <a:ext cx="1168400" cy="0"/>
          </a:xfrm>
          <a:prstGeom prst="line">
            <a:avLst/>
          </a:prstGeom>
          <a:ln w="25400">
            <a:solidFill>
              <a:srgbClr val="83ADFF"/>
            </a:solidFill>
          </a:ln>
        </p:spPr>
        <p:style>
          <a:lnRef idx="2">
            <a:schemeClr val="accent1"/>
          </a:lnRef>
          <a:fillRef idx="0">
            <a:schemeClr val="accent1"/>
          </a:fillRef>
          <a:effectRef idx="1">
            <a:schemeClr val="accent1"/>
          </a:effectRef>
          <a:fontRef idx="minor">
            <a:schemeClr val="tx1"/>
          </a:fontRef>
        </p:style>
      </p:cxnSp>
      <p:pic>
        <p:nvPicPr>
          <p:cNvPr id="16" name="Picture 15" descr="image.png"/>
          <p:cNvPicPr>
            <a:picLocks noChangeAspect="1"/>
          </p:cNvPicPr>
          <p:nvPr/>
        </p:nvPicPr>
        <p:blipFill>
          <a:blip r:embed="rId2"/>
          <a:stretch>
            <a:fillRect/>
          </a:stretch>
        </p:blipFill>
        <p:spPr>
          <a:xfrm>
            <a:off x="1397000" y="3403600"/>
            <a:ext cx="508000" cy="508000"/>
          </a:xfrm>
          <a:prstGeom prst="rect">
            <a:avLst/>
          </a:prstGeom>
        </p:spPr>
      </p:pic>
      <p:sp>
        <p:nvSpPr>
          <p:cNvPr id="17" name="TextBox 16"/>
          <p:cNvSpPr txBox="1"/>
          <p:nvPr/>
        </p:nvSpPr>
        <p:spPr>
          <a:xfrm>
            <a:off x="1003300" y="4064000"/>
            <a:ext cx="1295400" cy="315595"/>
          </a:xfrm>
          <a:prstGeom prst="rect">
            <a:avLst/>
          </a:prstGeom>
          <a:noFill/>
        </p:spPr>
        <p:txBody>
          <a:bodyPr wrap="none" lIns="0" rIns="0" tIns="0" bIns="0" anchor="t">
            <a:noAutofit/>
          </a:bodyPr>
          <a:lstStyle/>
          <a:p>
            <a:pPr algn="ctr">
              <a:lnSpc>
                <a:spcPts val="2185"/>
              </a:lnSpc>
              <a:spcBef>
                <a:spcPts val="0"/>
              </a:spcBef>
              <a:spcAft>
                <a:spcPts val="0"/>
              </a:spcAft>
            </a:pPr>
            <a:r>
              <a:rPr sz="1900" b="1">
                <a:solidFill>
                  <a:srgbClr val="FFFFFF"/>
                </a:solidFill>
                <a:latin typeface="Arial"/>
              </a:rPr>
              <a:t>Cluster A</a:t>
            </a:r>
          </a:p>
        </p:txBody>
      </p:sp>
      <p:sp>
        <p:nvSpPr>
          <p:cNvPr id="18" name="TextBox 17"/>
          <p:cNvSpPr txBox="1"/>
          <p:nvPr/>
        </p:nvSpPr>
        <p:spPr>
          <a:xfrm>
            <a:off x="812800" y="4762500"/>
            <a:ext cx="1676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B8C8D9"/>
                </a:solidFill>
                <a:latin typeface="Arial"/>
              </a:rPr>
              <a:t>Primary ready</a:t>
            </a:r>
          </a:p>
        </p:txBody>
      </p:sp>
      <p:sp>
        <p:nvSpPr>
          <p:cNvPr id="19" name="Rounded Rectangle 18"/>
          <p:cNvSpPr/>
          <p:nvPr/>
        </p:nvSpPr>
        <p:spPr>
          <a:xfrm>
            <a:off x="3022600" y="3200400"/>
            <a:ext cx="1524000" cy="1358900"/>
          </a:xfrm>
          <a:prstGeom prst="roundRect">
            <a:avLst>
              <a:gd name="adj" fmla="val 7476"/>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3200400" y="3213100"/>
            <a:ext cx="1168400" cy="0"/>
          </a:xfrm>
          <a:prstGeom prst="line">
            <a:avLst/>
          </a:prstGeom>
          <a:ln w="25400">
            <a:solidFill>
              <a:srgbClr val="66CBC9"/>
            </a:solidFill>
          </a:ln>
        </p:spPr>
        <p:style>
          <a:lnRef idx="2">
            <a:schemeClr val="accent1"/>
          </a:lnRef>
          <a:fillRef idx="0">
            <a:schemeClr val="accent1"/>
          </a:fillRef>
          <a:effectRef idx="1">
            <a:schemeClr val="accent1"/>
          </a:effectRef>
          <a:fontRef idx="minor">
            <a:schemeClr val="tx1"/>
          </a:fontRef>
        </p:style>
      </p:cxnSp>
      <p:pic>
        <p:nvPicPr>
          <p:cNvPr id="21" name="Picture 20" descr="image.png"/>
          <p:cNvPicPr>
            <a:picLocks noChangeAspect="1"/>
          </p:cNvPicPr>
          <p:nvPr/>
        </p:nvPicPr>
        <p:blipFill>
          <a:blip r:embed="rId2"/>
          <a:stretch>
            <a:fillRect/>
          </a:stretch>
        </p:blipFill>
        <p:spPr>
          <a:xfrm>
            <a:off x="3530600" y="3403600"/>
            <a:ext cx="508000" cy="508000"/>
          </a:xfrm>
          <a:prstGeom prst="rect">
            <a:avLst/>
          </a:prstGeom>
        </p:spPr>
      </p:pic>
      <p:sp>
        <p:nvSpPr>
          <p:cNvPr id="22" name="TextBox 21"/>
          <p:cNvSpPr txBox="1"/>
          <p:nvPr/>
        </p:nvSpPr>
        <p:spPr>
          <a:xfrm>
            <a:off x="3136900" y="4064000"/>
            <a:ext cx="1295400" cy="315595"/>
          </a:xfrm>
          <a:prstGeom prst="rect">
            <a:avLst/>
          </a:prstGeom>
          <a:noFill/>
        </p:spPr>
        <p:txBody>
          <a:bodyPr wrap="none" lIns="0" rIns="0" tIns="0" bIns="0" anchor="t">
            <a:noAutofit/>
          </a:bodyPr>
          <a:lstStyle/>
          <a:p>
            <a:pPr algn="ctr">
              <a:lnSpc>
                <a:spcPts val="2185"/>
              </a:lnSpc>
              <a:spcBef>
                <a:spcPts val="0"/>
              </a:spcBef>
              <a:spcAft>
                <a:spcPts val="0"/>
              </a:spcAft>
            </a:pPr>
            <a:r>
              <a:rPr sz="1900" b="1">
                <a:solidFill>
                  <a:srgbClr val="FFFFFF"/>
                </a:solidFill>
                <a:latin typeface="Arial"/>
              </a:rPr>
              <a:t>Cluster B</a:t>
            </a:r>
          </a:p>
        </p:txBody>
      </p:sp>
      <p:sp>
        <p:nvSpPr>
          <p:cNvPr id="23" name="TextBox 22"/>
          <p:cNvSpPr txBox="1"/>
          <p:nvPr/>
        </p:nvSpPr>
        <p:spPr>
          <a:xfrm>
            <a:off x="2946400" y="4762500"/>
            <a:ext cx="1676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B8C8D9"/>
                </a:solidFill>
                <a:latin typeface="Arial"/>
              </a:rPr>
              <a:t>A unready</a:t>
            </a:r>
          </a:p>
        </p:txBody>
      </p:sp>
      <p:sp>
        <p:nvSpPr>
          <p:cNvPr id="24" name="Rounded Rectangle 23"/>
          <p:cNvSpPr/>
          <p:nvPr/>
        </p:nvSpPr>
        <p:spPr>
          <a:xfrm>
            <a:off x="5156200" y="3200400"/>
            <a:ext cx="1524000" cy="1358900"/>
          </a:xfrm>
          <a:prstGeom prst="roundRect">
            <a:avLst>
              <a:gd name="adj" fmla="val 7476"/>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5334000" y="3213100"/>
            <a:ext cx="1168400" cy="0"/>
          </a:xfrm>
          <a:prstGeom prst="line">
            <a:avLst/>
          </a:prstGeom>
          <a:ln w="25400">
            <a:solidFill>
              <a:srgbClr val="83ADFF"/>
            </a:solidFill>
          </a:ln>
        </p:spPr>
        <p:style>
          <a:lnRef idx="2">
            <a:schemeClr val="accent1"/>
          </a:lnRef>
          <a:fillRef idx="0">
            <a:schemeClr val="accent1"/>
          </a:fillRef>
          <a:effectRef idx="1">
            <a:schemeClr val="accent1"/>
          </a:effectRef>
          <a:fontRef idx="minor">
            <a:schemeClr val="tx1"/>
          </a:fontRef>
        </p:style>
      </p:cxnSp>
      <p:pic>
        <p:nvPicPr>
          <p:cNvPr id="26" name="Picture 25" descr="image.png"/>
          <p:cNvPicPr>
            <a:picLocks noChangeAspect="1"/>
          </p:cNvPicPr>
          <p:nvPr/>
        </p:nvPicPr>
        <p:blipFill>
          <a:blip r:embed="rId2"/>
          <a:stretch>
            <a:fillRect/>
          </a:stretch>
        </p:blipFill>
        <p:spPr>
          <a:xfrm>
            <a:off x="5664200" y="3403600"/>
            <a:ext cx="508000" cy="508000"/>
          </a:xfrm>
          <a:prstGeom prst="rect">
            <a:avLst/>
          </a:prstGeom>
        </p:spPr>
      </p:pic>
      <p:sp>
        <p:nvSpPr>
          <p:cNvPr id="27" name="TextBox 26"/>
          <p:cNvSpPr txBox="1"/>
          <p:nvPr/>
        </p:nvSpPr>
        <p:spPr>
          <a:xfrm>
            <a:off x="5270500" y="4064000"/>
            <a:ext cx="1295400" cy="315595"/>
          </a:xfrm>
          <a:prstGeom prst="rect">
            <a:avLst/>
          </a:prstGeom>
          <a:noFill/>
        </p:spPr>
        <p:txBody>
          <a:bodyPr wrap="none" lIns="0" rIns="0" tIns="0" bIns="0" anchor="t">
            <a:noAutofit/>
          </a:bodyPr>
          <a:lstStyle/>
          <a:p>
            <a:pPr algn="ctr">
              <a:lnSpc>
                <a:spcPts val="2185"/>
              </a:lnSpc>
              <a:spcBef>
                <a:spcPts val="0"/>
              </a:spcBef>
              <a:spcAft>
                <a:spcPts val="0"/>
              </a:spcAft>
            </a:pPr>
            <a:r>
              <a:rPr sz="1900" b="1">
                <a:solidFill>
                  <a:srgbClr val="FFFFFF"/>
                </a:solidFill>
                <a:latin typeface="Arial"/>
              </a:rPr>
              <a:t>Cluster A</a:t>
            </a:r>
          </a:p>
        </p:txBody>
      </p:sp>
      <p:sp>
        <p:nvSpPr>
          <p:cNvPr id="28" name="TextBox 27"/>
          <p:cNvSpPr txBox="1"/>
          <p:nvPr/>
        </p:nvSpPr>
        <p:spPr>
          <a:xfrm>
            <a:off x="5080000" y="4762500"/>
            <a:ext cx="1676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B8C8D9"/>
                </a:solidFill>
                <a:latin typeface="Arial"/>
              </a:rPr>
              <a:t>A restored</a:t>
            </a:r>
          </a:p>
        </p:txBody>
      </p:sp>
      <p:cxnSp>
        <p:nvCxnSpPr>
          <p:cNvPr id="29" name="Connector 28"/>
          <p:cNvCxnSpPr/>
          <p:nvPr/>
        </p:nvCxnSpPr>
        <p:spPr>
          <a:xfrm>
            <a:off x="2501900" y="3873500"/>
            <a:ext cx="431800" cy="0"/>
          </a:xfrm>
          <a:prstGeom prst="line">
            <a:avLst/>
          </a:prstGeom>
          <a:ln w="22860">
            <a:solidFill>
              <a:srgbClr val="66CBC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635500" y="3873500"/>
            <a:ext cx="431800" cy="0"/>
          </a:xfrm>
          <a:prstGeom prst="line">
            <a:avLst/>
          </a:prstGeom>
          <a:ln w="22860">
            <a:solidFill>
              <a:srgbClr val="83AD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89000" y="5105400"/>
            <a:ext cx="57912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32" name="Picture 31" descr="image.png"/>
          <p:cNvPicPr>
            <a:picLocks noChangeAspect="1"/>
          </p:cNvPicPr>
          <p:nvPr/>
        </p:nvPicPr>
        <p:blipFill>
          <a:blip r:embed="rId3"/>
          <a:stretch>
            <a:fillRect/>
          </a:stretch>
        </p:blipFill>
        <p:spPr>
          <a:xfrm>
            <a:off x="889000" y="5207000"/>
            <a:ext cx="254000" cy="254000"/>
          </a:xfrm>
          <a:prstGeom prst="rect">
            <a:avLst/>
          </a:prstGeom>
        </p:spPr>
      </p:pic>
      <p:sp>
        <p:nvSpPr>
          <p:cNvPr id="33" name="TextBox 32"/>
          <p:cNvSpPr txBox="1"/>
          <p:nvPr/>
        </p:nvSpPr>
        <p:spPr>
          <a:xfrm>
            <a:off x="1257300" y="5219700"/>
            <a:ext cx="2413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Both DNS authorities</a:t>
            </a:r>
          </a:p>
        </p:txBody>
      </p:sp>
      <p:sp>
        <p:nvSpPr>
          <p:cNvPr id="34" name="Rounded Rectangle 33"/>
          <p:cNvSpPr/>
          <p:nvPr/>
        </p:nvSpPr>
        <p:spPr>
          <a:xfrm>
            <a:off x="3898900" y="5232400"/>
            <a:ext cx="279400" cy="215900"/>
          </a:xfrm>
          <a:prstGeom prst="roundRect">
            <a:avLst>
              <a:gd name="adj" fmla="val 17647"/>
            </a:avLst>
          </a:prstGeom>
          <a:solidFill>
            <a:srgbClr val="142338"/>
          </a:solidFill>
          <a:ln w="1270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3898900" y="5308600"/>
            <a:ext cx="2794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3940810" y="5261610"/>
            <a:ext cx="17780" cy="177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991610" y="5261610"/>
            <a:ext cx="17780" cy="177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4042410" y="5261610"/>
            <a:ext cx="17780" cy="177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05300" y="5219700"/>
            <a:ext cx="23749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HTTP responses</a:t>
            </a:r>
          </a:p>
        </p:txBody>
      </p:sp>
      <p:sp>
        <p:nvSpPr>
          <p:cNvPr id="40" name="Rounded Rectangle 39"/>
          <p:cNvSpPr/>
          <p:nvPr/>
        </p:nvSpPr>
        <p:spPr>
          <a:xfrm>
            <a:off x="7264400" y="2133600"/>
            <a:ext cx="4318000" cy="3454400"/>
          </a:xfrm>
          <a:prstGeom prst="roundRect">
            <a:avLst>
              <a:gd name="adj" fmla="val 367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7264400" y="2082800"/>
            <a:ext cx="4318000" cy="3454400"/>
          </a:xfrm>
          <a:prstGeom prst="roundRect">
            <a:avLst>
              <a:gd name="adj" fmla="val 367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7543800" y="2095500"/>
            <a:ext cx="37592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543800" y="2311400"/>
            <a:ext cx="37592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BEYOND THIS DEMO</a:t>
            </a:r>
          </a:p>
        </p:txBody>
      </p:sp>
      <p:sp>
        <p:nvSpPr>
          <p:cNvPr id="44" name="TextBox 43"/>
          <p:cNvSpPr txBox="1"/>
          <p:nvPr/>
        </p:nvSpPr>
        <p:spPr>
          <a:xfrm>
            <a:off x="7543800" y="2603500"/>
            <a:ext cx="37592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Test next</a:t>
            </a:r>
          </a:p>
        </p:txBody>
      </p:sp>
      <p:sp>
        <p:nvSpPr>
          <p:cNvPr id="45" name="Rounded Rectangle 44"/>
          <p:cNvSpPr/>
          <p:nvPr/>
        </p:nvSpPr>
        <p:spPr>
          <a:xfrm>
            <a:off x="7543800" y="3213100"/>
            <a:ext cx="431800" cy="431800"/>
          </a:xfrm>
          <a:prstGeom prst="roundRect">
            <a:avLst>
              <a:gd name="adj" fmla="val 205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78800" y="3187700"/>
            <a:ext cx="3124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Client behavior</a:t>
            </a:r>
          </a:p>
        </p:txBody>
      </p:sp>
      <p:sp>
        <p:nvSpPr>
          <p:cNvPr id="47" name="TextBox 46"/>
          <p:cNvSpPr txBox="1"/>
          <p:nvPr/>
        </p:nvSpPr>
        <p:spPr>
          <a:xfrm>
            <a:off x="8178800" y="3505200"/>
            <a:ext cx="3124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Arial"/>
              </a:rPr>
              <a:t>Other caches and long sessions</a:t>
            </a:r>
          </a:p>
        </p:txBody>
      </p:sp>
      <p:cxnSp>
        <p:nvCxnSpPr>
          <p:cNvPr id="48" name="Connector 47"/>
          <p:cNvCxnSpPr/>
          <p:nvPr/>
        </p:nvCxnSpPr>
        <p:spPr>
          <a:xfrm>
            <a:off x="8178800" y="3797300"/>
            <a:ext cx="31242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7543800" y="3937000"/>
            <a:ext cx="431800" cy="431800"/>
          </a:xfrm>
          <a:prstGeom prst="roundRect">
            <a:avLst>
              <a:gd name="adj" fmla="val 20588"/>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178800" y="3911600"/>
            <a:ext cx="3124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Cluster failures</a:t>
            </a:r>
          </a:p>
        </p:txBody>
      </p:sp>
      <p:sp>
        <p:nvSpPr>
          <p:cNvPr id="51" name="TextBox 50"/>
          <p:cNvSpPr txBox="1"/>
          <p:nvPr/>
        </p:nvSpPr>
        <p:spPr>
          <a:xfrm>
            <a:off x="8178800" y="4229100"/>
            <a:ext cx="3124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Arial"/>
              </a:rPr>
              <a:t>Outages and DNS partitions</a:t>
            </a:r>
          </a:p>
        </p:txBody>
      </p:sp>
      <p:cxnSp>
        <p:nvCxnSpPr>
          <p:cNvPr id="52" name="Connector 51"/>
          <p:cNvCxnSpPr/>
          <p:nvPr/>
        </p:nvCxnSpPr>
        <p:spPr>
          <a:xfrm>
            <a:off x="8178800" y="4521200"/>
            <a:ext cx="31242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7543800" y="4660900"/>
            <a:ext cx="431800" cy="431800"/>
          </a:xfrm>
          <a:prstGeom prst="roundRect">
            <a:avLst>
              <a:gd name="adj" fmla="val 20588"/>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178800" y="4635500"/>
            <a:ext cx="3124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Application safety</a:t>
            </a:r>
          </a:p>
        </p:txBody>
      </p:sp>
      <p:sp>
        <p:nvSpPr>
          <p:cNvPr id="55" name="TextBox 54"/>
          <p:cNvSpPr txBox="1"/>
          <p:nvPr/>
        </p:nvSpPr>
        <p:spPr>
          <a:xfrm>
            <a:off x="8178800" y="4953000"/>
            <a:ext cx="3124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Arial"/>
              </a:rPr>
              <a:t>Data, writes and recovery</a:t>
            </a:r>
          </a:p>
        </p:txBody>
      </p:sp>
      <p:sp>
        <p:nvSpPr>
          <p:cNvPr id="56" name="Oval 55"/>
          <p:cNvSpPr/>
          <p:nvPr/>
        </p:nvSpPr>
        <p:spPr>
          <a:xfrm>
            <a:off x="7632700" y="3302000"/>
            <a:ext cx="254000" cy="254000"/>
          </a:xfrm>
          <a:prstGeom prst="ellipse">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7759700" y="3340100"/>
            <a:ext cx="0" cy="88900"/>
          </a:xfrm>
          <a:prstGeom prst="line">
            <a:avLst/>
          </a:prstGeom>
          <a:ln w="1651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759700" y="3429000"/>
            <a:ext cx="76200" cy="38100"/>
          </a:xfrm>
          <a:prstGeom prst="line">
            <a:avLst/>
          </a:prstGeom>
          <a:ln w="16510">
            <a:solidFill>
              <a:srgbClr val="2762C8"/>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7620000" y="4076700"/>
            <a:ext cx="88900" cy="152400"/>
          </a:xfrm>
          <a:prstGeom prst="roundRect">
            <a:avLst>
              <a:gd name="adj" fmla="val 28571"/>
            </a:avLst>
          </a:prstGeom>
          <a:solidFill>
            <a:srgbClr val="FBE9EE"/>
          </a:solidFill>
          <a:ln w="127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7810500" y="4076700"/>
            <a:ext cx="88900" cy="152400"/>
          </a:xfrm>
          <a:prstGeom prst="roundRect">
            <a:avLst>
              <a:gd name="adj" fmla="val 28571"/>
            </a:avLst>
          </a:prstGeom>
          <a:solidFill>
            <a:srgbClr val="FBE9EE"/>
          </a:solidFill>
          <a:ln w="127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a:off x="7721600" y="4127500"/>
            <a:ext cx="76200" cy="76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7721600" y="4127500"/>
            <a:ext cx="76200" cy="76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sp>
        <p:nvSpPr>
          <p:cNvPr id="63" name="Rectangle 62"/>
          <p:cNvSpPr/>
          <p:nvPr/>
        </p:nvSpPr>
        <p:spPr>
          <a:xfrm>
            <a:off x="7645400" y="4775200"/>
            <a:ext cx="228600" cy="190500"/>
          </a:xfrm>
          <a:prstGeom prst="rect">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7645400" y="4914900"/>
            <a:ext cx="228600" cy="76200"/>
          </a:xfrm>
          <a:prstGeom prst="ellipse">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7645400" y="4775200"/>
            <a:ext cx="0" cy="177800"/>
          </a:xfrm>
          <a:prstGeom prst="line">
            <a:avLst/>
          </a:prstGeom>
          <a:ln w="1397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7874000" y="4775200"/>
            <a:ext cx="0" cy="177800"/>
          </a:xfrm>
          <a:prstGeom prst="line">
            <a:avLst/>
          </a:prstGeom>
          <a:ln w="13970">
            <a:solidFill>
              <a:srgbClr val="087F85"/>
            </a:solidFill>
          </a:ln>
        </p:spPr>
        <p:style>
          <a:lnRef idx="2">
            <a:schemeClr val="accent1"/>
          </a:lnRef>
          <a:fillRef idx="0">
            <a:schemeClr val="accent1"/>
          </a:fillRef>
          <a:effectRef idx="1">
            <a:schemeClr val="accent1"/>
          </a:effectRef>
          <a:fontRef idx="minor">
            <a:schemeClr val="tx1"/>
          </a:fontRef>
        </p:style>
      </p:cxnSp>
      <p:sp>
        <p:nvSpPr>
          <p:cNvPr id="67" name="Oval 66"/>
          <p:cNvSpPr/>
          <p:nvPr/>
        </p:nvSpPr>
        <p:spPr>
          <a:xfrm>
            <a:off x="7645400" y="4737100"/>
            <a:ext cx="228600" cy="76200"/>
          </a:xfrm>
          <a:prstGeom prst="ellipse">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609600" y="5689600"/>
            <a:ext cx="10972800" cy="609600"/>
          </a:xfrm>
          <a:prstGeom prst="roundRect">
            <a:avLst>
              <a:gd name="adj" fmla="val 14583"/>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863600" y="5829300"/>
            <a:ext cx="355600" cy="304800"/>
          </a:xfrm>
          <a:prstGeom prst="roundRect">
            <a:avLst>
              <a:gd name="adj" fmla="val 16666"/>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0" name="Connector 69"/>
          <p:cNvCxnSpPr/>
          <p:nvPr/>
        </p:nvCxnSpPr>
        <p:spPr>
          <a:xfrm>
            <a:off x="939800" y="5905500"/>
            <a:ext cx="63500" cy="6350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a:off x="939800" y="5969000"/>
            <a:ext cx="63500" cy="6350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41400" y="6032500"/>
            <a:ext cx="1016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1422400" y="5753100"/>
            <a:ext cx="98806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OPERATIONAL CONTROL</a:t>
            </a:r>
          </a:p>
        </p:txBody>
      </p:sp>
      <p:sp>
        <p:nvSpPr>
          <p:cNvPr id="74" name="TextBox 73"/>
          <p:cNvSpPr txBox="1"/>
          <p:nvPr/>
        </p:nvSpPr>
        <p:spPr>
          <a:xfrm>
            <a:off x="1422400" y="5943600"/>
            <a:ext cx="9880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Can your team change, observe, and restore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OPERATIONAL READINESS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31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An operational sovereignty checklist</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Six checks for operating and recovering your traffic steering.</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33600"/>
            <a:ext cx="5334000" cy="1041400"/>
          </a:xfrm>
          <a:prstGeom prst="roundRect">
            <a:avLst>
              <a:gd name="adj" fmla="val 1097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82800"/>
            <a:ext cx="5334000" cy="1041400"/>
          </a:xfrm>
          <a:prstGeom prst="roundRect">
            <a:avLst>
              <a:gd name="adj" fmla="val 1097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38200" y="2095500"/>
            <a:ext cx="4876800" cy="0"/>
          </a:xfrm>
          <a:prstGeom prst="line">
            <a:avLst/>
          </a:prstGeom>
          <a:ln w="25400">
            <a:solidFill>
              <a:srgbClr val="2762C8"/>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38200" y="2349500"/>
            <a:ext cx="533400" cy="533400"/>
          </a:xfrm>
          <a:prstGeom prst="roundRect">
            <a:avLst>
              <a:gd name="adj" fmla="val 2142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10200" y="2260600"/>
            <a:ext cx="304800" cy="198754"/>
          </a:xfrm>
          <a:prstGeom prst="rect">
            <a:avLst/>
          </a:prstGeom>
          <a:noFill/>
        </p:spPr>
        <p:txBody>
          <a:bodyPr wrap="none" lIns="0" rIns="0" tIns="0" bIns="0" anchor="t">
            <a:noAutofit/>
          </a:bodyPr>
          <a:lstStyle/>
          <a:p>
            <a:pPr algn="r">
              <a:lnSpc>
                <a:spcPts val="1264"/>
              </a:lnSpc>
              <a:spcBef>
                <a:spcPts val="0"/>
              </a:spcBef>
              <a:spcAft>
                <a:spcPts val="0"/>
              </a:spcAft>
            </a:pPr>
            <a:r>
              <a:rPr sz="1100" b="1">
                <a:solidFill>
                  <a:srgbClr val="5D6F82"/>
                </a:solidFill>
                <a:latin typeface="Arial"/>
              </a:rPr>
              <a:t>01</a:t>
            </a:r>
          </a:p>
        </p:txBody>
      </p:sp>
      <p:sp>
        <p:nvSpPr>
          <p:cNvPr id="15" name="TextBox 14"/>
          <p:cNvSpPr txBox="1"/>
          <p:nvPr/>
        </p:nvSpPr>
        <p:spPr>
          <a:xfrm>
            <a:off x="1574800" y="2273300"/>
            <a:ext cx="37592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Own DNS recovery</a:t>
            </a:r>
          </a:p>
        </p:txBody>
      </p:sp>
      <p:sp>
        <p:nvSpPr>
          <p:cNvPr id="16" name="TextBox 15"/>
          <p:cNvSpPr txBox="1"/>
          <p:nvPr/>
        </p:nvSpPr>
        <p:spPr>
          <a:xfrm>
            <a:off x="1574800" y="2705100"/>
            <a:ext cx="41402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5D6F82"/>
                </a:solidFill>
                <a:latin typeface="Arial"/>
              </a:rPr>
              <a:t>Own the name, delegation and access.</a:t>
            </a:r>
          </a:p>
        </p:txBody>
      </p:sp>
      <p:sp>
        <p:nvSpPr>
          <p:cNvPr id="17" name="Rounded Rectangle 16"/>
          <p:cNvSpPr/>
          <p:nvPr/>
        </p:nvSpPr>
        <p:spPr>
          <a:xfrm>
            <a:off x="1003300" y="2438400"/>
            <a:ext cx="203200" cy="114300"/>
          </a:xfrm>
          <a:prstGeom prst="roundRect">
            <a:avLst>
              <a:gd name="adj" fmla="val 22222"/>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1104900" y="2552700"/>
            <a:ext cx="0" cy="88900"/>
          </a:xfrm>
          <a:prstGeom prst="line">
            <a:avLst/>
          </a:prstGeom>
          <a:ln w="1778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65200" y="2641600"/>
            <a:ext cx="0" cy="63500"/>
          </a:xfrm>
          <a:prstGeom prst="line">
            <a:avLst/>
          </a:prstGeom>
          <a:ln w="1778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5200" y="2641600"/>
            <a:ext cx="279400" cy="0"/>
          </a:xfrm>
          <a:prstGeom prst="line">
            <a:avLst/>
          </a:prstGeom>
          <a:ln w="1778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244600" y="2641600"/>
            <a:ext cx="0" cy="63500"/>
          </a:xfrm>
          <a:prstGeom prst="line">
            <a:avLst/>
          </a:prstGeom>
          <a:ln w="1778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01700" y="2705100"/>
            <a:ext cx="127000" cy="101600"/>
          </a:xfrm>
          <a:prstGeom prst="roundRect">
            <a:avLst>
              <a:gd name="adj" fmla="val 25000"/>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181100" y="2705100"/>
            <a:ext cx="127000" cy="101600"/>
          </a:xfrm>
          <a:prstGeom prst="roundRect">
            <a:avLst>
              <a:gd name="adj" fmla="val 25000"/>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248400" y="2133600"/>
            <a:ext cx="5334000" cy="1041400"/>
          </a:xfrm>
          <a:prstGeom prst="roundRect">
            <a:avLst>
              <a:gd name="adj" fmla="val 1097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248400" y="2082800"/>
            <a:ext cx="5334000" cy="1041400"/>
          </a:xfrm>
          <a:prstGeom prst="roundRect">
            <a:avLst>
              <a:gd name="adj" fmla="val 1097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6477000" y="2095500"/>
            <a:ext cx="4876800" cy="0"/>
          </a:xfrm>
          <a:prstGeom prst="line">
            <a:avLst/>
          </a:prstGeom>
          <a:ln w="25400">
            <a:solidFill>
              <a:srgbClr val="2762C8"/>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477000" y="2349500"/>
            <a:ext cx="533400" cy="533400"/>
          </a:xfrm>
          <a:prstGeom prst="roundRect">
            <a:avLst>
              <a:gd name="adj" fmla="val 2142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049000" y="2260600"/>
            <a:ext cx="304800" cy="198754"/>
          </a:xfrm>
          <a:prstGeom prst="rect">
            <a:avLst/>
          </a:prstGeom>
          <a:noFill/>
        </p:spPr>
        <p:txBody>
          <a:bodyPr wrap="none" lIns="0" rIns="0" tIns="0" bIns="0" anchor="t">
            <a:noAutofit/>
          </a:bodyPr>
          <a:lstStyle/>
          <a:p>
            <a:pPr algn="r">
              <a:lnSpc>
                <a:spcPts val="1264"/>
              </a:lnSpc>
              <a:spcBef>
                <a:spcPts val="0"/>
              </a:spcBef>
              <a:spcAft>
                <a:spcPts val="0"/>
              </a:spcAft>
            </a:pPr>
            <a:r>
              <a:rPr sz="1100" b="1">
                <a:solidFill>
                  <a:srgbClr val="5D6F82"/>
                </a:solidFill>
                <a:latin typeface="Arial"/>
              </a:rPr>
              <a:t>02</a:t>
            </a:r>
          </a:p>
        </p:txBody>
      </p:sp>
      <p:sp>
        <p:nvSpPr>
          <p:cNvPr id="29" name="TextBox 28"/>
          <p:cNvSpPr txBox="1"/>
          <p:nvPr/>
        </p:nvSpPr>
        <p:spPr>
          <a:xfrm>
            <a:off x="7213600" y="2273300"/>
            <a:ext cx="37592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Review traffic steering</a:t>
            </a:r>
          </a:p>
        </p:txBody>
      </p:sp>
      <p:sp>
        <p:nvSpPr>
          <p:cNvPr id="30" name="TextBox 29"/>
          <p:cNvSpPr txBox="1"/>
          <p:nvPr/>
        </p:nvSpPr>
        <p:spPr>
          <a:xfrm>
            <a:off x="7213600" y="2705100"/>
            <a:ext cx="41402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5D6F82"/>
                </a:solidFill>
                <a:latin typeface="Arial"/>
              </a:rPr>
              <a:t>Version and review the Gslb manifest.</a:t>
            </a:r>
          </a:p>
        </p:txBody>
      </p:sp>
      <p:sp>
        <p:nvSpPr>
          <p:cNvPr id="31" name="Rounded Rectangle 30"/>
          <p:cNvSpPr/>
          <p:nvPr/>
        </p:nvSpPr>
        <p:spPr>
          <a:xfrm>
            <a:off x="6591300" y="2425700"/>
            <a:ext cx="304800" cy="381000"/>
          </a:xfrm>
          <a:prstGeom prst="roundRect">
            <a:avLst>
              <a:gd name="adj" fmla="val 12500"/>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6667500" y="250190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6642100" y="2590800"/>
            <a:ext cx="50800" cy="50800"/>
          </a:xfrm>
          <a:prstGeom prst="line">
            <a:avLst/>
          </a:prstGeom>
          <a:ln w="1778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642100" y="2641600"/>
            <a:ext cx="50800" cy="50800"/>
          </a:xfrm>
          <a:prstGeom prst="line">
            <a:avLst/>
          </a:prstGeom>
          <a:ln w="1778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794500" y="2590800"/>
            <a:ext cx="50800" cy="50800"/>
          </a:xfrm>
          <a:prstGeom prst="line">
            <a:avLst/>
          </a:prstGeom>
          <a:ln w="1778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6794500" y="2641600"/>
            <a:ext cx="50800" cy="50800"/>
          </a:xfrm>
          <a:prstGeom prst="line">
            <a:avLst/>
          </a:prstGeom>
          <a:ln w="17780">
            <a:solidFill>
              <a:srgbClr val="2762C8"/>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609600" y="3352800"/>
            <a:ext cx="5334000" cy="1041400"/>
          </a:xfrm>
          <a:prstGeom prst="roundRect">
            <a:avLst>
              <a:gd name="adj" fmla="val 1097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09600" y="3302000"/>
            <a:ext cx="5334000" cy="1041400"/>
          </a:xfrm>
          <a:prstGeom prst="roundRect">
            <a:avLst>
              <a:gd name="adj" fmla="val 1097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838200" y="3314700"/>
            <a:ext cx="4876800" cy="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838200" y="3568700"/>
            <a:ext cx="533400" cy="533400"/>
          </a:xfrm>
          <a:prstGeom prst="roundRect">
            <a:avLst>
              <a:gd name="adj" fmla="val 21428"/>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10200" y="3479800"/>
            <a:ext cx="304800" cy="198754"/>
          </a:xfrm>
          <a:prstGeom prst="rect">
            <a:avLst/>
          </a:prstGeom>
          <a:noFill/>
        </p:spPr>
        <p:txBody>
          <a:bodyPr wrap="none" lIns="0" rIns="0" tIns="0" bIns="0" anchor="t">
            <a:noAutofit/>
          </a:bodyPr>
          <a:lstStyle/>
          <a:p>
            <a:pPr algn="r">
              <a:lnSpc>
                <a:spcPts val="1264"/>
              </a:lnSpc>
              <a:spcBef>
                <a:spcPts val="0"/>
              </a:spcBef>
              <a:spcAft>
                <a:spcPts val="0"/>
              </a:spcAft>
            </a:pPr>
            <a:r>
              <a:rPr sz="1100" b="1">
                <a:solidFill>
                  <a:srgbClr val="5D6F82"/>
                </a:solidFill>
                <a:latin typeface="Arial"/>
              </a:rPr>
              <a:t>03</a:t>
            </a:r>
          </a:p>
        </p:txBody>
      </p:sp>
      <p:sp>
        <p:nvSpPr>
          <p:cNvPr id="42" name="TextBox 41"/>
          <p:cNvSpPr txBox="1"/>
          <p:nvPr/>
        </p:nvSpPr>
        <p:spPr>
          <a:xfrm>
            <a:off x="1574800" y="3492500"/>
            <a:ext cx="37592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Define safe readiness</a:t>
            </a:r>
          </a:p>
        </p:txBody>
      </p:sp>
      <p:sp>
        <p:nvSpPr>
          <p:cNvPr id="43" name="TextBox 42"/>
          <p:cNvSpPr txBox="1"/>
          <p:nvPr/>
        </p:nvSpPr>
        <p:spPr>
          <a:xfrm>
            <a:off x="1574800" y="3924300"/>
            <a:ext cx="41402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5D6F82"/>
                </a:solidFill>
                <a:latin typeface="Arial"/>
              </a:rPr>
              <a:t>Readiness must reflect real operations.</a:t>
            </a:r>
          </a:p>
        </p:txBody>
      </p:sp>
      <p:pic>
        <p:nvPicPr>
          <p:cNvPr id="44" name="Picture 43" descr="image.png"/>
          <p:cNvPicPr>
            <a:picLocks noChangeAspect="1"/>
          </p:cNvPicPr>
          <p:nvPr/>
        </p:nvPicPr>
        <p:blipFill>
          <a:blip r:embed="rId2"/>
          <a:stretch>
            <a:fillRect/>
          </a:stretch>
        </p:blipFill>
        <p:spPr>
          <a:xfrm>
            <a:off x="901700" y="3632200"/>
            <a:ext cx="406400" cy="406400"/>
          </a:xfrm>
          <a:prstGeom prst="rect">
            <a:avLst/>
          </a:prstGeom>
        </p:spPr>
      </p:pic>
      <p:sp>
        <p:nvSpPr>
          <p:cNvPr id="45" name="Rounded Rectangle 44"/>
          <p:cNvSpPr/>
          <p:nvPr/>
        </p:nvSpPr>
        <p:spPr>
          <a:xfrm>
            <a:off x="6248400" y="3352800"/>
            <a:ext cx="5334000" cy="1041400"/>
          </a:xfrm>
          <a:prstGeom prst="roundRect">
            <a:avLst>
              <a:gd name="adj" fmla="val 1097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6248400" y="3302000"/>
            <a:ext cx="5334000" cy="1041400"/>
          </a:xfrm>
          <a:prstGeom prst="roundRect">
            <a:avLst>
              <a:gd name="adj" fmla="val 1097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6477000" y="3314700"/>
            <a:ext cx="4876800" cy="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477000" y="3568700"/>
            <a:ext cx="533400" cy="533400"/>
          </a:xfrm>
          <a:prstGeom prst="roundRect">
            <a:avLst>
              <a:gd name="adj" fmla="val 21428"/>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1049000" y="3479800"/>
            <a:ext cx="304800" cy="198754"/>
          </a:xfrm>
          <a:prstGeom prst="rect">
            <a:avLst/>
          </a:prstGeom>
          <a:noFill/>
        </p:spPr>
        <p:txBody>
          <a:bodyPr wrap="none" lIns="0" rIns="0" tIns="0" bIns="0" anchor="t">
            <a:noAutofit/>
          </a:bodyPr>
          <a:lstStyle/>
          <a:p>
            <a:pPr algn="r">
              <a:lnSpc>
                <a:spcPts val="1264"/>
              </a:lnSpc>
              <a:spcBef>
                <a:spcPts val="0"/>
              </a:spcBef>
              <a:spcAft>
                <a:spcPts val="0"/>
              </a:spcAft>
            </a:pPr>
            <a:r>
              <a:rPr sz="1100" b="1">
                <a:solidFill>
                  <a:srgbClr val="5D6F82"/>
                </a:solidFill>
                <a:latin typeface="Arial"/>
              </a:rPr>
              <a:t>04</a:t>
            </a:r>
          </a:p>
        </p:txBody>
      </p:sp>
      <p:sp>
        <p:nvSpPr>
          <p:cNvPr id="50" name="TextBox 49"/>
          <p:cNvSpPr txBox="1"/>
          <p:nvPr/>
        </p:nvSpPr>
        <p:spPr>
          <a:xfrm>
            <a:off x="7213600" y="3492500"/>
            <a:ext cx="37592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Keep DNS redundant</a:t>
            </a:r>
          </a:p>
        </p:txBody>
      </p:sp>
      <p:sp>
        <p:nvSpPr>
          <p:cNvPr id="51" name="TextBox 50"/>
          <p:cNvSpPr txBox="1"/>
          <p:nvPr/>
        </p:nvSpPr>
        <p:spPr>
          <a:xfrm>
            <a:off x="7213600" y="3924300"/>
            <a:ext cx="41402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5D6F82"/>
                </a:solidFill>
                <a:latin typeface="Arial"/>
              </a:rPr>
              <a:t>Run and monitor multiple authorities.</a:t>
            </a:r>
          </a:p>
        </p:txBody>
      </p:sp>
      <p:pic>
        <p:nvPicPr>
          <p:cNvPr id="52" name="Picture 51" descr="image.png"/>
          <p:cNvPicPr>
            <a:picLocks noChangeAspect="1"/>
          </p:cNvPicPr>
          <p:nvPr/>
        </p:nvPicPr>
        <p:blipFill>
          <a:blip r:embed="rId3"/>
          <a:stretch>
            <a:fillRect/>
          </a:stretch>
        </p:blipFill>
        <p:spPr>
          <a:xfrm>
            <a:off x="6540500" y="3632200"/>
            <a:ext cx="406400" cy="406400"/>
          </a:xfrm>
          <a:prstGeom prst="rect">
            <a:avLst/>
          </a:prstGeom>
        </p:spPr>
      </p:pic>
      <p:sp>
        <p:nvSpPr>
          <p:cNvPr id="53" name="Rounded Rectangle 52"/>
          <p:cNvSpPr/>
          <p:nvPr/>
        </p:nvSpPr>
        <p:spPr>
          <a:xfrm>
            <a:off x="609600" y="4572000"/>
            <a:ext cx="5334000" cy="1041400"/>
          </a:xfrm>
          <a:prstGeom prst="roundRect">
            <a:avLst>
              <a:gd name="adj" fmla="val 1097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609600" y="4521200"/>
            <a:ext cx="5334000" cy="1041400"/>
          </a:xfrm>
          <a:prstGeom prst="roundRect">
            <a:avLst>
              <a:gd name="adj" fmla="val 1097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5" name="Connector 54"/>
          <p:cNvCxnSpPr/>
          <p:nvPr/>
        </p:nvCxnSpPr>
        <p:spPr>
          <a:xfrm>
            <a:off x="838200" y="4533900"/>
            <a:ext cx="4876800" cy="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56" name="Rounded Rectangle 55"/>
          <p:cNvSpPr/>
          <p:nvPr/>
        </p:nvSpPr>
        <p:spPr>
          <a:xfrm>
            <a:off x="838200" y="4787900"/>
            <a:ext cx="533400" cy="533400"/>
          </a:xfrm>
          <a:prstGeom prst="roundRect">
            <a:avLst>
              <a:gd name="adj" fmla="val 21428"/>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10200" y="4699000"/>
            <a:ext cx="304800" cy="198754"/>
          </a:xfrm>
          <a:prstGeom prst="rect">
            <a:avLst/>
          </a:prstGeom>
          <a:noFill/>
        </p:spPr>
        <p:txBody>
          <a:bodyPr wrap="none" lIns="0" rIns="0" tIns="0" bIns="0" anchor="t">
            <a:noAutofit/>
          </a:bodyPr>
          <a:lstStyle/>
          <a:p>
            <a:pPr algn="r">
              <a:lnSpc>
                <a:spcPts val="1264"/>
              </a:lnSpc>
              <a:spcBef>
                <a:spcPts val="0"/>
              </a:spcBef>
              <a:spcAft>
                <a:spcPts val="0"/>
              </a:spcAft>
            </a:pPr>
            <a:r>
              <a:rPr sz="1100" b="1">
                <a:solidFill>
                  <a:srgbClr val="5D6F82"/>
                </a:solidFill>
                <a:latin typeface="Arial"/>
              </a:rPr>
              <a:t>05</a:t>
            </a:r>
          </a:p>
        </p:txBody>
      </p:sp>
      <p:sp>
        <p:nvSpPr>
          <p:cNvPr id="58" name="TextBox 57"/>
          <p:cNvSpPr txBox="1"/>
          <p:nvPr/>
        </p:nvSpPr>
        <p:spPr>
          <a:xfrm>
            <a:off x="1574800" y="4711700"/>
            <a:ext cx="37592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Measure user outcomes</a:t>
            </a:r>
          </a:p>
        </p:txBody>
      </p:sp>
      <p:sp>
        <p:nvSpPr>
          <p:cNvPr id="59" name="TextBox 58"/>
          <p:cNvSpPr txBox="1"/>
          <p:nvPr/>
        </p:nvSpPr>
        <p:spPr>
          <a:xfrm>
            <a:off x="1574800" y="5143500"/>
            <a:ext cx="41402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5D6F82"/>
                </a:solidFill>
                <a:latin typeface="Arial"/>
              </a:rPr>
              <a:t>Check DNS answers and real transactions.</a:t>
            </a:r>
          </a:p>
        </p:txBody>
      </p:sp>
      <p:sp>
        <p:nvSpPr>
          <p:cNvPr id="60" name="Rounded Rectangle 59"/>
          <p:cNvSpPr/>
          <p:nvPr/>
        </p:nvSpPr>
        <p:spPr>
          <a:xfrm>
            <a:off x="914400" y="4902200"/>
            <a:ext cx="381000" cy="304800"/>
          </a:xfrm>
          <a:prstGeom prst="roundRect">
            <a:avLst>
              <a:gd name="adj" fmla="val 12500"/>
            </a:avLst>
          </a:prstGeom>
          <a:solidFill>
            <a:srgbClr val="FBE9EE"/>
          </a:solidFill>
          <a:ln w="1651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a:off x="914400" y="4991100"/>
            <a:ext cx="381000" cy="0"/>
          </a:xfrm>
          <a:prstGeom prst="line">
            <a:avLst/>
          </a:prstGeom>
          <a:ln w="12700">
            <a:solidFill>
              <a:srgbClr val="CF0035"/>
            </a:solidFill>
          </a:ln>
        </p:spPr>
        <p:style>
          <a:lnRef idx="2">
            <a:schemeClr val="accent1"/>
          </a:lnRef>
          <a:fillRef idx="0">
            <a:schemeClr val="accent1"/>
          </a:fillRef>
          <a:effectRef idx="1">
            <a:schemeClr val="accent1"/>
          </a:effectRef>
          <a:fontRef idx="minor">
            <a:schemeClr val="tx1"/>
          </a:fontRef>
        </p:style>
      </p:cxnSp>
      <p:sp>
        <p:nvSpPr>
          <p:cNvPr id="62" name="Oval 61"/>
          <p:cNvSpPr/>
          <p:nvPr/>
        </p:nvSpPr>
        <p:spPr>
          <a:xfrm>
            <a:off x="967740" y="4936490"/>
            <a:ext cx="20320" cy="2032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018540" y="4936490"/>
            <a:ext cx="20320" cy="2032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69340" y="4936490"/>
            <a:ext cx="20320" cy="2032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1016000" y="5092700"/>
            <a:ext cx="63500" cy="635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1079500" y="5041900"/>
            <a:ext cx="127000" cy="1143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6248400" y="4572000"/>
            <a:ext cx="5334000" cy="1041400"/>
          </a:xfrm>
          <a:prstGeom prst="roundRect">
            <a:avLst>
              <a:gd name="adj" fmla="val 1097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6248400" y="4521200"/>
            <a:ext cx="5334000" cy="1041400"/>
          </a:xfrm>
          <a:prstGeom prst="roundRect">
            <a:avLst>
              <a:gd name="adj" fmla="val 1097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9" name="Connector 68"/>
          <p:cNvCxnSpPr/>
          <p:nvPr/>
        </p:nvCxnSpPr>
        <p:spPr>
          <a:xfrm>
            <a:off x="6477000" y="4533900"/>
            <a:ext cx="4876800" cy="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70" name="Rounded Rectangle 69"/>
          <p:cNvSpPr/>
          <p:nvPr/>
        </p:nvSpPr>
        <p:spPr>
          <a:xfrm>
            <a:off x="6477000" y="4787900"/>
            <a:ext cx="533400" cy="533400"/>
          </a:xfrm>
          <a:prstGeom prst="roundRect">
            <a:avLst>
              <a:gd name="adj" fmla="val 21428"/>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1049000" y="4699000"/>
            <a:ext cx="304800" cy="198754"/>
          </a:xfrm>
          <a:prstGeom prst="rect">
            <a:avLst/>
          </a:prstGeom>
          <a:noFill/>
        </p:spPr>
        <p:txBody>
          <a:bodyPr wrap="none" lIns="0" rIns="0" tIns="0" bIns="0" anchor="t">
            <a:noAutofit/>
          </a:bodyPr>
          <a:lstStyle/>
          <a:p>
            <a:pPr algn="r">
              <a:lnSpc>
                <a:spcPts val="1264"/>
              </a:lnSpc>
              <a:spcBef>
                <a:spcPts val="0"/>
              </a:spcBef>
              <a:spcAft>
                <a:spcPts val="0"/>
              </a:spcAft>
            </a:pPr>
            <a:r>
              <a:rPr sz="1100" b="1">
                <a:solidFill>
                  <a:srgbClr val="5D6F82"/>
                </a:solidFill>
                <a:latin typeface="Arial"/>
              </a:rPr>
              <a:t>06</a:t>
            </a:r>
          </a:p>
        </p:txBody>
      </p:sp>
      <p:sp>
        <p:nvSpPr>
          <p:cNvPr id="72" name="TextBox 71"/>
          <p:cNvSpPr txBox="1"/>
          <p:nvPr/>
        </p:nvSpPr>
        <p:spPr>
          <a:xfrm>
            <a:off x="7213600" y="4711700"/>
            <a:ext cx="37592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Rehearse recovery</a:t>
            </a:r>
          </a:p>
        </p:txBody>
      </p:sp>
      <p:sp>
        <p:nvSpPr>
          <p:cNvPr id="73" name="TextBox 72"/>
          <p:cNvSpPr txBox="1"/>
          <p:nvPr/>
        </p:nvSpPr>
        <p:spPr>
          <a:xfrm>
            <a:off x="7213600" y="5143500"/>
            <a:ext cx="41402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5D6F82"/>
                </a:solidFill>
                <a:latin typeface="Arial"/>
              </a:rPr>
              <a:t>Test failover, partitions and failback.</a:t>
            </a:r>
          </a:p>
        </p:txBody>
      </p:sp>
      <p:cxnSp>
        <p:nvCxnSpPr>
          <p:cNvPr id="74" name="Connector 73"/>
          <p:cNvCxnSpPr/>
          <p:nvPr/>
        </p:nvCxnSpPr>
        <p:spPr>
          <a:xfrm>
            <a:off x="6889345" y="4952618"/>
            <a:ext cx="15056" cy="25904"/>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6904401" y="4978522"/>
            <a:ext cx="10493" cy="28064"/>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6914894" y="5006586"/>
            <a:ext cx="5631" cy="29428"/>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6920525" y="5036014"/>
            <a:ext cx="611" cy="29956"/>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a:off x="6916707" y="5065970"/>
            <a:ext cx="4429" cy="29633"/>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a:off x="6907365" y="5095603"/>
            <a:ext cx="9342" cy="28468"/>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a:off x="6893376" y="5124071"/>
            <a:ext cx="13989" cy="26496"/>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a:off x="6875136" y="5150567"/>
            <a:ext cx="18240" cy="23771"/>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H="1">
            <a:off x="6853164" y="5174338"/>
            <a:ext cx="21972" cy="20370"/>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H="1">
            <a:off x="6828083" y="5194708"/>
            <a:ext cx="25081" cy="16391"/>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a:off x="6800607" y="5211099"/>
            <a:ext cx="27476" cy="11948"/>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H="1">
            <a:off x="6771514" y="5223047"/>
            <a:ext cx="29093" cy="7163"/>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H="1">
            <a:off x="6741631" y="5230210"/>
            <a:ext cx="29883" cy="2177"/>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H="1" flipV="1">
            <a:off x="6711807" y="5229516"/>
            <a:ext cx="29824" cy="2871"/>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H="1" flipV="1">
            <a:off x="6682888" y="5221677"/>
            <a:ext cx="28919" cy="7839"/>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H="1" flipV="1">
            <a:off x="6655697" y="5209093"/>
            <a:ext cx="27191" cy="12584"/>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H="1" flipV="1">
            <a:off x="6631004" y="5192123"/>
            <a:ext cx="24693" cy="16970"/>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H="1" flipV="1">
            <a:off x="6609512" y="5171247"/>
            <a:ext cx="21492" cy="20876"/>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H="1" flipV="1">
            <a:off x="6591830" y="5147058"/>
            <a:ext cx="17682" cy="24189"/>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H="1" flipV="1">
            <a:off x="6578462" y="5120244"/>
            <a:ext cx="13368" cy="26814"/>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H="1" flipV="1">
            <a:off x="6569785" y="5091566"/>
            <a:ext cx="8677" cy="28678"/>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H="1" flipV="1">
            <a:off x="6566047" y="5061838"/>
            <a:ext cx="3738" cy="29728"/>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6566047" y="5031905"/>
            <a:ext cx="1307" cy="29933"/>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6567354" y="5002616"/>
            <a:ext cx="6315" cy="29289"/>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6573669" y="4974803"/>
            <a:ext cx="11143" cy="27813"/>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6584812" y="4949256"/>
            <a:ext cx="15655" cy="25547"/>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6600467" y="4926701"/>
            <a:ext cx="19722" cy="22555"/>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6620189" y="4907778"/>
            <a:ext cx="23230" cy="18923"/>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6643419" y="4893024"/>
            <a:ext cx="26078" cy="14754"/>
          </a:xfrm>
          <a:prstGeom prst="line">
            <a:avLst/>
          </a:prstGeom>
          <a:ln w="2032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6669497" y="4882858"/>
            <a:ext cx="28184" cy="10166"/>
          </a:xfrm>
          <a:prstGeom prst="line">
            <a:avLst/>
          </a:prstGeom>
          <a:ln w="2032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6667500" y="5054600"/>
            <a:ext cx="63500" cy="635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6731000" y="5003800"/>
            <a:ext cx="101600" cy="1143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sp>
        <p:nvSpPr>
          <p:cNvPr id="106" name="Rounded Rectangle 105"/>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812800" y="5892800"/>
            <a:ext cx="105664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Test failover and recovery end to end. Automate as much as possible.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YOUR SOVEREIGN BOUNDARIES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32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You define what a “region” means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Global traffic management can follow your own topology.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609600" y="1905000"/>
            <a:ext cx="1097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ILLUSTRATIVE clusterGeoTag VALUES</a:t>
            </a:r>
          </a:p>
        </p:txBody>
      </p:sp>
      <p:sp>
        <p:nvSpPr>
          <p:cNvPr id="11" name="Rounded Rectangle 10"/>
          <p:cNvSpPr/>
          <p:nvPr/>
        </p:nvSpPr>
        <p:spPr>
          <a:xfrm>
            <a:off x="6096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8128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2319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371600" y="2565400"/>
            <a:ext cx="508000" cy="508000"/>
          </a:xfrm>
          <a:prstGeom prst="ellipse">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11300" y="2565400"/>
            <a:ext cx="228600" cy="508000"/>
          </a:xfrm>
          <a:prstGeom prst="ellipse">
            <a:avLst/>
          </a:prstGeom>
          <a:solidFill>
            <a:srgbClr val="EAF0FB"/>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1371600" y="2819400"/>
            <a:ext cx="508000" cy="0"/>
          </a:xfrm>
          <a:prstGeom prst="line">
            <a:avLst/>
          </a:prstGeom>
          <a:ln w="1778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09700" y="2692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409700" y="2946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20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REGION</a:t>
            </a:r>
          </a:p>
        </p:txBody>
      </p:sp>
      <p:sp>
        <p:nvSpPr>
          <p:cNvPr id="21" name="Rounded Rectangle 20"/>
          <p:cNvSpPr/>
          <p:nvPr/>
        </p:nvSpPr>
        <p:spPr>
          <a:xfrm>
            <a:off x="7874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36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eu-west</a:t>
            </a:r>
          </a:p>
        </p:txBody>
      </p:sp>
      <p:sp>
        <p:nvSpPr>
          <p:cNvPr id="23" name="Rounded Rectangle 22"/>
          <p:cNvSpPr/>
          <p:nvPr/>
        </p:nvSpPr>
        <p:spPr>
          <a:xfrm>
            <a:off x="28448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448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30480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4671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606800" y="2552700"/>
            <a:ext cx="508000" cy="508000"/>
          </a:xfrm>
          <a:prstGeom prst="roundRect">
            <a:avLst>
              <a:gd name="adj" fmla="val 75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830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830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8354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8354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878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9878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97300" y="2933700"/>
            <a:ext cx="127000" cy="127000"/>
          </a:xfrm>
          <a:prstGeom prst="rect">
            <a:avLst/>
          </a:prstGeom>
          <a:solidFill>
            <a:srgbClr val="E8F4F3"/>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3543300" y="3073400"/>
            <a:ext cx="635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9972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DATACENTER</a:t>
            </a:r>
          </a:p>
        </p:txBody>
      </p:sp>
      <p:sp>
        <p:nvSpPr>
          <p:cNvPr id="37" name="Rounded Rectangle 36"/>
          <p:cNvSpPr/>
          <p:nvPr/>
        </p:nvSpPr>
        <p:spPr>
          <a:xfrm>
            <a:off x="30226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988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dc-1</a:t>
            </a:r>
          </a:p>
        </p:txBody>
      </p:sp>
      <p:sp>
        <p:nvSpPr>
          <p:cNvPr id="39" name="Rounded Rectangle 38"/>
          <p:cNvSpPr/>
          <p:nvPr/>
        </p:nvSpPr>
        <p:spPr>
          <a:xfrm>
            <a:off x="50800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0800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52832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7023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854700" y="2540000"/>
            <a:ext cx="482600" cy="558800"/>
          </a:xfrm>
          <a:prstGeom prst="roundRect">
            <a:avLst>
              <a:gd name="adj" fmla="val 7894"/>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918200" y="26035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5969000" y="26606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191250" y="26416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918200" y="27559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5969000" y="28130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191250" y="27940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5918200" y="29083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5969000" y="29654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6191250" y="29464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2324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RACK</a:t>
            </a:r>
          </a:p>
        </p:txBody>
      </p:sp>
      <p:sp>
        <p:nvSpPr>
          <p:cNvPr id="54" name="Rounded Rectangle 53"/>
          <p:cNvSpPr/>
          <p:nvPr/>
        </p:nvSpPr>
        <p:spPr>
          <a:xfrm>
            <a:off x="52578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3340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rack-a</a:t>
            </a:r>
          </a:p>
        </p:txBody>
      </p:sp>
      <p:sp>
        <p:nvSpPr>
          <p:cNvPr id="56" name="Rounded Rectangle 55"/>
          <p:cNvSpPr/>
          <p:nvPr/>
        </p:nvSpPr>
        <p:spPr>
          <a:xfrm>
            <a:off x="73152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73152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75184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79375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039100" y="2667000"/>
            <a:ext cx="584200" cy="317500"/>
          </a:xfrm>
          <a:prstGeom prst="roundRect">
            <a:avLst>
              <a:gd name="adj" fmla="val 160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a:off x="8115300" y="27559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115300" y="28448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115300" y="29337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8470900" y="2781300"/>
            <a:ext cx="76200" cy="76200"/>
          </a:xfrm>
          <a:prstGeom prst="ellipse">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140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521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74676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SERVER</a:t>
            </a:r>
          </a:p>
        </p:txBody>
      </p:sp>
      <p:sp>
        <p:nvSpPr>
          <p:cNvPr id="68" name="Rounded Rectangle 67"/>
          <p:cNvSpPr/>
          <p:nvPr/>
        </p:nvSpPr>
        <p:spPr>
          <a:xfrm>
            <a:off x="74930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5692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server-01</a:t>
            </a:r>
          </a:p>
        </p:txBody>
      </p:sp>
      <p:sp>
        <p:nvSpPr>
          <p:cNvPr id="70" name="Rounded Rectangle 69"/>
          <p:cNvSpPr/>
          <p:nvPr/>
        </p:nvSpPr>
        <p:spPr>
          <a:xfrm>
            <a:off x="95504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95504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2" name="Connector 71"/>
          <p:cNvCxnSpPr/>
          <p:nvPr/>
        </p:nvCxnSpPr>
        <p:spPr>
          <a:xfrm>
            <a:off x="9753600" y="2184400"/>
            <a:ext cx="16256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10172700" y="2425700"/>
            <a:ext cx="787400" cy="787400"/>
          </a:xfrm>
          <a:prstGeom prst="roundRect">
            <a:avLst>
              <a:gd name="adj" fmla="val 19354"/>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Connector 73"/>
          <p:cNvCxnSpPr/>
          <p:nvPr/>
        </p:nvCxnSpPr>
        <p:spPr>
          <a:xfrm flipH="1">
            <a:off x="102743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102743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107442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08585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02743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02743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8585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a:off x="107442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04267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05664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a:off x="10426700" y="2908300"/>
            <a:ext cx="279400" cy="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103759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0515600" y="26543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06553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7028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CUSTOM</a:t>
            </a:r>
          </a:p>
        </p:txBody>
      </p:sp>
      <p:sp>
        <p:nvSpPr>
          <p:cNvPr id="89" name="Rounded Rectangle 88"/>
          <p:cNvSpPr/>
          <p:nvPr/>
        </p:nvSpPr>
        <p:spPr>
          <a:xfrm>
            <a:off x="9728200" y="3873500"/>
            <a:ext cx="1676400" cy="368300"/>
          </a:xfrm>
          <a:prstGeom prst="roundRect">
            <a:avLst>
              <a:gd name="adj" fmla="val 1724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8044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CF0035"/>
                </a:solidFill>
                <a:latin typeface="Courier New"/>
              </a:rPr>
              <a:t>sovereign-a</a:t>
            </a:r>
          </a:p>
        </p:txBody>
      </p:sp>
      <p:sp>
        <p:nvSpPr>
          <p:cNvPr id="91" name="Rounded Rectangle 90"/>
          <p:cNvSpPr/>
          <p:nvPr/>
        </p:nvSpPr>
        <p:spPr>
          <a:xfrm>
            <a:off x="609600" y="4851400"/>
            <a:ext cx="10972800" cy="838200"/>
          </a:xfrm>
          <a:prstGeom prst="roundRect">
            <a:avLst>
              <a:gd name="adj" fmla="val 1363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image.png"/>
          <p:cNvPicPr>
            <a:picLocks noChangeAspect="1"/>
          </p:cNvPicPr>
          <p:nvPr/>
        </p:nvPicPr>
        <p:blipFill>
          <a:blip r:embed="rId2"/>
          <a:stretch>
            <a:fillRect/>
          </a:stretch>
        </p:blipFill>
        <p:spPr>
          <a:xfrm>
            <a:off x="876300" y="5041900"/>
            <a:ext cx="469900" cy="469900"/>
          </a:xfrm>
          <a:prstGeom prst="rect">
            <a:avLst/>
          </a:prstGeom>
        </p:spPr>
      </p:pic>
      <p:sp>
        <p:nvSpPr>
          <p:cNvPr id="93" name="TextBox 92"/>
          <p:cNvSpPr txBox="1"/>
          <p:nvPr/>
        </p:nvSpPr>
        <p:spPr>
          <a:xfrm>
            <a:off x="1562100" y="4991100"/>
            <a:ext cx="9715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Each tag identifies a k8gb cluster.</a:t>
            </a:r>
          </a:p>
        </p:txBody>
      </p:sp>
      <p:sp>
        <p:nvSpPr>
          <p:cNvPr id="94" name="TextBox 93"/>
          <p:cNvSpPr txBox="1"/>
          <p:nvPr/>
        </p:nvSpPr>
        <p:spPr>
          <a:xfrm>
            <a:off x="1562100" y="5372100"/>
            <a:ext cx="9715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Rack or server boundaries use independent clusters, including single-node clusters.</a:t>
            </a:r>
          </a:p>
        </p:txBody>
      </p:sp>
      <p:sp>
        <p:nvSpPr>
          <p:cNvPr id="95" name="Rounded Rectangle 94"/>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87400" y="5892800"/>
            <a:ext cx="106172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142338"/>
                </a:solidFill>
                <a:latin typeface="Arial"/>
              </a:rPr>
              <a:t>Choose boundaries that match your sovereignty model.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CONTROL YOUR FAILOVER</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33 / 34</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028700"/>
            <a:ext cx="9220200" cy="1245108"/>
          </a:xfrm>
          <a:prstGeom prst="rect">
            <a:avLst/>
          </a:prstGeom>
          <a:noFill/>
        </p:spPr>
        <p:txBody>
          <a:bodyPr wrap="none" lIns="0" rIns="0" tIns="0" bIns="0" anchor="t">
            <a:noAutofit/>
          </a:bodyPr>
          <a:lstStyle/>
          <a:p>
            <a:pPr algn="l">
              <a:lnSpc>
                <a:spcPts val="4752"/>
              </a:lnSpc>
              <a:spcBef>
                <a:spcPts val="0"/>
              </a:spcBef>
              <a:spcAft>
                <a:spcPts val="0"/>
              </a:spcAft>
            </a:pPr>
            <a:r>
              <a:rPr sz="4400" b="1">
                <a:solidFill>
                  <a:srgbClr val="FFFFFF"/>
                </a:solidFill>
                <a:latin typeface="Arial"/>
              </a:rPr>
              <a:t>Control traffic steering.</a:t>
            </a:r>
          </a:p>
          <a:p>
            <a:pPr algn="l">
              <a:lnSpc>
                <a:spcPts val="4752"/>
              </a:lnSpc>
              <a:spcBef>
                <a:spcPts val="0"/>
              </a:spcBef>
              <a:spcAft>
                <a:spcPts val="0"/>
              </a:spcAft>
            </a:pPr>
            <a:r>
              <a:rPr sz="4400" b="1">
                <a:solidFill>
                  <a:srgbClr val="FFFFFF"/>
                </a:solidFill>
                <a:latin typeface="Arial"/>
              </a:rPr>
              <a:t>Automate tested recovery.</a:t>
            </a:r>
          </a:p>
        </p:txBody>
      </p:sp>
      <p:pic>
        <p:nvPicPr>
          <p:cNvPr id="9" name="Picture 8" descr="image.png"/>
          <p:cNvPicPr>
            <a:picLocks noChangeAspect="1"/>
          </p:cNvPicPr>
          <p:nvPr/>
        </p:nvPicPr>
        <p:blipFill>
          <a:blip r:embed="rId2"/>
          <a:stretch>
            <a:fillRect/>
          </a:stretch>
        </p:blipFill>
        <p:spPr>
          <a:xfrm>
            <a:off x="10160000" y="1121328"/>
            <a:ext cx="1371599" cy="1338742"/>
          </a:xfrm>
          <a:prstGeom prst="rect">
            <a:avLst/>
          </a:prstGeom>
        </p:spPr>
      </p:pic>
      <p:cxnSp>
        <p:nvCxnSpPr>
          <p:cNvPr id="10" name="Connector 9"/>
          <p:cNvCxnSpPr/>
          <p:nvPr/>
        </p:nvCxnSpPr>
        <p:spPr>
          <a:xfrm>
            <a:off x="609600" y="3200400"/>
            <a:ext cx="3352800" cy="0"/>
          </a:xfrm>
          <a:prstGeom prst="line">
            <a:avLst/>
          </a:prstGeom>
          <a:ln w="31750">
            <a:solidFill>
              <a:srgbClr val="83ADFF"/>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09600" y="3492500"/>
            <a:ext cx="609600" cy="609600"/>
          </a:xfrm>
          <a:prstGeom prst="roundRect">
            <a:avLst>
              <a:gd name="adj" fmla="val 20833"/>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2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83ADFF"/>
                </a:solidFill>
                <a:latin typeface="Arial"/>
              </a:rPr>
              <a:t>CONFIGURE</a:t>
            </a:r>
          </a:p>
        </p:txBody>
      </p:sp>
      <p:sp>
        <p:nvSpPr>
          <p:cNvPr id="13" name="TextBox 12"/>
          <p:cNvSpPr txBox="1"/>
          <p:nvPr/>
        </p:nvSpPr>
        <p:spPr>
          <a:xfrm>
            <a:off x="60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Version the Gslb</a:t>
            </a:r>
          </a:p>
          <a:p>
            <a:pPr algn="l">
              <a:lnSpc>
                <a:spcPts val="2875"/>
              </a:lnSpc>
              <a:spcBef>
                <a:spcPts val="0"/>
              </a:spcBef>
              <a:spcAft>
                <a:spcPts val="0"/>
              </a:spcAft>
            </a:pPr>
            <a:r>
              <a:rPr sz="2300" b="0">
                <a:solidFill>
                  <a:srgbClr val="FFFFFF"/>
                </a:solidFill>
                <a:latin typeface="Arial"/>
              </a:rPr>
              <a:t>manifest.</a:t>
            </a:r>
          </a:p>
        </p:txBody>
      </p:sp>
      <p:sp>
        <p:nvSpPr>
          <p:cNvPr id="14" name="Rounded Rectangle 13"/>
          <p:cNvSpPr/>
          <p:nvPr/>
        </p:nvSpPr>
        <p:spPr>
          <a:xfrm>
            <a:off x="749300" y="3581400"/>
            <a:ext cx="330200" cy="431800"/>
          </a:xfrm>
          <a:prstGeom prst="roundRect">
            <a:avLst>
              <a:gd name="adj" fmla="val 11538"/>
            </a:avLst>
          </a:prstGeom>
          <a:solidFill>
            <a:srgbClr val="243D63"/>
          </a:solidFill>
          <a:ln w="17780">
            <a:solidFill>
              <a:srgbClr val="83A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825500" y="3670300"/>
            <a:ext cx="177800" cy="0"/>
          </a:xfrm>
          <a:prstGeom prst="line">
            <a:avLst/>
          </a:prstGeom>
          <a:ln w="1524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8001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001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52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9652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19600" y="3200400"/>
            <a:ext cx="3352800" cy="0"/>
          </a:xfrm>
          <a:prstGeom prst="line">
            <a:avLst/>
          </a:prstGeom>
          <a:ln w="31750">
            <a:solidFill>
              <a:srgbClr val="66CBC9"/>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19600" y="3492500"/>
            <a:ext cx="609600" cy="609600"/>
          </a:xfrm>
          <a:prstGeom prst="roundRect">
            <a:avLst>
              <a:gd name="adj" fmla="val 20833"/>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3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66CBC9"/>
                </a:solidFill>
                <a:latin typeface="Arial"/>
              </a:rPr>
              <a:t>VERIFY</a:t>
            </a:r>
          </a:p>
        </p:txBody>
      </p:sp>
      <p:sp>
        <p:nvSpPr>
          <p:cNvPr id="23" name="TextBox 22"/>
          <p:cNvSpPr txBox="1"/>
          <p:nvPr/>
        </p:nvSpPr>
        <p:spPr>
          <a:xfrm>
            <a:off x="441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Check DNS answers</a:t>
            </a:r>
          </a:p>
          <a:p>
            <a:pPr algn="l">
              <a:lnSpc>
                <a:spcPts val="2875"/>
              </a:lnSpc>
              <a:spcBef>
                <a:spcPts val="0"/>
              </a:spcBef>
              <a:spcAft>
                <a:spcPts val="0"/>
              </a:spcAft>
            </a:pPr>
            <a:r>
              <a:rPr sz="2300" b="0">
                <a:solidFill>
                  <a:srgbClr val="FFFFFF"/>
                </a:solidFill>
                <a:latin typeface="Arial"/>
              </a:rPr>
              <a:t>and real requests.</a:t>
            </a:r>
          </a:p>
        </p:txBody>
      </p:sp>
      <p:sp>
        <p:nvSpPr>
          <p:cNvPr id="24" name="Rounded Rectangle 23"/>
          <p:cNvSpPr/>
          <p:nvPr/>
        </p:nvSpPr>
        <p:spPr>
          <a:xfrm>
            <a:off x="4508500" y="3632200"/>
            <a:ext cx="431800" cy="330200"/>
          </a:xfrm>
          <a:prstGeom prst="roundRect">
            <a:avLst>
              <a:gd name="adj" fmla="val 11538"/>
            </a:avLst>
          </a:prstGeom>
          <a:solidFill>
            <a:srgbClr val="173E49"/>
          </a:solidFill>
          <a:ln w="17780">
            <a:solidFill>
              <a:srgbClr val="66CB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4508500" y="3721100"/>
            <a:ext cx="431800" cy="0"/>
          </a:xfrm>
          <a:prstGeom prst="line">
            <a:avLst/>
          </a:prstGeom>
          <a:ln w="13970">
            <a:solidFill>
              <a:srgbClr val="66CBC9"/>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4574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80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701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4622800" y="3835400"/>
            <a:ext cx="76200" cy="762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699000" y="3771900"/>
            <a:ext cx="139700" cy="1397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229600" y="3200400"/>
            <a:ext cx="3352800" cy="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29600" y="3492500"/>
            <a:ext cx="609600" cy="609600"/>
          </a:xfrm>
          <a:prstGeom prst="roundRect">
            <a:avLst>
              <a:gd name="adj" fmla="val 20833"/>
            </a:avLst>
          </a:prstGeom>
          <a:solidFill>
            <a:srgbClr val="452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4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79BB0"/>
                </a:solidFill>
                <a:latin typeface="Arial"/>
              </a:rPr>
              <a:t>AUTOMATE</a:t>
            </a:r>
          </a:p>
        </p:txBody>
      </p:sp>
      <p:sp>
        <p:nvSpPr>
          <p:cNvPr id="34" name="TextBox 33"/>
          <p:cNvSpPr txBox="1"/>
          <p:nvPr/>
        </p:nvSpPr>
        <p:spPr>
          <a:xfrm>
            <a:off x="822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Test failover.</a:t>
            </a:r>
          </a:p>
          <a:p>
            <a:pPr algn="l">
              <a:lnSpc>
                <a:spcPts val="2875"/>
              </a:lnSpc>
              <a:spcBef>
                <a:spcPts val="0"/>
              </a:spcBef>
              <a:spcAft>
                <a:spcPts val="0"/>
              </a:spcAft>
            </a:pPr>
            <a:r>
              <a:rPr sz="2300" b="0">
                <a:solidFill>
                  <a:srgbClr val="FFFFFF"/>
                </a:solidFill>
                <a:latin typeface="Arial"/>
              </a:rPr>
              <a:t>Automate recovery.</a:t>
            </a:r>
          </a:p>
        </p:txBody>
      </p:sp>
      <p:cxnSp>
        <p:nvCxnSpPr>
          <p:cNvPr id="35" name="Connector 34"/>
          <p:cNvCxnSpPr/>
          <p:nvPr/>
        </p:nvCxnSpPr>
        <p:spPr>
          <a:xfrm>
            <a:off x="8711254" y="3673464"/>
            <a:ext cx="18283" cy="3145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729537" y="3704919"/>
            <a:ext cx="12742" cy="3407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742279" y="3738998"/>
            <a:ext cx="6838" cy="3573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749117" y="3774732"/>
            <a:ext cx="741" cy="3637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744480" y="3811107"/>
            <a:ext cx="5378" cy="3598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8733136" y="3847089"/>
            <a:ext cx="11344" cy="3456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8716150" y="3881658"/>
            <a:ext cx="16986" cy="3217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8694001" y="3913832"/>
            <a:ext cx="22149" cy="2886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8667321" y="3942696"/>
            <a:ext cx="26680" cy="2473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8636866" y="3967431"/>
            <a:ext cx="30455" cy="1990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8603501" y="3987335"/>
            <a:ext cx="33365" cy="145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8568174" y="4001842"/>
            <a:ext cx="35327" cy="86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8531887" y="4010541"/>
            <a:ext cx="36287" cy="264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8495673" y="4009698"/>
            <a:ext cx="36214" cy="348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8460557" y="4000179"/>
            <a:ext cx="35116" cy="951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8427539" y="3984899"/>
            <a:ext cx="33018" cy="1528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8397555" y="3964292"/>
            <a:ext cx="29984" cy="206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8371458" y="3938943"/>
            <a:ext cx="26097" cy="2534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8349987" y="3909571"/>
            <a:ext cx="21471" cy="293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8333753" y="3877011"/>
            <a:ext cx="16234" cy="3256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8323217" y="3842188"/>
            <a:ext cx="10536" cy="34823"/>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8318679" y="3806089"/>
            <a:ext cx="4538" cy="360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8318679" y="3769742"/>
            <a:ext cx="1586" cy="3634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8320265" y="3734176"/>
            <a:ext cx="7668" cy="3556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327933" y="3700404"/>
            <a:ext cx="13531" cy="337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341464" y="3669383"/>
            <a:ext cx="19010" cy="31021"/>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8360474" y="3641994"/>
            <a:ext cx="23949" cy="2738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8384423" y="3619016"/>
            <a:ext cx="28207" cy="22978"/>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412630" y="3601100"/>
            <a:ext cx="31666" cy="1791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444296" y="3588756"/>
            <a:ext cx="34224" cy="12344"/>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445500" y="3797300"/>
            <a:ext cx="76200" cy="762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521700" y="3733800"/>
            <a:ext cx="127000" cy="1397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609600" y="5638800"/>
            <a:ext cx="10972800" cy="584200"/>
          </a:xfrm>
          <a:prstGeom prst="roundRect">
            <a:avLst>
              <a:gd name="adj" fmla="val 17391"/>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63600" y="5778500"/>
            <a:ext cx="104648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FFFFFF"/>
                </a:solidFill>
                <a:latin typeface="Arial"/>
              </a:rPr>
              <a:t>Test the full path: readiness → DNS → successful requests.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DISCUSSION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34 / 34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Questions?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How would failover work in your environment?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33600"/>
            <a:ext cx="3556000" cy="4165600"/>
          </a:xfrm>
          <a:prstGeom prst="roundRect">
            <a:avLst>
              <a:gd name="adj" fmla="val 357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82800"/>
            <a:ext cx="3556000" cy="4165600"/>
          </a:xfrm>
          <a:prstGeom prst="roundRect">
            <a:avLst>
              <a:gd name="adj" fmla="val 357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2"/>
          <a:stretch>
            <a:fillRect/>
          </a:stretch>
        </p:blipFill>
        <p:spPr>
          <a:xfrm>
            <a:off x="863600" y="2316572"/>
            <a:ext cx="431800" cy="421455"/>
          </a:xfrm>
          <a:prstGeom prst="rect">
            <a:avLst/>
          </a:prstGeom>
        </p:spPr>
      </p:pic>
      <p:sp>
        <p:nvSpPr>
          <p:cNvPr id="13" name="TextBox 12"/>
          <p:cNvSpPr txBox="1"/>
          <p:nvPr/>
        </p:nvSpPr>
        <p:spPr>
          <a:xfrm>
            <a:off x="1460500" y="2362200"/>
            <a:ext cx="24511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Explore k8gb</a:t>
            </a:r>
          </a:p>
        </p:txBody>
      </p:sp>
      <p:pic>
        <p:nvPicPr>
          <p:cNvPr id="14" name="Picture 13" descr="image.png"/>
          <p:cNvPicPr>
            <a:picLocks noChangeAspect="1"/>
          </p:cNvPicPr>
          <p:nvPr/>
        </p:nvPicPr>
        <p:blipFill>
          <a:blip r:embed="rId3"/>
          <a:stretch>
            <a:fillRect/>
          </a:stretch>
        </p:blipFill>
        <p:spPr>
          <a:xfrm>
            <a:off x="889000" y="2857500"/>
            <a:ext cx="2997200" cy="2997200"/>
          </a:xfrm>
          <a:prstGeom prst="rect">
            <a:avLst/>
          </a:prstGeom>
        </p:spPr>
      </p:pic>
      <p:sp>
        <p:nvSpPr>
          <p:cNvPr id="15" name="TextBox 14"/>
          <p:cNvSpPr txBox="1"/>
          <p:nvPr/>
        </p:nvSpPr>
        <p:spPr>
          <a:xfrm>
            <a:off x="863600" y="5918200"/>
            <a:ext cx="3048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2762C8"/>
                </a:solidFill>
                <a:latin typeface="Arial"/>
                <a:hlinkClick r:id="rId4"/>
              </a:rPr>
              <a:t>k8gb.io</a:t>
            </a:r>
          </a:p>
        </p:txBody>
      </p:sp>
      <p:sp>
        <p:nvSpPr>
          <p:cNvPr id="16" name="Rounded Rectangle 15"/>
          <p:cNvSpPr/>
          <p:nvPr/>
        </p:nvSpPr>
        <p:spPr>
          <a:xfrm>
            <a:off x="4572000" y="2133600"/>
            <a:ext cx="7010400" cy="1397000"/>
          </a:xfrm>
          <a:prstGeom prst="roundRect">
            <a:avLst>
              <a:gd name="adj" fmla="val 9090"/>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0" y="2082800"/>
            <a:ext cx="7010400" cy="1397000"/>
          </a:xfrm>
          <a:prstGeom prst="roundRect">
            <a:avLst>
              <a:gd name="adj" fmla="val 9090"/>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826000" y="2349500"/>
            <a:ext cx="558800" cy="558800"/>
          </a:xfrm>
          <a:prstGeom prst="roundRect">
            <a:avLst>
              <a:gd name="adj" fmla="val 20454"/>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029200" y="2451100"/>
            <a:ext cx="152400" cy="152400"/>
          </a:xfrm>
          <a:prstGeom prst="ellipse">
            <a:avLst/>
          </a:prstGeom>
          <a:solidFill>
            <a:srgbClr val="1A3047"/>
          </a:solidFill>
          <a:ln w="19050">
            <a:solidFill>
              <a:srgbClr val="83A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flipV="1">
            <a:off x="4953000" y="2705100"/>
            <a:ext cx="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4953000" y="2641600"/>
            <a:ext cx="6350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016500" y="2641600"/>
            <a:ext cx="177800" cy="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194300" y="2641600"/>
            <a:ext cx="6350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257800" y="2705100"/>
            <a:ext cx="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588000" y="2273300"/>
            <a:ext cx="56896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Yury Tsarev</a:t>
            </a:r>
          </a:p>
        </p:txBody>
      </p:sp>
      <p:sp>
        <p:nvSpPr>
          <p:cNvPr id="26" name="TextBox 25"/>
          <p:cNvSpPr txBox="1"/>
          <p:nvPr/>
        </p:nvSpPr>
        <p:spPr>
          <a:xfrm>
            <a:off x="5588000" y="2692400"/>
            <a:ext cx="568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Creator &amp; Project Lead · k8gb</a:t>
            </a:r>
          </a:p>
        </p:txBody>
      </p:sp>
      <p:sp>
        <p:nvSpPr>
          <p:cNvPr id="27" name="TextBox 26"/>
          <p:cNvSpPr txBox="1"/>
          <p:nvPr/>
        </p:nvSpPr>
        <p:spPr>
          <a:xfrm>
            <a:off x="5588000" y="3048000"/>
            <a:ext cx="56896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83ADFF"/>
                </a:solidFill>
                <a:latin typeface="Arial"/>
                <a:hlinkClick r:id="rId5"/>
              </a:rPr>
              <a:t>linkedin.com/in/yurytsarev</a:t>
            </a:r>
          </a:p>
        </p:txBody>
      </p:sp>
      <p:sp>
        <p:nvSpPr>
          <p:cNvPr id="28" name="Rounded Rectangle 27"/>
          <p:cNvSpPr/>
          <p:nvPr/>
        </p:nvSpPr>
        <p:spPr>
          <a:xfrm>
            <a:off x="4572000" y="3759200"/>
            <a:ext cx="7010400" cy="1092200"/>
          </a:xfrm>
          <a:prstGeom prst="roundRect">
            <a:avLst>
              <a:gd name="adj" fmla="val 1046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572000" y="3708400"/>
            <a:ext cx="7010400" cy="1092200"/>
          </a:xfrm>
          <a:prstGeom prst="roundRect">
            <a:avLst>
              <a:gd name="adj" fmla="val 104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826000" y="4000500"/>
            <a:ext cx="381000" cy="381000"/>
          </a:xfrm>
          <a:prstGeom prst="roundRect">
            <a:avLst>
              <a:gd name="adj" fmla="val 23333"/>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flipH="1">
            <a:off x="4889500" y="40894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889500" y="41910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067300" y="40894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5067300" y="41910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35600" y="3898900"/>
            <a:ext cx="589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SOURCE &amp; CONTRIBUTIONS</a:t>
            </a:r>
          </a:p>
        </p:txBody>
      </p:sp>
      <p:sp>
        <p:nvSpPr>
          <p:cNvPr id="36" name="TextBox 35"/>
          <p:cNvSpPr txBox="1"/>
          <p:nvPr/>
        </p:nvSpPr>
        <p:spPr>
          <a:xfrm>
            <a:off x="5435600" y="4241800"/>
            <a:ext cx="58928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hlinkClick r:id="rId6"/>
              </a:rPr>
              <a:t>github.com/k8gb-io/k8gb</a:t>
            </a:r>
          </a:p>
        </p:txBody>
      </p:sp>
      <p:sp>
        <p:nvSpPr>
          <p:cNvPr id="37" name="Rounded Rectangle 36"/>
          <p:cNvSpPr/>
          <p:nvPr/>
        </p:nvSpPr>
        <p:spPr>
          <a:xfrm>
            <a:off x="4572000" y="5054600"/>
            <a:ext cx="7010400" cy="1193800"/>
          </a:xfrm>
          <a:prstGeom prst="roundRect">
            <a:avLst>
              <a:gd name="adj" fmla="val 957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572000" y="5003800"/>
            <a:ext cx="7010400" cy="1193800"/>
          </a:xfrm>
          <a:prstGeom prst="roundRect">
            <a:avLst>
              <a:gd name="adj" fmla="val 957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26000" y="5295900"/>
            <a:ext cx="381000" cy="381000"/>
          </a:xfrm>
          <a:prstGeom prst="roundRect">
            <a:avLst>
              <a:gd name="adj" fmla="val 23333"/>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927600" y="5359400"/>
            <a:ext cx="177800" cy="254000"/>
          </a:xfrm>
          <a:prstGeom prst="roundRect">
            <a:avLst>
              <a:gd name="adj" fmla="val 14285"/>
            </a:avLst>
          </a:prstGeom>
          <a:solidFill>
            <a:srgbClr val="E8F4F3"/>
          </a:solidFill>
          <a:ln w="1524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4978400" y="5435600"/>
            <a:ext cx="88900" cy="0"/>
          </a:xfrm>
          <a:prstGeom prst="line">
            <a:avLst/>
          </a:prstGeom>
          <a:ln w="1397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978400" y="5486400"/>
            <a:ext cx="88900" cy="0"/>
          </a:xfrm>
          <a:prstGeom prst="line">
            <a:avLst/>
          </a:prstGeom>
          <a:ln w="1397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978400" y="5537200"/>
            <a:ext cx="88900" cy="0"/>
          </a:xfrm>
          <a:prstGeom prst="line">
            <a:avLst/>
          </a:prstGeom>
          <a:ln w="13970">
            <a:solidFill>
              <a:srgbClr val="087F85"/>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435600" y="5194300"/>
            <a:ext cx="589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PRODUCTION CASE STUDY</a:t>
            </a:r>
          </a:p>
        </p:txBody>
      </p:sp>
      <p:sp>
        <p:nvSpPr>
          <p:cNvPr id="45" name="TextBox 44"/>
          <p:cNvSpPr txBox="1"/>
          <p:nvPr/>
        </p:nvSpPr>
        <p:spPr>
          <a:xfrm>
            <a:off x="5435600" y="5473700"/>
            <a:ext cx="58928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Millennium bcp</a:t>
            </a:r>
          </a:p>
        </p:txBody>
      </p:sp>
      <p:sp>
        <p:nvSpPr>
          <p:cNvPr id="46" name="TextBox 45"/>
          <p:cNvSpPr txBox="1"/>
          <p:nvPr/>
        </p:nvSpPr>
        <p:spPr>
          <a:xfrm>
            <a:off x="5435600" y="5905500"/>
            <a:ext cx="58928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087F85"/>
                </a:solidFill>
                <a:latin typeface="Arial"/>
                <a:hlinkClick r:id="rId7"/>
              </a:rPr>
              <a:t>cncf.io/case-studies/millennium-bcp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Controls the Failover?</dc:title>
  <dc:subject>Sovereign Global Traffic Management with Kubernetes</dc:subject>
  <dc:creator>Yury Tsarev</dc:creator>
  <cp:keywords>k8gb, sovereignty, DNS, failover, Sovereign Cloud Days 2026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