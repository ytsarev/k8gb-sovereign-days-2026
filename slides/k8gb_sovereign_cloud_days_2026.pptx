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3.25–4.25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the delegation diagram follows the client request path.</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4.25–5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5–6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6–7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after the demo recap. Next, show how the parent zone delegates to the cluster authorities.</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7–8 minutes elapsed.</a:t>
            </a:r>
          </a:p>
          <a:p/>
          <a:p>
            <a:r>
              <a:t>Spend one minute on the delegation boundary. The parent zone example.com publishes NS records for gslb.example.com, pointing to the two cluster CoreDNS authorities. The recursive resolver follows this delegation; CoreDNS returns eligible application IPs for app.gslb.example.com. Both authorities serve the same delegated zone. The parent does not proxy application traffic or choose the failover target for each request. The ns-a and ns-b labels abbreviate nameserver hostnames. Nameserver address records depend on the naming arrangement; glue is specifically needed for in-bailiwick nameserver names. Your team retains control of the parent zone, registrar access and DNS recovery; k8gb does not take ownership of those. Keep this explanation focused on who answers which zone, then move to the traffic strategies that determine application answers.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8–9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9–10.25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10.25–11.25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11.25–12.25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12:15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12.25–18.25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18:15 elapsed. Return to the normal-operation recap slide at 18:15 elapsed. Use the next three diagrams for a one-minute summary of A → B → A before starting Part 2 at 19:15. The recap follows the observed run; it is not a second demonstration.</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18.25–18.5 minutes elapsed.</a:t>
            </a:r>
          </a:p>
          <a:p/>
          <a:p>
            <a:r>
              <a:t>15 seconds. Summarize the baseline from the demo: A/eu and B/us were both ready, and both CoreDNS authorities returned A because eu was the configured primary. Point to the two matching A answers. Both authorities were active; this is application target preference, not a DNS-master election. Advance to the fault without repeating the architecture walkthrough.</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18.5–19 minutes elapsed.</a:t>
            </a:r>
          </a:p>
          <a:p/>
          <a:p>
            <a:r>
              <a:t>30 seconds. Summarize the injected fault: we removed A/eu’s ready application endpoints while its CoreDNS authority stayed reachable. After the controllers reconciled and learned peer health through DNS, both authorities returned B/us application IPs; the HTTP observer then showed successful requests from B. The matching answers describe convergence with peer visibility, not an instantaneous switch. Client caches could still hold A, and existing connections did not migrate. This was workload failure, not a whole-cluster outage. Point to A’s UNREADY badge and the two B answers, then advance.</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19–19.25 minutes elapsed.</a:t>
            </a:r>
          </a:p>
          <a:p/>
          <a:p>
            <a:r>
              <a:t>15 seconds. Summarize recovery: we restored A/eu’s original replica count, its application became ready again, and the primary preference automatically returned both authoritative answers to A. The observer verified the return of successful requests from A. Point to the READY badge and matching A answers. End the recap at 19:15 elapsed. Transition to Part 2 using the footer: the authorities agree after reconciliation, but clients can still hold cached answers. Now examine what determines the time until a real request succeeds. Save readiness, partition and data-safety detail for the following slides.</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19.25–20.75 minutes elapsed.</a:t>
            </a:r>
          </a:p>
          <a:p/>
          <a:p>
            <a:r>
              <a:t>Start Part 2 at 19:15 elapsed, using the recap footer about cache lag as the transition: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20.75–22.25 minutes elapsed.</a:t>
            </a:r>
          </a:p>
          <a:p/>
          <a:p>
            <a:r>
              <a:t>Spend 90 seconds on the readiness signal and the failed-payment example. Kubernetes runs readinessProbe checks and reflects Pod readiness in EndpointSlices; k8gb consumes that state when selecting targets. GET /healthz returns 200 while a real payment write fails because the database is read-only. The application must define readiness around the operation it needs to serve. State that principle once, then move to the partition case. Leave replication, fencing and session recovery for the availability slide immediately after the partition.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22.25–23.75 minutes elapsed.</a:t>
            </a:r>
          </a:p>
          <a:p/>
          <a:p>
            <a:r>
              <a:t>Spend 90 seconds on the partition. 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Use this disagreement to introduce the next slide: steering traffic and keeping application state safe require separate recovery mechanisms.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23.75–24.75 minutes elapsed.</a:t>
            </a:r>
          </a:p>
          <a:p/>
          <a:p>
            <a:r>
              <a:t>Spend one minute connecting the partition to application recovery responsibilities. The left panel describes k8gb traffic steering: exclude targets when readiness is lost, and publish healthy cluster targets after observation and reconciliation. For cluster loss, new resolutions and requests require a surviving authority, application and network path. These are not promises of instantaneous recovery or restoration of the failed cluster. The partition on the previous slide can direct clients to both locations; a DNS answer does not establish safe database writer ownership. The application recovery design must handle replication, fencing of a former writer, and session recovery. DNS steering does not perform those jobs. Keep the three outcomes separate: traffic recovery, data recovery and session continuity. Avoid repeating the failed-payment example. Turn these responsibilities into the four repeatable testing steps on the next slide.</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24.75–26.25 minutes elapsed.</a:t>
            </a:r>
          </a:p>
          <a:p/>
          <a:p>
            <a:r>
              <a:t>Spend 90 seconds closing the technical section with four actions. Define expectations: version the Gslb manifest and specify where traffic should go during normal operation, failure and recovery for the strategy you actually use. Rehearse scenarios: repeat the demo approach with your own applications, DNS and network. Test workload failure, cluster loss, peer-health partitions and restoration as separate scenarios, resetting to a known baseline each time. The local demo covered workload endpoint loss and recovery; other scenarios need their own rehearsal. For failover, verify the expected primary-to-secondary-to-primary sequence; for other Gslb strategies, verify their configured routing behavior. Verify the result: compare the same hostname at the relevant authorities and a representative client resolver, send real application requests, and measure DNS convergence and the return of successful operations. Interpret different answers against the configured strategy and observation point. In a peer-health partition, divergent answers can occur and must be investigated; agreement alone does not prove application correctness. Automate and repeat: run these checks after configuration, application or infrastructure changes. k8gb automatically reconciles traffic steering; the team automates validation of the complete request path. Retain the distinction between traffic, data and session recovery without repeating the previous slide. Rehearsal establishes evidence for the tested environment and conditions, not a guarantee for every failure. Keep the detailed scenarios in these notes; speak to the four short actions on screen. Finish at 26:15 elapsed, then invite participation through the community slide.</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26.25–27.25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27:15 elapsed, move from the public adopter logos to the Millennium bcp case study. Questions follow at minute 28.</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27.25–28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minute 28.</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GitHub, Slack, community-calendar, adopters and LinkedIn links visible. Questions is the final slide. If a question needs the failover-state diagrams, revisit the demo recap on slides 15–17. All 25 slides are part of the main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25</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14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20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22 / 25</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825500"/>
            <a:ext cx="9271000" cy="1080516"/>
          </a:xfrm>
          <a:prstGeom prst="rect">
            <a:avLst/>
          </a:prstGeom>
          <a:noFill/>
        </p:spPr>
        <p:txBody>
          <a:bodyPr wrap="none" lIns="0" rIns="0" tIns="0" bIns="0" anchor="t">
            <a:noAutofit/>
          </a:bodyPr>
          <a:lstStyle/>
          <a:p>
            <a:pPr algn="l">
              <a:lnSpc>
                <a:spcPts val="4104"/>
              </a:lnSpc>
              <a:spcBef>
                <a:spcPts val="0"/>
              </a:spcBef>
              <a:spcAft>
                <a:spcPts val="0"/>
              </a:spcAft>
            </a:pPr>
            <a:r>
              <a:rPr sz="3800" b="1">
                <a:solidFill>
                  <a:srgbClr val="FFFFFF"/>
                </a:solidFill>
                <a:latin typeface="Arial"/>
              </a:rPr>
              <a:t>Test your traffic strategy</a:t>
            </a:r>
          </a:p>
          <a:p>
            <a:pPr algn="l">
              <a:lnSpc>
                <a:spcPts val="4104"/>
              </a:lnSpc>
              <a:spcBef>
                <a:spcPts val="0"/>
              </a:spcBef>
              <a:spcAft>
                <a:spcPts val="0"/>
              </a:spcAft>
            </a:pPr>
            <a:r>
              <a:rPr sz="3800" b="1">
                <a:solidFill>
                  <a:srgbClr val="FFFFFF"/>
                </a:solidFill>
                <a:latin typeface="Arial"/>
              </a:rPr>
              <a:t>in your environment</a:t>
            </a:r>
          </a:p>
        </p:txBody>
      </p:sp>
      <p:pic>
        <p:nvPicPr>
          <p:cNvPr id="9" name="Picture 8" descr="image.png"/>
          <p:cNvPicPr>
            <a:picLocks noChangeAspect="1"/>
          </p:cNvPicPr>
          <p:nvPr/>
        </p:nvPicPr>
        <p:blipFill>
          <a:blip r:embed="rId2"/>
          <a:stretch>
            <a:fillRect/>
          </a:stretch>
        </p:blipFill>
        <p:spPr>
          <a:xfrm>
            <a:off x="10388600" y="915086"/>
            <a:ext cx="1117600" cy="1090827"/>
          </a:xfrm>
          <a:prstGeom prst="rect">
            <a:avLst/>
          </a:prstGeom>
        </p:spPr>
      </p:pic>
      <p:sp>
        <p:nvSpPr>
          <p:cNvPr id="10" name="TextBox 9"/>
          <p:cNvSpPr txBox="1"/>
          <p:nvPr/>
        </p:nvSpPr>
        <p:spPr>
          <a:xfrm>
            <a:off x="812800" y="24257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83ADFF"/>
                </a:solidFill>
                <a:latin typeface="Arial"/>
              </a:rPr>
              <a:t>Define expectations</a:t>
            </a:r>
          </a:p>
        </p:txBody>
      </p:sp>
      <p:sp>
        <p:nvSpPr>
          <p:cNvPr id="11" name="TextBox 10"/>
          <p:cNvSpPr txBox="1"/>
          <p:nvPr/>
        </p:nvSpPr>
        <p:spPr>
          <a:xfrm>
            <a:off x="5029200" y="24511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Expected routing for each scenario.</a:t>
            </a:r>
          </a:p>
        </p:txBody>
      </p:sp>
      <p:cxnSp>
        <p:nvCxnSpPr>
          <p:cNvPr id="12" name="Connector 11"/>
          <p:cNvCxnSpPr/>
          <p:nvPr/>
        </p:nvCxnSpPr>
        <p:spPr>
          <a:xfrm>
            <a:off x="812800" y="29845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2800" y="32004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66CBC9"/>
                </a:solidFill>
                <a:latin typeface="Arial"/>
              </a:rPr>
              <a:t>Rehearse scenarios</a:t>
            </a:r>
          </a:p>
        </p:txBody>
      </p:sp>
      <p:sp>
        <p:nvSpPr>
          <p:cNvPr id="14" name="TextBox 13"/>
          <p:cNvSpPr txBox="1"/>
          <p:nvPr/>
        </p:nvSpPr>
        <p:spPr>
          <a:xfrm>
            <a:off x="5029200" y="32258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Failures and recovery in your environment.</a:t>
            </a:r>
          </a:p>
        </p:txBody>
      </p:sp>
      <p:cxnSp>
        <p:nvCxnSpPr>
          <p:cNvPr id="15" name="Connector 14"/>
          <p:cNvCxnSpPr/>
          <p:nvPr/>
        </p:nvCxnSpPr>
        <p:spPr>
          <a:xfrm>
            <a:off x="812800" y="37592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12800" y="39751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79BB0"/>
                </a:solidFill>
                <a:latin typeface="Arial"/>
              </a:rPr>
              <a:t>Verify the result</a:t>
            </a:r>
          </a:p>
        </p:txBody>
      </p:sp>
      <p:sp>
        <p:nvSpPr>
          <p:cNvPr id="17" name="TextBox 16"/>
          <p:cNvSpPr txBox="1"/>
          <p:nvPr/>
        </p:nvSpPr>
        <p:spPr>
          <a:xfrm>
            <a:off x="5029200" y="40005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DNS answers, real requests and timing.</a:t>
            </a:r>
          </a:p>
        </p:txBody>
      </p:sp>
      <p:cxnSp>
        <p:nvCxnSpPr>
          <p:cNvPr id="18" name="Connector 17"/>
          <p:cNvCxnSpPr/>
          <p:nvPr/>
        </p:nvCxnSpPr>
        <p:spPr>
          <a:xfrm>
            <a:off x="812800" y="45339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47498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8ED1AF"/>
                </a:solidFill>
                <a:latin typeface="Arial"/>
              </a:rPr>
              <a:t>Automate and repeat</a:t>
            </a:r>
          </a:p>
        </p:txBody>
      </p:sp>
      <p:sp>
        <p:nvSpPr>
          <p:cNvPr id="20" name="TextBox 19"/>
          <p:cNvSpPr txBox="1"/>
          <p:nvPr/>
        </p:nvSpPr>
        <p:spPr>
          <a:xfrm>
            <a:off x="5029200" y="47752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Run the checks after changes.</a:t>
            </a:r>
          </a:p>
        </p:txBody>
      </p:sp>
      <p:sp>
        <p:nvSpPr>
          <p:cNvPr id="21" name="Rounded Rectangle 20"/>
          <p:cNvSpPr/>
          <p:nvPr/>
        </p:nvSpPr>
        <p:spPr>
          <a:xfrm>
            <a:off x="609600" y="5727700"/>
            <a:ext cx="10972800" cy="520700"/>
          </a:xfrm>
          <a:prstGeom prst="roundRect">
            <a:avLst>
              <a:gd name="adj" fmla="val 1707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5854700"/>
            <a:ext cx="105156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Validate failover, failback, and every Gslb strategy you rely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23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24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25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