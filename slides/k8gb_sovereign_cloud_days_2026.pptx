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0.5 minutes.</a:t>
            </a:r>
          </a:p>
          <a:p/>
          <a:p>
            <a:r>
              <a:t>RUN OF SHOW: 0–0.5 minutes elapsed.</a:t>
            </a:r>
          </a:p>
          <a:p/>
          <a:p>
            <a:r>
              <a:t>Open with one question: when a cluster disappears, who controls the next connection? Introduce yourself as k8gb creator and project lead. Set the route: first the product and a working local demo, then the operational cases to test. Reach Questions at minute 29; reserve six minutes for discussion.</a:t>
            </a:r>
          </a:p>
          <a:p/>
          <a:p>
            <a:r>
              <a:t>SOURCE CHECK</a:t>
            </a:r>
          </a:p>
          <a:p>
            <a:r>
              <a:t>Local k8gb checkout: 330d33335981b9716bc8ca245660d90893eae272</a:t>
            </a:r>
          </a:p>
          <a:p>
            <a:r>
              <a:t>https://www.sovereign-cloud-days.eu/event/sovereign-cloud-days-2026-1/track/who-controls-the-failover-sovereign-global-traffic-management-with-kubernetes-63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0.5–1.75 minutes elapsed.</a:t>
            </a:r>
          </a:p>
          <a:p/>
          <a:p>
            <a:r>
              <a:t>Use this single progression: replicas across workers address node loss; a cluster spread across availability zones addresses a wider failure domain; independent clusters need traffic steering for the same hostname. Point to one failed member at each level, then ask who sends the next request to a surviving cluster. Keep the explanation at the reachability level.</a:t>
            </a:r>
          </a:p>
          <a:p/>
          <a:p>
            <a:r>
              <a:t>SOURCE CHECK</a:t>
            </a:r>
          </a:p>
          <a:p>
            <a:r>
              <a:t>Local k8gb checkout: 330d33335981b9716bc8ca245660d90893eae272</a:t>
            </a:r>
          </a:p>
          <a:p>
            <a:r>
              <a:t>https://kubernetes.io/docs/concepts/scheduling-eviction/topology-spread-constraints/</a:t>
            </a:r>
          </a:p>
          <a:p>
            <a:r>
              <a:t>https://kubernetes.io/docs/concepts/services-networking/service/</a:t>
            </a:r>
          </a:p>
          <a:p>
            <a:r>
              <a:t>https://kubernetes.io/docs/concepts/workloads/controllers/deployment/</a:t>
            </a:r>
          </a:p>
          <a:p>
            <a:r>
              <a:t>https://kubernetes.io/docs/setup/best-practices/multiple-zones/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1.75–2.75 minutes elapsed.</a:t>
            </a:r>
          </a:p>
          <a:p/>
          <a:p>
            <a:r>
              <a:t>k8gb is Kubernetes-native, decentralized, and declarative. Each participating cluster has its own controller and authoritative DNS. There is no dedicated central management cluster. Mention two or more clusters and that the two-cluster drawings are examples; this is not a tested unlimited-scale claim. Readiness and the Gslb strategy determine eligible application targets. Move directly to the production origins.</a:t>
            </a:r>
          </a:p>
          <a:p/>
          <a:p>
            <a:r>
              <a:t>SOURCE CHECK</a:t>
            </a:r>
          </a:p>
          <a:p>
            <a:r>
              <a:t>Local k8gb checkout: 330d33335981b9716bc8ca245660d90893eae272</a:t>
            </a:r>
          </a:p>
          <a:p>
            <a:r>
              <a:t>https://github.com/k8gb-io/k8gb/blob/330d33335981b9716bc8ca245660d90893eae272/controllers/providers/k8gbendpoint/applicationDNSEndpoint.go</a:t>
            </a:r>
          </a:p>
          <a:p>
            <a:r>
              <a:t>https://github.com/k8gb-io/k8gb/blob/330d33335981b9716bc8ca245660d90893eae272/docs/resource_ref.md</a:t>
            </a:r>
          </a:p>
          <a:p>
            <a:r>
              <a:t>https://github.com/k8gb-io/k8gb/blob/330d33335981b9716bc8ca245660d90893eae272/docs/dynamic_geotags.md</a:t>
            </a:r>
          </a:p>
          <a:p>
            <a:r>
              <a:t>https://github.com/k8gb-io/k8gb/blob/330d33335981b9716bc8ca245660d90893eae272/api/v1beta1io/zonedelegation_types.go</a:t>
            </a:r>
          </a:p>
          <a:p>
            <a:r>
              <a:t>https://github.com/k8gb-io/k8gb/blob/330d33335981b9716bc8ca245660d90893eae272/controllers/resolver/config.go</a:t>
            </a:r>
          </a:p>
          <a:p>
            <a:r>
              <a:t>https://www.cncf.io/projects/k8gb/</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0.5 minutes.</a:t>
            </a:r>
          </a:p>
          <a:p/>
          <a:p>
            <a:r>
              <a:t>RUN OF SHOW: 2.75–3.25 minutes elapsed.</a:t>
            </a:r>
          </a:p>
          <a:p/>
          <a:p>
            <a:r>
              <a:t>Thirty-second history: originated at Absa for real production needs across on-prem datacenters and later hybrid deployments; CNCF Sandbox in 2021; adoption beyond Absa; Incubating in July 2026. The timeline is context, not a separate project-history talk.</a:t>
            </a:r>
          </a:p>
          <a:p/>
          <a:p>
            <a:r>
              <a:t>SOURCE CHECK</a:t>
            </a:r>
          </a:p>
          <a:p>
            <a:r>
              <a:t>Local k8gb checkout: 330d33335981b9716bc8ca245660d90893eae272</a:t>
            </a:r>
          </a:p>
          <a:p>
            <a:r>
              <a:t>https://github.com/k8gb-io/k8gb/blob/330d33335981b9716bc8ca245660d90893eae272/README.md#motivation-and-architecture</a:t>
            </a:r>
          </a:p>
          <a:p>
            <a:r>
              <a:t>https://github.com/k8gb-io/k8gb/blob/330d33335981b9716bc8ca245660d90893eae272/ADOPTERS.md</a:t>
            </a:r>
          </a:p>
          <a:p>
            <a:r>
              <a:t>https://www.cncf.io/projects/k8gb/</a:t>
            </a:r>
          </a:p>
          <a:p>
            <a:r>
              <a:t>https://www.cncf.io/announcements/2026/08/05/k8gb-becomes-a-cncf-incubating-project/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3.25–4.25 minutes elapsed.</a:t>
            </a:r>
          </a:p>
          <a:p/>
          <a:p>
            <a:r>
              <a:t>Spend 60 seconds on the main architecture diagram. Each cluster runs the application plus the same three DNS components. Point to the application strip: Gateway or Ingress forwards to a Service and its Pods. Kubernetes reflects Pod readiness in EndpointSlices; k8gb consumes these ready endpoints together with the Gslb strategy. The dashed upward arrow carries that readiness signal, while real application requests stay on the workload path. CoreDNS serves application-zone answers and ExternalDNS updates parent delegation. The parent directs resolvers to the cluster authorities. Peer health is learned by querying peer CoreDNS; the controllers do not elect a central leader. Two of N clusters are shown. Use the next slide for the three component roles and the request-path slide for the client lookup. The two reconciliation loops follow the component roles; the delegation diagram follows the client request path.</a:t>
            </a:r>
          </a:p>
          <a:p/>
          <a:p>
            <a:r>
              <a:t>SOURCE CHECK</a:t>
            </a:r>
          </a:p>
          <a:p>
            <a:r>
              <a:t>Local k8gb checkout: 330d33335981b9716bc8ca245660d90893eae272</a:t>
            </a:r>
          </a:p>
          <a:p>
            <a:r>
              <a:t>https://github.com/k8gb-io/k8gb/blob/330d33335981b9716bc8ca245660d90893eae272/controllers/zones/authoritative.go</a:t>
            </a:r>
          </a:p>
          <a:p>
            <a:r>
              <a:t>https://github.com/k8gb-io/k8gb/blob/330d33335981b9716bc8ca245660d90893eae272/controllers/providers/k8gbendpoint/applicationDNSEndpoint.go</a:t>
            </a:r>
          </a:p>
          <a:p>
            <a:r>
              <a:t>https://github.com/k8gb-io/k8gb/blob/330d33335981b9716bc8ca245660d90893eae272/controllers/providers/dns/external.go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0.75 minutes.</a:t>
            </a:r>
          </a:p>
          <a:p/>
          <a:p>
            <a:r>
              <a:t>RUN OF SHOW: 4.25–5 minutes elapsed.</a:t>
            </a:r>
          </a:p>
          <a:p/>
          <a:p>
            <a:r>
              <a:t>Spend 45 seconds on the three roles shown in the preceding diagram: k8gb combines readiness and the Gslb strategy to select eligible targets; CoreDNS serves authoritative answers for the delegated application zone; ExternalDNS updates parent delegation from the delegation resources. ExternalDNS does not run on every application DNS query. This describes the ExternalDNS provider path; other provider integrations differ. Next, trace how the two k8gb reconciliation loops connect these components.</a:t>
            </a:r>
          </a:p>
          <a:p/>
          <a:p>
            <a:r>
              <a:t>SOURCE CHECK</a:t>
            </a:r>
          </a:p>
          <a:p>
            <a:r>
              <a:t>Local k8gb checkout: 330d33335981b9716bc8ca245660d90893eae272</a:t>
            </a:r>
          </a:p>
          <a:p>
            <a:r>
              <a:t>https://github.com/k8gb-io/k8gb/blob/330d33335981b9716bc8ca245660d90893eae272/controllers/providers/dns/external.go</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5–6 minutes elapsed.</a:t>
            </a:r>
          </a:p>
          <a:p/>
          <a:p>
            <a:r>
              <a:t>Spend one minute tracing the two lanes. The upper lane manages zone configuration and DNS-server membership: ZoneDelegation writes delegation records for ExternalDNS to sync to the parent and configures the CoreDNS zone. The lower lane combines Gslb strategy and ready endpoints, writes eligible application targets to a separate DNSEndpoint, and lets CoreDNS serve the authoritative answers. Point to the dashed peer-address input once. The two CoreDNS boxes represent two roles of the same per-cluster service. These are the two k8gb loops; ExternalDNS also has its own reconciliation. Membership refresh and application reconciliation have separate cadences. Save edge-DNS failures, partitions and timing detail for Part 2 or questions. Now follow a client request through the DNS state these loops publish.</a:t>
            </a:r>
          </a:p>
          <a:p/>
          <a:p>
            <a:r>
              <a:t>SOURCE CHECK</a:t>
            </a:r>
          </a:p>
          <a:p>
            <a:r>
              <a:t>Local k8gb checkout: 330d33335981b9716bc8ca245660d90893eae272</a:t>
            </a:r>
          </a:p>
          <a:p>
            <a:r>
              <a:t>https://github.com/k8gb-io/k8gb/blob/330d33335981b9716bc8ca245660d90893eae272/controllers/zone_delegation_reconciliation.go</a:t>
            </a:r>
          </a:p>
          <a:p>
            <a:r>
              <a:t>https://github.com/k8gb-io/k8gb/blob/330d33335981b9716bc8ca245660d90893eae272/controllers/zones/zone_service.go</a:t>
            </a:r>
          </a:p>
          <a:p>
            <a:r>
              <a:t>https://github.com/k8gb-io/k8gb/blob/330d33335981b9716bc8ca245660d90893eae272/controllers/zones/authoritative.go</a:t>
            </a:r>
          </a:p>
          <a:p>
            <a:r>
              <a:t>https://github.com/k8gb-io/k8gb/blob/330d33335981b9716bc8ca245660d90893eae272/controllers/runtime_shared.go</a:t>
            </a:r>
          </a:p>
          <a:p>
            <a:r>
              <a:t>https://github.com/k8gb-io/k8gb/blob/330d33335981b9716bc8ca245660d90893eae272/controllers/providers/dns/external.go</a:t>
            </a:r>
          </a:p>
          <a:p>
            <a:r>
              <a:t>https://github.com/k8gb-io/k8gb/blob/330d33335981b9716bc8ca245660d90893eae272/controllers/providers/k8gbendpoint/delegationDNSEndpoint.go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6–7 minutes elapsed.</a:t>
            </a:r>
          </a:p>
          <a:p/>
          <a:p>
            <a:r>
              <a:t>Spend 60 seconds on the client path. Walk the DNS lookup once: client, recursive resolver, authoritative CoreDNS, returned application address. Then point to the separate application connection through Gateway or Ingress. DNS is outside the application data path, so k8gb steers new connections without proxying application traffic. Save the cache-delay discussion for after the demo recap. Next, show how the parent zone delegates to the cluster authorities.</a:t>
            </a:r>
          </a:p>
          <a:p/>
          <a:p>
            <a:r>
              <a:t>SOURCE CHECK</a:t>
            </a:r>
          </a:p>
          <a:p>
            <a:r>
              <a:t>Local k8gb checkout: 330d33335981b9716bc8ca245660d90893eae272</a:t>
            </a:r>
          </a:p>
          <a:p>
            <a:r>
              <a:t>https://github.com/k8gb-io/k8gb/blob/330d33335981b9716bc8ca245660d90893eae272/docs/intro.md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7–8 minutes elapsed.</a:t>
            </a:r>
          </a:p>
          <a:p/>
          <a:p>
            <a:r>
              <a:t>Spend one minute on the delegation boundary. The parent zone example.com publishes NS records for gslb.example.com, pointing to the two cluster CoreDNS authorities. The recursive resolver follows this delegation; CoreDNS returns eligible application IPs for app.gslb.example.com. Both authorities serve the same delegated zone. The parent does not proxy application traffic or choose the failover target for each request. The ns-a and ns-b labels abbreviate nameserver hostnames. Nameserver address records depend on the naming arrangement; glue is specifically needed for in-bailiwick nameserver names. Your team retains control of the parent zone, registrar access and DNS recovery; k8gb does not take ownership of those. Keep this explanation focused on who answers which zone, then move to the traffic strategies that determine application answers.</a:t>
            </a:r>
          </a:p>
          <a:p/>
          <a:p>
            <a:r>
              <a:t>SOURCE CHECK</a:t>
            </a:r>
          </a:p>
          <a:p>
            <a:r>
              <a:t>Local k8gb checkout: 330d33335981b9716bc8ca245660d90893eae272</a:t>
            </a:r>
          </a:p>
          <a:p>
            <a:r>
              <a:t>https://github.com/k8gb-io/k8gb/blob/330d33335981b9716bc8ca245660d90893eae272/controllers/providers/k8gbendpoint/delegationDNSEndpoint.go</a:t>
            </a:r>
          </a:p>
          <a:p>
            <a:r>
              <a:t>https://github.com/k8gb-io/k8gb/blob/330d33335981b9716bc8ca245660d90893eae272/docs/exposing_dns.md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8–9 minutes elapsed.</a:t>
            </a:r>
          </a:p>
          <a:p/>
          <a:p>
            <a:r>
              <a:t>Spend 60 seconds on the four strategies. Failover prefers a primary cluster and returns to it when ready again; this is the demo strategy. Introduce the other modes in one sentence each: round robin uses healthy clusters, weights express relative preference, GeoIP uses client subnet information. Keep the displayed DNS-level qualifications brief. Do not pre-explain the three failover states; the audience will see them in the demo.</a:t>
            </a:r>
          </a:p>
          <a:p/>
          <a:p>
            <a:r>
              <a:t>SOURCE CHECK</a:t>
            </a:r>
          </a:p>
          <a:p>
            <a:r>
              <a:t>Local k8gb checkout: 330d33335981b9716bc8ca245660d90893eae272</a:t>
            </a:r>
          </a:p>
          <a:p>
            <a:r>
              <a:t>https://github.com/k8gb-io/k8gb/blob/330d33335981b9716bc8ca245660d90893eae272/docs/strategy.md</a:t>
            </a:r>
          </a:p>
          <a:p>
            <a:r>
              <a:t>https://github.com/k8gb-io/k8gb/blob/330d33335981b9716bc8ca245660d90893eae272/docs/wrr_caveats.md</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9–10.25 minutes elapsed.</a:t>
            </a:r>
          </a:p>
          <a:p/>
          <a:p>
            <a:r>
              <a:t>Show the familiar apiVersion, kind, metadata and spec: Gslb is a standard Kubernetes custom resource. primaryGeoTag: eu selects the cluster tagged eu, called Cluster A in the demo; Cluster B is us. The same steering configuration is deployed per cluster. The slide uses HTTPRoute; the local demo uses Ingress with the same failover strategy. The route and delegated zone are already prepared for the demo.</a:t>
            </a:r>
          </a:p>
          <a:p/>
          <a:p>
            <a:r>
              <a:t>SOURCE CHECK</a:t>
            </a:r>
          </a:p>
          <a:p>
            <a:r>
              <a:t>Local k8gb checkout: 330d33335981b9716bc8ca245660d90893eae272</a:t>
            </a:r>
          </a:p>
          <a:p>
            <a:r>
              <a:t>https://github.com/k8gb-io/k8gb/blob/330d33335981b9716bc8ca245660d90893eae272/api/v1beta1io/gslb_types.go</a:t>
            </a:r>
          </a:p>
          <a:p>
            <a:r>
              <a:t>https://github.com/k8gb-io/k8gb/blob/330d33335981b9716bc8ca245660d90893eae272/docs/resource_ref.md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10.25–11.25 minutes elapsed.</a:t>
            </a:r>
          </a:p>
          <a:p/>
          <a:p>
            <a:r>
              <a:t>Spend 60 seconds on integration breadth. k8gb runs on conformant Kubernetes in on-prem, cloud and hybrid setups. The four native resource integrations are Gateway API, Ingress, Istio VirtualService, and LoadBalancer Service; Gateway API is recommended for new deployments. Point to the documented DNS providers rather than reading every logo. RFC 2136 covers BIND9 and Windows DNS, using TSIG or GSS-TSIG as appropriate. ExternalDNS handles configured provider APIs and RFC 2136; Infoblox also has a dedicated integration. Your team chooses the parent authority while the Gslb traffic strategy and application-zone CoreDNS layer remain the same. Provider changes still require configuration and delegation planning. The local demo uses Ingress and BIND9. Move directly to the topology choices.</a:t>
            </a:r>
          </a:p>
          <a:p/>
          <a:p>
            <a:r>
              <a:t>SOURCE CHECK</a:t>
            </a:r>
          </a:p>
          <a:p>
            <a:r>
              <a:t>Local k8gb checkout: 330d33335981b9716bc8ca245660d90893eae272</a:t>
            </a:r>
          </a:p>
          <a:p>
            <a:r>
              <a:t>https://github.com/k8gb-io/k8gb/blob/330d33335981b9716bc8ca245660d90893eae272/README.md</a:t>
            </a:r>
          </a:p>
          <a:p>
            <a:r>
              <a:t>https://github.com/k8gb-io/k8gb/blob/330d33335981b9716bc8ca245660d90893eae272/docs/resource_ref.md</a:t>
            </a:r>
          </a:p>
          <a:p>
            <a:r>
              <a:t>https://github.com/k8gb-io/k8gb/blob/330d33335981b9716bc8ca245660d90893eae272/docs/tutorials.md</a:t>
            </a:r>
          </a:p>
          <a:p>
            <a:r>
              <a:t>https://github.com/k8gb-io/k8gb/blob/330d33335981b9716bc8ca245660d90893eae272/docs/provider_rfc2136.md</a:t>
            </a:r>
          </a:p>
          <a:p>
            <a:r>
              <a:t>https://github.com/k8gb-io/k8gb/blob/330d33335981b9716bc8ca245660d90893eae272/docs/lbservice-integration.md</a:t>
            </a:r>
          </a:p>
          <a:p>
            <a:r>
              <a:t>https://www.k8gb.io/master/resource_ref/</a:t>
            </a:r>
          </a:p>
          <a:p>
            <a:r>
              <a:t>https://www.k8gb.io/master/tutorials/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11.25–12.25 minutes elapsed.</a:t>
            </a:r>
          </a:p>
          <a:p/>
          <a:p>
            <a:r>
              <a:t>Connect geotags to the audience’s topology. A tag identifies a participating k8gb cluster; it can represent a region, datacenter, rack, server, or another boundary. Rack or server examples still mean independent Kubernetes clusters, including single-node clusters. Our demo names them A/eu and B/us. End the capability section here and switch to the local setup at 12:15 elapsed.</a:t>
            </a:r>
          </a:p>
          <a:p/>
          <a:p>
            <a:r>
              <a:t>SOURCE CHECK</a:t>
            </a:r>
          </a:p>
          <a:p>
            <a:r>
              <a:t>Local k8gb checkout: 330d33335981b9716bc8ca245660d90893eae272</a:t>
            </a:r>
          </a:p>
          <a:p>
            <a:r>
              <a:t>https://github.com/k8gb-io/k8gb/blob/330d33335981b9716bc8ca245660d90893eae272/chart/k8gb/values.yaml</a:t>
            </a:r>
          </a:p>
          <a:p>
            <a:r>
              <a:t>https://github.com/k8gb-io/k8gb/blob/330d33335981b9716bc8ca245660d90893eae272/docs/dynamic_geotags.md</a:t>
            </a:r>
          </a:p>
          <a:p>
            <a:r>
              <a:t>https://github.com/k8gb-io/k8gb/blob/330d33335981b9716bc8ca245660d90893eae272/controllers/resolver/config.go</a:t>
            </a:r>
          </a:p>
          <a:p>
            <a:r>
              <a:t>https://github.com/k8gb-io/k8gb/blob/330d33335981b9716bc8ca245660d90893eae272/controllers/resolver/config_validations.go</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6 minutes.</a:t>
            </a:r>
          </a:p>
          <a:p/>
          <a:p>
            <a:r>
              <a:t>RUN OF SHOW: 12.25–18.25 minutes elapsed.</a:t>
            </a:r>
          </a:p>
          <a:p/>
          <a:p>
            <a:r>
              <a:t>SIX MINUTES INCLUDING INTRODUCTION. Spend about 45 seconds on this diagram: local BIND9 is the parent authority; A/eu is primary, B/us is secondary; the CLI observes DNS, the resolver, and actual HTTP identity. Then switch to the terminal. Show the Gslb failover strategy, compare both authoritative answers, remove A’s ready application endpoints, observe HTTP from B, restore the captured original replica count, and verify A again. Keep notes short and let the traffic pane show readiness and cache lag. Do not explain each Kubernetes object field or inspect unrelated internals. The operation is application endpoint loss, while DNS remains available. Launch the prepared presentation with ./demo/demo.sh up; the isolated recorded fallback is ./demo/demo.sh offline and is explicitly labelled recorded replay. This setup uses Ingress. Finish and restore A by 18:15 elapsed. Return to the normal-operation recap slide at 18:15 elapsed. Use the next three diagrams for a one-minute summary of A → B → A before starting Part 2 at 19:15. The recap follows the observed run; it is not a second demonstration.</a:t>
            </a:r>
          </a:p>
          <a:p/>
          <a:p>
            <a:r>
              <a:t>SOURCE CHECK</a:t>
            </a:r>
          </a:p>
          <a:p>
            <a:r>
              <a:t>Local k8gb checkout: 330d33335981b9716bc8ca245660d90893eae272</a:t>
            </a:r>
          </a:p>
          <a:p>
            <a:r>
              <a:t>https://github.com/k8gb-io/k8gb/blob/330d33335981b9716bc8ca245660d90893eae272/hack/demo-failover.sh</a:t>
            </a:r>
          </a:p>
          <a:p>
            <a:r>
              <a:t>https://github.com/k8gb-io/k8gb/blob/330d33335981b9716bc8ca245660d90893eae272/k3d/test-gslb1.yaml</a:t>
            </a:r>
          </a:p>
          <a:p>
            <a:r>
              <a:t>https://github.com/k8gb-io/k8gb/blob/330d33335981b9716bc8ca245660d90893eae272/k3d/test-gslb2.yaml</a:t>
            </a:r>
          </a:p>
          <a:p>
            <a:r>
              <a:t>https://github.com/k8gb-io/k8gb/blob/330d33335981b9716bc8ca245660d90893eae272/k3d/edge-dns.yaml</a:t>
            </a:r>
          </a:p>
          <a:p>
            <a:r>
              <a:t>https://github.com/k8gb-io/k8gb/blob/330d33335981b9716bc8ca245660d90893eae272/deploy/edge/deployment.yaml</a:t>
            </a:r>
          </a:p>
          <a:p>
            <a:r>
              <a:t>https://github.com/k8gb-io/k8gb/blob/330d33335981b9716bc8ca245660d90893eae272/deploy/edge/zone.yaml</a:t>
            </a:r>
          </a:p>
          <a:p>
            <a:r>
              <a:t>https://github.com/k8gb-io/k8gb/blob/330d33335981b9716bc8ca245660d90893eae272/deploy/gslb/k8gb.absa.oss_v1beta1_gslb_cr_failover_ingress_ref.yaml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0.25 minutes.</a:t>
            </a:r>
          </a:p>
          <a:p/>
          <a:p>
            <a:r>
              <a:t>RUN OF SHOW: 18.25–18.5 minutes elapsed.</a:t>
            </a:r>
          </a:p>
          <a:p/>
          <a:p>
            <a:r>
              <a:t>15 seconds. Summarize the baseline from the demo: A/eu and B/us were both ready, and both CoreDNS authorities returned A because eu was the configured primary. Point to the two matching A answers. Both authorities were active; this is application target preference, not a DNS-master election. Advance to the fault without repeating the architecture walkthrough.</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0.5 minutes.</a:t>
            </a:r>
          </a:p>
          <a:p/>
          <a:p>
            <a:r>
              <a:t>RUN OF SHOW: 18.5–19 minutes elapsed.</a:t>
            </a:r>
          </a:p>
          <a:p/>
          <a:p>
            <a:r>
              <a:t>30 seconds. Summarize the injected fault: we removed A/eu’s ready application endpoints while its CoreDNS authority stayed reachable. After the controllers reconciled and learned peer health through DNS, both authorities returned B/us application IPs; the HTTP observer then showed successful requests from B. The matching answers describe convergence with peer visibility, not an instantaneous switch. Client caches could still hold A, and existing connections did not migrate. This was workload failure, not a whole-cluster outage. Point to A’s UNREADY badge and the two B answers, then advance.</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0.25 minutes.</a:t>
            </a:r>
          </a:p>
          <a:p/>
          <a:p>
            <a:r>
              <a:t>RUN OF SHOW: 19–19.25 minutes elapsed.</a:t>
            </a:r>
          </a:p>
          <a:p/>
          <a:p>
            <a:r>
              <a:t>15 seconds. Summarize recovery: we restored A/eu’s original replica count, its application became ready again, and the primary preference automatically returned both authoritative answers to A. The observer verified the return of successful requests from A. Point to the READY badge and matching A answers. End the recap at 19:15 elapsed. Transition to Part 2 using the footer: the authorities agree after reconciliation, but clients can still hold cached answers. Now examine what determines the time until a real request succeeds. Save readiness, partition and data-safety detail for the following slides.</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1.5 minutes.</a:t>
            </a:r>
          </a:p>
          <a:p/>
          <a:p>
            <a:r>
              <a:t>RUN OF SHOW: 19.25–20.75 minutes elapsed.</a:t>
            </a:r>
          </a:p>
          <a:p/>
          <a:p>
            <a:r>
              <a:t>Start Part 2 at 19:15 elapsed, using the recap footer about cache lag as the transition: readiness changes, controllers reconcile, authorities publish, resolvers refresh, clients retry. These moments are distinct. Existing connections do not migrate when DNS changes; reconnect and session behavior need testing with the actual application. Measure the return of successful requests, not only a controller update. Spend 90 seconds; detailed timer arithmetic belongs in questions.</a:t>
            </a:r>
          </a:p>
          <a:p/>
          <a:p>
            <a:r>
              <a:t>SOURCE CHECK</a:t>
            </a:r>
          </a:p>
          <a:p>
            <a:r>
              <a:t>Local k8gb checkout: 330d33335981b9716bc8ca245660d90893eae272</a:t>
            </a:r>
          </a:p>
          <a:p>
            <a:r>
              <a:t>https://github.com/k8gb-io/k8gb/blob/330d33335981b9716bc8ca245660d90893eae272/chart/k8gb/values.yaml</a:t>
            </a:r>
          </a:p>
          <a:p>
            <a:r>
              <a:t>https://github.com/k8gb-io/k8gb/blob/330d33335981b9716bc8ca245660d90893eae272/controllers/zone_delegation_reconciliation.go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1.5 minutes.</a:t>
            </a:r>
          </a:p>
          <a:p/>
          <a:p>
            <a:r>
              <a:t>RUN OF SHOW: 20.75–22.25 minutes elapsed.</a:t>
            </a:r>
          </a:p>
          <a:p/>
          <a:p>
            <a:r>
              <a:t>Spend 90 seconds on the readiness signal and the failed-payment example. Kubernetes runs readinessProbe checks and reflects Pod readiness in EndpointSlices; k8gb consumes that state when selecting targets. GET /healthz returns 200 while a real payment write fails because the database is read-only. The application must define readiness around the operation it needs to serve. State that principle once, then move to the partition case. Leave replication, fencing and session recovery for the availability slide immediately after the partition. Probe details and Any/All service aggregation can be discussed in questions; a readiness probe does not itself repair the database or guarantee every request.</a:t>
            </a:r>
          </a:p>
          <a:p/>
          <a:p>
            <a:r>
              <a:t>SOURCE CHECK</a:t>
            </a:r>
          </a:p>
          <a:p>
            <a:r>
              <a:t>Local k8gb checkout: 330d33335981b9716bc8ca245660d90893eae272</a:t>
            </a:r>
          </a:p>
          <a:p>
            <a:r>
              <a:t>https://github.com/k8gb-io/k8gb/blob/330d33335981b9716bc8ca245660d90893eae272/controllers/runtime_shared.go</a:t>
            </a:r>
          </a:p>
          <a:p>
            <a:r>
              <a:t>https://github.com/k8gb-io/k8gb/blob/330d33335981b9716bc8ca245660d90893eae272/api/v1beta1io/gslb_types.go</a:t>
            </a:r>
          </a:p>
          <a:p>
            <a:r>
              <a:t>https://github.com/k8gb-io/k8gb/blob/330d33335981b9716bc8ca245660d90893eae272/controllers/providers/k8gbendpoint/applicationDNSEndpoint.go</a:t>
            </a:r>
          </a:p>
          <a:p>
            <a:r>
              <a:t>https://kubernetes.io/docs/concepts/workloads/pods/probes/#readiness-probe</a:t>
            </a:r>
          </a:p>
          <a:p>
            <a:r>
              <a:t>https://kubernetes.io/docs/concepts/services-networking/endpoint-slices/#conditions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1.5 minutes.</a:t>
            </a:r>
          </a:p>
          <a:p/>
          <a:p>
            <a:r>
              <a:t>RUN OF SHOW: 22.25–23.75 minutes elapsed.</a:t>
            </a:r>
          </a:p>
          <a:p/>
          <a:p>
            <a:r>
              <a:t>Spend 90 seconds on the partition. Now change the failure condition: both applications are ready and clients can reach both authorities, but B cannot obtain A’s peer-health answer. A can continue returning A while B returns B. The illustration shows a possible divergent state, not a claim that every partition has identical behavior. A failed observation is not proof that the remote application is down. Compare this with the clean workload failover the demo showed. Use this disagreement to introduce the next slide: steering traffic and keeping application state safe require separate recovery mechanisms.</a:t>
            </a:r>
          </a:p>
          <a:p/>
          <a:p>
            <a:r>
              <a:t>SOURCE CHECK</a:t>
            </a:r>
          </a:p>
          <a:p>
            <a:r>
              <a:t>Local k8gb checkout: 330d33335981b9716bc8ca245660d90893eae272</a:t>
            </a:r>
          </a:p>
          <a:p>
            <a:r>
              <a:t>https://github.com/k8gb-io/k8gb/blob/330d33335981b9716bc8ca245660d90893eae272/controllers/providers/k8gbendpoint/applicationDNSEndpoint.go</a:t>
            </a:r>
          </a:p>
          <a:p>
            <a:r>
              <a:t>https://github.com/k8gb-io/k8gb/blob/330d33335981b9716bc8ca245660d90893eae272/controllers/zones/authoritative.go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23.75–24.75 minutes elapsed.</a:t>
            </a:r>
          </a:p>
          <a:p/>
          <a:p>
            <a:r>
              <a:t>Spend one minute connecting the partition to application recovery responsibilities. The left panel describes k8gb traffic steering: exclude targets when readiness is lost, and publish healthy cluster targets after observation and reconciliation. For cluster loss, new resolutions and requests require a surviving authority, application and network path. These are not promises of instantaneous recovery or restoration of the failed cluster. The partition on the previous slide can direct clients to both locations; a DNS answer does not establish safe database writer ownership. The application recovery design must handle replication, fencing of a former writer, and session recovery. DNS steering does not perform those jobs. Keep the three outcomes separate: traffic recovery, data recovery and session continuity. Avoid repeating the failed-payment example. Move directly to the combined test plan: check what clients receive and whether real operations succeed.</a:t>
            </a:r>
          </a:p>
          <a:p/>
          <a:p>
            <a:r>
              <a:t>SOURCE CHECK</a:t>
            </a:r>
          </a:p>
          <a:p>
            <a:r>
              <a:t>Local k8gb checkout: 330d33335981b9716bc8ca245660d90893eae272</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1.5 minutes.</a:t>
            </a:r>
          </a:p>
          <a:p/>
          <a:p>
            <a:r>
              <a:t>RUN OF SHOW: 24.75–26.25 minutes elapsed.</a:t>
            </a:r>
          </a:p>
          <a:p/>
          <a:p>
            <a:r>
              <a:t>Spend 90 seconds on one test plan. Start from A as the configured primary and B healthy; reset to that baseline between independent fault tests. Stop the app in A means remove all ready application endpoints while both authorities remain reachable: after reconciliation, both should publish B and real requests should succeed there. For loss of cluster A, verify surviving B DNS and application access through a client resolver. For the health-lookup test, block B from obtaining A’s peer-health answer through all query paths while both applications remain ready and both authorities remain reachable to clients. Compare the same hostname at both authorities: A may answer A while B answers B. Divergence is a possible observation to investigate, not the success criterion or a guarantee for every partition. For recovery, restore A’s readiness and peer visibility, then verify automatic failback for new requests; existing connections do not move with a DNS change. In every test, query both authorities, inspect a representative client resolver’s cached answer, and send a real application request. Record when DNS changes and when successful requests return; correlate readiness and controller logs if they disagree. Verify application and data correctness as appropriate; DNS steering does not provide database promotion or fencing. The local demo covered application endpoint loss and recovery; the other rows extend that test coverage. Finish this section by 26:15 elapsed.</a:t>
            </a:r>
          </a:p>
          <a:p/>
          <a:p>
            <a:r>
              <a:t>SOURCE CHECK</a:t>
            </a:r>
          </a:p>
          <a:p>
            <a:r>
              <a:t>Local k8gb checkout: 330d33335981b9716bc8ca245660d90893eae272</a:t>
            </a:r>
          </a:p>
          <a:p>
            <a:r>
              <a:t>https://github.com/k8gb-io/k8gb/blob/330d33335981b9716bc8ca245660d90893eae272/controllers/providers/metrics/prometheus.go</a:t>
            </a:r>
          </a:p>
          <a:p>
            <a:r>
              <a:t>https://github.com/k8gb-io/k8gb/blob/330d33335981b9716bc8ca245660d90893eae272/controllers/runtime_shared.go</a:t>
            </a:r>
          </a:p>
          <a:p>
            <a:r>
              <a:t>https://github.com/k8gb-io/k8gb/blob/330d33335981b9716bc8ca245660d90893eae272/controllers/providers/k8gbendpoint/applicationDNSEndpoint.go</a:t>
            </a:r>
          </a:p>
          <a:p>
            <a:r>
              <a:t>https://github.com/k8gb-io/k8gb/blob/330d33335981b9716bc8ca245660d90893eae272/controllers/zones/authoritative.go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26.25–27.25 minutes elapsed.</a:t>
            </a:r>
          </a:p>
          <a:p/>
          <a:p>
            <a:r>
              <a:t>Close with configure, verify, test. k8gb automatically reconciles traffic failover and failback; the team automates end-to-end tests of that behavior. Version the Gslb manifest; choose and own the delegated DNS path; use multiple observable authorities; make readiness describe the real operation; verify client-visible requests; automate failure and recovery tests. These absorb the separate operational checklist. Return to the title: control comes from choosing the configuration, seeing the result, and repeatedly testing recovery. Do not reopen the data discussion or recap every slide. Finish at 27:15 elapsed and move to the community invitation.</a:t>
            </a:r>
          </a:p>
          <a:p/>
          <a:p>
            <a:r>
              <a:t>SOURCE CHECK</a:t>
            </a:r>
          </a:p>
          <a:p>
            <a:r>
              <a:t>Local k8gb checkout: 330d33335981b9716bc8ca245660d90893eae272</a:t>
            </a:r>
          </a:p>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27.25–28.25 minutes elapsed.</a:t>
            </a:r>
          </a:p>
          <a:p/>
          <a:p>
            <a:r>
              <a:t>Spend one minute on the people behind the project. k8gb is CNCF Incubating, with seven public adopters, 46 contributors and 1,335 GitHub stars, checked on 23 October 2026. The contributor count uses the complete GitHub contributors API response and excludes three automated accounts (renovate, github-actions and dependabot). Mention the breadth of public users without reading every name. The adopter list is voluntary and is not the total installation count. Logos shown: Absa, Millennium bcp, Eficode, Open Systems, PagBank, Darede and Envio. Official brand artwork retains its original colors and proportions. Open Systems logo credit: Uvifian, CC BY-SA 4.0, https://commons.wikimedia.org/wiki/File:Open-systems-logo.svg; original artwork unchanged apart from proportional scaling and PNG rendering. Star count indicates interest, not reliability. Invite the audience to a community meeting; dates and local time are in the linked calendar. At 28:15 elapsed, move from the public adopter logos to the Millennium bcp case study. Questions follow at minute 29.</a:t>
            </a:r>
          </a:p>
          <a:p/>
          <a:p>
            <a:r>
              <a:t>SOURCE CHECK</a:t>
            </a:r>
          </a:p>
          <a:p>
            <a:r>
              <a:t>Local k8gb checkout: 330d33335981b9716bc8ca245660d90893eae272</a:t>
            </a:r>
          </a:p>
          <a:p>
            <a:r>
              <a:t>https://www.cncf.io/projects/k8gb/</a:t>
            </a:r>
          </a:p>
          <a:p>
            <a:r>
              <a:t>https://github.com/k8gb-io/k8gb/blob/330d33335981b9716bc8ca245660d90893eae272/ADOPTERS.md</a:t>
            </a:r>
          </a:p>
          <a:p>
            <a:r>
              <a:t>https://api.github.com/repos/k8gb-io/k8gb/contributors?per_page=100</a:t>
            </a:r>
          </a:p>
          <a:p>
            <a:r>
              <a:t>https://github.com/k8gb-io/k8gb/graphs/contributors</a:t>
            </a:r>
          </a:p>
          <a:p>
            <a:r>
              <a:t>https://commons.wikimedia.org/wiki/File:Open-systems-logo.svg</a:t>
            </a:r>
          </a:p>
          <a:p>
            <a:r>
              <a:t>https://www.absa.co.za/</a:t>
            </a:r>
          </a:p>
          <a:p>
            <a:r>
              <a:t>https://www.eficode.com/</a:t>
            </a:r>
          </a:p>
          <a:p>
            <a:r>
              <a:t>https://pagbank.com.br/</a:t>
            </a:r>
          </a:p>
          <a:p>
            <a:r>
              <a:t>https://darede.com.br/</a:t>
            </a:r>
          </a:p>
          <a:p>
            <a:r>
              <a:t>https://envio.dev/brand</a:t>
            </a:r>
          </a:p>
          <a:p>
            <a:r>
              <a:t>https://github.com/k8gb-io/k8gb/blob/330d33335981b9716bc8ca245660d90893eae272/GOVERNANCE.md</a:t>
            </a:r>
          </a:p>
          <a:p>
            <a:r>
              <a:t>https://github.com/k8gb-io/k8gb/blob/330d33335981b9716bc8ca245660d90893eae272/CONTRIBUTING.md</a:t>
            </a:r>
          </a:p>
          <a:p>
            <a:r>
              <a:t>https://api.github.com/repos/k8gb-io/k8gb</a:t>
            </a:r>
          </a:p>
          <a:p>
            <a:r>
              <a:t>https://zoom-lfx.platform.linuxfoundation.org/meetings/k8gb?view=month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0.75 minutes.</a:t>
            </a:r>
          </a:p>
          <a:p/>
          <a:p>
            <a:r>
              <a:t>RUN OF SHOW: 28.25–29 minutes elapsed.</a:t>
            </a:r>
          </a:p>
          <a:p/>
          <a:p>
            <a:r>
              <a:t>Follow the public adopter logos with one concrete production example. Spend 45 seconds on Millennium bcp. Millennium bcp reports five regions across two cloud providers and on-premises, shorter DNS incident response, and zero downtime in the reported regional failover tests. These are the case study’s reported results for that deployment. Keep to the three displayed facts, then invite questions at minute 29.</a:t>
            </a:r>
          </a:p>
          <a:p/>
          <a:p>
            <a:r>
              <a:t>SOURCE CHECK</a:t>
            </a:r>
          </a:p>
          <a:p>
            <a:r>
              <a:t>Local k8gb checkout: 330d33335981b9716bc8ca245660d90893eae272</a:t>
            </a:r>
          </a:p>
          <a:p>
            <a:r>
              <a:t>https://www.cncf.io/case-studies/millennium-bcp/</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6 minutes.</a:t>
            </a:r>
          </a:p>
          <a:p/>
          <a:p>
            <a:r>
              <a:t>RUN OF SHOW: 29–35 minutes elapsed.</a:t>
            </a:r>
          </a:p>
          <a:p/>
          <a:p>
            <a:r>
              <a:t>Reserve six minutes for questions, from minute 29 to minute 35. Leave the QR code, GitHub, Slack, community-calendar, adopters and LinkedIn links visible. Questions is the final slide. If a question needs the failover-state diagrams, revisit the demo recap on slides 15–17. All 26 slides are part of the main slideshow.</a:t>
            </a:r>
          </a:p>
          <a:p/>
          <a:p>
            <a:r>
              <a:t>SOURCE CHECK</a:t>
            </a:r>
          </a:p>
          <a:p>
            <a:r>
              <a:t>Local k8gb checkout: 330d33335981b9716bc8ca245660d90893eae272</a:t>
            </a:r>
          </a:p>
          <a:p>
            <a:r>
              <a:t>https://www.sovereign-cloud-days.eu/event/sovereign-cloud-days-2026-1/track/who-controls-the-failover-sovereign-global-traffic-management-with-kubernetes-63</a:t>
            </a:r>
          </a:p>
          <a:p>
            <a:r>
              <a:t>https://www.k8gb.io/</a:t>
            </a:r>
          </a:p>
          <a:p>
            <a:r>
              <a:t>https://github.com/k8gb-io/k8gb</a:t>
            </a:r>
          </a:p>
          <a:p>
            <a:r>
              <a:t>https://cloud-native.slack.com/archives/C021P656HGB</a:t>
            </a:r>
          </a:p>
          <a:p>
            <a:r>
              <a:t>https://zoom-lfx.platform.linuxfoundation.org/meetings/k8gb?view=month</a:t>
            </a:r>
          </a:p>
          <a:p>
            <a:r>
              <a:t>https://github.com/k8gb-io/k8gb/blob/330d33335981b9716bc8ca245660d90893eae272/ADOPTERS.md</a:t>
            </a:r>
          </a:p>
          <a:p>
            <a:r>
              <a:t>https://github.com/k8gb-io/k8gb/blob/330d33335981b9716bc8ca245660d90893eae272/CONTRIBUTING.md</a:t>
            </a:r>
          </a:p>
          <a:p>
            <a:r>
              <a:t>https://www.linkedin.com/in/yurytsarev/</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jpg"/><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www.cncf.io/projects/k8gb/" TargetMode="External"/><Relationship Id="rId4" Type="http://schemas.openxmlformats.org/officeDocument/2006/relationships/hyperlink" Target="https://github.com/k8gb-io/k8gb/blob/master/ADOPTERS.md" TargetMode="External"/><Relationship Id="rId5" Type="http://schemas.openxmlformats.org/officeDocument/2006/relationships/hyperlink" Target="https://github.com/k8gb-io/k8gb/graphs/contributors" TargetMode="External"/><Relationship Id="rId6" Type="http://schemas.openxmlformats.org/officeDocument/2006/relationships/hyperlink" Target="https://github.com/k8gb-io/k8gb" TargetMode="External"/><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 Id="rId11" Type="http://schemas.openxmlformats.org/officeDocument/2006/relationships/image" Target="../media/image15.png"/><Relationship Id="rId12" Type="http://schemas.openxmlformats.org/officeDocument/2006/relationships/image" Target="../media/image16.png"/><Relationship Id="rId13" Type="http://schemas.openxmlformats.org/officeDocument/2006/relationships/image" Target="../media/image17.png"/><Relationship Id="rId14" Type="http://schemas.openxmlformats.org/officeDocument/2006/relationships/hyperlink" Target="https://zoom-lfx.platform.linuxfoundation.org/meetings/k8gb?view=month" TargetMode="External"/><Relationship Id="rId1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png"/><Relationship Id="rId4" Type="http://schemas.openxmlformats.org/officeDocument/2006/relationships/hyperlink" Target="https://www.k8gb.io/" TargetMode="External"/><Relationship Id="rId5" Type="http://schemas.openxmlformats.org/officeDocument/2006/relationships/hyperlink" Target="https://github.com/k8gb-io/k8gb" TargetMode="External"/><Relationship Id="rId6" Type="http://schemas.openxmlformats.org/officeDocument/2006/relationships/hyperlink" Target="https://cloud-native.slack.com/archives/C021P656HGB" TargetMode="External"/><Relationship Id="rId7" Type="http://schemas.openxmlformats.org/officeDocument/2006/relationships/hyperlink" Target="https://zoom-lfx.platform.linuxfoundation.org/meetings/k8gb?view=month" TargetMode="External"/><Relationship Id="rId8" Type="http://schemas.openxmlformats.org/officeDocument/2006/relationships/hyperlink" Target="https://github.com/k8gb-io/k8gb/blob/master/ADOPTERS.md" TargetMode="External"/><Relationship Id="rId9" Type="http://schemas.openxmlformats.org/officeDocument/2006/relationships/hyperlink" Target="https://www.linkedin.com/in/yurytsarev/" TargetMode="External"/><Relationship Id="rId10"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SOVEREIGN GLOBAL TRAFFIC MANAGEMENT</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01 / 26</a:t>
            </a:r>
          </a:p>
        </p:txBody>
      </p:sp>
      <p:cxnSp>
        <p:nvCxnSpPr>
          <p:cNvPr id="5" name="Connector 4"/>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7" name="TextBox 6"/>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8" name="TextBox 7"/>
          <p:cNvSpPr txBox="1"/>
          <p:nvPr/>
        </p:nvSpPr>
        <p:spPr>
          <a:xfrm>
            <a:off x="609600" y="1206500"/>
            <a:ext cx="7874000" cy="1531620"/>
          </a:xfrm>
          <a:prstGeom prst="rect">
            <a:avLst/>
          </a:prstGeom>
          <a:noFill/>
        </p:spPr>
        <p:txBody>
          <a:bodyPr wrap="none" lIns="0" rIns="0" tIns="0" bIns="0" anchor="t">
            <a:noAutofit/>
          </a:bodyPr>
          <a:lstStyle/>
          <a:p>
            <a:pPr algn="l">
              <a:lnSpc>
                <a:spcPts val="5880"/>
              </a:lnSpc>
              <a:spcBef>
                <a:spcPts val="0"/>
              </a:spcBef>
              <a:spcAft>
                <a:spcPts val="0"/>
              </a:spcAft>
            </a:pPr>
            <a:r>
              <a:rPr sz="5600" b="1">
                <a:solidFill>
                  <a:srgbClr val="FFFFFF"/>
                </a:solidFill>
                <a:latin typeface="Arial"/>
              </a:rPr>
              <a:t>Who controls</a:t>
            </a:r>
          </a:p>
          <a:p>
            <a:pPr algn="l">
              <a:lnSpc>
                <a:spcPts val="5880"/>
              </a:lnSpc>
              <a:spcBef>
                <a:spcPts val="0"/>
              </a:spcBef>
              <a:spcAft>
                <a:spcPts val="0"/>
              </a:spcAft>
            </a:pPr>
            <a:r>
              <a:rPr sz="5600" b="1">
                <a:solidFill>
                  <a:srgbClr val="FFFFFF"/>
                </a:solidFill>
                <a:latin typeface="Arial"/>
              </a:rPr>
              <a:t>the failover?</a:t>
            </a:r>
          </a:p>
        </p:txBody>
      </p:sp>
      <p:sp>
        <p:nvSpPr>
          <p:cNvPr id="9" name="TextBox 8"/>
          <p:cNvSpPr txBox="1"/>
          <p:nvPr/>
        </p:nvSpPr>
        <p:spPr>
          <a:xfrm>
            <a:off x="647700" y="3162300"/>
            <a:ext cx="8001000" cy="843788"/>
          </a:xfrm>
          <a:prstGeom prst="rect">
            <a:avLst/>
          </a:prstGeom>
          <a:noFill/>
        </p:spPr>
        <p:txBody>
          <a:bodyPr wrap="none" lIns="0" rIns="0" tIns="0" bIns="0" anchor="t">
            <a:noAutofit/>
          </a:bodyPr>
          <a:lstStyle/>
          <a:p>
            <a:pPr algn="l">
              <a:lnSpc>
                <a:spcPts val="3172"/>
              </a:lnSpc>
              <a:spcBef>
                <a:spcPts val="0"/>
              </a:spcBef>
              <a:spcAft>
                <a:spcPts val="0"/>
              </a:spcAft>
            </a:pPr>
            <a:r>
              <a:rPr sz="2600" b="0">
                <a:solidFill>
                  <a:srgbClr val="B8C8D9"/>
                </a:solidFill>
                <a:latin typeface="Arial"/>
              </a:rPr>
              <a:t>Sovereign global traffic management</a:t>
            </a:r>
          </a:p>
          <a:p>
            <a:pPr algn="l">
              <a:lnSpc>
                <a:spcPts val="3172"/>
              </a:lnSpc>
              <a:spcBef>
                <a:spcPts val="0"/>
              </a:spcBef>
              <a:spcAft>
                <a:spcPts val="0"/>
              </a:spcAft>
            </a:pPr>
            <a:r>
              <a:rPr sz="2600" b="0">
                <a:solidFill>
                  <a:srgbClr val="B8C8D9"/>
                </a:solidFill>
                <a:latin typeface="Arial"/>
              </a:rPr>
              <a:t>with Kubernetes</a:t>
            </a:r>
          </a:p>
        </p:txBody>
      </p:sp>
      <p:pic>
        <p:nvPicPr>
          <p:cNvPr id="10" name="Picture 9" descr="image.png"/>
          <p:cNvPicPr>
            <a:picLocks noChangeAspect="1"/>
          </p:cNvPicPr>
          <p:nvPr/>
        </p:nvPicPr>
        <p:blipFill>
          <a:blip r:embed="rId2"/>
          <a:stretch>
            <a:fillRect/>
          </a:stretch>
        </p:blipFill>
        <p:spPr>
          <a:xfrm>
            <a:off x="9486900" y="1333500"/>
            <a:ext cx="1841500" cy="1841500"/>
          </a:xfrm>
          <a:prstGeom prst="rect">
            <a:avLst/>
          </a:prstGeom>
        </p:spPr>
      </p:pic>
      <p:cxnSp>
        <p:nvCxnSpPr>
          <p:cNvPr id="11" name="Connector 10"/>
          <p:cNvCxnSpPr/>
          <p:nvPr/>
        </p:nvCxnSpPr>
        <p:spPr>
          <a:xfrm>
            <a:off x="660400" y="4470400"/>
            <a:ext cx="108712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698500" y="4864100"/>
            <a:ext cx="127000" cy="1270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0600" y="4737100"/>
            <a:ext cx="317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TRAFFIC MANAGEMENT</a:t>
            </a:r>
          </a:p>
        </p:txBody>
      </p:sp>
      <p:sp>
        <p:nvSpPr>
          <p:cNvPr id="14" name="Oval 13"/>
          <p:cNvSpPr/>
          <p:nvPr/>
        </p:nvSpPr>
        <p:spPr>
          <a:xfrm>
            <a:off x="4889500" y="4864100"/>
            <a:ext cx="127000" cy="1270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81600" y="4737100"/>
            <a:ext cx="2159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DNS STEERING</a:t>
            </a:r>
          </a:p>
        </p:txBody>
      </p:sp>
      <p:sp>
        <p:nvSpPr>
          <p:cNvPr id="16" name="Oval 15"/>
          <p:cNvSpPr/>
          <p:nvPr/>
        </p:nvSpPr>
        <p:spPr>
          <a:xfrm>
            <a:off x="7785100" y="4864100"/>
            <a:ext cx="127000" cy="1270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77200" y="4737100"/>
            <a:ext cx="35052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MULTI-REGION RESILIENCE</a:t>
            </a:r>
          </a:p>
        </p:txBody>
      </p:sp>
      <p:sp>
        <p:nvSpPr>
          <p:cNvPr id="18" name="TextBox 17"/>
          <p:cNvSpPr txBox="1"/>
          <p:nvPr/>
        </p:nvSpPr>
        <p:spPr>
          <a:xfrm>
            <a:off x="660400" y="5524500"/>
            <a:ext cx="104140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FFFFFF"/>
                </a:solidFill>
                <a:latin typeface="Arial"/>
              </a:rPr>
              <a:t>Yury Tsarev  ·  Creator &amp; Project Lead, k8gb</a:t>
            </a:r>
          </a:p>
        </p:txBody>
      </p:sp>
      <p:sp>
        <p:nvSpPr>
          <p:cNvPr id="19" name="TextBox 18"/>
          <p:cNvSpPr txBox="1"/>
          <p:nvPr/>
        </p:nvSpPr>
        <p:spPr>
          <a:xfrm>
            <a:off x="660400" y="5943600"/>
            <a:ext cx="10414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24 October 2026  ·  Saarbrücken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THE REACHABILITY PROBLEM</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02 / 26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From node resilience to cluster failover</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Spread replicas, then widen the failure boundary.</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59000"/>
            <a:ext cx="3403600" cy="3327400"/>
          </a:xfrm>
          <a:prstGeom prst="roundRect">
            <a:avLst>
              <a:gd name="adj" fmla="val 381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838200" y="2171700"/>
            <a:ext cx="2946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38200" y="2387600"/>
            <a:ext cx="4445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2762C8"/>
                </a:solidFill>
                <a:latin typeface="Arial"/>
              </a:rPr>
              <a:t>01</a:t>
            </a:r>
          </a:p>
        </p:txBody>
      </p:sp>
      <p:sp>
        <p:nvSpPr>
          <p:cNvPr id="13" name="TextBox 12"/>
          <p:cNvSpPr txBox="1"/>
          <p:nvPr/>
        </p:nvSpPr>
        <p:spPr>
          <a:xfrm>
            <a:off x="1308100" y="2362200"/>
            <a:ext cx="24765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142338"/>
                </a:solidFill>
                <a:latin typeface="Arial"/>
              </a:rPr>
              <a:t>NODES</a:t>
            </a:r>
          </a:p>
        </p:txBody>
      </p:sp>
      <p:sp>
        <p:nvSpPr>
          <p:cNvPr id="14" name="TextBox 13"/>
          <p:cNvSpPr txBox="1"/>
          <p:nvPr/>
        </p:nvSpPr>
        <p:spPr>
          <a:xfrm>
            <a:off x="838200" y="27686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One Kubernetes cluster</a:t>
            </a:r>
          </a:p>
        </p:txBody>
      </p:sp>
      <p:sp>
        <p:nvSpPr>
          <p:cNvPr id="15" name="Rounded Rectangle 14"/>
          <p:cNvSpPr/>
          <p:nvPr/>
        </p:nvSpPr>
        <p:spPr>
          <a:xfrm>
            <a:off x="838200" y="3327400"/>
            <a:ext cx="863600" cy="850900"/>
          </a:xfrm>
          <a:prstGeom prst="roundRect">
            <a:avLst>
              <a:gd name="adj" fmla="val 7462"/>
            </a:avLst>
          </a:prstGeom>
          <a:solidFill>
            <a:srgbClr val="FBE9EE"/>
          </a:solidFill>
          <a:ln w="1397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6300" y="3429000"/>
            <a:ext cx="787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CF0035"/>
                </a:solidFill>
                <a:latin typeface="Arial"/>
              </a:rPr>
              <a:t>NODE 1</a:t>
            </a:r>
          </a:p>
        </p:txBody>
      </p:sp>
      <p:sp>
        <p:nvSpPr>
          <p:cNvPr id="17" name="Rounded Rectangle 16"/>
          <p:cNvSpPr/>
          <p:nvPr/>
        </p:nvSpPr>
        <p:spPr>
          <a:xfrm>
            <a:off x="990600" y="3708400"/>
            <a:ext cx="558800" cy="279400"/>
          </a:xfrm>
          <a:prstGeom prst="roundRect">
            <a:avLst>
              <a:gd name="adj" fmla="val 13636"/>
            </a:avLst>
          </a:prstGeom>
          <a:solidFill>
            <a:srgbClr val="FFFFFF"/>
          </a:solidFill>
          <a:ln w="1270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8700" y="3746500"/>
            <a:ext cx="482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Pod</a:t>
            </a:r>
          </a:p>
        </p:txBody>
      </p:sp>
      <p:sp>
        <p:nvSpPr>
          <p:cNvPr id="19" name="Oval 18"/>
          <p:cNvSpPr/>
          <p:nvPr/>
        </p:nvSpPr>
        <p:spPr>
          <a:xfrm>
            <a:off x="1422400" y="3187700"/>
            <a:ext cx="228600" cy="228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1485900" y="32512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1485900" y="32512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1841500" y="3327400"/>
            <a:ext cx="863600" cy="850900"/>
          </a:xfrm>
          <a:prstGeom prst="roundRect">
            <a:avLst>
              <a:gd name="adj" fmla="val 7462"/>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79600" y="3429000"/>
            <a:ext cx="787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2762C8"/>
                </a:solidFill>
                <a:latin typeface="Arial"/>
              </a:rPr>
              <a:t>NODE 2</a:t>
            </a:r>
          </a:p>
        </p:txBody>
      </p:sp>
      <p:sp>
        <p:nvSpPr>
          <p:cNvPr id="24" name="Rounded Rectangle 23"/>
          <p:cNvSpPr/>
          <p:nvPr/>
        </p:nvSpPr>
        <p:spPr>
          <a:xfrm>
            <a:off x="1993900" y="3708400"/>
            <a:ext cx="558800" cy="279400"/>
          </a:xfrm>
          <a:prstGeom prst="roundRect">
            <a:avLst>
              <a:gd name="adj" fmla="val 13636"/>
            </a:avLst>
          </a:prstGeom>
          <a:solidFill>
            <a:srgbClr val="FFFFFF"/>
          </a:solidFill>
          <a:ln w="127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032000" y="3746500"/>
            <a:ext cx="482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Pod</a:t>
            </a:r>
          </a:p>
        </p:txBody>
      </p:sp>
      <p:sp>
        <p:nvSpPr>
          <p:cNvPr id="26" name="Oval 25"/>
          <p:cNvSpPr/>
          <p:nvPr/>
        </p:nvSpPr>
        <p:spPr>
          <a:xfrm>
            <a:off x="2425700" y="31877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a:off x="2476500" y="33020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2527300" y="32512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2844800" y="3327400"/>
            <a:ext cx="863600" cy="850900"/>
          </a:xfrm>
          <a:prstGeom prst="roundRect">
            <a:avLst>
              <a:gd name="adj" fmla="val 7462"/>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882900" y="3429000"/>
            <a:ext cx="787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2762C8"/>
                </a:solidFill>
                <a:latin typeface="Arial"/>
              </a:rPr>
              <a:t>NODE 3</a:t>
            </a:r>
          </a:p>
        </p:txBody>
      </p:sp>
      <p:sp>
        <p:nvSpPr>
          <p:cNvPr id="31" name="Rounded Rectangle 30"/>
          <p:cNvSpPr/>
          <p:nvPr/>
        </p:nvSpPr>
        <p:spPr>
          <a:xfrm>
            <a:off x="2997200" y="3708400"/>
            <a:ext cx="558800" cy="279400"/>
          </a:xfrm>
          <a:prstGeom prst="roundRect">
            <a:avLst>
              <a:gd name="adj" fmla="val 13636"/>
            </a:avLst>
          </a:prstGeom>
          <a:solidFill>
            <a:srgbClr val="FFFFFF"/>
          </a:solidFill>
          <a:ln w="127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035300" y="3746500"/>
            <a:ext cx="482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Pod</a:t>
            </a:r>
          </a:p>
        </p:txBody>
      </p:sp>
      <p:sp>
        <p:nvSpPr>
          <p:cNvPr id="33" name="Oval 32"/>
          <p:cNvSpPr/>
          <p:nvPr/>
        </p:nvSpPr>
        <p:spPr>
          <a:xfrm>
            <a:off x="3429000" y="31877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3479800" y="33020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530600" y="32512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38200" y="4559300"/>
            <a:ext cx="29464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2762C8"/>
                </a:solidFill>
                <a:latin typeface="Arial"/>
              </a:rPr>
              <a:t>Spread replicas</a:t>
            </a:r>
          </a:p>
        </p:txBody>
      </p:sp>
      <p:sp>
        <p:nvSpPr>
          <p:cNvPr id="37" name="TextBox 36"/>
          <p:cNvSpPr txBox="1"/>
          <p:nvPr/>
        </p:nvSpPr>
        <p:spPr>
          <a:xfrm>
            <a:off x="838200" y="49784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Survive a worker failure.</a:t>
            </a:r>
          </a:p>
        </p:txBody>
      </p:sp>
      <p:sp>
        <p:nvSpPr>
          <p:cNvPr id="38" name="Rounded Rectangle 37"/>
          <p:cNvSpPr/>
          <p:nvPr/>
        </p:nvSpPr>
        <p:spPr>
          <a:xfrm>
            <a:off x="4394200" y="2159000"/>
            <a:ext cx="3403600" cy="3327400"/>
          </a:xfrm>
          <a:prstGeom prst="roundRect">
            <a:avLst>
              <a:gd name="adj" fmla="val 381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4622800" y="2171700"/>
            <a:ext cx="2946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622800" y="2387600"/>
            <a:ext cx="4445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087F85"/>
                </a:solidFill>
                <a:latin typeface="Arial"/>
              </a:rPr>
              <a:t>02</a:t>
            </a:r>
          </a:p>
        </p:txBody>
      </p:sp>
      <p:sp>
        <p:nvSpPr>
          <p:cNvPr id="41" name="TextBox 40"/>
          <p:cNvSpPr txBox="1"/>
          <p:nvPr/>
        </p:nvSpPr>
        <p:spPr>
          <a:xfrm>
            <a:off x="5092700" y="2362200"/>
            <a:ext cx="24765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142338"/>
                </a:solidFill>
                <a:latin typeface="Arial"/>
              </a:rPr>
              <a:t>AVAILABILITY ZONES</a:t>
            </a:r>
          </a:p>
        </p:txBody>
      </p:sp>
      <p:sp>
        <p:nvSpPr>
          <p:cNvPr id="42" name="TextBox 41"/>
          <p:cNvSpPr txBox="1"/>
          <p:nvPr/>
        </p:nvSpPr>
        <p:spPr>
          <a:xfrm>
            <a:off x="4622800" y="27686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One Kubernetes cluster</a:t>
            </a:r>
          </a:p>
        </p:txBody>
      </p:sp>
      <p:sp>
        <p:nvSpPr>
          <p:cNvPr id="43" name="Rounded Rectangle 42"/>
          <p:cNvSpPr/>
          <p:nvPr/>
        </p:nvSpPr>
        <p:spPr>
          <a:xfrm>
            <a:off x="4622800" y="3225800"/>
            <a:ext cx="863600" cy="1054100"/>
          </a:xfrm>
          <a:prstGeom prst="roundRect">
            <a:avLst>
              <a:gd name="adj" fmla="val 7352"/>
            </a:avLst>
          </a:prstGeom>
          <a:solidFill>
            <a:srgbClr val="FBE9EE"/>
          </a:solidFill>
          <a:ln w="1397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673600" y="3365500"/>
            <a:ext cx="762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AZ 1</a:t>
            </a:r>
          </a:p>
        </p:txBody>
      </p:sp>
      <p:sp>
        <p:nvSpPr>
          <p:cNvPr id="45" name="Rounded Rectangle 44"/>
          <p:cNvSpPr/>
          <p:nvPr/>
        </p:nvSpPr>
        <p:spPr>
          <a:xfrm>
            <a:off x="4762500" y="3683000"/>
            <a:ext cx="584200" cy="190500"/>
          </a:xfrm>
          <a:prstGeom prst="roundRect">
            <a:avLst>
              <a:gd name="adj" fmla="val 20000"/>
            </a:avLst>
          </a:prstGeom>
          <a:solidFill>
            <a:srgbClr val="FFFFFF"/>
          </a:solidFill>
          <a:ln w="1016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787900" y="36957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CF0035"/>
                </a:solidFill>
                <a:latin typeface="Arial"/>
              </a:rPr>
              <a:t>replica</a:t>
            </a:r>
          </a:p>
        </p:txBody>
      </p:sp>
      <p:sp>
        <p:nvSpPr>
          <p:cNvPr id="47" name="Rounded Rectangle 46"/>
          <p:cNvSpPr/>
          <p:nvPr/>
        </p:nvSpPr>
        <p:spPr>
          <a:xfrm>
            <a:off x="4762500" y="3949700"/>
            <a:ext cx="584200" cy="190500"/>
          </a:xfrm>
          <a:prstGeom prst="roundRect">
            <a:avLst>
              <a:gd name="adj" fmla="val 20000"/>
            </a:avLst>
          </a:prstGeom>
          <a:solidFill>
            <a:srgbClr val="FFFFFF"/>
          </a:solidFill>
          <a:ln w="1016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787900" y="39624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CF0035"/>
                </a:solidFill>
                <a:latin typeface="Arial"/>
              </a:rPr>
              <a:t>replica</a:t>
            </a:r>
          </a:p>
        </p:txBody>
      </p:sp>
      <p:sp>
        <p:nvSpPr>
          <p:cNvPr id="49" name="Oval 48"/>
          <p:cNvSpPr/>
          <p:nvPr/>
        </p:nvSpPr>
        <p:spPr>
          <a:xfrm>
            <a:off x="5207000" y="3086100"/>
            <a:ext cx="228600" cy="228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0" name="Connector 49"/>
          <p:cNvCxnSpPr/>
          <p:nvPr/>
        </p:nvCxnSpPr>
        <p:spPr>
          <a:xfrm>
            <a:off x="52705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2705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56261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676900" y="3365500"/>
            <a:ext cx="762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087F85"/>
                </a:solidFill>
                <a:latin typeface="Arial"/>
              </a:rPr>
              <a:t>AZ 2</a:t>
            </a:r>
          </a:p>
        </p:txBody>
      </p:sp>
      <p:sp>
        <p:nvSpPr>
          <p:cNvPr id="54" name="Rounded Rectangle 53"/>
          <p:cNvSpPr/>
          <p:nvPr/>
        </p:nvSpPr>
        <p:spPr>
          <a:xfrm>
            <a:off x="5765800" y="36830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791200" y="36957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56" name="Rounded Rectangle 55"/>
          <p:cNvSpPr/>
          <p:nvPr/>
        </p:nvSpPr>
        <p:spPr>
          <a:xfrm>
            <a:off x="5765800" y="39497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791200" y="39624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58" name="Oval 57"/>
          <p:cNvSpPr/>
          <p:nvPr/>
        </p:nvSpPr>
        <p:spPr>
          <a:xfrm>
            <a:off x="62103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62611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63119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66294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680200" y="3365500"/>
            <a:ext cx="762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087F85"/>
                </a:solidFill>
                <a:latin typeface="Arial"/>
              </a:rPr>
              <a:t>AZ 3</a:t>
            </a:r>
          </a:p>
        </p:txBody>
      </p:sp>
      <p:sp>
        <p:nvSpPr>
          <p:cNvPr id="63" name="Rounded Rectangle 62"/>
          <p:cNvSpPr/>
          <p:nvPr/>
        </p:nvSpPr>
        <p:spPr>
          <a:xfrm>
            <a:off x="6769100" y="36830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794500" y="36957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65" name="Rounded Rectangle 64"/>
          <p:cNvSpPr/>
          <p:nvPr/>
        </p:nvSpPr>
        <p:spPr>
          <a:xfrm>
            <a:off x="6769100" y="39497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794500" y="39624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67" name="Oval 66"/>
          <p:cNvSpPr/>
          <p:nvPr/>
        </p:nvSpPr>
        <p:spPr>
          <a:xfrm>
            <a:off x="72136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8" name="Connector 67"/>
          <p:cNvCxnSpPr/>
          <p:nvPr/>
        </p:nvCxnSpPr>
        <p:spPr>
          <a:xfrm>
            <a:off x="72644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73152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4622800" y="4559300"/>
            <a:ext cx="29464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087F85"/>
                </a:solidFill>
                <a:latin typeface="Arial"/>
              </a:rPr>
              <a:t>Spread across zones</a:t>
            </a:r>
          </a:p>
        </p:txBody>
      </p:sp>
      <p:sp>
        <p:nvSpPr>
          <p:cNvPr id="71" name="TextBox 70"/>
          <p:cNvSpPr txBox="1"/>
          <p:nvPr/>
        </p:nvSpPr>
        <p:spPr>
          <a:xfrm>
            <a:off x="4622800" y="49784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Survive a zone failure.</a:t>
            </a:r>
          </a:p>
        </p:txBody>
      </p:sp>
      <p:sp>
        <p:nvSpPr>
          <p:cNvPr id="72" name="Rounded Rectangle 71"/>
          <p:cNvSpPr/>
          <p:nvPr/>
        </p:nvSpPr>
        <p:spPr>
          <a:xfrm>
            <a:off x="8178800" y="2159000"/>
            <a:ext cx="3403600" cy="3327400"/>
          </a:xfrm>
          <a:prstGeom prst="roundRect">
            <a:avLst>
              <a:gd name="adj" fmla="val 381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3" name="Connector 72"/>
          <p:cNvCxnSpPr/>
          <p:nvPr/>
        </p:nvCxnSpPr>
        <p:spPr>
          <a:xfrm>
            <a:off x="8407400" y="2171700"/>
            <a:ext cx="29464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8407400" y="2387600"/>
            <a:ext cx="4445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CF0035"/>
                </a:solidFill>
                <a:latin typeface="Arial"/>
              </a:rPr>
              <a:t>03</a:t>
            </a:r>
          </a:p>
        </p:txBody>
      </p:sp>
      <p:sp>
        <p:nvSpPr>
          <p:cNvPr id="75" name="TextBox 74"/>
          <p:cNvSpPr txBox="1"/>
          <p:nvPr/>
        </p:nvSpPr>
        <p:spPr>
          <a:xfrm>
            <a:off x="8877300" y="2362200"/>
            <a:ext cx="24765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142338"/>
                </a:solidFill>
                <a:latin typeface="Arial"/>
              </a:rPr>
              <a:t>CLUSTERS</a:t>
            </a:r>
          </a:p>
        </p:txBody>
      </p:sp>
      <p:sp>
        <p:nvSpPr>
          <p:cNvPr id="76" name="TextBox 75"/>
          <p:cNvSpPr txBox="1"/>
          <p:nvPr/>
        </p:nvSpPr>
        <p:spPr>
          <a:xfrm>
            <a:off x="8407400" y="27686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Independent clusters</a:t>
            </a:r>
          </a:p>
        </p:txBody>
      </p:sp>
      <p:sp>
        <p:nvSpPr>
          <p:cNvPr id="77" name="Rounded Rectangle 76"/>
          <p:cNvSpPr/>
          <p:nvPr/>
        </p:nvSpPr>
        <p:spPr>
          <a:xfrm>
            <a:off x="8407400" y="3225800"/>
            <a:ext cx="863600" cy="1054100"/>
          </a:xfrm>
          <a:prstGeom prst="roundRect">
            <a:avLst>
              <a:gd name="adj" fmla="val 7352"/>
            </a:avLst>
          </a:prstGeom>
          <a:solidFill>
            <a:srgbClr val="FBE9EE"/>
          </a:solidFill>
          <a:ln w="1397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8" name="Picture 77" descr="image.png"/>
          <p:cNvPicPr>
            <a:picLocks noChangeAspect="1"/>
          </p:cNvPicPr>
          <p:nvPr/>
        </p:nvPicPr>
        <p:blipFill>
          <a:blip r:embed="rId2"/>
          <a:stretch>
            <a:fillRect/>
          </a:stretch>
        </p:blipFill>
        <p:spPr>
          <a:xfrm>
            <a:off x="8648700" y="3365500"/>
            <a:ext cx="381000" cy="381000"/>
          </a:xfrm>
          <a:prstGeom prst="rect">
            <a:avLst/>
          </a:prstGeom>
        </p:spPr>
      </p:pic>
      <p:sp>
        <p:nvSpPr>
          <p:cNvPr id="79" name="TextBox 78"/>
          <p:cNvSpPr txBox="1"/>
          <p:nvPr/>
        </p:nvSpPr>
        <p:spPr>
          <a:xfrm>
            <a:off x="8534400" y="3873500"/>
            <a:ext cx="609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A</a:t>
            </a:r>
          </a:p>
        </p:txBody>
      </p:sp>
      <p:sp>
        <p:nvSpPr>
          <p:cNvPr id="80" name="Oval 79"/>
          <p:cNvSpPr/>
          <p:nvPr/>
        </p:nvSpPr>
        <p:spPr>
          <a:xfrm>
            <a:off x="8991600" y="3086100"/>
            <a:ext cx="228600" cy="228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1" name="Connector 80"/>
          <p:cNvCxnSpPr/>
          <p:nvPr/>
        </p:nvCxnSpPr>
        <p:spPr>
          <a:xfrm>
            <a:off x="90551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90551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83" name="Rounded Rectangle 82"/>
          <p:cNvSpPr/>
          <p:nvPr/>
        </p:nvSpPr>
        <p:spPr>
          <a:xfrm>
            <a:off x="94107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4" name="Picture 83" descr="image.png"/>
          <p:cNvPicPr>
            <a:picLocks noChangeAspect="1"/>
          </p:cNvPicPr>
          <p:nvPr/>
        </p:nvPicPr>
        <p:blipFill>
          <a:blip r:embed="rId2"/>
          <a:stretch>
            <a:fillRect/>
          </a:stretch>
        </p:blipFill>
        <p:spPr>
          <a:xfrm>
            <a:off x="9652000" y="3365500"/>
            <a:ext cx="381000" cy="381000"/>
          </a:xfrm>
          <a:prstGeom prst="rect">
            <a:avLst/>
          </a:prstGeom>
        </p:spPr>
      </p:pic>
      <p:sp>
        <p:nvSpPr>
          <p:cNvPr id="85" name="TextBox 84"/>
          <p:cNvSpPr txBox="1"/>
          <p:nvPr/>
        </p:nvSpPr>
        <p:spPr>
          <a:xfrm>
            <a:off x="9537700" y="3873500"/>
            <a:ext cx="609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B</a:t>
            </a:r>
          </a:p>
        </p:txBody>
      </p:sp>
      <p:sp>
        <p:nvSpPr>
          <p:cNvPr id="86" name="Oval 85"/>
          <p:cNvSpPr/>
          <p:nvPr/>
        </p:nvSpPr>
        <p:spPr>
          <a:xfrm>
            <a:off x="99949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7" name="Connector 86"/>
          <p:cNvCxnSpPr/>
          <p:nvPr/>
        </p:nvCxnSpPr>
        <p:spPr>
          <a:xfrm>
            <a:off x="100457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100965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89" name="Rounded Rectangle 88"/>
          <p:cNvSpPr/>
          <p:nvPr/>
        </p:nvSpPr>
        <p:spPr>
          <a:xfrm>
            <a:off x="104140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0" name="Picture 89" descr="image.png"/>
          <p:cNvPicPr>
            <a:picLocks noChangeAspect="1"/>
          </p:cNvPicPr>
          <p:nvPr/>
        </p:nvPicPr>
        <p:blipFill>
          <a:blip r:embed="rId2"/>
          <a:stretch>
            <a:fillRect/>
          </a:stretch>
        </p:blipFill>
        <p:spPr>
          <a:xfrm>
            <a:off x="10655300" y="3365500"/>
            <a:ext cx="381000" cy="381000"/>
          </a:xfrm>
          <a:prstGeom prst="rect">
            <a:avLst/>
          </a:prstGeom>
        </p:spPr>
      </p:pic>
      <p:sp>
        <p:nvSpPr>
          <p:cNvPr id="91" name="TextBox 90"/>
          <p:cNvSpPr txBox="1"/>
          <p:nvPr/>
        </p:nvSpPr>
        <p:spPr>
          <a:xfrm>
            <a:off x="10541000" y="3873500"/>
            <a:ext cx="609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C</a:t>
            </a:r>
          </a:p>
        </p:txBody>
      </p:sp>
      <p:sp>
        <p:nvSpPr>
          <p:cNvPr id="92" name="Oval 91"/>
          <p:cNvSpPr/>
          <p:nvPr/>
        </p:nvSpPr>
        <p:spPr>
          <a:xfrm>
            <a:off x="109982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3" name="Connector 92"/>
          <p:cNvCxnSpPr/>
          <p:nvPr/>
        </p:nvCxnSpPr>
        <p:spPr>
          <a:xfrm>
            <a:off x="110490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110998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8407400" y="4559300"/>
            <a:ext cx="29464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CF0035"/>
                </a:solidFill>
                <a:latin typeface="Arial"/>
              </a:rPr>
              <a:t>Steer across clusters</a:t>
            </a:r>
          </a:p>
        </p:txBody>
      </p:sp>
      <p:sp>
        <p:nvSpPr>
          <p:cNvPr id="96" name="TextBox 95"/>
          <p:cNvSpPr txBox="1"/>
          <p:nvPr/>
        </p:nvSpPr>
        <p:spPr>
          <a:xfrm>
            <a:off x="8407400" y="49784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Keep one application hostname.</a:t>
            </a:r>
          </a:p>
        </p:txBody>
      </p:sp>
      <p:cxnSp>
        <p:nvCxnSpPr>
          <p:cNvPr id="97" name="Connector 96"/>
          <p:cNvCxnSpPr/>
          <p:nvPr/>
        </p:nvCxnSpPr>
        <p:spPr>
          <a:xfrm>
            <a:off x="4114800" y="3810000"/>
            <a:ext cx="177800" cy="0"/>
          </a:xfrm>
          <a:prstGeom prst="line">
            <a:avLst/>
          </a:prstGeom>
          <a:ln w="21590">
            <a:solidFill>
              <a:srgbClr val="5D6F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7899400" y="3810000"/>
            <a:ext cx="177800" cy="0"/>
          </a:xfrm>
          <a:prstGeom prst="line">
            <a:avLst/>
          </a:prstGeom>
          <a:ln w="21590">
            <a:solidFill>
              <a:srgbClr val="5D6F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9" name="Rounded Rectangle 98"/>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When an entire cluster is unavailable, who steers the next request?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PART 1 · WHAT K8GB ENABLES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03 / 26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k8gb in one minute</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Two or more clusters. No fixed cluster-count limit in k8gb.</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pic>
        <p:nvPicPr>
          <p:cNvPr id="10" name="Picture 9" descr="image.png"/>
          <p:cNvPicPr>
            <a:picLocks noChangeAspect="1"/>
          </p:cNvPicPr>
          <p:nvPr/>
        </p:nvPicPr>
        <p:blipFill>
          <a:blip r:embed="rId2"/>
          <a:stretch>
            <a:fillRect/>
          </a:stretch>
        </p:blipFill>
        <p:spPr>
          <a:xfrm>
            <a:off x="939800" y="2324100"/>
            <a:ext cx="2286000" cy="2286000"/>
          </a:xfrm>
          <a:prstGeom prst="rect">
            <a:avLst/>
          </a:prstGeom>
        </p:spPr>
      </p:pic>
      <p:sp>
        <p:nvSpPr>
          <p:cNvPr id="11" name="Rounded Rectangle 10"/>
          <p:cNvSpPr/>
          <p:nvPr/>
        </p:nvSpPr>
        <p:spPr>
          <a:xfrm>
            <a:off x="800100" y="4978400"/>
            <a:ext cx="2565400" cy="317500"/>
          </a:xfrm>
          <a:prstGeom prst="roundRect">
            <a:avLst>
              <a:gd name="adj" fmla="val 480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3600" y="5029200"/>
            <a:ext cx="2438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CF0035"/>
                </a:solidFill>
                <a:latin typeface="Arial"/>
              </a:rPr>
              <a:t>CNCF INCUBATING</a:t>
            </a:r>
          </a:p>
        </p:txBody>
      </p:sp>
      <p:sp>
        <p:nvSpPr>
          <p:cNvPr id="13" name="TextBox 12"/>
          <p:cNvSpPr txBox="1"/>
          <p:nvPr/>
        </p:nvSpPr>
        <p:spPr>
          <a:xfrm>
            <a:off x="4152900" y="21971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Kubernetes-native</a:t>
            </a:r>
          </a:p>
        </p:txBody>
      </p:sp>
      <p:sp>
        <p:nvSpPr>
          <p:cNvPr id="14" name="TextBox 13"/>
          <p:cNvSpPr txBox="1"/>
          <p:nvPr/>
        </p:nvSpPr>
        <p:spPr>
          <a:xfrm>
            <a:off x="4152900" y="26797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Readiness becomes DNS eligibility.</a:t>
            </a:r>
          </a:p>
        </p:txBody>
      </p:sp>
      <p:sp>
        <p:nvSpPr>
          <p:cNvPr id="15" name="TextBox 14"/>
          <p:cNvSpPr txBox="1"/>
          <p:nvPr/>
        </p:nvSpPr>
        <p:spPr>
          <a:xfrm>
            <a:off x="4152900" y="33528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Decentralized</a:t>
            </a:r>
          </a:p>
        </p:txBody>
      </p:sp>
      <p:sp>
        <p:nvSpPr>
          <p:cNvPr id="16" name="TextBox 15"/>
          <p:cNvSpPr txBox="1"/>
          <p:nvPr/>
        </p:nvSpPr>
        <p:spPr>
          <a:xfrm>
            <a:off x="4152900" y="38354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A control loop at each participating cluster.</a:t>
            </a:r>
          </a:p>
        </p:txBody>
      </p:sp>
      <p:sp>
        <p:nvSpPr>
          <p:cNvPr id="17" name="TextBox 16"/>
          <p:cNvSpPr txBox="1"/>
          <p:nvPr/>
        </p:nvSpPr>
        <p:spPr>
          <a:xfrm>
            <a:off x="4152900" y="45085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Declarative</a:t>
            </a:r>
          </a:p>
        </p:txBody>
      </p:sp>
      <p:sp>
        <p:nvSpPr>
          <p:cNvPr id="18" name="TextBox 17"/>
          <p:cNvSpPr txBox="1"/>
          <p:nvPr/>
        </p:nvSpPr>
        <p:spPr>
          <a:xfrm>
            <a:off x="4152900" y="49911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Review traffic steering in Git.</a:t>
            </a:r>
          </a:p>
        </p:txBody>
      </p:sp>
      <p:sp>
        <p:nvSpPr>
          <p:cNvPr id="19" name="Rounded Rectangle 18"/>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7400" y="58928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Global application resilience across Kubernetes clusters.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 BRIEF HISTORY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04 / 26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From Absa production to CNCF incubation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An operational need grew into a community project.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cxnSp>
        <p:nvCxnSpPr>
          <p:cNvPr id="10" name="Connector 9"/>
          <p:cNvCxnSpPr/>
          <p:nvPr/>
        </p:nvCxnSpPr>
        <p:spPr>
          <a:xfrm>
            <a:off x="1866900" y="2641600"/>
            <a:ext cx="8458200" cy="0"/>
          </a:xfrm>
          <a:prstGeom prst="line">
            <a:avLst/>
          </a:prstGeom>
          <a:ln w="38100">
            <a:solidFill>
              <a:srgbClr val="DAE2EA"/>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096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PRODUCTION ORIGINS</a:t>
            </a:r>
          </a:p>
        </p:txBody>
      </p:sp>
      <p:sp>
        <p:nvSpPr>
          <p:cNvPr id="12" name="Oval 11"/>
          <p:cNvSpPr/>
          <p:nvPr/>
        </p:nvSpPr>
        <p:spPr>
          <a:xfrm>
            <a:off x="1739900" y="2514600"/>
            <a:ext cx="254000" cy="254000"/>
          </a:xfrm>
          <a:prstGeom prst="ellipse">
            <a:avLst/>
          </a:prstGeom>
          <a:solidFill>
            <a:srgbClr val="F8FAFC"/>
          </a:solidFill>
          <a:ln w="254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816100" y="2590800"/>
            <a:ext cx="101600" cy="1016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096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096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838200" y="2997200"/>
            <a:ext cx="20574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38200" y="3187700"/>
            <a:ext cx="558800" cy="558800"/>
          </a:xfrm>
          <a:prstGeom prst="roundRect">
            <a:avLst>
              <a:gd name="adj" fmla="val 204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27100" y="3302000"/>
            <a:ext cx="152400" cy="304800"/>
          </a:xfrm>
          <a:prstGeom prst="roundRect">
            <a:avLst>
              <a:gd name="adj" fmla="val 16666"/>
            </a:avLst>
          </a:prstGeom>
          <a:solidFill>
            <a:srgbClr val="EAF0FB"/>
          </a:solidFill>
          <a:ln w="1651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a:off x="965200" y="33782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65200" y="34544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65200" y="35306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1181100" y="3302000"/>
            <a:ext cx="152400" cy="304800"/>
          </a:xfrm>
          <a:prstGeom prst="roundRect">
            <a:avLst>
              <a:gd name="adj" fmla="val 16666"/>
            </a:avLst>
          </a:prstGeom>
          <a:solidFill>
            <a:srgbClr val="EAF0FB"/>
          </a:solidFill>
          <a:ln w="1651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1219200" y="33782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219200" y="34544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219200" y="35306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079500" y="3454400"/>
            <a:ext cx="101600" cy="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382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Born at</a:t>
            </a:r>
          </a:p>
          <a:p>
            <a:pPr algn="l">
              <a:lnSpc>
                <a:spcPts val="2484"/>
              </a:lnSpc>
              <a:spcBef>
                <a:spcPts val="0"/>
              </a:spcBef>
              <a:spcAft>
                <a:spcPts val="0"/>
              </a:spcAft>
            </a:pPr>
            <a:r>
              <a:rPr sz="2300" b="1">
                <a:solidFill>
                  <a:srgbClr val="142338"/>
                </a:solidFill>
                <a:latin typeface="Arial"/>
              </a:rPr>
              <a:t>Absa</a:t>
            </a:r>
          </a:p>
        </p:txBody>
      </p:sp>
      <p:sp>
        <p:nvSpPr>
          <p:cNvPr id="28" name="TextBox 27"/>
          <p:cNvSpPr txBox="1"/>
          <p:nvPr/>
        </p:nvSpPr>
        <p:spPr>
          <a:xfrm>
            <a:off x="8382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Multiple on-prem</a:t>
            </a:r>
          </a:p>
          <a:p>
            <a:pPr algn="l">
              <a:lnSpc>
                <a:spcPts val="1920"/>
              </a:lnSpc>
              <a:spcBef>
                <a:spcPts val="0"/>
              </a:spcBef>
              <a:spcAft>
                <a:spcPts val="0"/>
              </a:spcAft>
            </a:pPr>
            <a:r>
              <a:rPr sz="1600" b="0">
                <a:solidFill>
                  <a:srgbClr val="5D6F82"/>
                </a:solidFill>
                <a:latin typeface="Arial"/>
              </a:rPr>
              <a:t>datacenters, then</a:t>
            </a:r>
          </a:p>
          <a:p>
            <a:pPr algn="l">
              <a:lnSpc>
                <a:spcPts val="1920"/>
              </a:lnSpc>
              <a:spcBef>
                <a:spcPts val="0"/>
              </a:spcBef>
              <a:spcAft>
                <a:spcPts val="0"/>
              </a:spcAft>
            </a:pPr>
            <a:r>
              <a:rPr sz="1600" b="0">
                <a:solidFill>
                  <a:srgbClr val="5D6F82"/>
                </a:solidFill>
                <a:latin typeface="Arial"/>
              </a:rPr>
              <a:t>hybrid deployments</a:t>
            </a:r>
          </a:p>
        </p:txBody>
      </p:sp>
      <p:sp>
        <p:nvSpPr>
          <p:cNvPr id="29" name="TextBox 28"/>
          <p:cNvSpPr txBox="1"/>
          <p:nvPr/>
        </p:nvSpPr>
        <p:spPr>
          <a:xfrm>
            <a:off x="34290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087F85"/>
                </a:solidFill>
                <a:latin typeface="Arial"/>
              </a:rPr>
              <a:t>30 MAR 2021</a:t>
            </a:r>
          </a:p>
        </p:txBody>
      </p:sp>
      <p:sp>
        <p:nvSpPr>
          <p:cNvPr id="30" name="Oval 29"/>
          <p:cNvSpPr/>
          <p:nvPr/>
        </p:nvSpPr>
        <p:spPr>
          <a:xfrm>
            <a:off x="4559300" y="2514600"/>
            <a:ext cx="254000" cy="254000"/>
          </a:xfrm>
          <a:prstGeom prst="ellipse">
            <a:avLst/>
          </a:prstGeom>
          <a:solidFill>
            <a:srgbClr val="F8FAFC"/>
          </a:solidFill>
          <a:ln w="2540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4635500" y="2590800"/>
            <a:ext cx="101600" cy="1016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34290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34290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3657600" y="2997200"/>
            <a:ext cx="20574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3657600" y="3187700"/>
            <a:ext cx="558800" cy="558800"/>
          </a:xfrm>
          <a:prstGeom prst="roundRect">
            <a:avLst>
              <a:gd name="adj" fmla="val 204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3810000" y="3314700"/>
            <a:ext cx="0" cy="2667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810000" y="3581400"/>
            <a:ext cx="254000" cy="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4064000" y="3327400"/>
            <a:ext cx="0" cy="2540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3765550" y="32702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765550" y="35369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4019550" y="32829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576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CNCF</a:t>
            </a:r>
          </a:p>
          <a:p>
            <a:pPr algn="l">
              <a:lnSpc>
                <a:spcPts val="2484"/>
              </a:lnSpc>
              <a:spcBef>
                <a:spcPts val="0"/>
              </a:spcBef>
              <a:spcAft>
                <a:spcPts val="0"/>
              </a:spcAft>
            </a:pPr>
            <a:r>
              <a:rPr sz="2300" b="1">
                <a:solidFill>
                  <a:srgbClr val="142338"/>
                </a:solidFill>
                <a:latin typeface="Arial"/>
              </a:rPr>
              <a:t>Sandbox</a:t>
            </a:r>
          </a:p>
        </p:txBody>
      </p:sp>
      <p:sp>
        <p:nvSpPr>
          <p:cNvPr id="43" name="TextBox 42"/>
          <p:cNvSpPr txBox="1"/>
          <p:nvPr/>
        </p:nvSpPr>
        <p:spPr>
          <a:xfrm>
            <a:off x="36576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Contributed to the</a:t>
            </a:r>
          </a:p>
          <a:p>
            <a:pPr algn="l">
              <a:lnSpc>
                <a:spcPts val="1920"/>
              </a:lnSpc>
              <a:spcBef>
                <a:spcPts val="0"/>
              </a:spcBef>
              <a:spcAft>
                <a:spcPts val="0"/>
              </a:spcAft>
            </a:pPr>
            <a:r>
              <a:rPr sz="1600" b="0">
                <a:solidFill>
                  <a:srgbClr val="5D6F82"/>
                </a:solidFill>
                <a:latin typeface="Arial"/>
              </a:rPr>
              <a:t>cloud native</a:t>
            </a:r>
          </a:p>
          <a:p>
            <a:pPr algn="l">
              <a:lnSpc>
                <a:spcPts val="1920"/>
              </a:lnSpc>
              <a:spcBef>
                <a:spcPts val="0"/>
              </a:spcBef>
              <a:spcAft>
                <a:spcPts val="0"/>
              </a:spcAft>
            </a:pPr>
            <a:r>
              <a:rPr sz="1600" b="0">
                <a:solidFill>
                  <a:srgbClr val="5D6F82"/>
                </a:solidFill>
                <a:latin typeface="Arial"/>
              </a:rPr>
              <a:t>community</a:t>
            </a:r>
          </a:p>
        </p:txBody>
      </p:sp>
      <p:sp>
        <p:nvSpPr>
          <p:cNvPr id="44" name="TextBox 43"/>
          <p:cNvSpPr txBox="1"/>
          <p:nvPr/>
        </p:nvSpPr>
        <p:spPr>
          <a:xfrm>
            <a:off x="62484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PUBLIC ADOPTION</a:t>
            </a:r>
          </a:p>
        </p:txBody>
      </p:sp>
      <p:sp>
        <p:nvSpPr>
          <p:cNvPr id="45" name="Oval 44"/>
          <p:cNvSpPr/>
          <p:nvPr/>
        </p:nvSpPr>
        <p:spPr>
          <a:xfrm>
            <a:off x="7378700" y="2514600"/>
            <a:ext cx="254000" cy="254000"/>
          </a:xfrm>
          <a:prstGeom prst="ellipse">
            <a:avLst/>
          </a:prstGeom>
          <a:solidFill>
            <a:srgbClr val="F8FAFC"/>
          </a:solidFill>
          <a:ln w="254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7454900" y="2590800"/>
            <a:ext cx="101600" cy="1016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62484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62484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6477000" y="2997200"/>
            <a:ext cx="20574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6477000" y="3187700"/>
            <a:ext cx="558800" cy="558800"/>
          </a:xfrm>
          <a:prstGeom prst="roundRect">
            <a:avLst>
              <a:gd name="adj" fmla="val 204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65722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6553200" y="34798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8516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6832600" y="34798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6711950" y="32575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6692900" y="33782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4770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Beyond</a:t>
            </a:r>
          </a:p>
          <a:p>
            <a:pPr algn="l">
              <a:lnSpc>
                <a:spcPts val="2484"/>
              </a:lnSpc>
              <a:spcBef>
                <a:spcPts val="0"/>
              </a:spcBef>
              <a:spcAft>
                <a:spcPts val="0"/>
              </a:spcAft>
            </a:pPr>
            <a:r>
              <a:rPr sz="2300" b="1">
                <a:solidFill>
                  <a:srgbClr val="142338"/>
                </a:solidFill>
                <a:latin typeface="Arial"/>
              </a:rPr>
              <a:t>Absa</a:t>
            </a:r>
          </a:p>
        </p:txBody>
      </p:sp>
      <p:sp>
        <p:nvSpPr>
          <p:cNvPr id="58" name="TextBox 57"/>
          <p:cNvSpPr txBox="1"/>
          <p:nvPr/>
        </p:nvSpPr>
        <p:spPr>
          <a:xfrm>
            <a:off x="64770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Millennium bcp</a:t>
            </a:r>
          </a:p>
          <a:p>
            <a:pPr algn="l">
              <a:lnSpc>
                <a:spcPts val="1920"/>
              </a:lnSpc>
              <a:spcBef>
                <a:spcPts val="0"/>
              </a:spcBef>
              <a:spcAft>
                <a:spcPts val="0"/>
              </a:spcAft>
            </a:pPr>
            <a:r>
              <a:rPr sz="1600" b="0">
                <a:solidFill>
                  <a:srgbClr val="5D6F82"/>
                </a:solidFill>
                <a:latin typeface="Arial"/>
              </a:rPr>
              <a:t>Open Systems</a:t>
            </a:r>
          </a:p>
          <a:p>
            <a:pPr algn="l">
              <a:lnSpc>
                <a:spcPts val="1920"/>
              </a:lnSpc>
              <a:spcBef>
                <a:spcPts val="0"/>
              </a:spcBef>
              <a:spcAft>
                <a:spcPts val="0"/>
              </a:spcAft>
            </a:pPr>
            <a:r>
              <a:rPr sz="1600" b="0">
                <a:solidFill>
                  <a:srgbClr val="5D6F82"/>
                </a:solidFill>
                <a:latin typeface="Arial"/>
              </a:rPr>
              <a:t>PagBank</a:t>
            </a:r>
          </a:p>
        </p:txBody>
      </p:sp>
      <p:sp>
        <p:nvSpPr>
          <p:cNvPr id="59" name="TextBox 58"/>
          <p:cNvSpPr txBox="1"/>
          <p:nvPr/>
        </p:nvSpPr>
        <p:spPr>
          <a:xfrm>
            <a:off x="90678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18 JUL 2026</a:t>
            </a:r>
          </a:p>
        </p:txBody>
      </p:sp>
      <p:sp>
        <p:nvSpPr>
          <p:cNvPr id="60" name="Oval 59"/>
          <p:cNvSpPr/>
          <p:nvPr/>
        </p:nvSpPr>
        <p:spPr>
          <a:xfrm>
            <a:off x="10198100" y="2514600"/>
            <a:ext cx="254000" cy="254000"/>
          </a:xfrm>
          <a:prstGeom prst="ellipse">
            <a:avLst/>
          </a:prstGeom>
          <a:solidFill>
            <a:srgbClr val="F8FAFC"/>
          </a:solidFill>
          <a:ln w="2540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0274300" y="2590800"/>
            <a:ext cx="101600" cy="101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ounded Rectangle 61"/>
          <p:cNvSpPr/>
          <p:nvPr/>
        </p:nvSpPr>
        <p:spPr>
          <a:xfrm>
            <a:off x="90678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ounded Rectangle 62"/>
          <p:cNvSpPr/>
          <p:nvPr/>
        </p:nvSpPr>
        <p:spPr>
          <a:xfrm>
            <a:off x="9067800" y="2984500"/>
            <a:ext cx="2514600" cy="2552700"/>
          </a:xfrm>
          <a:prstGeom prst="roundRect">
            <a:avLst>
              <a:gd name="adj" fmla="val 4545"/>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4" name="Connector 63"/>
          <p:cNvCxnSpPr/>
          <p:nvPr/>
        </p:nvCxnSpPr>
        <p:spPr>
          <a:xfrm>
            <a:off x="9296400" y="2997200"/>
            <a:ext cx="2057400" cy="0"/>
          </a:xfrm>
          <a:prstGeom prst="line">
            <a:avLst/>
          </a:prstGeom>
          <a:ln w="31750">
            <a:solidFill>
              <a:srgbClr val="CF0035"/>
            </a:solidFill>
          </a:ln>
        </p:spPr>
        <p:style>
          <a:lnRef idx="2">
            <a:schemeClr val="accent1"/>
          </a:lnRef>
          <a:fillRef idx="0">
            <a:schemeClr val="accent1"/>
          </a:fillRef>
          <a:effectRef idx="1">
            <a:schemeClr val="accent1"/>
          </a:effectRef>
          <a:fontRef idx="minor">
            <a:schemeClr val="tx1"/>
          </a:fontRef>
        </p:style>
      </p:cxnSp>
      <p:pic>
        <p:nvPicPr>
          <p:cNvPr id="65" name="Picture 64" descr="image.png"/>
          <p:cNvPicPr>
            <a:picLocks noChangeAspect="1"/>
          </p:cNvPicPr>
          <p:nvPr/>
        </p:nvPicPr>
        <p:blipFill>
          <a:blip r:embed="rId2"/>
          <a:stretch>
            <a:fillRect/>
          </a:stretch>
        </p:blipFill>
        <p:spPr>
          <a:xfrm>
            <a:off x="9296400" y="3181693"/>
            <a:ext cx="558800" cy="545413"/>
          </a:xfrm>
          <a:prstGeom prst="rect">
            <a:avLst/>
          </a:prstGeom>
        </p:spPr>
      </p:pic>
      <p:sp>
        <p:nvSpPr>
          <p:cNvPr id="66" name="TextBox 65"/>
          <p:cNvSpPr txBox="1"/>
          <p:nvPr/>
        </p:nvSpPr>
        <p:spPr>
          <a:xfrm>
            <a:off x="92964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FFFFFF"/>
                </a:solidFill>
                <a:latin typeface="Arial"/>
              </a:rPr>
              <a:t>CNCF</a:t>
            </a:r>
          </a:p>
          <a:p>
            <a:pPr algn="l">
              <a:lnSpc>
                <a:spcPts val="2484"/>
              </a:lnSpc>
              <a:spcBef>
                <a:spcPts val="0"/>
              </a:spcBef>
              <a:spcAft>
                <a:spcPts val="0"/>
              </a:spcAft>
            </a:pPr>
            <a:r>
              <a:rPr sz="2300" b="1">
                <a:solidFill>
                  <a:srgbClr val="FFFFFF"/>
                </a:solidFill>
                <a:latin typeface="Arial"/>
              </a:rPr>
              <a:t>Incubating</a:t>
            </a:r>
          </a:p>
        </p:txBody>
      </p:sp>
      <p:sp>
        <p:nvSpPr>
          <p:cNvPr id="67" name="TextBox 66"/>
          <p:cNvSpPr txBox="1"/>
          <p:nvPr/>
        </p:nvSpPr>
        <p:spPr>
          <a:xfrm>
            <a:off x="92964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B8C8D9"/>
                </a:solidFill>
                <a:latin typeface="Arial"/>
              </a:rPr>
              <a:t>A new milestone</a:t>
            </a:r>
          </a:p>
          <a:p>
            <a:pPr algn="l">
              <a:lnSpc>
                <a:spcPts val="1920"/>
              </a:lnSpc>
              <a:spcBef>
                <a:spcPts val="0"/>
              </a:spcBef>
              <a:spcAft>
                <a:spcPts val="0"/>
              </a:spcAft>
            </a:pPr>
            <a:r>
              <a:rPr sz="1600" b="0">
                <a:solidFill>
                  <a:srgbClr val="B8C8D9"/>
                </a:solidFill>
                <a:latin typeface="Arial"/>
              </a:rPr>
              <a:t>for the project</a:t>
            </a:r>
          </a:p>
          <a:p>
            <a:pPr algn="l">
              <a:lnSpc>
                <a:spcPts val="1920"/>
              </a:lnSpc>
              <a:spcBef>
                <a:spcPts val="0"/>
              </a:spcBef>
              <a:spcAft>
                <a:spcPts val="0"/>
              </a:spcAft>
            </a:pPr>
            <a:r>
              <a:rPr sz="1600" b="0">
                <a:solidFill>
                  <a:srgbClr val="B8C8D9"/>
                </a:solidFill>
                <a:latin typeface="Arial"/>
              </a:rPr>
              <a:t>and its community</a:t>
            </a:r>
          </a:p>
        </p:txBody>
      </p:sp>
      <p:sp>
        <p:nvSpPr>
          <p:cNvPr id="68" name="Rounded Rectangle 67"/>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Born from a production problem. Built with the community.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REFERENCE ARCHITECTURE</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05 / 26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Independent clusters, shared DNS contract</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3568700" y="1562100"/>
            <a:ext cx="5054600" cy="698500"/>
          </a:xfrm>
          <a:prstGeom prst="roundRect">
            <a:avLst>
              <a:gd name="adj" fmla="val 1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59200" y="1638300"/>
            <a:ext cx="46736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Parent DNS  ·  example.com</a:t>
            </a:r>
          </a:p>
        </p:txBody>
      </p:sp>
      <p:sp>
        <p:nvSpPr>
          <p:cNvPr id="11" name="TextBox 10"/>
          <p:cNvSpPr txBox="1"/>
          <p:nvPr/>
        </p:nvSpPr>
        <p:spPr>
          <a:xfrm>
            <a:off x="3759200" y="2006600"/>
            <a:ext cx="4673600" cy="227965"/>
          </a:xfrm>
          <a:prstGeom prst="rect">
            <a:avLst/>
          </a:prstGeom>
          <a:noFill/>
        </p:spPr>
        <p:txBody>
          <a:bodyPr wrap="none" lIns="0" rIns="0" tIns="0" bIns="0" anchor="t">
            <a:noAutofit/>
          </a:bodyPr>
          <a:lstStyle/>
          <a:p>
            <a:pPr algn="ctr">
              <a:lnSpc>
                <a:spcPts val="1495"/>
              </a:lnSpc>
              <a:spcBef>
                <a:spcPts val="0"/>
              </a:spcBef>
              <a:spcAft>
                <a:spcPts val="0"/>
              </a:spcAft>
            </a:pPr>
            <a:r>
              <a:rPr sz="1300" b="0">
                <a:solidFill>
                  <a:srgbClr val="B8C8D9"/>
                </a:solidFill>
                <a:latin typeface="Arial"/>
              </a:rPr>
              <a:t>NS + address updates</a:t>
            </a:r>
          </a:p>
        </p:txBody>
      </p:sp>
      <p:sp>
        <p:nvSpPr>
          <p:cNvPr id="12" name="Rounded Rectangle 11"/>
          <p:cNvSpPr/>
          <p:nvPr/>
        </p:nvSpPr>
        <p:spPr>
          <a:xfrm>
            <a:off x="9359900" y="1562100"/>
            <a:ext cx="2222500" cy="698500"/>
          </a:xfrm>
          <a:prstGeom prst="roundRect">
            <a:avLst>
              <a:gd name="adj" fmla="val 1272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12300" y="1689100"/>
            <a:ext cx="19177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2 OF N CLUSTERS</a:t>
            </a:r>
          </a:p>
        </p:txBody>
      </p:sp>
      <p:sp>
        <p:nvSpPr>
          <p:cNvPr id="14" name="TextBox 13"/>
          <p:cNvSpPr txBox="1"/>
          <p:nvPr/>
        </p:nvSpPr>
        <p:spPr>
          <a:xfrm>
            <a:off x="9512300" y="1943100"/>
            <a:ext cx="19177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Shown for clarity</a:t>
            </a:r>
          </a:p>
        </p:txBody>
      </p:sp>
      <p:sp>
        <p:nvSpPr>
          <p:cNvPr id="15" name="Rounded Rectangle 14"/>
          <p:cNvSpPr/>
          <p:nvPr/>
        </p:nvSpPr>
        <p:spPr>
          <a:xfrm>
            <a:off x="609600" y="2476500"/>
            <a:ext cx="4902200" cy="2921000"/>
          </a:xfrm>
          <a:prstGeom prst="roundRect">
            <a:avLst>
              <a:gd name="adj" fmla="val 3478"/>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09600" y="2476500"/>
            <a:ext cx="4902200" cy="406400"/>
          </a:xfrm>
          <a:prstGeom prst="rect">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7400" y="2552700"/>
            <a:ext cx="12700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2762C8"/>
                </a:solidFill>
                <a:latin typeface="Arial"/>
              </a:rPr>
              <a:t>CLUSTER A</a:t>
            </a:r>
          </a:p>
        </p:txBody>
      </p:sp>
      <p:sp>
        <p:nvSpPr>
          <p:cNvPr id="18" name="Rounded Rectangle 17"/>
          <p:cNvSpPr/>
          <p:nvPr/>
        </p:nvSpPr>
        <p:spPr>
          <a:xfrm>
            <a:off x="1676400" y="2933700"/>
            <a:ext cx="2768600" cy="508000"/>
          </a:xfrm>
          <a:prstGeom prst="roundRect">
            <a:avLst>
              <a:gd name="adj" fmla="val 17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mage.png"/>
          <p:cNvPicPr>
            <a:picLocks noChangeAspect="1"/>
          </p:cNvPicPr>
          <p:nvPr/>
        </p:nvPicPr>
        <p:blipFill>
          <a:blip r:embed="rId2"/>
          <a:stretch>
            <a:fillRect/>
          </a:stretch>
        </p:blipFill>
        <p:spPr>
          <a:xfrm>
            <a:off x="1765460" y="2933700"/>
            <a:ext cx="507679" cy="508000"/>
          </a:xfrm>
          <a:prstGeom prst="rect">
            <a:avLst/>
          </a:prstGeom>
        </p:spPr>
      </p:pic>
      <p:sp>
        <p:nvSpPr>
          <p:cNvPr id="20" name="TextBox 19"/>
          <p:cNvSpPr txBox="1"/>
          <p:nvPr/>
        </p:nvSpPr>
        <p:spPr>
          <a:xfrm>
            <a:off x="2374900" y="3048000"/>
            <a:ext cx="190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2762C8"/>
                </a:solidFill>
                <a:latin typeface="Arial"/>
              </a:rPr>
              <a:t>ExternalDNS</a:t>
            </a:r>
          </a:p>
        </p:txBody>
      </p:sp>
      <p:cxnSp>
        <p:nvCxnSpPr>
          <p:cNvPr id="21" name="Connector 20"/>
          <p:cNvCxnSpPr/>
          <p:nvPr/>
        </p:nvCxnSpPr>
        <p:spPr>
          <a:xfrm flipV="1">
            <a:off x="3060700" y="1917700"/>
            <a:ext cx="0" cy="1016000"/>
          </a:xfrm>
          <a:prstGeom prst="line">
            <a:avLst/>
          </a:prstGeom>
          <a:ln w="228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060700" y="1917700"/>
            <a:ext cx="508000" cy="0"/>
          </a:xfrm>
          <a:prstGeom prst="line">
            <a:avLst/>
          </a:prstGeom>
          <a:ln w="2286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38200" y="3543300"/>
            <a:ext cx="1524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Gslb strategy</a:t>
            </a:r>
          </a:p>
        </p:txBody>
      </p:sp>
      <p:sp>
        <p:nvSpPr>
          <p:cNvPr id="24" name="Rounded Rectangle 23"/>
          <p:cNvSpPr/>
          <p:nvPr/>
        </p:nvSpPr>
        <p:spPr>
          <a:xfrm>
            <a:off x="838200" y="3784600"/>
            <a:ext cx="1778000" cy="609600"/>
          </a:xfrm>
          <a:prstGeom prst="roundRect">
            <a:avLst>
              <a:gd name="adj" fmla="val 1458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8200" y="3784600"/>
            <a:ext cx="50800" cy="6096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3"/>
          <a:stretch>
            <a:fillRect/>
          </a:stretch>
        </p:blipFill>
        <p:spPr>
          <a:xfrm>
            <a:off x="990600" y="3891067"/>
            <a:ext cx="406400" cy="396664"/>
          </a:xfrm>
          <a:prstGeom prst="rect">
            <a:avLst/>
          </a:prstGeom>
        </p:spPr>
      </p:pic>
      <p:sp>
        <p:nvSpPr>
          <p:cNvPr id="27" name="TextBox 26"/>
          <p:cNvSpPr txBox="1"/>
          <p:nvPr/>
        </p:nvSpPr>
        <p:spPr>
          <a:xfrm>
            <a:off x="1524000" y="3949700"/>
            <a:ext cx="914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k8gb</a:t>
            </a:r>
          </a:p>
        </p:txBody>
      </p:sp>
      <p:sp>
        <p:nvSpPr>
          <p:cNvPr id="28" name="Rounded Rectangle 27"/>
          <p:cNvSpPr/>
          <p:nvPr/>
        </p:nvSpPr>
        <p:spPr>
          <a:xfrm>
            <a:off x="3124200" y="3784600"/>
            <a:ext cx="2159000" cy="609600"/>
          </a:xfrm>
          <a:prstGeom prst="roundRect">
            <a:avLst>
              <a:gd name="adj" fmla="val 1458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124200" y="3784600"/>
            <a:ext cx="50800" cy="6096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mage.png"/>
          <p:cNvPicPr>
            <a:picLocks noChangeAspect="1"/>
          </p:cNvPicPr>
          <p:nvPr/>
        </p:nvPicPr>
        <p:blipFill>
          <a:blip r:embed="rId4"/>
          <a:stretch>
            <a:fillRect/>
          </a:stretch>
        </p:blipFill>
        <p:spPr>
          <a:xfrm>
            <a:off x="3276600" y="3886200"/>
            <a:ext cx="406400" cy="406400"/>
          </a:xfrm>
          <a:prstGeom prst="rect">
            <a:avLst/>
          </a:prstGeom>
        </p:spPr>
      </p:pic>
      <p:sp>
        <p:nvSpPr>
          <p:cNvPr id="31" name="TextBox 30"/>
          <p:cNvSpPr txBox="1"/>
          <p:nvPr/>
        </p:nvSpPr>
        <p:spPr>
          <a:xfrm>
            <a:off x="3810000" y="3949700"/>
            <a:ext cx="1295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CoreDNS</a:t>
            </a:r>
          </a:p>
        </p:txBody>
      </p:sp>
      <p:cxnSp>
        <p:nvCxnSpPr>
          <p:cNvPr id="32" name="Connector 31"/>
          <p:cNvCxnSpPr/>
          <p:nvPr/>
        </p:nvCxnSpPr>
        <p:spPr>
          <a:xfrm>
            <a:off x="2616200" y="4089400"/>
            <a:ext cx="5080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2336800" y="3568700"/>
            <a:ext cx="1066800" cy="198754"/>
          </a:xfrm>
          <a:prstGeom prst="rect">
            <a:avLst/>
          </a:prstGeom>
          <a:noFill/>
        </p:spPr>
        <p:txBody>
          <a:bodyPr wrap="none" lIns="0" rIns="0" tIns="0" bIns="0" anchor="t">
            <a:noAutofit/>
          </a:bodyPr>
          <a:lstStyle/>
          <a:p>
            <a:pPr algn="ctr">
              <a:lnSpc>
                <a:spcPts val="1264"/>
              </a:lnSpc>
              <a:spcBef>
                <a:spcPts val="0"/>
              </a:spcBef>
              <a:spcAft>
                <a:spcPts val="0"/>
              </a:spcAft>
            </a:pPr>
            <a:r>
              <a:rPr sz="1100" b="0">
                <a:solidFill>
                  <a:srgbClr val="5D6F82"/>
                </a:solidFill>
                <a:latin typeface="Arial"/>
              </a:rPr>
              <a:t>DNS state</a:t>
            </a:r>
          </a:p>
        </p:txBody>
      </p:sp>
      <p:sp>
        <p:nvSpPr>
          <p:cNvPr id="34" name="TextBox 33"/>
          <p:cNvSpPr txBox="1"/>
          <p:nvPr/>
        </p:nvSpPr>
        <p:spPr>
          <a:xfrm>
            <a:off x="3378200" y="4445000"/>
            <a:ext cx="1905000" cy="184150"/>
          </a:xfrm>
          <a:prstGeom prst="rect">
            <a:avLst/>
          </a:prstGeom>
          <a:noFill/>
        </p:spPr>
        <p:txBody>
          <a:bodyPr wrap="none" lIns="0" rIns="0" tIns="0" bIns="0" anchor="t">
            <a:noAutofit/>
          </a:bodyPr>
          <a:lstStyle/>
          <a:p>
            <a:pPr algn="l">
              <a:lnSpc>
                <a:spcPts val="1150"/>
              </a:lnSpc>
              <a:spcBef>
                <a:spcPts val="0"/>
              </a:spcBef>
              <a:spcAft>
                <a:spcPts val="0"/>
              </a:spcAft>
            </a:pPr>
            <a:r>
              <a:rPr sz="1000" b="0">
                <a:solidFill>
                  <a:srgbClr val="5D6F82"/>
                </a:solidFill>
                <a:latin typeface="Arial"/>
              </a:rPr>
              <a:t>Application-zone answers</a:t>
            </a:r>
          </a:p>
        </p:txBody>
      </p:sp>
      <p:sp>
        <p:nvSpPr>
          <p:cNvPr id="35" name="Rounded Rectangle 34"/>
          <p:cNvSpPr/>
          <p:nvPr/>
        </p:nvSpPr>
        <p:spPr>
          <a:xfrm>
            <a:off x="838200" y="4686300"/>
            <a:ext cx="4445000" cy="609600"/>
          </a:xfrm>
          <a:prstGeom prst="roundRect">
            <a:avLst>
              <a:gd name="adj" fmla="val 1250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0600" y="4749800"/>
            <a:ext cx="2032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2762C8"/>
                </a:solidFill>
                <a:latin typeface="Arial"/>
              </a:rPr>
              <a:t>APPLICATION</a:t>
            </a:r>
          </a:p>
        </p:txBody>
      </p:sp>
      <p:sp>
        <p:nvSpPr>
          <p:cNvPr id="37" name="Rounded Rectangle 36"/>
          <p:cNvSpPr/>
          <p:nvPr/>
        </p:nvSpPr>
        <p:spPr>
          <a:xfrm>
            <a:off x="990600" y="4953000"/>
            <a:ext cx="14732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41400" y="5003800"/>
            <a:ext cx="1371600" cy="177800"/>
          </a:xfrm>
          <a:prstGeom prst="rect">
            <a:avLst/>
          </a:prstGeom>
          <a:noFill/>
        </p:spPr>
        <p:txBody>
          <a:bodyPr wrap="none" lIns="0" rIns="0" tIns="0" bIns="0" anchor="t">
            <a:noAutofit/>
          </a:bodyPr>
          <a:lstStyle/>
          <a:p>
            <a:pPr algn="ctr">
              <a:lnSpc>
                <a:spcPts val="1100"/>
              </a:lnSpc>
              <a:spcBef>
                <a:spcPts val="0"/>
              </a:spcBef>
              <a:spcAft>
                <a:spcPts val="0"/>
              </a:spcAft>
            </a:pPr>
            <a:r>
              <a:rPr sz="1100" b="1">
                <a:solidFill>
                  <a:srgbClr val="142338"/>
                </a:solidFill>
                <a:latin typeface="Arial"/>
              </a:rPr>
              <a:t>Gateway / Ingress</a:t>
            </a:r>
          </a:p>
        </p:txBody>
      </p:sp>
      <p:cxnSp>
        <p:nvCxnSpPr>
          <p:cNvPr id="39" name="Connector 38"/>
          <p:cNvCxnSpPr/>
          <p:nvPr/>
        </p:nvCxnSpPr>
        <p:spPr>
          <a:xfrm>
            <a:off x="2463800" y="5080000"/>
            <a:ext cx="190500" cy="0"/>
          </a:xfrm>
          <a:prstGeom prst="line">
            <a:avLst/>
          </a:prstGeom>
          <a:ln w="1524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2654300" y="4953000"/>
            <a:ext cx="8382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705100" y="5003800"/>
            <a:ext cx="736600" cy="177800"/>
          </a:xfrm>
          <a:prstGeom prst="rect">
            <a:avLst/>
          </a:prstGeom>
          <a:noFill/>
        </p:spPr>
        <p:txBody>
          <a:bodyPr wrap="none" lIns="0" rIns="0" tIns="0" bIns="0" anchor="t">
            <a:noAutofit/>
          </a:bodyPr>
          <a:lstStyle/>
          <a:p>
            <a:pPr algn="ctr">
              <a:lnSpc>
                <a:spcPts val="1100"/>
              </a:lnSpc>
              <a:spcBef>
                <a:spcPts val="0"/>
              </a:spcBef>
              <a:spcAft>
                <a:spcPts val="0"/>
              </a:spcAft>
            </a:pPr>
            <a:r>
              <a:rPr sz="1100" b="1">
                <a:solidFill>
                  <a:srgbClr val="142338"/>
                </a:solidFill>
                <a:latin typeface="Arial"/>
              </a:rPr>
              <a:t>Service</a:t>
            </a:r>
          </a:p>
        </p:txBody>
      </p:sp>
      <p:cxnSp>
        <p:nvCxnSpPr>
          <p:cNvPr id="42" name="Connector 41"/>
          <p:cNvCxnSpPr/>
          <p:nvPr/>
        </p:nvCxnSpPr>
        <p:spPr>
          <a:xfrm>
            <a:off x="3492500" y="5080000"/>
            <a:ext cx="203200" cy="0"/>
          </a:xfrm>
          <a:prstGeom prst="line">
            <a:avLst/>
          </a:prstGeom>
          <a:ln w="1524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3695700" y="4953000"/>
            <a:ext cx="14351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3810000" y="5016500"/>
            <a:ext cx="114300" cy="127000"/>
          </a:xfrm>
          <a:prstGeom prst="roundRect">
            <a:avLst>
              <a:gd name="adj" fmla="val 22222"/>
            </a:avLst>
          </a:prstGeom>
          <a:solidFill>
            <a:srgbClr val="EAF0FB"/>
          </a:solidFill>
          <a:ln w="1016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3835400" y="5054600"/>
            <a:ext cx="63500" cy="0"/>
          </a:xfrm>
          <a:prstGeom prst="line">
            <a:avLst/>
          </a:prstGeom>
          <a:ln w="8890">
            <a:solidFill>
              <a:srgbClr val="2762C8"/>
            </a:solidFill>
          </a:ln>
        </p:spPr>
        <p:style>
          <a:lnRef idx="2">
            <a:schemeClr val="accent1"/>
          </a:lnRef>
          <a:fillRef idx="0">
            <a:schemeClr val="accent1"/>
          </a:fillRef>
          <a:effectRef idx="1">
            <a:schemeClr val="accent1"/>
          </a:effectRef>
          <a:fontRef idx="minor">
            <a:schemeClr val="tx1"/>
          </a:fontRef>
        </p:style>
      </p:cxnSp>
      <p:sp>
        <p:nvSpPr>
          <p:cNvPr id="46" name="Rounded Rectangle 45"/>
          <p:cNvSpPr/>
          <p:nvPr/>
        </p:nvSpPr>
        <p:spPr>
          <a:xfrm>
            <a:off x="3975100" y="5016500"/>
            <a:ext cx="114300" cy="127000"/>
          </a:xfrm>
          <a:prstGeom prst="roundRect">
            <a:avLst>
              <a:gd name="adj" fmla="val 22222"/>
            </a:avLst>
          </a:prstGeom>
          <a:solidFill>
            <a:srgbClr val="EAF0FB"/>
          </a:solidFill>
          <a:ln w="1016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7" name="Connector 46"/>
          <p:cNvCxnSpPr/>
          <p:nvPr/>
        </p:nvCxnSpPr>
        <p:spPr>
          <a:xfrm>
            <a:off x="4000500" y="5054600"/>
            <a:ext cx="63500" cy="0"/>
          </a:xfrm>
          <a:prstGeom prst="line">
            <a:avLst/>
          </a:prstGeom>
          <a:ln w="8890">
            <a:solidFill>
              <a:srgbClr val="2762C8"/>
            </a:solidFill>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4140200" y="5016500"/>
            <a:ext cx="114300" cy="127000"/>
          </a:xfrm>
          <a:prstGeom prst="roundRect">
            <a:avLst>
              <a:gd name="adj" fmla="val 22222"/>
            </a:avLst>
          </a:prstGeom>
          <a:solidFill>
            <a:srgbClr val="EAF0FB"/>
          </a:solidFill>
          <a:ln w="1016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4165600" y="5054600"/>
            <a:ext cx="63500" cy="0"/>
          </a:xfrm>
          <a:prstGeom prst="line">
            <a:avLst/>
          </a:prstGeom>
          <a:ln w="8890">
            <a:solidFill>
              <a:srgbClr val="2762C8"/>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4381500" y="4991100"/>
            <a:ext cx="622300" cy="190500"/>
          </a:xfrm>
          <a:prstGeom prst="rect">
            <a:avLst/>
          </a:prstGeom>
          <a:noFill/>
        </p:spPr>
        <p:txBody>
          <a:bodyPr wrap="none" lIns="0" rIns="0" tIns="0" bIns="0" anchor="t">
            <a:noAutofit/>
          </a:bodyPr>
          <a:lstStyle/>
          <a:p>
            <a:pPr algn="l">
              <a:lnSpc>
                <a:spcPts val="1200"/>
              </a:lnSpc>
              <a:spcBef>
                <a:spcPts val="0"/>
              </a:spcBef>
              <a:spcAft>
                <a:spcPts val="0"/>
              </a:spcAft>
            </a:pPr>
            <a:r>
              <a:rPr sz="1200" b="1">
                <a:solidFill>
                  <a:srgbClr val="142338"/>
                </a:solidFill>
                <a:latin typeface="Arial"/>
              </a:rPr>
              <a:t>Pods</a:t>
            </a:r>
          </a:p>
        </p:txBody>
      </p:sp>
      <p:cxnSp>
        <p:nvCxnSpPr>
          <p:cNvPr id="51" name="Connector 50"/>
          <p:cNvCxnSpPr/>
          <p:nvPr/>
        </p:nvCxnSpPr>
        <p:spPr>
          <a:xfrm flipV="1">
            <a:off x="1727200" y="4394200"/>
            <a:ext cx="0" cy="292100"/>
          </a:xfrm>
          <a:prstGeom prst="line">
            <a:avLst/>
          </a:prstGeom>
          <a:ln w="17780">
            <a:solidFill>
              <a:srgbClr val="2762C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1905000" y="4457700"/>
            <a:ext cx="1244600" cy="184150"/>
          </a:xfrm>
          <a:prstGeom prst="rect">
            <a:avLst/>
          </a:prstGeom>
          <a:noFill/>
        </p:spPr>
        <p:txBody>
          <a:bodyPr wrap="none" lIns="0" rIns="0" tIns="0" bIns="0" anchor="t">
            <a:noAutofit/>
          </a:bodyPr>
          <a:lstStyle/>
          <a:p>
            <a:pPr algn="l">
              <a:lnSpc>
                <a:spcPts val="1150"/>
              </a:lnSpc>
              <a:spcBef>
                <a:spcPts val="0"/>
              </a:spcBef>
              <a:spcAft>
                <a:spcPts val="0"/>
              </a:spcAft>
            </a:pPr>
            <a:r>
              <a:rPr sz="1000" b="0">
                <a:solidFill>
                  <a:srgbClr val="5D6F82"/>
                </a:solidFill>
                <a:latin typeface="Arial"/>
              </a:rPr>
              <a:t>Ready endpoints</a:t>
            </a:r>
          </a:p>
        </p:txBody>
      </p:sp>
      <p:sp>
        <p:nvSpPr>
          <p:cNvPr id="53" name="Rounded Rectangle 52"/>
          <p:cNvSpPr/>
          <p:nvPr/>
        </p:nvSpPr>
        <p:spPr>
          <a:xfrm>
            <a:off x="6680200" y="2476500"/>
            <a:ext cx="4902200" cy="2921000"/>
          </a:xfrm>
          <a:prstGeom prst="roundRect">
            <a:avLst>
              <a:gd name="adj" fmla="val 3478"/>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680200" y="2476500"/>
            <a:ext cx="4902200" cy="406400"/>
          </a:xfrm>
          <a:prstGeom prst="rect">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858000" y="2552700"/>
            <a:ext cx="12700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087F85"/>
                </a:solidFill>
                <a:latin typeface="Arial"/>
              </a:rPr>
              <a:t>CLUSTER B</a:t>
            </a:r>
          </a:p>
        </p:txBody>
      </p:sp>
      <p:sp>
        <p:nvSpPr>
          <p:cNvPr id="56" name="Rounded Rectangle 55"/>
          <p:cNvSpPr/>
          <p:nvPr/>
        </p:nvSpPr>
        <p:spPr>
          <a:xfrm>
            <a:off x="7747000" y="2933700"/>
            <a:ext cx="2768600" cy="508000"/>
          </a:xfrm>
          <a:prstGeom prst="roundRect">
            <a:avLst>
              <a:gd name="adj" fmla="val 17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7" name="Picture 56" descr="image.png"/>
          <p:cNvPicPr>
            <a:picLocks noChangeAspect="1"/>
          </p:cNvPicPr>
          <p:nvPr/>
        </p:nvPicPr>
        <p:blipFill>
          <a:blip r:embed="rId2"/>
          <a:stretch>
            <a:fillRect/>
          </a:stretch>
        </p:blipFill>
        <p:spPr>
          <a:xfrm>
            <a:off x="7836060" y="2933700"/>
            <a:ext cx="507679" cy="508000"/>
          </a:xfrm>
          <a:prstGeom prst="rect">
            <a:avLst/>
          </a:prstGeom>
        </p:spPr>
      </p:pic>
      <p:sp>
        <p:nvSpPr>
          <p:cNvPr id="58" name="TextBox 57"/>
          <p:cNvSpPr txBox="1"/>
          <p:nvPr/>
        </p:nvSpPr>
        <p:spPr>
          <a:xfrm>
            <a:off x="8445500" y="3048000"/>
            <a:ext cx="190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087F85"/>
                </a:solidFill>
                <a:latin typeface="Arial"/>
              </a:rPr>
              <a:t>ExternalDNS</a:t>
            </a:r>
          </a:p>
        </p:txBody>
      </p:sp>
      <p:cxnSp>
        <p:nvCxnSpPr>
          <p:cNvPr id="59" name="Connector 58"/>
          <p:cNvCxnSpPr/>
          <p:nvPr/>
        </p:nvCxnSpPr>
        <p:spPr>
          <a:xfrm flipV="1">
            <a:off x="9131300" y="1917700"/>
            <a:ext cx="0" cy="10160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a:off x="8623300" y="1917700"/>
            <a:ext cx="508000" cy="0"/>
          </a:xfrm>
          <a:prstGeom prst="line">
            <a:avLst/>
          </a:prstGeom>
          <a:ln w="2286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6908800" y="3543300"/>
            <a:ext cx="1524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Gslb strategy</a:t>
            </a:r>
          </a:p>
        </p:txBody>
      </p:sp>
      <p:sp>
        <p:nvSpPr>
          <p:cNvPr id="62" name="Rounded Rectangle 61"/>
          <p:cNvSpPr/>
          <p:nvPr/>
        </p:nvSpPr>
        <p:spPr>
          <a:xfrm>
            <a:off x="6908800" y="3784600"/>
            <a:ext cx="1778000" cy="609600"/>
          </a:xfrm>
          <a:prstGeom prst="roundRect">
            <a:avLst>
              <a:gd name="adj" fmla="val 1458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908800" y="3784600"/>
            <a:ext cx="50800" cy="609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4" name="Picture 63" descr="image.png"/>
          <p:cNvPicPr>
            <a:picLocks noChangeAspect="1"/>
          </p:cNvPicPr>
          <p:nvPr/>
        </p:nvPicPr>
        <p:blipFill>
          <a:blip r:embed="rId3"/>
          <a:stretch>
            <a:fillRect/>
          </a:stretch>
        </p:blipFill>
        <p:spPr>
          <a:xfrm>
            <a:off x="7061200" y="3891067"/>
            <a:ext cx="406400" cy="396664"/>
          </a:xfrm>
          <a:prstGeom prst="rect">
            <a:avLst/>
          </a:prstGeom>
        </p:spPr>
      </p:pic>
      <p:sp>
        <p:nvSpPr>
          <p:cNvPr id="65" name="TextBox 64"/>
          <p:cNvSpPr txBox="1"/>
          <p:nvPr/>
        </p:nvSpPr>
        <p:spPr>
          <a:xfrm>
            <a:off x="7594600" y="3949700"/>
            <a:ext cx="914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k8gb</a:t>
            </a:r>
          </a:p>
        </p:txBody>
      </p:sp>
      <p:sp>
        <p:nvSpPr>
          <p:cNvPr id="66" name="Rounded Rectangle 65"/>
          <p:cNvSpPr/>
          <p:nvPr/>
        </p:nvSpPr>
        <p:spPr>
          <a:xfrm>
            <a:off x="9194800" y="3784600"/>
            <a:ext cx="2159000" cy="609600"/>
          </a:xfrm>
          <a:prstGeom prst="roundRect">
            <a:avLst>
              <a:gd name="adj" fmla="val 1458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9194800" y="3784600"/>
            <a:ext cx="50800" cy="609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8" name="Picture 67" descr="image.png"/>
          <p:cNvPicPr>
            <a:picLocks noChangeAspect="1"/>
          </p:cNvPicPr>
          <p:nvPr/>
        </p:nvPicPr>
        <p:blipFill>
          <a:blip r:embed="rId4"/>
          <a:stretch>
            <a:fillRect/>
          </a:stretch>
        </p:blipFill>
        <p:spPr>
          <a:xfrm>
            <a:off x="9347200" y="3886200"/>
            <a:ext cx="406400" cy="406400"/>
          </a:xfrm>
          <a:prstGeom prst="rect">
            <a:avLst/>
          </a:prstGeom>
        </p:spPr>
      </p:pic>
      <p:sp>
        <p:nvSpPr>
          <p:cNvPr id="69" name="TextBox 68"/>
          <p:cNvSpPr txBox="1"/>
          <p:nvPr/>
        </p:nvSpPr>
        <p:spPr>
          <a:xfrm>
            <a:off x="9880600" y="3949700"/>
            <a:ext cx="1295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CoreDNS</a:t>
            </a:r>
          </a:p>
        </p:txBody>
      </p:sp>
      <p:cxnSp>
        <p:nvCxnSpPr>
          <p:cNvPr id="70" name="Connector 69"/>
          <p:cNvCxnSpPr/>
          <p:nvPr/>
        </p:nvCxnSpPr>
        <p:spPr>
          <a:xfrm>
            <a:off x="8686800" y="4089400"/>
            <a:ext cx="5080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8407400" y="3568700"/>
            <a:ext cx="1066800" cy="198754"/>
          </a:xfrm>
          <a:prstGeom prst="rect">
            <a:avLst/>
          </a:prstGeom>
          <a:noFill/>
        </p:spPr>
        <p:txBody>
          <a:bodyPr wrap="none" lIns="0" rIns="0" tIns="0" bIns="0" anchor="t">
            <a:noAutofit/>
          </a:bodyPr>
          <a:lstStyle/>
          <a:p>
            <a:pPr algn="ctr">
              <a:lnSpc>
                <a:spcPts val="1264"/>
              </a:lnSpc>
              <a:spcBef>
                <a:spcPts val="0"/>
              </a:spcBef>
              <a:spcAft>
                <a:spcPts val="0"/>
              </a:spcAft>
            </a:pPr>
            <a:r>
              <a:rPr sz="1100" b="0">
                <a:solidFill>
                  <a:srgbClr val="5D6F82"/>
                </a:solidFill>
                <a:latin typeface="Arial"/>
              </a:rPr>
              <a:t>DNS state</a:t>
            </a:r>
          </a:p>
        </p:txBody>
      </p:sp>
      <p:sp>
        <p:nvSpPr>
          <p:cNvPr id="72" name="TextBox 71"/>
          <p:cNvSpPr txBox="1"/>
          <p:nvPr/>
        </p:nvSpPr>
        <p:spPr>
          <a:xfrm>
            <a:off x="9448800" y="4445000"/>
            <a:ext cx="1905000" cy="184150"/>
          </a:xfrm>
          <a:prstGeom prst="rect">
            <a:avLst/>
          </a:prstGeom>
          <a:noFill/>
        </p:spPr>
        <p:txBody>
          <a:bodyPr wrap="none" lIns="0" rIns="0" tIns="0" bIns="0" anchor="t">
            <a:noAutofit/>
          </a:bodyPr>
          <a:lstStyle/>
          <a:p>
            <a:pPr algn="l">
              <a:lnSpc>
                <a:spcPts val="1150"/>
              </a:lnSpc>
              <a:spcBef>
                <a:spcPts val="0"/>
              </a:spcBef>
              <a:spcAft>
                <a:spcPts val="0"/>
              </a:spcAft>
            </a:pPr>
            <a:r>
              <a:rPr sz="1000" b="0">
                <a:solidFill>
                  <a:srgbClr val="5D6F82"/>
                </a:solidFill>
                <a:latin typeface="Arial"/>
              </a:rPr>
              <a:t>Application-zone answers</a:t>
            </a:r>
          </a:p>
        </p:txBody>
      </p:sp>
      <p:sp>
        <p:nvSpPr>
          <p:cNvPr id="73" name="Rounded Rectangle 72"/>
          <p:cNvSpPr/>
          <p:nvPr/>
        </p:nvSpPr>
        <p:spPr>
          <a:xfrm>
            <a:off x="6908800" y="4686300"/>
            <a:ext cx="4445000" cy="609600"/>
          </a:xfrm>
          <a:prstGeom prst="roundRect">
            <a:avLst>
              <a:gd name="adj" fmla="val 1250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061200" y="4749800"/>
            <a:ext cx="2032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087F85"/>
                </a:solidFill>
                <a:latin typeface="Arial"/>
              </a:rPr>
              <a:t>APPLICATION</a:t>
            </a:r>
          </a:p>
        </p:txBody>
      </p:sp>
      <p:sp>
        <p:nvSpPr>
          <p:cNvPr id="75" name="Rounded Rectangle 74"/>
          <p:cNvSpPr/>
          <p:nvPr/>
        </p:nvSpPr>
        <p:spPr>
          <a:xfrm>
            <a:off x="7061200" y="4953000"/>
            <a:ext cx="14732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112000" y="5003800"/>
            <a:ext cx="1371600" cy="177800"/>
          </a:xfrm>
          <a:prstGeom prst="rect">
            <a:avLst/>
          </a:prstGeom>
          <a:noFill/>
        </p:spPr>
        <p:txBody>
          <a:bodyPr wrap="none" lIns="0" rIns="0" tIns="0" bIns="0" anchor="t">
            <a:noAutofit/>
          </a:bodyPr>
          <a:lstStyle/>
          <a:p>
            <a:pPr algn="ctr">
              <a:lnSpc>
                <a:spcPts val="1100"/>
              </a:lnSpc>
              <a:spcBef>
                <a:spcPts val="0"/>
              </a:spcBef>
              <a:spcAft>
                <a:spcPts val="0"/>
              </a:spcAft>
            </a:pPr>
            <a:r>
              <a:rPr sz="1100" b="1">
                <a:solidFill>
                  <a:srgbClr val="142338"/>
                </a:solidFill>
                <a:latin typeface="Arial"/>
              </a:rPr>
              <a:t>Gateway / Ingress</a:t>
            </a:r>
          </a:p>
        </p:txBody>
      </p:sp>
      <p:cxnSp>
        <p:nvCxnSpPr>
          <p:cNvPr id="77" name="Connector 76"/>
          <p:cNvCxnSpPr/>
          <p:nvPr/>
        </p:nvCxnSpPr>
        <p:spPr>
          <a:xfrm>
            <a:off x="8534400" y="5080000"/>
            <a:ext cx="190500" cy="0"/>
          </a:xfrm>
          <a:prstGeom prst="line">
            <a:avLst/>
          </a:prstGeom>
          <a:ln w="1524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Rounded Rectangle 77"/>
          <p:cNvSpPr/>
          <p:nvPr/>
        </p:nvSpPr>
        <p:spPr>
          <a:xfrm>
            <a:off x="8724900" y="4953000"/>
            <a:ext cx="8382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775700" y="5003800"/>
            <a:ext cx="736600" cy="177800"/>
          </a:xfrm>
          <a:prstGeom prst="rect">
            <a:avLst/>
          </a:prstGeom>
          <a:noFill/>
        </p:spPr>
        <p:txBody>
          <a:bodyPr wrap="none" lIns="0" rIns="0" tIns="0" bIns="0" anchor="t">
            <a:noAutofit/>
          </a:bodyPr>
          <a:lstStyle/>
          <a:p>
            <a:pPr algn="ctr">
              <a:lnSpc>
                <a:spcPts val="1100"/>
              </a:lnSpc>
              <a:spcBef>
                <a:spcPts val="0"/>
              </a:spcBef>
              <a:spcAft>
                <a:spcPts val="0"/>
              </a:spcAft>
            </a:pPr>
            <a:r>
              <a:rPr sz="1100" b="1">
                <a:solidFill>
                  <a:srgbClr val="142338"/>
                </a:solidFill>
                <a:latin typeface="Arial"/>
              </a:rPr>
              <a:t>Service</a:t>
            </a:r>
          </a:p>
        </p:txBody>
      </p:sp>
      <p:cxnSp>
        <p:nvCxnSpPr>
          <p:cNvPr id="80" name="Connector 79"/>
          <p:cNvCxnSpPr/>
          <p:nvPr/>
        </p:nvCxnSpPr>
        <p:spPr>
          <a:xfrm>
            <a:off x="9563100" y="5080000"/>
            <a:ext cx="203200" cy="0"/>
          </a:xfrm>
          <a:prstGeom prst="line">
            <a:avLst/>
          </a:prstGeom>
          <a:ln w="1524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1" name="Rounded Rectangle 80"/>
          <p:cNvSpPr/>
          <p:nvPr/>
        </p:nvSpPr>
        <p:spPr>
          <a:xfrm>
            <a:off x="9766300" y="4953000"/>
            <a:ext cx="14351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ounded Rectangle 81"/>
          <p:cNvSpPr/>
          <p:nvPr/>
        </p:nvSpPr>
        <p:spPr>
          <a:xfrm>
            <a:off x="9880600" y="5016500"/>
            <a:ext cx="114300" cy="127000"/>
          </a:xfrm>
          <a:prstGeom prst="roundRect">
            <a:avLst>
              <a:gd name="adj" fmla="val 22222"/>
            </a:avLst>
          </a:prstGeom>
          <a:solidFill>
            <a:srgbClr val="E8F4F3"/>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3" name="Connector 82"/>
          <p:cNvCxnSpPr/>
          <p:nvPr/>
        </p:nvCxnSpPr>
        <p:spPr>
          <a:xfrm>
            <a:off x="9906000" y="5054600"/>
            <a:ext cx="63500" cy="0"/>
          </a:xfrm>
          <a:prstGeom prst="line">
            <a:avLst/>
          </a:prstGeom>
          <a:ln w="8890">
            <a:solidFill>
              <a:srgbClr val="087F85"/>
            </a:solidFill>
          </a:ln>
        </p:spPr>
        <p:style>
          <a:lnRef idx="2">
            <a:schemeClr val="accent1"/>
          </a:lnRef>
          <a:fillRef idx="0">
            <a:schemeClr val="accent1"/>
          </a:fillRef>
          <a:effectRef idx="1">
            <a:schemeClr val="accent1"/>
          </a:effectRef>
          <a:fontRef idx="minor">
            <a:schemeClr val="tx1"/>
          </a:fontRef>
        </p:style>
      </p:cxnSp>
      <p:sp>
        <p:nvSpPr>
          <p:cNvPr id="84" name="Rounded Rectangle 83"/>
          <p:cNvSpPr/>
          <p:nvPr/>
        </p:nvSpPr>
        <p:spPr>
          <a:xfrm>
            <a:off x="10045700" y="5016500"/>
            <a:ext cx="114300" cy="127000"/>
          </a:xfrm>
          <a:prstGeom prst="roundRect">
            <a:avLst>
              <a:gd name="adj" fmla="val 22222"/>
            </a:avLst>
          </a:prstGeom>
          <a:solidFill>
            <a:srgbClr val="E8F4F3"/>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5" name="Connector 84"/>
          <p:cNvCxnSpPr/>
          <p:nvPr/>
        </p:nvCxnSpPr>
        <p:spPr>
          <a:xfrm>
            <a:off x="10071100" y="5054600"/>
            <a:ext cx="63500" cy="0"/>
          </a:xfrm>
          <a:prstGeom prst="line">
            <a:avLst/>
          </a:prstGeom>
          <a:ln w="8890">
            <a:solidFill>
              <a:srgbClr val="087F85"/>
            </a:solidFill>
          </a:ln>
        </p:spPr>
        <p:style>
          <a:lnRef idx="2">
            <a:schemeClr val="accent1"/>
          </a:lnRef>
          <a:fillRef idx="0">
            <a:schemeClr val="accent1"/>
          </a:fillRef>
          <a:effectRef idx="1">
            <a:schemeClr val="accent1"/>
          </a:effectRef>
          <a:fontRef idx="minor">
            <a:schemeClr val="tx1"/>
          </a:fontRef>
        </p:style>
      </p:cxnSp>
      <p:sp>
        <p:nvSpPr>
          <p:cNvPr id="86" name="Rounded Rectangle 85"/>
          <p:cNvSpPr/>
          <p:nvPr/>
        </p:nvSpPr>
        <p:spPr>
          <a:xfrm>
            <a:off x="10210800" y="5016500"/>
            <a:ext cx="114300" cy="127000"/>
          </a:xfrm>
          <a:prstGeom prst="roundRect">
            <a:avLst>
              <a:gd name="adj" fmla="val 22222"/>
            </a:avLst>
          </a:prstGeom>
          <a:solidFill>
            <a:srgbClr val="E8F4F3"/>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7" name="Connector 86"/>
          <p:cNvCxnSpPr/>
          <p:nvPr/>
        </p:nvCxnSpPr>
        <p:spPr>
          <a:xfrm>
            <a:off x="10236200" y="5054600"/>
            <a:ext cx="63500" cy="0"/>
          </a:xfrm>
          <a:prstGeom prst="line">
            <a:avLst/>
          </a:prstGeom>
          <a:ln w="8890">
            <a:solidFill>
              <a:srgbClr val="087F85"/>
            </a:solidFill>
          </a:ln>
        </p:spPr>
        <p:style>
          <a:lnRef idx="2">
            <a:schemeClr val="accent1"/>
          </a:lnRef>
          <a:fillRef idx="0">
            <a:schemeClr val="accent1"/>
          </a:fillRef>
          <a:effectRef idx="1">
            <a:schemeClr val="accent1"/>
          </a:effectRef>
          <a:fontRef idx="minor">
            <a:schemeClr val="tx1"/>
          </a:fontRef>
        </p:style>
      </p:cxnSp>
      <p:sp>
        <p:nvSpPr>
          <p:cNvPr id="88" name="TextBox 87"/>
          <p:cNvSpPr txBox="1"/>
          <p:nvPr/>
        </p:nvSpPr>
        <p:spPr>
          <a:xfrm>
            <a:off x="10452100" y="4991100"/>
            <a:ext cx="622300" cy="190500"/>
          </a:xfrm>
          <a:prstGeom prst="rect">
            <a:avLst/>
          </a:prstGeom>
          <a:noFill/>
        </p:spPr>
        <p:txBody>
          <a:bodyPr wrap="none" lIns="0" rIns="0" tIns="0" bIns="0" anchor="t">
            <a:noAutofit/>
          </a:bodyPr>
          <a:lstStyle/>
          <a:p>
            <a:pPr algn="l">
              <a:lnSpc>
                <a:spcPts val="1200"/>
              </a:lnSpc>
              <a:spcBef>
                <a:spcPts val="0"/>
              </a:spcBef>
              <a:spcAft>
                <a:spcPts val="0"/>
              </a:spcAft>
            </a:pPr>
            <a:r>
              <a:rPr sz="1200" b="1">
                <a:solidFill>
                  <a:srgbClr val="142338"/>
                </a:solidFill>
                <a:latin typeface="Arial"/>
              </a:rPr>
              <a:t>Pods</a:t>
            </a:r>
          </a:p>
        </p:txBody>
      </p:sp>
      <p:cxnSp>
        <p:nvCxnSpPr>
          <p:cNvPr id="89" name="Connector 88"/>
          <p:cNvCxnSpPr/>
          <p:nvPr/>
        </p:nvCxnSpPr>
        <p:spPr>
          <a:xfrm flipV="1">
            <a:off x="7797800" y="4394200"/>
            <a:ext cx="0" cy="292100"/>
          </a:xfrm>
          <a:prstGeom prst="line">
            <a:avLst/>
          </a:prstGeom>
          <a:ln w="17780">
            <a:solidFill>
              <a:srgbClr val="087F8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7975600" y="4457700"/>
            <a:ext cx="1244600" cy="184150"/>
          </a:xfrm>
          <a:prstGeom prst="rect">
            <a:avLst/>
          </a:prstGeom>
          <a:noFill/>
        </p:spPr>
        <p:txBody>
          <a:bodyPr wrap="none" lIns="0" rIns="0" tIns="0" bIns="0" anchor="t">
            <a:noAutofit/>
          </a:bodyPr>
          <a:lstStyle/>
          <a:p>
            <a:pPr algn="l">
              <a:lnSpc>
                <a:spcPts val="1150"/>
              </a:lnSpc>
              <a:spcBef>
                <a:spcPts val="0"/>
              </a:spcBef>
              <a:spcAft>
                <a:spcPts val="0"/>
              </a:spcAft>
            </a:pPr>
            <a:r>
              <a:rPr sz="1000" b="0">
                <a:solidFill>
                  <a:srgbClr val="5D6F82"/>
                </a:solidFill>
                <a:latin typeface="Arial"/>
              </a:rPr>
              <a:t>Ready endpoints</a:t>
            </a:r>
          </a:p>
        </p:txBody>
      </p:sp>
      <p:cxnSp>
        <p:nvCxnSpPr>
          <p:cNvPr id="91" name="Connector 90"/>
          <p:cNvCxnSpPr/>
          <p:nvPr/>
        </p:nvCxnSpPr>
        <p:spPr>
          <a:xfrm flipH="1">
            <a:off x="431800" y="4089400"/>
            <a:ext cx="406400" cy="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431800" y="4089400"/>
            <a:ext cx="0" cy="147320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431800" y="5562600"/>
            <a:ext cx="11328400" cy="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11760200" y="4089400"/>
            <a:ext cx="0" cy="147320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H="1">
            <a:off x="11353800" y="4089400"/>
            <a:ext cx="406400" cy="0"/>
          </a:xfrm>
          <a:prstGeom prst="line">
            <a:avLst/>
          </a:prstGeom>
          <a:ln w="22860">
            <a:solidFill>
              <a:srgbClr val="CF003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6" name="TextBox 95"/>
          <p:cNvSpPr txBox="1"/>
          <p:nvPr/>
        </p:nvSpPr>
        <p:spPr>
          <a:xfrm>
            <a:off x="3175000" y="5664200"/>
            <a:ext cx="58420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CF0035"/>
                </a:solidFill>
                <a:latin typeface="Arial"/>
              </a:rPr>
              <a:t>Peer health is learned through DNS</a:t>
            </a:r>
          </a:p>
        </p:txBody>
      </p:sp>
      <p:sp>
        <p:nvSpPr>
          <p:cNvPr id="97" name="TextBox 96"/>
          <p:cNvSpPr txBox="1"/>
          <p:nvPr/>
        </p:nvSpPr>
        <p:spPr>
          <a:xfrm>
            <a:off x="609600" y="6083300"/>
            <a:ext cx="109728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5D6F82"/>
                </a:solidFill>
                <a:latin typeface="Arial"/>
              </a:rPr>
              <a:t>One direction shown; each controller queries peer CoreDNS.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UNDER THE HOOD</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06 / 26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Three components. Three distinct jobs.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609600"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mage.png"/>
          <p:cNvPicPr>
            <a:picLocks noChangeAspect="1"/>
          </p:cNvPicPr>
          <p:nvPr/>
        </p:nvPicPr>
        <p:blipFill>
          <a:blip r:embed="rId2"/>
          <a:stretch>
            <a:fillRect/>
          </a:stretch>
        </p:blipFill>
        <p:spPr>
          <a:xfrm>
            <a:off x="965200" y="2474752"/>
            <a:ext cx="914400" cy="892494"/>
          </a:xfrm>
          <a:prstGeom prst="rect">
            <a:avLst/>
          </a:prstGeom>
        </p:spPr>
      </p:pic>
      <p:sp>
        <p:nvSpPr>
          <p:cNvPr id="11" name="TextBox 10"/>
          <p:cNvSpPr txBox="1"/>
          <p:nvPr/>
        </p:nvSpPr>
        <p:spPr>
          <a:xfrm>
            <a:off x="863600"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k8gb controller</a:t>
            </a:r>
          </a:p>
        </p:txBody>
      </p:sp>
      <p:sp>
        <p:nvSpPr>
          <p:cNvPr id="12" name="TextBox 11"/>
          <p:cNvSpPr txBox="1"/>
          <p:nvPr/>
        </p:nvSpPr>
        <p:spPr>
          <a:xfrm>
            <a:off x="863600"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Readiness + strategy</a:t>
            </a:r>
          </a:p>
          <a:p>
            <a:pPr algn="l">
              <a:lnSpc>
                <a:spcPts val="2600"/>
              </a:lnSpc>
              <a:spcBef>
                <a:spcPts val="0"/>
              </a:spcBef>
              <a:spcAft>
                <a:spcPts val="0"/>
              </a:spcAft>
            </a:pPr>
            <a:r>
              <a:rPr sz="2000" b="0">
                <a:solidFill>
                  <a:srgbClr val="5D6F82"/>
                </a:solidFill>
                <a:latin typeface="Arial"/>
              </a:rPr>
              <a:t>→ eligible targets</a:t>
            </a:r>
          </a:p>
        </p:txBody>
      </p:sp>
      <p:sp>
        <p:nvSpPr>
          <p:cNvPr id="13" name="Rounded Rectangle 12"/>
          <p:cNvSpPr/>
          <p:nvPr/>
        </p:nvSpPr>
        <p:spPr>
          <a:xfrm>
            <a:off x="4334933"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3"/>
          <a:stretch>
            <a:fillRect/>
          </a:stretch>
        </p:blipFill>
        <p:spPr>
          <a:xfrm>
            <a:off x="4639733" y="2413000"/>
            <a:ext cx="1016000" cy="1016000"/>
          </a:xfrm>
          <a:prstGeom prst="rect">
            <a:avLst/>
          </a:prstGeom>
        </p:spPr>
      </p:pic>
      <p:sp>
        <p:nvSpPr>
          <p:cNvPr id="15" name="TextBox 14"/>
          <p:cNvSpPr txBox="1"/>
          <p:nvPr/>
        </p:nvSpPr>
        <p:spPr>
          <a:xfrm>
            <a:off x="4588933"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CoreDNS</a:t>
            </a:r>
          </a:p>
        </p:txBody>
      </p:sp>
      <p:sp>
        <p:nvSpPr>
          <p:cNvPr id="16" name="TextBox 15"/>
          <p:cNvSpPr txBox="1"/>
          <p:nvPr/>
        </p:nvSpPr>
        <p:spPr>
          <a:xfrm>
            <a:off x="4588933"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Delegated zone</a:t>
            </a:r>
          </a:p>
          <a:p>
            <a:pPr algn="l">
              <a:lnSpc>
                <a:spcPts val="2600"/>
              </a:lnSpc>
              <a:spcBef>
                <a:spcPts val="0"/>
              </a:spcBef>
              <a:spcAft>
                <a:spcPts val="0"/>
              </a:spcAft>
            </a:pPr>
            <a:r>
              <a:rPr sz="2000" b="0">
                <a:solidFill>
                  <a:srgbClr val="5D6F82"/>
                </a:solidFill>
                <a:latin typeface="Arial"/>
              </a:rPr>
              <a:t>→ DNS answers</a:t>
            </a:r>
          </a:p>
        </p:txBody>
      </p:sp>
      <p:sp>
        <p:nvSpPr>
          <p:cNvPr id="17" name="Rounded Rectangle 16"/>
          <p:cNvSpPr/>
          <p:nvPr/>
        </p:nvSpPr>
        <p:spPr>
          <a:xfrm>
            <a:off x="8060266"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4"/>
          <a:stretch>
            <a:fillRect/>
          </a:stretch>
        </p:blipFill>
        <p:spPr>
          <a:xfrm>
            <a:off x="8314618" y="2362200"/>
            <a:ext cx="1116895" cy="1117600"/>
          </a:xfrm>
          <a:prstGeom prst="rect">
            <a:avLst/>
          </a:prstGeom>
        </p:spPr>
      </p:pic>
      <p:sp>
        <p:nvSpPr>
          <p:cNvPr id="19" name="TextBox 18"/>
          <p:cNvSpPr txBox="1"/>
          <p:nvPr/>
        </p:nvSpPr>
        <p:spPr>
          <a:xfrm>
            <a:off x="8314266"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ExternalDNS</a:t>
            </a:r>
          </a:p>
        </p:txBody>
      </p:sp>
      <p:sp>
        <p:nvSpPr>
          <p:cNvPr id="20" name="TextBox 19"/>
          <p:cNvSpPr txBox="1"/>
          <p:nvPr/>
        </p:nvSpPr>
        <p:spPr>
          <a:xfrm>
            <a:off x="8314266"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Delegation state</a:t>
            </a:r>
          </a:p>
          <a:p>
            <a:pPr algn="l">
              <a:lnSpc>
                <a:spcPts val="2600"/>
              </a:lnSpc>
              <a:spcBef>
                <a:spcPts val="0"/>
              </a:spcBef>
              <a:spcAft>
                <a:spcPts val="0"/>
              </a:spcAft>
            </a:pPr>
            <a:r>
              <a:rPr sz="2000" b="0">
                <a:solidFill>
                  <a:srgbClr val="5D6F82"/>
                </a:solidFill>
                <a:latin typeface="Arial"/>
              </a:rPr>
              <a:t>→ parent DNS updates</a:t>
            </a:r>
          </a:p>
        </p:txBody>
      </p:sp>
      <p:sp>
        <p:nvSpPr>
          <p:cNvPr id="21" name="Rounded Rectangle 20"/>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Decide locally. Answer authoritatively. Delegate explicitly.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CURRENT IMPLEMENTATION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07 / 26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Two k8gb reconciliation loops feed DNS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TextBox 8"/>
          <p:cNvSpPr txBox="1"/>
          <p:nvPr/>
        </p:nvSpPr>
        <p:spPr>
          <a:xfrm>
            <a:off x="609600" y="1828800"/>
            <a:ext cx="72390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CF0035"/>
                </a:solidFill>
                <a:latin typeface="Arial"/>
              </a:rPr>
              <a:t>ZONE MEMBERSHIP + DELEGATION</a:t>
            </a:r>
          </a:p>
        </p:txBody>
      </p:sp>
      <p:sp>
        <p:nvSpPr>
          <p:cNvPr id="10" name="TextBox 9"/>
          <p:cNvSpPr txBox="1"/>
          <p:nvPr/>
        </p:nvSpPr>
        <p:spPr>
          <a:xfrm>
            <a:off x="8458200" y="1828800"/>
            <a:ext cx="31242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5D6F82"/>
                </a:solidFill>
                <a:latin typeface="Arial"/>
              </a:rPr>
              <a:t>ExternalDNS provider path</a:t>
            </a:r>
          </a:p>
        </p:txBody>
      </p:sp>
      <p:cxnSp>
        <p:nvCxnSpPr>
          <p:cNvPr id="11" name="Connector 10"/>
          <p:cNvCxnSpPr/>
          <p:nvPr/>
        </p:nvCxnSpPr>
        <p:spPr>
          <a:xfrm>
            <a:off x="3721100" y="2654300"/>
            <a:ext cx="7874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874000" y="2654300"/>
            <a:ext cx="5842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20300" y="3098800"/>
            <a:ext cx="0" cy="3302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721100" y="2921000"/>
            <a:ext cx="393700" cy="0"/>
          </a:xfrm>
          <a:prstGeom prst="line">
            <a:avLst/>
          </a:prstGeom>
          <a:ln w="2540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114800" y="2921000"/>
            <a:ext cx="0" cy="939800"/>
          </a:xfrm>
          <a:prstGeom prst="line">
            <a:avLst/>
          </a:prstGeom>
          <a:ln w="2540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4114800" y="3860800"/>
            <a:ext cx="3937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302000" y="3098800"/>
            <a:ext cx="0" cy="1727200"/>
          </a:xfrm>
          <a:prstGeom prst="line">
            <a:avLst/>
          </a:prstGeom>
          <a:ln w="22860">
            <a:solidFill>
              <a:srgbClr val="087F8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09600" y="2209800"/>
            <a:ext cx="3111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096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2800" y="2374900"/>
            <a:ext cx="2730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ZoneDelegation</a:t>
            </a:r>
          </a:p>
        </p:txBody>
      </p:sp>
      <p:sp>
        <p:nvSpPr>
          <p:cNvPr id="21" name="TextBox 20"/>
          <p:cNvSpPr txBox="1"/>
          <p:nvPr/>
        </p:nvSpPr>
        <p:spPr>
          <a:xfrm>
            <a:off x="812800" y="2743200"/>
            <a:ext cx="2730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Zone + DNS-server state</a:t>
            </a:r>
          </a:p>
        </p:txBody>
      </p:sp>
      <p:sp>
        <p:nvSpPr>
          <p:cNvPr id="22" name="Rounded Rectangle 21"/>
          <p:cNvSpPr/>
          <p:nvPr/>
        </p:nvSpPr>
        <p:spPr>
          <a:xfrm>
            <a:off x="4508500" y="2209800"/>
            <a:ext cx="3365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085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11700" y="2374900"/>
            <a:ext cx="2984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DNSEndpoint</a:t>
            </a:r>
          </a:p>
        </p:txBody>
      </p:sp>
      <p:sp>
        <p:nvSpPr>
          <p:cNvPr id="25" name="TextBox 24"/>
          <p:cNvSpPr txBox="1"/>
          <p:nvPr/>
        </p:nvSpPr>
        <p:spPr>
          <a:xfrm>
            <a:off x="4711700" y="2743200"/>
            <a:ext cx="2984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Delegation NS + addresses</a:t>
            </a:r>
          </a:p>
        </p:txBody>
      </p:sp>
      <p:sp>
        <p:nvSpPr>
          <p:cNvPr id="26" name="Rounded Rectangle 25"/>
          <p:cNvSpPr/>
          <p:nvPr/>
        </p:nvSpPr>
        <p:spPr>
          <a:xfrm>
            <a:off x="8458200" y="2209800"/>
            <a:ext cx="31242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582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image.png"/>
          <p:cNvPicPr>
            <a:picLocks noChangeAspect="1"/>
          </p:cNvPicPr>
          <p:nvPr/>
        </p:nvPicPr>
        <p:blipFill>
          <a:blip r:embed="rId2"/>
          <a:stretch>
            <a:fillRect/>
          </a:stretch>
        </p:blipFill>
        <p:spPr>
          <a:xfrm>
            <a:off x="8610776" y="2374900"/>
            <a:ext cx="558447" cy="558800"/>
          </a:xfrm>
          <a:prstGeom prst="rect">
            <a:avLst/>
          </a:prstGeom>
        </p:spPr>
      </p:pic>
      <p:sp>
        <p:nvSpPr>
          <p:cNvPr id="29" name="TextBox 28"/>
          <p:cNvSpPr txBox="1"/>
          <p:nvPr/>
        </p:nvSpPr>
        <p:spPr>
          <a:xfrm>
            <a:off x="9296400" y="2374900"/>
            <a:ext cx="2108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ExternalDNS</a:t>
            </a:r>
          </a:p>
        </p:txBody>
      </p:sp>
      <p:sp>
        <p:nvSpPr>
          <p:cNvPr id="30" name="TextBox 29"/>
          <p:cNvSpPr txBox="1"/>
          <p:nvPr/>
        </p:nvSpPr>
        <p:spPr>
          <a:xfrm>
            <a:off x="9296400" y="2743200"/>
            <a:ext cx="2108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Sync parent records</a:t>
            </a:r>
          </a:p>
        </p:txBody>
      </p:sp>
      <p:sp>
        <p:nvSpPr>
          <p:cNvPr id="31" name="TextBox 30"/>
          <p:cNvSpPr txBox="1"/>
          <p:nvPr/>
        </p:nvSpPr>
        <p:spPr>
          <a:xfrm>
            <a:off x="4508500" y="3187700"/>
            <a:ext cx="33655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087F85"/>
                </a:solidFill>
                <a:latin typeface="Arial"/>
              </a:rPr>
              <a:t>Zone configuration</a:t>
            </a:r>
          </a:p>
        </p:txBody>
      </p:sp>
      <p:sp>
        <p:nvSpPr>
          <p:cNvPr id="32" name="Rounded Rectangle 31"/>
          <p:cNvSpPr/>
          <p:nvPr/>
        </p:nvSpPr>
        <p:spPr>
          <a:xfrm>
            <a:off x="4508500" y="3429000"/>
            <a:ext cx="3365500" cy="863600"/>
          </a:xfrm>
          <a:prstGeom prst="roundRect">
            <a:avLst>
              <a:gd name="adj" fmla="val 1029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08500" y="3429000"/>
            <a:ext cx="50800" cy="863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image.png"/>
          <p:cNvPicPr>
            <a:picLocks noChangeAspect="1"/>
          </p:cNvPicPr>
          <p:nvPr/>
        </p:nvPicPr>
        <p:blipFill>
          <a:blip r:embed="rId3"/>
          <a:stretch>
            <a:fillRect/>
          </a:stretch>
        </p:blipFill>
        <p:spPr>
          <a:xfrm>
            <a:off x="4660900" y="3581400"/>
            <a:ext cx="558800" cy="558800"/>
          </a:xfrm>
          <a:prstGeom prst="rect">
            <a:avLst/>
          </a:prstGeom>
        </p:spPr>
      </p:pic>
      <p:sp>
        <p:nvSpPr>
          <p:cNvPr id="35" name="TextBox 34"/>
          <p:cNvSpPr txBox="1"/>
          <p:nvPr/>
        </p:nvSpPr>
        <p:spPr>
          <a:xfrm>
            <a:off x="5346700" y="3594100"/>
            <a:ext cx="2349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36" name="TextBox 35"/>
          <p:cNvSpPr txBox="1"/>
          <p:nvPr/>
        </p:nvSpPr>
        <p:spPr>
          <a:xfrm>
            <a:off x="5346700" y="3962400"/>
            <a:ext cx="2349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Activate delegated zone</a:t>
            </a:r>
          </a:p>
        </p:txBody>
      </p:sp>
      <p:sp>
        <p:nvSpPr>
          <p:cNvPr id="37" name="TextBox 36"/>
          <p:cNvSpPr txBox="1"/>
          <p:nvPr/>
        </p:nvSpPr>
        <p:spPr>
          <a:xfrm>
            <a:off x="8458200" y="3187700"/>
            <a:ext cx="31242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087F85"/>
                </a:solidFill>
                <a:latin typeface="Arial"/>
              </a:rPr>
              <a:t>Parent delegation</a:t>
            </a:r>
          </a:p>
        </p:txBody>
      </p:sp>
      <p:sp>
        <p:nvSpPr>
          <p:cNvPr id="38" name="Rounded Rectangle 37"/>
          <p:cNvSpPr/>
          <p:nvPr/>
        </p:nvSpPr>
        <p:spPr>
          <a:xfrm>
            <a:off x="8458200" y="3429000"/>
            <a:ext cx="3124200" cy="863600"/>
          </a:xfrm>
          <a:prstGeom prst="roundRect">
            <a:avLst>
              <a:gd name="adj" fmla="val 1029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458200" y="3429000"/>
            <a:ext cx="50800" cy="863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661400" y="3594100"/>
            <a:ext cx="2743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Parent DNS</a:t>
            </a:r>
          </a:p>
        </p:txBody>
      </p:sp>
      <p:sp>
        <p:nvSpPr>
          <p:cNvPr id="41" name="TextBox 40"/>
          <p:cNvSpPr txBox="1"/>
          <p:nvPr/>
        </p:nvSpPr>
        <p:spPr>
          <a:xfrm>
            <a:off x="8661400" y="3962400"/>
            <a:ext cx="2743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NS + address records</a:t>
            </a:r>
          </a:p>
        </p:txBody>
      </p:sp>
      <p:sp>
        <p:nvSpPr>
          <p:cNvPr id="42" name="TextBox 41"/>
          <p:cNvSpPr txBox="1"/>
          <p:nvPr/>
        </p:nvSpPr>
        <p:spPr>
          <a:xfrm>
            <a:off x="990600" y="3759200"/>
            <a:ext cx="2159000" cy="227965"/>
          </a:xfrm>
          <a:prstGeom prst="rect">
            <a:avLst/>
          </a:prstGeom>
          <a:noFill/>
        </p:spPr>
        <p:txBody>
          <a:bodyPr wrap="none" lIns="0" rIns="0" tIns="0" bIns="0" anchor="t">
            <a:noAutofit/>
          </a:bodyPr>
          <a:lstStyle/>
          <a:p>
            <a:pPr algn="r">
              <a:lnSpc>
                <a:spcPts val="1495"/>
              </a:lnSpc>
              <a:spcBef>
                <a:spcPts val="0"/>
              </a:spcBef>
              <a:spcAft>
                <a:spcPts val="0"/>
              </a:spcAft>
            </a:pPr>
            <a:r>
              <a:rPr sz="1300" b="0">
                <a:solidFill>
                  <a:srgbClr val="087F85"/>
                </a:solidFill>
                <a:latin typeface="Arial"/>
              </a:rPr>
              <a:t>Peer DNS IPs</a:t>
            </a:r>
          </a:p>
        </p:txBody>
      </p:sp>
      <p:sp>
        <p:nvSpPr>
          <p:cNvPr id="43" name="TextBox 42"/>
          <p:cNvSpPr txBox="1"/>
          <p:nvPr/>
        </p:nvSpPr>
        <p:spPr>
          <a:xfrm>
            <a:off x="609600" y="4470400"/>
            <a:ext cx="107950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CF0035"/>
                </a:solidFill>
                <a:latin typeface="Arial"/>
              </a:rPr>
              <a:t>APPLICATION ANSWERS</a:t>
            </a:r>
          </a:p>
        </p:txBody>
      </p:sp>
      <p:sp>
        <p:nvSpPr>
          <p:cNvPr id="44" name="Rounded Rectangle 43"/>
          <p:cNvSpPr/>
          <p:nvPr/>
        </p:nvSpPr>
        <p:spPr>
          <a:xfrm>
            <a:off x="609600" y="4826000"/>
            <a:ext cx="3111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096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2800" y="4991100"/>
            <a:ext cx="2730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Gslb + readiness</a:t>
            </a:r>
          </a:p>
        </p:txBody>
      </p:sp>
      <p:sp>
        <p:nvSpPr>
          <p:cNvPr id="47" name="TextBox 46"/>
          <p:cNvSpPr txBox="1"/>
          <p:nvPr/>
        </p:nvSpPr>
        <p:spPr>
          <a:xfrm>
            <a:off x="812800" y="5359400"/>
            <a:ext cx="2730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Strategy + ready endpoints</a:t>
            </a:r>
          </a:p>
        </p:txBody>
      </p:sp>
      <p:sp>
        <p:nvSpPr>
          <p:cNvPr id="48" name="Rounded Rectangle 47"/>
          <p:cNvSpPr/>
          <p:nvPr/>
        </p:nvSpPr>
        <p:spPr>
          <a:xfrm>
            <a:off x="4508500" y="4826000"/>
            <a:ext cx="3365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5085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711700" y="4991100"/>
            <a:ext cx="2984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DNSEndpoint</a:t>
            </a:r>
          </a:p>
        </p:txBody>
      </p:sp>
      <p:sp>
        <p:nvSpPr>
          <p:cNvPr id="51" name="TextBox 50"/>
          <p:cNvSpPr txBox="1"/>
          <p:nvPr/>
        </p:nvSpPr>
        <p:spPr>
          <a:xfrm>
            <a:off x="4711700" y="5359400"/>
            <a:ext cx="2984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Eligible application IPs</a:t>
            </a:r>
          </a:p>
        </p:txBody>
      </p:sp>
      <p:sp>
        <p:nvSpPr>
          <p:cNvPr id="52" name="Rounded Rectangle 51"/>
          <p:cNvSpPr/>
          <p:nvPr/>
        </p:nvSpPr>
        <p:spPr>
          <a:xfrm>
            <a:off x="8458200" y="4826000"/>
            <a:ext cx="31242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4582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4" name="Picture 53" descr="image.png"/>
          <p:cNvPicPr>
            <a:picLocks noChangeAspect="1"/>
          </p:cNvPicPr>
          <p:nvPr/>
        </p:nvPicPr>
        <p:blipFill>
          <a:blip r:embed="rId3"/>
          <a:stretch>
            <a:fillRect/>
          </a:stretch>
        </p:blipFill>
        <p:spPr>
          <a:xfrm>
            <a:off x="8610600" y="4991100"/>
            <a:ext cx="558800" cy="558800"/>
          </a:xfrm>
          <a:prstGeom prst="rect">
            <a:avLst/>
          </a:prstGeom>
        </p:spPr>
      </p:pic>
      <p:sp>
        <p:nvSpPr>
          <p:cNvPr id="55" name="TextBox 54"/>
          <p:cNvSpPr txBox="1"/>
          <p:nvPr/>
        </p:nvSpPr>
        <p:spPr>
          <a:xfrm>
            <a:off x="9296400" y="4991100"/>
            <a:ext cx="2108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56" name="TextBox 55"/>
          <p:cNvSpPr txBox="1"/>
          <p:nvPr/>
        </p:nvSpPr>
        <p:spPr>
          <a:xfrm>
            <a:off x="9296400" y="5359400"/>
            <a:ext cx="2108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Authoritative answers</a:t>
            </a:r>
          </a:p>
        </p:txBody>
      </p:sp>
      <p:cxnSp>
        <p:nvCxnSpPr>
          <p:cNvPr id="57" name="Connector 56"/>
          <p:cNvCxnSpPr/>
          <p:nvPr/>
        </p:nvCxnSpPr>
        <p:spPr>
          <a:xfrm>
            <a:off x="3721100" y="5270500"/>
            <a:ext cx="7874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7874000" y="5270500"/>
            <a:ext cx="5842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609600" y="6057900"/>
            <a:ext cx="10972800" cy="300990"/>
          </a:xfrm>
          <a:prstGeom prst="rect">
            <a:avLst/>
          </a:prstGeom>
          <a:noFill/>
        </p:spPr>
        <p:txBody>
          <a:bodyPr wrap="none" lIns="0" rIns="0" tIns="0" bIns="0" anchor="t">
            <a:noAutofit/>
          </a:bodyPr>
          <a:lstStyle/>
          <a:p>
            <a:pPr algn="ctr">
              <a:lnSpc>
                <a:spcPts val="2070"/>
              </a:lnSpc>
              <a:spcBef>
                <a:spcPts val="0"/>
              </a:spcBef>
              <a:spcAft>
                <a:spcPts val="0"/>
              </a:spcAft>
            </a:pPr>
            <a:r>
              <a:rPr sz="1800" b="0">
                <a:solidFill>
                  <a:srgbClr val="5D6F82"/>
                </a:solidFill>
                <a:latin typeface="Arial"/>
              </a:rPr>
              <a:t>Membership refresh and application reconciliation run separately.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THE REQUEST PATH</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08 / 26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DNS selects an address. The client connects.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609600" y="2413000"/>
            <a:ext cx="2286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09600" y="2413000"/>
            <a:ext cx="50800" cy="965200"/>
          </a:xfrm>
          <a:prstGeom prst="rect">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2800" y="2578100"/>
            <a:ext cx="1905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Client</a:t>
            </a:r>
          </a:p>
        </p:txBody>
      </p:sp>
      <p:sp>
        <p:nvSpPr>
          <p:cNvPr id="12" name="Rounded Rectangle 11"/>
          <p:cNvSpPr/>
          <p:nvPr/>
        </p:nvSpPr>
        <p:spPr>
          <a:xfrm>
            <a:off x="4635500" y="2413000"/>
            <a:ext cx="2667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635500" y="2413000"/>
            <a:ext cx="50800" cy="9652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38700" y="2578100"/>
            <a:ext cx="2286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Resolver</a:t>
            </a:r>
          </a:p>
        </p:txBody>
      </p:sp>
      <p:sp>
        <p:nvSpPr>
          <p:cNvPr id="15" name="TextBox 14"/>
          <p:cNvSpPr txBox="1"/>
          <p:nvPr/>
        </p:nvSpPr>
        <p:spPr>
          <a:xfrm>
            <a:off x="4838700" y="2946400"/>
            <a:ext cx="2286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Caches answers</a:t>
            </a:r>
          </a:p>
        </p:txBody>
      </p:sp>
      <p:sp>
        <p:nvSpPr>
          <p:cNvPr id="16" name="Rounded Rectangle 15"/>
          <p:cNvSpPr/>
          <p:nvPr/>
        </p:nvSpPr>
        <p:spPr>
          <a:xfrm>
            <a:off x="9042400" y="2413000"/>
            <a:ext cx="2540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042400" y="2413000"/>
            <a:ext cx="50800" cy="9652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2"/>
          <a:stretch>
            <a:fillRect/>
          </a:stretch>
        </p:blipFill>
        <p:spPr>
          <a:xfrm>
            <a:off x="9194800" y="2616200"/>
            <a:ext cx="558800" cy="558800"/>
          </a:xfrm>
          <a:prstGeom prst="rect">
            <a:avLst/>
          </a:prstGeom>
        </p:spPr>
      </p:pic>
      <p:sp>
        <p:nvSpPr>
          <p:cNvPr id="19" name="TextBox 18"/>
          <p:cNvSpPr txBox="1"/>
          <p:nvPr/>
        </p:nvSpPr>
        <p:spPr>
          <a:xfrm>
            <a:off x="9880600" y="2578100"/>
            <a:ext cx="1524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20" name="TextBox 19"/>
          <p:cNvSpPr txBox="1"/>
          <p:nvPr/>
        </p:nvSpPr>
        <p:spPr>
          <a:xfrm>
            <a:off x="9880600" y="2946400"/>
            <a:ext cx="1524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Authoritative</a:t>
            </a:r>
          </a:p>
        </p:txBody>
      </p:sp>
      <p:cxnSp>
        <p:nvCxnSpPr>
          <p:cNvPr id="21" name="Connector 20"/>
          <p:cNvCxnSpPr/>
          <p:nvPr/>
        </p:nvCxnSpPr>
        <p:spPr>
          <a:xfrm>
            <a:off x="2895600" y="26543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302500" y="26543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7302500" y="31877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2895600" y="31877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971800" y="2159000"/>
            <a:ext cx="16510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DNS query</a:t>
            </a:r>
          </a:p>
        </p:txBody>
      </p:sp>
      <p:sp>
        <p:nvSpPr>
          <p:cNvPr id="26" name="TextBox 25"/>
          <p:cNvSpPr txBox="1"/>
          <p:nvPr/>
        </p:nvSpPr>
        <p:spPr>
          <a:xfrm>
            <a:off x="7340600" y="2159000"/>
            <a:ext cx="16510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DNS query</a:t>
            </a:r>
          </a:p>
        </p:txBody>
      </p:sp>
      <p:sp>
        <p:nvSpPr>
          <p:cNvPr id="27" name="TextBox 26"/>
          <p:cNvSpPr txBox="1"/>
          <p:nvPr/>
        </p:nvSpPr>
        <p:spPr>
          <a:xfrm>
            <a:off x="2997200" y="3441700"/>
            <a:ext cx="1625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A answer</a:t>
            </a:r>
          </a:p>
        </p:txBody>
      </p:sp>
      <p:sp>
        <p:nvSpPr>
          <p:cNvPr id="28" name="TextBox 27"/>
          <p:cNvSpPr txBox="1"/>
          <p:nvPr/>
        </p:nvSpPr>
        <p:spPr>
          <a:xfrm>
            <a:off x="7366000" y="3441700"/>
            <a:ext cx="1625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A answer</a:t>
            </a:r>
          </a:p>
        </p:txBody>
      </p:sp>
      <p:sp>
        <p:nvSpPr>
          <p:cNvPr id="29" name="Rounded Rectangle 28"/>
          <p:cNvSpPr/>
          <p:nvPr/>
        </p:nvSpPr>
        <p:spPr>
          <a:xfrm>
            <a:off x="8648700" y="4445000"/>
            <a:ext cx="2933700" cy="990600"/>
          </a:xfrm>
          <a:prstGeom prst="roundRect">
            <a:avLst>
              <a:gd name="adj" fmla="val 897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648700" y="4445000"/>
            <a:ext cx="50800" cy="990600"/>
          </a:xfrm>
          <a:prstGeom prst="rect">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851900" y="4610100"/>
            <a:ext cx="25527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Selected cluster</a:t>
            </a:r>
          </a:p>
        </p:txBody>
      </p:sp>
      <p:sp>
        <p:nvSpPr>
          <p:cNvPr id="32" name="TextBox 31"/>
          <p:cNvSpPr txBox="1"/>
          <p:nvPr/>
        </p:nvSpPr>
        <p:spPr>
          <a:xfrm>
            <a:off x="8851900" y="4978400"/>
            <a:ext cx="25527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Gateway / Ingress</a:t>
            </a:r>
          </a:p>
        </p:txBody>
      </p:sp>
      <p:cxnSp>
        <p:nvCxnSpPr>
          <p:cNvPr id="33" name="Connector 32"/>
          <p:cNvCxnSpPr/>
          <p:nvPr/>
        </p:nvCxnSpPr>
        <p:spPr>
          <a:xfrm>
            <a:off x="1752600" y="3378200"/>
            <a:ext cx="0" cy="157480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752600" y="4953000"/>
            <a:ext cx="6896100" cy="0"/>
          </a:xfrm>
          <a:prstGeom prst="line">
            <a:avLst/>
          </a:prstGeom>
          <a:ln w="38100">
            <a:solidFill>
              <a:srgbClr val="CF00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429000" y="4495800"/>
            <a:ext cx="4572000" cy="388620"/>
          </a:xfrm>
          <a:prstGeom prst="rect">
            <a:avLst/>
          </a:prstGeom>
          <a:noFill/>
        </p:spPr>
        <p:txBody>
          <a:bodyPr wrap="none" lIns="0" rIns="0" tIns="0" bIns="0" anchor="t">
            <a:noAutofit/>
          </a:bodyPr>
          <a:lstStyle/>
          <a:p>
            <a:pPr algn="ctr">
              <a:lnSpc>
                <a:spcPts val="2760"/>
              </a:lnSpc>
              <a:spcBef>
                <a:spcPts val="0"/>
              </a:spcBef>
              <a:spcAft>
                <a:spcPts val="0"/>
              </a:spcAft>
            </a:pPr>
            <a:r>
              <a:rPr sz="2400" b="1">
                <a:solidFill>
                  <a:srgbClr val="CF0035"/>
                </a:solidFill>
                <a:latin typeface="Arial"/>
              </a:rPr>
              <a:t>Application connection</a:t>
            </a:r>
          </a:p>
        </p:txBody>
      </p:sp>
      <p:sp>
        <p:nvSpPr>
          <p:cNvPr id="36" name="Rounded Rectangle 35"/>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DNS is outside the application data path.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DNS OWNERSHIP</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09 / 26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Delegation is the authority boundary</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Parent DNS delegates the zone. CoreDNS answers application lookups.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82800"/>
            <a:ext cx="3937000" cy="2844800"/>
          </a:xfrm>
          <a:prstGeom prst="roundRect">
            <a:avLst>
              <a:gd name="adj" fmla="val 4464"/>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032000"/>
            <a:ext cx="3937000" cy="2844800"/>
          </a:xfrm>
          <a:prstGeom prst="roundRect">
            <a:avLst>
              <a:gd name="adj" fmla="val 446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044700"/>
            <a:ext cx="13081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89000" y="2286000"/>
            <a:ext cx="2794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PARENT ZONE</a:t>
            </a:r>
          </a:p>
        </p:txBody>
      </p:sp>
      <p:sp>
        <p:nvSpPr>
          <p:cNvPr id="14" name="TextBox 13"/>
          <p:cNvSpPr txBox="1"/>
          <p:nvPr/>
        </p:nvSpPr>
        <p:spPr>
          <a:xfrm>
            <a:off x="889000" y="2578100"/>
            <a:ext cx="2921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example.com</a:t>
            </a:r>
          </a:p>
        </p:txBody>
      </p:sp>
      <p:sp>
        <p:nvSpPr>
          <p:cNvPr id="15" name="Oval 14"/>
          <p:cNvSpPr/>
          <p:nvPr/>
        </p:nvSpPr>
        <p:spPr>
          <a:xfrm>
            <a:off x="3848100" y="2349500"/>
            <a:ext cx="482600" cy="482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924300" y="2425700"/>
            <a:ext cx="330200" cy="330200"/>
          </a:xfrm>
          <a:prstGeom prst="ellipse">
            <a:avLst/>
          </a:prstGeom>
          <a:solidFill>
            <a:srgbClr val="EAF0FB"/>
          </a:solidFill>
          <a:ln w="1524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013200" y="2425700"/>
            <a:ext cx="152400" cy="330200"/>
          </a:xfrm>
          <a:prstGeom prst="ellipse">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3924300" y="2590800"/>
            <a:ext cx="3302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949700" y="2514600"/>
            <a:ext cx="279400" cy="0"/>
          </a:xfrm>
          <a:prstGeom prst="line">
            <a:avLst/>
          </a:prstGeom>
          <a:ln w="101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949700" y="2667000"/>
            <a:ext cx="279400" cy="0"/>
          </a:xfrm>
          <a:prstGeom prst="line">
            <a:avLst/>
          </a:prstGeom>
          <a:ln w="101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89000" y="3086100"/>
            <a:ext cx="33782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63600" y="3251200"/>
            <a:ext cx="3429000" cy="1143000"/>
          </a:xfrm>
          <a:prstGeom prst="roundRect">
            <a:avLst>
              <a:gd name="adj" fmla="val 777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41400" y="3378200"/>
            <a:ext cx="30734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NS RECORDS FOR</a:t>
            </a:r>
          </a:p>
        </p:txBody>
      </p:sp>
      <p:sp>
        <p:nvSpPr>
          <p:cNvPr id="24" name="TextBox 23"/>
          <p:cNvSpPr txBox="1"/>
          <p:nvPr/>
        </p:nvSpPr>
        <p:spPr>
          <a:xfrm>
            <a:off x="1041400" y="3606800"/>
            <a:ext cx="307340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142338"/>
                </a:solidFill>
                <a:latin typeface="Courier New"/>
              </a:rPr>
              <a:t>gslb.example.com</a:t>
            </a:r>
          </a:p>
        </p:txBody>
      </p:sp>
      <p:sp>
        <p:nvSpPr>
          <p:cNvPr id="25" name="Rounded Rectangle 24"/>
          <p:cNvSpPr/>
          <p:nvPr/>
        </p:nvSpPr>
        <p:spPr>
          <a:xfrm>
            <a:off x="1041400" y="3949700"/>
            <a:ext cx="1346200" cy="317500"/>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168400" y="4070350"/>
            <a:ext cx="76200" cy="762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46200" y="4000500"/>
            <a:ext cx="9144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2762C8"/>
                </a:solidFill>
                <a:latin typeface="Courier New"/>
              </a:rPr>
              <a:t>ns-a</a:t>
            </a:r>
          </a:p>
        </p:txBody>
      </p:sp>
      <p:sp>
        <p:nvSpPr>
          <p:cNvPr id="28" name="Rounded Rectangle 27"/>
          <p:cNvSpPr/>
          <p:nvPr/>
        </p:nvSpPr>
        <p:spPr>
          <a:xfrm>
            <a:off x="2565400" y="3949700"/>
            <a:ext cx="1346200" cy="317500"/>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2692400" y="4070350"/>
            <a:ext cx="76200" cy="762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870200" y="4000500"/>
            <a:ext cx="9144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087F85"/>
                </a:solidFill>
                <a:latin typeface="Courier New"/>
              </a:rPr>
              <a:t>ns-b</a:t>
            </a:r>
          </a:p>
        </p:txBody>
      </p:sp>
      <p:sp>
        <p:nvSpPr>
          <p:cNvPr id="31" name="TextBox 30"/>
          <p:cNvSpPr txBox="1"/>
          <p:nvPr/>
        </p:nvSpPr>
        <p:spPr>
          <a:xfrm>
            <a:off x="863600" y="4559300"/>
            <a:ext cx="3429000" cy="227965"/>
          </a:xfrm>
          <a:prstGeom prst="rect">
            <a:avLst/>
          </a:prstGeom>
          <a:noFill/>
        </p:spPr>
        <p:txBody>
          <a:bodyPr wrap="none" lIns="0" rIns="0" tIns="0" bIns="0" anchor="t">
            <a:noAutofit/>
          </a:bodyPr>
          <a:lstStyle/>
          <a:p>
            <a:pPr algn="ctr">
              <a:lnSpc>
                <a:spcPts val="1495"/>
              </a:lnSpc>
              <a:spcBef>
                <a:spcPts val="0"/>
              </a:spcBef>
              <a:spcAft>
                <a:spcPts val="0"/>
              </a:spcAft>
            </a:pPr>
            <a:r>
              <a:rPr sz="1300" b="0">
                <a:solidFill>
                  <a:srgbClr val="5D6F82"/>
                </a:solidFill>
                <a:latin typeface="Arial"/>
              </a:rPr>
              <a:t>Nameserver addresses published too.</a:t>
            </a:r>
          </a:p>
        </p:txBody>
      </p:sp>
      <p:cxnSp>
        <p:nvCxnSpPr>
          <p:cNvPr id="32" name="Connector 31"/>
          <p:cNvCxnSpPr/>
          <p:nvPr/>
        </p:nvCxnSpPr>
        <p:spPr>
          <a:xfrm>
            <a:off x="5397500" y="2146300"/>
            <a:ext cx="0" cy="2590800"/>
          </a:xfrm>
          <a:prstGeom prst="line">
            <a:avLst/>
          </a:prstGeom>
          <a:ln w="15240">
            <a:solidFill>
              <a:srgbClr val="E7BCC7"/>
            </a:solidFill>
            <a:prstDash val="dash"/>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635500" y="3136900"/>
            <a:ext cx="1524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DELEGATES</a:t>
            </a:r>
          </a:p>
        </p:txBody>
      </p:sp>
      <p:cxnSp>
        <p:nvCxnSpPr>
          <p:cNvPr id="34" name="Connector 33"/>
          <p:cNvCxnSpPr/>
          <p:nvPr/>
        </p:nvCxnSpPr>
        <p:spPr>
          <a:xfrm>
            <a:off x="4546600" y="3632200"/>
            <a:ext cx="1701800" cy="0"/>
          </a:xfrm>
          <a:prstGeom prst="line">
            <a:avLst/>
          </a:prstGeom>
          <a:ln w="31750">
            <a:solidFill>
              <a:srgbClr val="CF00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5080000" y="3467100"/>
            <a:ext cx="635000" cy="330200"/>
          </a:xfrm>
          <a:prstGeom prst="roundRect">
            <a:avLst>
              <a:gd name="adj" fmla="val 23076"/>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68900" y="3517900"/>
            <a:ext cx="45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NS</a:t>
            </a:r>
          </a:p>
        </p:txBody>
      </p:sp>
      <p:sp>
        <p:nvSpPr>
          <p:cNvPr id="37" name="Rounded Rectangle 36"/>
          <p:cNvSpPr/>
          <p:nvPr/>
        </p:nvSpPr>
        <p:spPr>
          <a:xfrm>
            <a:off x="6248400" y="2082800"/>
            <a:ext cx="5334000" cy="2844800"/>
          </a:xfrm>
          <a:prstGeom prst="roundRect">
            <a:avLst>
              <a:gd name="adj" fmla="val 4464"/>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248400" y="2032000"/>
            <a:ext cx="5334000" cy="2844800"/>
          </a:xfrm>
          <a:prstGeom prst="roundRect">
            <a:avLst>
              <a:gd name="adj" fmla="val 4464"/>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6527800" y="2044700"/>
            <a:ext cx="17780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527800" y="2286000"/>
            <a:ext cx="47752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6DD3CE"/>
                </a:solidFill>
                <a:latin typeface="Arial"/>
              </a:rPr>
              <a:t>DELEGATED ZONE</a:t>
            </a:r>
          </a:p>
        </p:txBody>
      </p:sp>
      <p:sp>
        <p:nvSpPr>
          <p:cNvPr id="41" name="TextBox 40"/>
          <p:cNvSpPr txBox="1"/>
          <p:nvPr/>
        </p:nvSpPr>
        <p:spPr>
          <a:xfrm>
            <a:off x="6527800" y="2578100"/>
            <a:ext cx="47752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FFFFFF"/>
                </a:solidFill>
                <a:latin typeface="Arial"/>
              </a:rPr>
              <a:t>gslb.example.com</a:t>
            </a:r>
          </a:p>
        </p:txBody>
      </p:sp>
      <p:sp>
        <p:nvSpPr>
          <p:cNvPr id="42" name="Rounded Rectangle 41"/>
          <p:cNvSpPr/>
          <p:nvPr/>
        </p:nvSpPr>
        <p:spPr>
          <a:xfrm>
            <a:off x="6502400" y="3238500"/>
            <a:ext cx="2324100" cy="1092200"/>
          </a:xfrm>
          <a:prstGeom prst="roundRect">
            <a:avLst>
              <a:gd name="adj" fmla="val 813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680200" y="3378200"/>
            <a:ext cx="1193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CLUSTER A</a:t>
            </a:r>
          </a:p>
        </p:txBody>
      </p:sp>
      <p:sp>
        <p:nvSpPr>
          <p:cNvPr id="44" name="TextBox 43"/>
          <p:cNvSpPr txBox="1"/>
          <p:nvPr/>
        </p:nvSpPr>
        <p:spPr>
          <a:xfrm>
            <a:off x="7899400" y="3390900"/>
            <a:ext cx="749300" cy="198754"/>
          </a:xfrm>
          <a:prstGeom prst="rect">
            <a:avLst/>
          </a:prstGeom>
          <a:noFill/>
        </p:spPr>
        <p:txBody>
          <a:bodyPr wrap="none" lIns="0" rIns="0" tIns="0" bIns="0" anchor="t">
            <a:noAutofit/>
          </a:bodyPr>
          <a:lstStyle/>
          <a:p>
            <a:pPr algn="r">
              <a:lnSpc>
                <a:spcPts val="1264"/>
              </a:lnSpc>
              <a:spcBef>
                <a:spcPts val="0"/>
              </a:spcBef>
              <a:spcAft>
                <a:spcPts val="0"/>
              </a:spcAft>
            </a:pPr>
            <a:r>
              <a:rPr sz="1100" b="0">
                <a:solidFill>
                  <a:srgbClr val="5D6F82"/>
                </a:solidFill>
                <a:latin typeface="Courier New"/>
              </a:rPr>
              <a:t>ns-a</a:t>
            </a:r>
          </a:p>
        </p:txBody>
      </p:sp>
      <p:pic>
        <p:nvPicPr>
          <p:cNvPr id="45" name="Picture 44" descr="image.png"/>
          <p:cNvPicPr>
            <a:picLocks noChangeAspect="1"/>
          </p:cNvPicPr>
          <p:nvPr/>
        </p:nvPicPr>
        <p:blipFill>
          <a:blip r:embed="rId2"/>
          <a:stretch>
            <a:fillRect/>
          </a:stretch>
        </p:blipFill>
        <p:spPr>
          <a:xfrm>
            <a:off x="6680200" y="3733800"/>
            <a:ext cx="431800" cy="431800"/>
          </a:xfrm>
          <a:prstGeom prst="rect">
            <a:avLst/>
          </a:prstGeom>
        </p:spPr>
      </p:pic>
      <p:sp>
        <p:nvSpPr>
          <p:cNvPr id="46" name="TextBox 45"/>
          <p:cNvSpPr txBox="1"/>
          <p:nvPr/>
        </p:nvSpPr>
        <p:spPr>
          <a:xfrm>
            <a:off x="7239000" y="3771900"/>
            <a:ext cx="14097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CoreDNS</a:t>
            </a:r>
          </a:p>
        </p:txBody>
      </p:sp>
      <p:sp>
        <p:nvSpPr>
          <p:cNvPr id="47" name="Rounded Rectangle 46"/>
          <p:cNvSpPr/>
          <p:nvPr/>
        </p:nvSpPr>
        <p:spPr>
          <a:xfrm>
            <a:off x="9004300" y="3238500"/>
            <a:ext cx="2324100" cy="1092200"/>
          </a:xfrm>
          <a:prstGeom prst="roundRect">
            <a:avLst>
              <a:gd name="adj" fmla="val 813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82100" y="3378200"/>
            <a:ext cx="1193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CLUSTER B</a:t>
            </a:r>
          </a:p>
        </p:txBody>
      </p:sp>
      <p:sp>
        <p:nvSpPr>
          <p:cNvPr id="49" name="TextBox 48"/>
          <p:cNvSpPr txBox="1"/>
          <p:nvPr/>
        </p:nvSpPr>
        <p:spPr>
          <a:xfrm>
            <a:off x="10401300" y="3390900"/>
            <a:ext cx="749300" cy="198754"/>
          </a:xfrm>
          <a:prstGeom prst="rect">
            <a:avLst/>
          </a:prstGeom>
          <a:noFill/>
        </p:spPr>
        <p:txBody>
          <a:bodyPr wrap="none" lIns="0" rIns="0" tIns="0" bIns="0" anchor="t">
            <a:noAutofit/>
          </a:bodyPr>
          <a:lstStyle/>
          <a:p>
            <a:pPr algn="r">
              <a:lnSpc>
                <a:spcPts val="1264"/>
              </a:lnSpc>
              <a:spcBef>
                <a:spcPts val="0"/>
              </a:spcBef>
              <a:spcAft>
                <a:spcPts val="0"/>
              </a:spcAft>
            </a:pPr>
            <a:r>
              <a:rPr sz="1100" b="0">
                <a:solidFill>
                  <a:srgbClr val="5D6F82"/>
                </a:solidFill>
                <a:latin typeface="Courier New"/>
              </a:rPr>
              <a:t>ns-b</a:t>
            </a:r>
          </a:p>
        </p:txBody>
      </p:sp>
      <p:pic>
        <p:nvPicPr>
          <p:cNvPr id="50" name="Picture 49" descr="image.png"/>
          <p:cNvPicPr>
            <a:picLocks noChangeAspect="1"/>
          </p:cNvPicPr>
          <p:nvPr/>
        </p:nvPicPr>
        <p:blipFill>
          <a:blip r:embed="rId2"/>
          <a:stretch>
            <a:fillRect/>
          </a:stretch>
        </p:blipFill>
        <p:spPr>
          <a:xfrm>
            <a:off x="9182100" y="3733800"/>
            <a:ext cx="431800" cy="431800"/>
          </a:xfrm>
          <a:prstGeom prst="rect">
            <a:avLst/>
          </a:prstGeom>
        </p:spPr>
      </p:pic>
      <p:sp>
        <p:nvSpPr>
          <p:cNvPr id="51" name="TextBox 50"/>
          <p:cNvSpPr txBox="1"/>
          <p:nvPr/>
        </p:nvSpPr>
        <p:spPr>
          <a:xfrm>
            <a:off x="9740900" y="3771900"/>
            <a:ext cx="14097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CoreDNS</a:t>
            </a:r>
          </a:p>
        </p:txBody>
      </p:sp>
      <p:sp>
        <p:nvSpPr>
          <p:cNvPr id="52" name="TextBox 51"/>
          <p:cNvSpPr txBox="1"/>
          <p:nvPr/>
        </p:nvSpPr>
        <p:spPr>
          <a:xfrm>
            <a:off x="6527800" y="4508500"/>
            <a:ext cx="4775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B8C8D9"/>
                </a:solidFill>
                <a:latin typeface="Arial"/>
              </a:rPr>
              <a:t>Both serve the same application zone.</a:t>
            </a:r>
          </a:p>
        </p:txBody>
      </p:sp>
      <p:sp>
        <p:nvSpPr>
          <p:cNvPr id="53" name="Rounded Rectangle 52"/>
          <p:cNvSpPr/>
          <p:nvPr/>
        </p:nvSpPr>
        <p:spPr>
          <a:xfrm>
            <a:off x="609600" y="5118100"/>
            <a:ext cx="10972800" cy="571500"/>
          </a:xfrm>
          <a:prstGeom prst="roundRect">
            <a:avLst>
              <a:gd name="adj" fmla="val 1555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800100" y="5257800"/>
            <a:ext cx="393700" cy="292100"/>
          </a:xfrm>
          <a:prstGeom prst="roundRect">
            <a:avLst>
              <a:gd name="adj" fmla="val 2173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76300" y="5295900"/>
            <a:ext cx="241300" cy="242569"/>
          </a:xfrm>
          <a:prstGeom prst="rect">
            <a:avLst/>
          </a:prstGeom>
          <a:noFill/>
        </p:spPr>
        <p:txBody>
          <a:bodyPr wrap="none" lIns="0" rIns="0" tIns="0" bIns="0" anchor="t">
            <a:noAutofit/>
          </a:bodyPr>
          <a:lstStyle/>
          <a:p>
            <a:pPr algn="ctr">
              <a:lnSpc>
                <a:spcPts val="1609"/>
              </a:lnSpc>
              <a:spcBef>
                <a:spcPts val="0"/>
              </a:spcBef>
              <a:spcAft>
                <a:spcPts val="0"/>
              </a:spcAft>
            </a:pPr>
            <a:r>
              <a:rPr sz="1400" b="1">
                <a:solidFill>
                  <a:srgbClr val="2762C8"/>
                </a:solidFill>
                <a:latin typeface="Arial"/>
              </a:rPr>
              <a:t>A</a:t>
            </a:r>
          </a:p>
        </p:txBody>
      </p:sp>
      <p:sp>
        <p:nvSpPr>
          <p:cNvPr id="56" name="TextBox 55"/>
          <p:cNvSpPr txBox="1"/>
          <p:nvPr/>
        </p:nvSpPr>
        <p:spPr>
          <a:xfrm>
            <a:off x="1358900" y="5245100"/>
            <a:ext cx="4724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app.gslb.example.com</a:t>
            </a:r>
          </a:p>
        </p:txBody>
      </p:sp>
      <p:cxnSp>
        <p:nvCxnSpPr>
          <p:cNvPr id="57" name="Connector 56"/>
          <p:cNvCxnSpPr/>
          <p:nvPr/>
        </p:nvCxnSpPr>
        <p:spPr>
          <a:xfrm>
            <a:off x="6121400" y="5410200"/>
            <a:ext cx="850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7277100" y="5245100"/>
            <a:ext cx="40005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087F85"/>
                </a:solidFill>
                <a:latin typeface="Arial"/>
              </a:rPr>
              <a:t>Eligible application IPs</a:t>
            </a:r>
          </a:p>
        </p:txBody>
      </p:sp>
      <p:sp>
        <p:nvSpPr>
          <p:cNvPr id="59" name="Rounded Rectangle 58"/>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Own the name, the delegation, and DNS recovery.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TRAFFIC STEERING</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10 / 26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Choose how eligible clusters are used</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Illustrative DNS selections across Kubernetes clusters.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19939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1955800"/>
            <a:ext cx="5334000" cy="1727200"/>
          </a:xfrm>
          <a:prstGeom prst="roundRect">
            <a:avLst>
              <a:gd name="adj" fmla="val 661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38200" y="1968500"/>
            <a:ext cx="10414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38200" y="21590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FAILOVER</a:t>
            </a:r>
          </a:p>
        </p:txBody>
      </p:sp>
      <p:sp>
        <p:nvSpPr>
          <p:cNvPr id="14" name="TextBox 13"/>
          <p:cNvSpPr txBox="1"/>
          <p:nvPr/>
        </p:nvSpPr>
        <p:spPr>
          <a:xfrm>
            <a:off x="838200" y="25273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FFFFFF"/>
                </a:solidFill>
                <a:latin typeface="Arial"/>
              </a:rPr>
              <a:t>Prefer primary</a:t>
            </a:r>
          </a:p>
        </p:txBody>
      </p:sp>
      <p:sp>
        <p:nvSpPr>
          <p:cNvPr id="15" name="TextBox 14"/>
          <p:cNvSpPr txBox="1"/>
          <p:nvPr/>
        </p:nvSpPr>
        <p:spPr>
          <a:xfrm>
            <a:off x="838200" y="33401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Return to primary on recovery</a:t>
            </a:r>
          </a:p>
        </p:txBody>
      </p:sp>
      <p:sp>
        <p:nvSpPr>
          <p:cNvPr id="16" name="TextBox 15"/>
          <p:cNvSpPr txBox="1"/>
          <p:nvPr/>
        </p:nvSpPr>
        <p:spPr>
          <a:xfrm>
            <a:off x="3708400" y="2108200"/>
            <a:ext cx="83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B8C8D9"/>
                </a:solidFill>
                <a:latin typeface="Arial"/>
              </a:rPr>
              <a:t>PRIMARY</a:t>
            </a:r>
          </a:p>
        </p:txBody>
      </p:sp>
      <p:sp>
        <p:nvSpPr>
          <p:cNvPr id="17" name="TextBox 16"/>
          <p:cNvSpPr txBox="1"/>
          <p:nvPr/>
        </p:nvSpPr>
        <p:spPr>
          <a:xfrm>
            <a:off x="4927600" y="2108200"/>
            <a:ext cx="83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B8C8D9"/>
                </a:solidFill>
                <a:latin typeface="Arial"/>
              </a:rPr>
              <a:t>BACKUP</a:t>
            </a:r>
          </a:p>
        </p:txBody>
      </p:sp>
      <p:cxnSp>
        <p:nvCxnSpPr>
          <p:cNvPr id="18" name="Connector 17"/>
          <p:cNvCxnSpPr/>
          <p:nvPr/>
        </p:nvCxnSpPr>
        <p:spPr>
          <a:xfrm flipH="1" flipV="1">
            <a:off x="4127500" y="2717800"/>
            <a:ext cx="406400" cy="266700"/>
          </a:xfrm>
          <a:prstGeom prst="line">
            <a:avLst/>
          </a:prstGeom>
          <a:ln w="19050">
            <a:solidFill>
              <a:srgbClr val="F79BB0"/>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4889500" y="2717800"/>
            <a:ext cx="457200" cy="266700"/>
          </a:xfrm>
          <a:prstGeom prst="line">
            <a:avLst/>
          </a:prstGeom>
          <a:ln w="3175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810000" y="2273300"/>
            <a:ext cx="635000" cy="457200"/>
          </a:xfrm>
          <a:prstGeom prst="roundRect">
            <a:avLst>
              <a:gd name="adj" fmla="val 13888"/>
            </a:avLst>
          </a:prstGeom>
          <a:solidFill>
            <a:srgbClr val="FBE9EE"/>
          </a:solidFill>
          <a:ln w="12700">
            <a:solidFill>
              <a:srgbClr val="EAC3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mage.png"/>
          <p:cNvPicPr>
            <a:picLocks noChangeAspect="1"/>
          </p:cNvPicPr>
          <p:nvPr/>
        </p:nvPicPr>
        <p:blipFill>
          <a:blip r:embed="rId2"/>
          <a:stretch>
            <a:fillRect/>
          </a:stretch>
        </p:blipFill>
        <p:spPr>
          <a:xfrm>
            <a:off x="3860800" y="2362200"/>
            <a:ext cx="279400" cy="279400"/>
          </a:xfrm>
          <a:prstGeom prst="rect">
            <a:avLst/>
          </a:prstGeom>
        </p:spPr>
      </p:pic>
      <p:sp>
        <p:nvSpPr>
          <p:cNvPr id="22" name="TextBox 21"/>
          <p:cNvSpPr txBox="1"/>
          <p:nvPr/>
        </p:nvSpPr>
        <p:spPr>
          <a:xfrm>
            <a:off x="4152900" y="24257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sp>
        <p:nvSpPr>
          <p:cNvPr id="23" name="Rounded Rectangle 22"/>
          <p:cNvSpPr/>
          <p:nvPr/>
        </p:nvSpPr>
        <p:spPr>
          <a:xfrm>
            <a:off x="5029200" y="22733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image.png"/>
          <p:cNvPicPr>
            <a:picLocks noChangeAspect="1"/>
          </p:cNvPicPr>
          <p:nvPr/>
        </p:nvPicPr>
        <p:blipFill>
          <a:blip r:embed="rId2"/>
          <a:stretch>
            <a:fillRect/>
          </a:stretch>
        </p:blipFill>
        <p:spPr>
          <a:xfrm>
            <a:off x="5080000" y="2362200"/>
            <a:ext cx="279400" cy="279400"/>
          </a:xfrm>
          <a:prstGeom prst="rect">
            <a:avLst/>
          </a:prstGeom>
        </p:spPr>
      </p:pic>
      <p:sp>
        <p:nvSpPr>
          <p:cNvPr id="25" name="TextBox 24"/>
          <p:cNvSpPr txBox="1"/>
          <p:nvPr/>
        </p:nvSpPr>
        <p:spPr>
          <a:xfrm>
            <a:off x="5372100" y="24257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cxnSp>
        <p:nvCxnSpPr>
          <p:cNvPr id="26" name="Connector 25"/>
          <p:cNvCxnSpPr/>
          <p:nvPr/>
        </p:nvCxnSpPr>
        <p:spPr>
          <a:xfrm>
            <a:off x="3860800" y="2336800"/>
            <a:ext cx="279400" cy="3175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860800" y="2336800"/>
            <a:ext cx="279400" cy="3175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4356100" y="2984500"/>
            <a:ext cx="711200" cy="279400"/>
          </a:xfrm>
          <a:prstGeom prst="roundRect">
            <a:avLst>
              <a:gd name="adj" fmla="val 22727"/>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06900" y="30353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30" name="Rounded Rectangle 29"/>
          <p:cNvSpPr/>
          <p:nvPr/>
        </p:nvSpPr>
        <p:spPr>
          <a:xfrm>
            <a:off x="6248400" y="19939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48400" y="19558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a:off x="6477000" y="1968500"/>
            <a:ext cx="1041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77000" y="21590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ROUND ROBIN</a:t>
            </a:r>
          </a:p>
        </p:txBody>
      </p:sp>
      <p:sp>
        <p:nvSpPr>
          <p:cNvPr id="34" name="TextBox 33"/>
          <p:cNvSpPr txBox="1"/>
          <p:nvPr/>
        </p:nvSpPr>
        <p:spPr>
          <a:xfrm>
            <a:off x="6477000" y="25273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Use healthy clusters</a:t>
            </a:r>
          </a:p>
        </p:txBody>
      </p:sp>
      <p:sp>
        <p:nvSpPr>
          <p:cNvPr id="35" name="TextBox 34"/>
          <p:cNvSpPr txBox="1"/>
          <p:nvPr/>
        </p:nvSpPr>
        <p:spPr>
          <a:xfrm>
            <a:off x="6477000" y="33401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Active / active DNS answers</a:t>
            </a:r>
          </a:p>
        </p:txBody>
      </p:sp>
      <p:cxnSp>
        <p:nvCxnSpPr>
          <p:cNvPr id="36" name="Connector 35"/>
          <p:cNvCxnSpPr/>
          <p:nvPr/>
        </p:nvCxnSpPr>
        <p:spPr>
          <a:xfrm flipH="1" flipV="1">
            <a:off x="9588500" y="2743200"/>
            <a:ext cx="7620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92710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2"/>
          <a:stretch>
            <a:fillRect/>
          </a:stretch>
        </p:blipFill>
        <p:spPr>
          <a:xfrm>
            <a:off x="9321800" y="2374900"/>
            <a:ext cx="279400" cy="279400"/>
          </a:xfrm>
          <a:prstGeom prst="rect">
            <a:avLst/>
          </a:prstGeom>
        </p:spPr>
      </p:pic>
      <p:sp>
        <p:nvSpPr>
          <p:cNvPr id="39" name="TextBox 38"/>
          <p:cNvSpPr txBox="1"/>
          <p:nvPr/>
        </p:nvSpPr>
        <p:spPr>
          <a:xfrm>
            <a:off x="96139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cxnSp>
        <p:nvCxnSpPr>
          <p:cNvPr id="40" name="Connector 39"/>
          <p:cNvCxnSpPr/>
          <p:nvPr/>
        </p:nvCxnSpPr>
        <p:spPr>
          <a:xfrm flipH="1" flipV="1">
            <a:off x="10325100" y="2743200"/>
            <a:ext cx="254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100076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image.png"/>
          <p:cNvPicPr>
            <a:picLocks noChangeAspect="1"/>
          </p:cNvPicPr>
          <p:nvPr/>
        </p:nvPicPr>
        <p:blipFill>
          <a:blip r:embed="rId2"/>
          <a:stretch>
            <a:fillRect/>
          </a:stretch>
        </p:blipFill>
        <p:spPr>
          <a:xfrm>
            <a:off x="10058400" y="2374900"/>
            <a:ext cx="279400" cy="279400"/>
          </a:xfrm>
          <a:prstGeom prst="rect">
            <a:avLst/>
          </a:prstGeom>
        </p:spPr>
      </p:pic>
      <p:sp>
        <p:nvSpPr>
          <p:cNvPr id="43" name="TextBox 42"/>
          <p:cNvSpPr txBox="1"/>
          <p:nvPr/>
        </p:nvSpPr>
        <p:spPr>
          <a:xfrm>
            <a:off x="103505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cxnSp>
        <p:nvCxnSpPr>
          <p:cNvPr id="44" name="Connector 43"/>
          <p:cNvCxnSpPr/>
          <p:nvPr/>
        </p:nvCxnSpPr>
        <p:spPr>
          <a:xfrm flipV="1">
            <a:off x="10350500" y="2743200"/>
            <a:ext cx="7112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107442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image.png"/>
          <p:cNvPicPr>
            <a:picLocks noChangeAspect="1"/>
          </p:cNvPicPr>
          <p:nvPr/>
        </p:nvPicPr>
        <p:blipFill>
          <a:blip r:embed="rId2"/>
          <a:stretch>
            <a:fillRect/>
          </a:stretch>
        </p:blipFill>
        <p:spPr>
          <a:xfrm>
            <a:off x="10795000" y="2374900"/>
            <a:ext cx="279400" cy="279400"/>
          </a:xfrm>
          <a:prstGeom prst="rect">
            <a:avLst/>
          </a:prstGeom>
        </p:spPr>
      </p:pic>
      <p:sp>
        <p:nvSpPr>
          <p:cNvPr id="47" name="TextBox 46"/>
          <p:cNvSpPr txBox="1"/>
          <p:nvPr/>
        </p:nvSpPr>
        <p:spPr>
          <a:xfrm>
            <a:off x="110871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C</a:t>
            </a:r>
          </a:p>
        </p:txBody>
      </p:sp>
      <p:sp>
        <p:nvSpPr>
          <p:cNvPr id="48" name="Rounded Rectangle 47"/>
          <p:cNvSpPr/>
          <p:nvPr/>
        </p:nvSpPr>
        <p:spPr>
          <a:xfrm>
            <a:off x="9994900" y="2984500"/>
            <a:ext cx="711200" cy="279400"/>
          </a:xfrm>
          <a:prstGeom prst="roundRect">
            <a:avLst>
              <a:gd name="adj" fmla="val 2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045700" y="30353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50" name="Rounded Rectangle 49"/>
          <p:cNvSpPr/>
          <p:nvPr/>
        </p:nvSpPr>
        <p:spPr>
          <a:xfrm>
            <a:off x="609600" y="39497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609600" y="39116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 name="Connector 51"/>
          <p:cNvCxnSpPr/>
          <p:nvPr/>
        </p:nvCxnSpPr>
        <p:spPr>
          <a:xfrm>
            <a:off x="838200" y="3924300"/>
            <a:ext cx="1041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838200" y="41148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WEIGHTED ROUND ROBIN</a:t>
            </a:r>
          </a:p>
        </p:txBody>
      </p:sp>
      <p:sp>
        <p:nvSpPr>
          <p:cNvPr id="54" name="TextBox 53"/>
          <p:cNvSpPr txBox="1"/>
          <p:nvPr/>
        </p:nvSpPr>
        <p:spPr>
          <a:xfrm>
            <a:off x="838200" y="44831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Express preference</a:t>
            </a:r>
          </a:p>
        </p:txBody>
      </p:sp>
      <p:sp>
        <p:nvSpPr>
          <p:cNvPr id="55" name="TextBox 54"/>
          <p:cNvSpPr txBox="1"/>
          <p:nvPr/>
        </p:nvSpPr>
        <p:spPr>
          <a:xfrm>
            <a:off x="838200" y="52959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Request shares are approximate</a:t>
            </a:r>
          </a:p>
        </p:txBody>
      </p:sp>
      <p:cxnSp>
        <p:nvCxnSpPr>
          <p:cNvPr id="56" name="Connector 55"/>
          <p:cNvCxnSpPr/>
          <p:nvPr/>
        </p:nvCxnSpPr>
        <p:spPr>
          <a:xfrm flipH="1" flipV="1">
            <a:off x="3949700" y="4699000"/>
            <a:ext cx="762000" cy="24130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36322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8" name="Picture 57" descr="image.png"/>
          <p:cNvPicPr>
            <a:picLocks noChangeAspect="1"/>
          </p:cNvPicPr>
          <p:nvPr/>
        </p:nvPicPr>
        <p:blipFill>
          <a:blip r:embed="rId2"/>
          <a:stretch>
            <a:fillRect/>
          </a:stretch>
        </p:blipFill>
        <p:spPr>
          <a:xfrm>
            <a:off x="3683000" y="4330700"/>
            <a:ext cx="279400" cy="279400"/>
          </a:xfrm>
          <a:prstGeom prst="rect">
            <a:avLst/>
          </a:prstGeom>
        </p:spPr>
      </p:pic>
      <p:sp>
        <p:nvSpPr>
          <p:cNvPr id="59" name="TextBox 58"/>
          <p:cNvSpPr txBox="1"/>
          <p:nvPr/>
        </p:nvSpPr>
        <p:spPr>
          <a:xfrm>
            <a:off x="39751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w=2</a:t>
            </a:r>
          </a:p>
        </p:txBody>
      </p:sp>
      <p:cxnSp>
        <p:nvCxnSpPr>
          <p:cNvPr id="60" name="Connector 59"/>
          <p:cNvCxnSpPr/>
          <p:nvPr/>
        </p:nvCxnSpPr>
        <p:spPr>
          <a:xfrm flipH="1" flipV="1">
            <a:off x="4686300" y="4699000"/>
            <a:ext cx="25400" cy="241300"/>
          </a:xfrm>
          <a:prstGeom prst="line">
            <a:avLst/>
          </a:prstGeom>
          <a:ln w="381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43688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2" name="Picture 61" descr="image.png"/>
          <p:cNvPicPr>
            <a:picLocks noChangeAspect="1"/>
          </p:cNvPicPr>
          <p:nvPr/>
        </p:nvPicPr>
        <p:blipFill>
          <a:blip r:embed="rId2"/>
          <a:stretch>
            <a:fillRect/>
          </a:stretch>
        </p:blipFill>
        <p:spPr>
          <a:xfrm>
            <a:off x="4419600" y="4330700"/>
            <a:ext cx="279400" cy="279400"/>
          </a:xfrm>
          <a:prstGeom prst="rect">
            <a:avLst/>
          </a:prstGeom>
        </p:spPr>
      </p:pic>
      <p:sp>
        <p:nvSpPr>
          <p:cNvPr id="63" name="TextBox 62"/>
          <p:cNvSpPr txBox="1"/>
          <p:nvPr/>
        </p:nvSpPr>
        <p:spPr>
          <a:xfrm>
            <a:off x="47117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w=3</a:t>
            </a:r>
          </a:p>
        </p:txBody>
      </p:sp>
      <p:cxnSp>
        <p:nvCxnSpPr>
          <p:cNvPr id="64" name="Connector 63"/>
          <p:cNvCxnSpPr/>
          <p:nvPr/>
        </p:nvCxnSpPr>
        <p:spPr>
          <a:xfrm flipV="1">
            <a:off x="4711700" y="4699000"/>
            <a:ext cx="711200" cy="241300"/>
          </a:xfrm>
          <a:prstGeom prst="line">
            <a:avLst/>
          </a:prstGeom>
          <a:ln w="635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51054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6" name="Picture 65" descr="image.png"/>
          <p:cNvPicPr>
            <a:picLocks noChangeAspect="1"/>
          </p:cNvPicPr>
          <p:nvPr/>
        </p:nvPicPr>
        <p:blipFill>
          <a:blip r:embed="rId2"/>
          <a:stretch>
            <a:fillRect/>
          </a:stretch>
        </p:blipFill>
        <p:spPr>
          <a:xfrm>
            <a:off x="5156200" y="4330700"/>
            <a:ext cx="279400" cy="279400"/>
          </a:xfrm>
          <a:prstGeom prst="rect">
            <a:avLst/>
          </a:prstGeom>
        </p:spPr>
      </p:pic>
      <p:sp>
        <p:nvSpPr>
          <p:cNvPr id="67" name="TextBox 66"/>
          <p:cNvSpPr txBox="1"/>
          <p:nvPr/>
        </p:nvSpPr>
        <p:spPr>
          <a:xfrm>
            <a:off x="54483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w=5</a:t>
            </a:r>
          </a:p>
        </p:txBody>
      </p:sp>
      <p:sp>
        <p:nvSpPr>
          <p:cNvPr id="68" name="TextBox 67"/>
          <p:cNvSpPr txBox="1"/>
          <p:nvPr/>
        </p:nvSpPr>
        <p:spPr>
          <a:xfrm>
            <a:off x="3632200" y="4025900"/>
            <a:ext cx="210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5D6F82"/>
                </a:solidFill>
                <a:latin typeface="Arial"/>
              </a:rPr>
              <a:t>RELATIVE WEIGHTS</a:t>
            </a:r>
          </a:p>
        </p:txBody>
      </p:sp>
      <p:sp>
        <p:nvSpPr>
          <p:cNvPr id="69" name="Rounded Rectangle 68"/>
          <p:cNvSpPr/>
          <p:nvPr/>
        </p:nvSpPr>
        <p:spPr>
          <a:xfrm>
            <a:off x="4356100" y="4940300"/>
            <a:ext cx="711200" cy="279400"/>
          </a:xfrm>
          <a:prstGeom prst="roundRect">
            <a:avLst>
              <a:gd name="adj" fmla="val 2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406900" y="49911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71" name="Rounded Rectangle 70"/>
          <p:cNvSpPr/>
          <p:nvPr/>
        </p:nvSpPr>
        <p:spPr>
          <a:xfrm>
            <a:off x="6248400" y="39497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6248400" y="39116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3" name="Connector 72"/>
          <p:cNvCxnSpPr/>
          <p:nvPr/>
        </p:nvCxnSpPr>
        <p:spPr>
          <a:xfrm>
            <a:off x="6477000" y="3924300"/>
            <a:ext cx="1041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6477000" y="41148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GEOIP</a:t>
            </a:r>
          </a:p>
        </p:txBody>
      </p:sp>
      <p:sp>
        <p:nvSpPr>
          <p:cNvPr id="75" name="TextBox 74"/>
          <p:cNvSpPr txBox="1"/>
          <p:nvPr/>
        </p:nvSpPr>
        <p:spPr>
          <a:xfrm>
            <a:off x="6477000" y="44831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Map client subnets</a:t>
            </a:r>
          </a:p>
        </p:txBody>
      </p:sp>
      <p:sp>
        <p:nvSpPr>
          <p:cNvPr id="76" name="TextBox 75"/>
          <p:cNvSpPr txBox="1"/>
          <p:nvPr/>
        </p:nvSpPr>
        <p:spPr>
          <a:xfrm>
            <a:off x="6477000" y="52959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Needs GeoIP data + ECS</a:t>
            </a:r>
          </a:p>
        </p:txBody>
      </p:sp>
      <p:cxnSp>
        <p:nvCxnSpPr>
          <p:cNvPr id="77" name="Connector 76"/>
          <p:cNvCxnSpPr/>
          <p:nvPr/>
        </p:nvCxnSpPr>
        <p:spPr>
          <a:xfrm flipV="1">
            <a:off x="9728200" y="4699000"/>
            <a:ext cx="0" cy="22860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Rounded Rectangle 77"/>
          <p:cNvSpPr/>
          <p:nvPr/>
        </p:nvSpPr>
        <p:spPr>
          <a:xfrm>
            <a:off x="94107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9" name="Picture 78" descr="image.png"/>
          <p:cNvPicPr>
            <a:picLocks noChangeAspect="1"/>
          </p:cNvPicPr>
          <p:nvPr/>
        </p:nvPicPr>
        <p:blipFill>
          <a:blip r:embed="rId2"/>
          <a:stretch>
            <a:fillRect/>
          </a:stretch>
        </p:blipFill>
        <p:spPr>
          <a:xfrm>
            <a:off x="9461500" y="4330700"/>
            <a:ext cx="279400" cy="279400"/>
          </a:xfrm>
          <a:prstGeom prst="rect">
            <a:avLst/>
          </a:prstGeom>
        </p:spPr>
      </p:pic>
      <p:sp>
        <p:nvSpPr>
          <p:cNvPr id="80" name="TextBox 79"/>
          <p:cNvSpPr txBox="1"/>
          <p:nvPr/>
        </p:nvSpPr>
        <p:spPr>
          <a:xfrm>
            <a:off x="9753600" y="43942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sp>
        <p:nvSpPr>
          <p:cNvPr id="81" name="Rounded Rectangle 80"/>
          <p:cNvSpPr/>
          <p:nvPr/>
        </p:nvSpPr>
        <p:spPr>
          <a:xfrm>
            <a:off x="9296400" y="4927600"/>
            <a:ext cx="863600" cy="292100"/>
          </a:xfrm>
          <a:prstGeom prst="roundRect">
            <a:avLst>
              <a:gd name="adj" fmla="val 2173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347200" y="4991100"/>
            <a:ext cx="7620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2762C8"/>
                </a:solidFill>
                <a:latin typeface="Arial"/>
              </a:rPr>
              <a:t>Subnet A</a:t>
            </a:r>
          </a:p>
        </p:txBody>
      </p:sp>
      <p:cxnSp>
        <p:nvCxnSpPr>
          <p:cNvPr id="83" name="Connector 82"/>
          <p:cNvCxnSpPr/>
          <p:nvPr/>
        </p:nvCxnSpPr>
        <p:spPr>
          <a:xfrm flipV="1">
            <a:off x="10947400" y="4699000"/>
            <a:ext cx="0" cy="2286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4" name="Rounded Rectangle 83"/>
          <p:cNvSpPr/>
          <p:nvPr/>
        </p:nvSpPr>
        <p:spPr>
          <a:xfrm>
            <a:off x="10629900" y="42418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5" name="Picture 84" descr="image.png"/>
          <p:cNvPicPr>
            <a:picLocks noChangeAspect="1"/>
          </p:cNvPicPr>
          <p:nvPr/>
        </p:nvPicPr>
        <p:blipFill>
          <a:blip r:embed="rId2"/>
          <a:stretch>
            <a:fillRect/>
          </a:stretch>
        </p:blipFill>
        <p:spPr>
          <a:xfrm>
            <a:off x="10680700" y="4330700"/>
            <a:ext cx="279400" cy="279400"/>
          </a:xfrm>
          <a:prstGeom prst="rect">
            <a:avLst/>
          </a:prstGeom>
        </p:spPr>
      </p:pic>
      <p:sp>
        <p:nvSpPr>
          <p:cNvPr id="86" name="TextBox 85"/>
          <p:cNvSpPr txBox="1"/>
          <p:nvPr/>
        </p:nvSpPr>
        <p:spPr>
          <a:xfrm>
            <a:off x="10972800" y="43942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sp>
        <p:nvSpPr>
          <p:cNvPr id="87" name="Rounded Rectangle 86"/>
          <p:cNvSpPr/>
          <p:nvPr/>
        </p:nvSpPr>
        <p:spPr>
          <a:xfrm>
            <a:off x="10515600" y="4927600"/>
            <a:ext cx="863600" cy="292100"/>
          </a:xfrm>
          <a:prstGeom prst="roundRect">
            <a:avLst>
              <a:gd name="adj" fmla="val 21739"/>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0566400" y="4991100"/>
            <a:ext cx="7620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087F85"/>
                </a:solidFill>
                <a:latin typeface="Arial"/>
              </a:rPr>
              <a:t>Subnet B</a:t>
            </a:r>
          </a:p>
        </p:txBody>
      </p:sp>
      <p:sp>
        <p:nvSpPr>
          <p:cNvPr id="89" name="Rounded Rectangle 88"/>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All modes change DNS answers, not existing connections.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DECLARATIVE CONFIGURATION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11 / 26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Traffic steering with a declarative manifest</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Gslb is a Kubernetes custom resource.</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1905000"/>
            <a:ext cx="7112000" cy="3860800"/>
          </a:xfrm>
          <a:prstGeom prst="roundRect">
            <a:avLst>
              <a:gd name="adj" fmla="val 3289"/>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1854200"/>
            <a:ext cx="7112000" cy="3860800"/>
          </a:xfrm>
          <a:prstGeom prst="roundRect">
            <a:avLst>
              <a:gd name="adj" fmla="val 3289"/>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1854200"/>
            <a:ext cx="7112000" cy="381000"/>
          </a:xfrm>
          <a:prstGeom prst="roundRect">
            <a:avLst>
              <a:gd name="adj" fmla="val 33333"/>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09600" y="2057400"/>
            <a:ext cx="7112000" cy="177800"/>
          </a:xfrm>
          <a:prstGeom prst="rect">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63600" y="1943100"/>
            <a:ext cx="152400" cy="203200"/>
          </a:xfrm>
          <a:prstGeom prst="roundRect">
            <a:avLst>
              <a:gd name="adj" fmla="val 16666"/>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901700" y="2006600"/>
            <a:ext cx="762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01700" y="2070100"/>
            <a:ext cx="762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193800" y="1943100"/>
            <a:ext cx="27940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FFFFFF"/>
                </a:solidFill>
                <a:latin typeface="Courier New"/>
              </a:rPr>
              <a:t>gslb.yaml</a:t>
            </a:r>
          </a:p>
        </p:txBody>
      </p:sp>
      <p:sp>
        <p:nvSpPr>
          <p:cNvPr id="18" name="TextBox 17"/>
          <p:cNvSpPr txBox="1"/>
          <p:nvPr/>
        </p:nvSpPr>
        <p:spPr>
          <a:xfrm>
            <a:off x="4292600" y="1981200"/>
            <a:ext cx="3175000" cy="184150"/>
          </a:xfrm>
          <a:prstGeom prst="rect">
            <a:avLst/>
          </a:prstGeom>
          <a:noFill/>
        </p:spPr>
        <p:txBody>
          <a:bodyPr wrap="none" lIns="0" rIns="0" tIns="0" bIns="0" anchor="t">
            <a:noAutofit/>
          </a:bodyPr>
          <a:lstStyle/>
          <a:p>
            <a:pPr algn="r">
              <a:lnSpc>
                <a:spcPts val="1150"/>
              </a:lnSpc>
              <a:spcBef>
                <a:spcPts val="0"/>
              </a:spcBef>
              <a:spcAft>
                <a:spcPts val="0"/>
              </a:spcAft>
            </a:pPr>
            <a:r>
              <a:rPr sz="1000" b="1">
                <a:solidFill>
                  <a:srgbClr val="B8C8D9"/>
                </a:solidFill>
                <a:latin typeface="Arial"/>
              </a:rPr>
              <a:t>KUBERNETES CUSTOM RESOURCE</a:t>
            </a:r>
          </a:p>
        </p:txBody>
      </p:sp>
      <p:cxnSp>
        <p:nvCxnSpPr>
          <p:cNvPr id="19" name="Connector 18"/>
          <p:cNvCxnSpPr/>
          <p:nvPr/>
        </p:nvCxnSpPr>
        <p:spPr>
          <a:xfrm>
            <a:off x="609600" y="2235200"/>
            <a:ext cx="7112000" cy="0"/>
          </a:xfrm>
          <a:prstGeom prst="line">
            <a:avLst/>
          </a:prstGeom>
          <a:ln w="10160">
            <a:solidFill>
              <a:srgbClr val="385068"/>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87400" y="4826000"/>
            <a:ext cx="6756400" cy="825500"/>
          </a:xfrm>
          <a:prstGeom prst="roundRect">
            <a:avLst>
              <a:gd name="adj" fmla="val 9230"/>
            </a:avLst>
          </a:prstGeom>
          <a:solidFill>
            <a:srgbClr val="153B43"/>
          </a:solidFill>
          <a:ln w="12700">
            <a:solidFill>
              <a:srgbClr val="2F66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7400" y="4902200"/>
            <a:ext cx="38100" cy="673100"/>
          </a:xfrm>
          <a:prstGeom prst="rect">
            <a:avLst/>
          </a:prstGeom>
          <a:solidFill>
            <a:srgbClr val="6DD3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1700" y="238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01</a:t>
            </a:r>
          </a:p>
        </p:txBody>
      </p:sp>
      <p:sp>
        <p:nvSpPr>
          <p:cNvPr id="23" name="TextBox 22"/>
          <p:cNvSpPr txBox="1"/>
          <p:nvPr/>
        </p:nvSpPr>
        <p:spPr>
          <a:xfrm>
            <a:off x="1282700" y="2336800"/>
            <a:ext cx="1557273"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apiVersion: </a:t>
            </a:r>
          </a:p>
        </p:txBody>
      </p:sp>
      <p:sp>
        <p:nvSpPr>
          <p:cNvPr id="24" name="TextBox 23"/>
          <p:cNvSpPr txBox="1"/>
          <p:nvPr/>
        </p:nvSpPr>
        <p:spPr>
          <a:xfrm>
            <a:off x="2837433" y="2336800"/>
            <a:ext cx="4604766"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k8gb.io/v1beta1</a:t>
            </a:r>
          </a:p>
        </p:txBody>
      </p:sp>
      <p:sp>
        <p:nvSpPr>
          <p:cNvPr id="25" name="TextBox 24"/>
          <p:cNvSpPr txBox="1"/>
          <p:nvPr/>
        </p:nvSpPr>
        <p:spPr>
          <a:xfrm>
            <a:off x="901700" y="264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02</a:t>
            </a:r>
          </a:p>
        </p:txBody>
      </p:sp>
      <p:sp>
        <p:nvSpPr>
          <p:cNvPr id="26" name="TextBox 25"/>
          <p:cNvSpPr txBox="1"/>
          <p:nvPr/>
        </p:nvSpPr>
        <p:spPr>
          <a:xfrm>
            <a:off x="1282700" y="2590800"/>
            <a:ext cx="779906"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kind: </a:t>
            </a:r>
          </a:p>
        </p:txBody>
      </p:sp>
      <p:sp>
        <p:nvSpPr>
          <p:cNvPr id="27" name="TextBox 26"/>
          <p:cNvSpPr txBox="1"/>
          <p:nvPr/>
        </p:nvSpPr>
        <p:spPr>
          <a:xfrm>
            <a:off x="2060066" y="2590800"/>
            <a:ext cx="5382133"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Gslb</a:t>
            </a:r>
          </a:p>
        </p:txBody>
      </p:sp>
      <p:sp>
        <p:nvSpPr>
          <p:cNvPr id="28" name="TextBox 27"/>
          <p:cNvSpPr txBox="1"/>
          <p:nvPr/>
        </p:nvSpPr>
        <p:spPr>
          <a:xfrm>
            <a:off x="901700" y="289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03</a:t>
            </a:r>
          </a:p>
        </p:txBody>
      </p:sp>
      <p:sp>
        <p:nvSpPr>
          <p:cNvPr id="29" name="TextBox 28"/>
          <p:cNvSpPr txBox="1"/>
          <p:nvPr/>
        </p:nvSpPr>
        <p:spPr>
          <a:xfrm>
            <a:off x="1282700" y="2844800"/>
            <a:ext cx="11685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metadata:</a:t>
            </a:r>
          </a:p>
        </p:txBody>
      </p:sp>
      <p:sp>
        <p:nvSpPr>
          <p:cNvPr id="30" name="TextBox 29"/>
          <p:cNvSpPr txBox="1"/>
          <p:nvPr/>
        </p:nvSpPr>
        <p:spPr>
          <a:xfrm>
            <a:off x="901700" y="3149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04</a:t>
            </a:r>
          </a:p>
        </p:txBody>
      </p:sp>
      <p:sp>
        <p:nvSpPr>
          <p:cNvPr id="31" name="TextBox 30"/>
          <p:cNvSpPr txBox="1"/>
          <p:nvPr/>
        </p:nvSpPr>
        <p:spPr>
          <a:xfrm>
            <a:off x="1282700" y="3098800"/>
            <a:ext cx="1039028"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 </a:t>
            </a:r>
          </a:p>
        </p:txBody>
      </p:sp>
      <p:sp>
        <p:nvSpPr>
          <p:cNvPr id="32" name="TextBox 31"/>
          <p:cNvSpPr txBox="1"/>
          <p:nvPr/>
        </p:nvSpPr>
        <p:spPr>
          <a:xfrm>
            <a:off x="2319188" y="3098800"/>
            <a:ext cx="5123011"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test-gslb-failover</a:t>
            </a:r>
          </a:p>
        </p:txBody>
      </p:sp>
      <p:sp>
        <p:nvSpPr>
          <p:cNvPr id="33" name="TextBox 32"/>
          <p:cNvSpPr txBox="1"/>
          <p:nvPr/>
        </p:nvSpPr>
        <p:spPr>
          <a:xfrm>
            <a:off x="901700" y="3403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05</a:t>
            </a:r>
          </a:p>
        </p:txBody>
      </p:sp>
      <p:sp>
        <p:nvSpPr>
          <p:cNvPr id="34" name="TextBox 33"/>
          <p:cNvSpPr txBox="1"/>
          <p:nvPr/>
        </p:nvSpPr>
        <p:spPr>
          <a:xfrm>
            <a:off x="1282700" y="3352800"/>
            <a:ext cx="1686834"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namespace: </a:t>
            </a:r>
          </a:p>
        </p:txBody>
      </p:sp>
      <p:sp>
        <p:nvSpPr>
          <p:cNvPr id="35" name="TextBox 34"/>
          <p:cNvSpPr txBox="1"/>
          <p:nvPr/>
        </p:nvSpPr>
        <p:spPr>
          <a:xfrm>
            <a:off x="2966994" y="3352800"/>
            <a:ext cx="447520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test-gslb</a:t>
            </a:r>
          </a:p>
        </p:txBody>
      </p:sp>
      <p:sp>
        <p:nvSpPr>
          <p:cNvPr id="36" name="TextBox 35"/>
          <p:cNvSpPr txBox="1"/>
          <p:nvPr/>
        </p:nvSpPr>
        <p:spPr>
          <a:xfrm>
            <a:off x="901700" y="365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06</a:t>
            </a:r>
          </a:p>
        </p:txBody>
      </p:sp>
      <p:sp>
        <p:nvSpPr>
          <p:cNvPr id="37" name="TextBox 36"/>
          <p:cNvSpPr txBox="1"/>
          <p:nvPr/>
        </p:nvSpPr>
        <p:spPr>
          <a:xfrm>
            <a:off x="1282700" y="3606800"/>
            <a:ext cx="65034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spec:</a:t>
            </a:r>
          </a:p>
        </p:txBody>
      </p:sp>
      <p:sp>
        <p:nvSpPr>
          <p:cNvPr id="38" name="TextBox 37"/>
          <p:cNvSpPr txBox="1"/>
          <p:nvPr/>
        </p:nvSpPr>
        <p:spPr>
          <a:xfrm>
            <a:off x="901700" y="391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07</a:t>
            </a:r>
          </a:p>
        </p:txBody>
      </p:sp>
      <p:sp>
        <p:nvSpPr>
          <p:cNvPr id="39" name="TextBox 38"/>
          <p:cNvSpPr txBox="1"/>
          <p:nvPr/>
        </p:nvSpPr>
        <p:spPr>
          <a:xfrm>
            <a:off x="1282700" y="3860800"/>
            <a:ext cx="181639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resourceRef:</a:t>
            </a:r>
          </a:p>
        </p:txBody>
      </p:sp>
      <p:sp>
        <p:nvSpPr>
          <p:cNvPr id="40" name="TextBox 39"/>
          <p:cNvSpPr txBox="1"/>
          <p:nvPr/>
        </p:nvSpPr>
        <p:spPr>
          <a:xfrm>
            <a:off x="901700" y="416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08</a:t>
            </a:r>
          </a:p>
        </p:txBody>
      </p:sp>
      <p:sp>
        <p:nvSpPr>
          <p:cNvPr id="41" name="TextBox 40"/>
          <p:cNvSpPr txBox="1"/>
          <p:nvPr/>
        </p:nvSpPr>
        <p:spPr>
          <a:xfrm>
            <a:off x="1282700" y="4114800"/>
            <a:ext cx="2075517"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apiVersion: </a:t>
            </a:r>
          </a:p>
        </p:txBody>
      </p:sp>
      <p:sp>
        <p:nvSpPr>
          <p:cNvPr id="42" name="TextBox 41"/>
          <p:cNvSpPr txBox="1"/>
          <p:nvPr/>
        </p:nvSpPr>
        <p:spPr>
          <a:xfrm>
            <a:off x="3355677" y="4114800"/>
            <a:ext cx="4086522"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gateway.networking.k8s.io/v1</a:t>
            </a:r>
          </a:p>
        </p:txBody>
      </p:sp>
      <p:sp>
        <p:nvSpPr>
          <p:cNvPr id="43" name="TextBox 42"/>
          <p:cNvSpPr txBox="1"/>
          <p:nvPr/>
        </p:nvSpPr>
        <p:spPr>
          <a:xfrm>
            <a:off x="901700" y="4419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09</a:t>
            </a:r>
          </a:p>
        </p:txBody>
      </p:sp>
      <p:sp>
        <p:nvSpPr>
          <p:cNvPr id="44" name="TextBox 43"/>
          <p:cNvSpPr txBox="1"/>
          <p:nvPr/>
        </p:nvSpPr>
        <p:spPr>
          <a:xfrm>
            <a:off x="1282700" y="4368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kind: </a:t>
            </a:r>
          </a:p>
        </p:txBody>
      </p:sp>
      <p:sp>
        <p:nvSpPr>
          <p:cNvPr id="45" name="TextBox 44"/>
          <p:cNvSpPr txBox="1"/>
          <p:nvPr/>
        </p:nvSpPr>
        <p:spPr>
          <a:xfrm>
            <a:off x="2578310" y="4368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HTTPRoute</a:t>
            </a:r>
          </a:p>
        </p:txBody>
      </p:sp>
      <p:sp>
        <p:nvSpPr>
          <p:cNvPr id="46" name="TextBox 45"/>
          <p:cNvSpPr txBox="1"/>
          <p:nvPr/>
        </p:nvSpPr>
        <p:spPr>
          <a:xfrm>
            <a:off x="901700" y="4673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10</a:t>
            </a:r>
          </a:p>
        </p:txBody>
      </p:sp>
      <p:sp>
        <p:nvSpPr>
          <p:cNvPr id="47" name="TextBox 46"/>
          <p:cNvSpPr txBox="1"/>
          <p:nvPr/>
        </p:nvSpPr>
        <p:spPr>
          <a:xfrm>
            <a:off x="1282700" y="4622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 </a:t>
            </a:r>
          </a:p>
        </p:txBody>
      </p:sp>
      <p:sp>
        <p:nvSpPr>
          <p:cNvPr id="48" name="TextBox 47"/>
          <p:cNvSpPr txBox="1"/>
          <p:nvPr/>
        </p:nvSpPr>
        <p:spPr>
          <a:xfrm>
            <a:off x="2578310" y="4622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payments</a:t>
            </a:r>
          </a:p>
        </p:txBody>
      </p:sp>
      <p:sp>
        <p:nvSpPr>
          <p:cNvPr id="49" name="TextBox 48"/>
          <p:cNvSpPr txBox="1"/>
          <p:nvPr/>
        </p:nvSpPr>
        <p:spPr>
          <a:xfrm>
            <a:off x="901700" y="492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11</a:t>
            </a:r>
          </a:p>
        </p:txBody>
      </p:sp>
      <p:sp>
        <p:nvSpPr>
          <p:cNvPr id="50" name="TextBox 49"/>
          <p:cNvSpPr txBox="1"/>
          <p:nvPr/>
        </p:nvSpPr>
        <p:spPr>
          <a:xfrm>
            <a:off x="1282700" y="4876800"/>
            <a:ext cx="1427711"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strategy:</a:t>
            </a:r>
          </a:p>
        </p:txBody>
      </p:sp>
      <p:sp>
        <p:nvSpPr>
          <p:cNvPr id="51" name="TextBox 50"/>
          <p:cNvSpPr txBox="1"/>
          <p:nvPr/>
        </p:nvSpPr>
        <p:spPr>
          <a:xfrm>
            <a:off x="901700" y="518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12</a:t>
            </a:r>
          </a:p>
        </p:txBody>
      </p:sp>
      <p:sp>
        <p:nvSpPr>
          <p:cNvPr id="52" name="TextBox 51"/>
          <p:cNvSpPr txBox="1"/>
          <p:nvPr/>
        </p:nvSpPr>
        <p:spPr>
          <a:xfrm>
            <a:off x="1282700" y="5130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type: </a:t>
            </a:r>
          </a:p>
        </p:txBody>
      </p:sp>
      <p:sp>
        <p:nvSpPr>
          <p:cNvPr id="53" name="TextBox 52"/>
          <p:cNvSpPr txBox="1"/>
          <p:nvPr/>
        </p:nvSpPr>
        <p:spPr>
          <a:xfrm>
            <a:off x="2578310" y="5130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5C584"/>
                </a:solidFill>
                <a:latin typeface="Courier New"/>
              </a:rPr>
              <a:t>failover</a:t>
            </a:r>
          </a:p>
        </p:txBody>
      </p:sp>
      <p:sp>
        <p:nvSpPr>
          <p:cNvPr id="54" name="TextBox 53"/>
          <p:cNvSpPr txBox="1"/>
          <p:nvPr/>
        </p:nvSpPr>
        <p:spPr>
          <a:xfrm>
            <a:off x="901700" y="543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13</a:t>
            </a:r>
          </a:p>
        </p:txBody>
      </p:sp>
      <p:sp>
        <p:nvSpPr>
          <p:cNvPr id="55" name="TextBox 54"/>
          <p:cNvSpPr txBox="1"/>
          <p:nvPr/>
        </p:nvSpPr>
        <p:spPr>
          <a:xfrm>
            <a:off x="1282700" y="5384800"/>
            <a:ext cx="246420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primaryGeoTag: </a:t>
            </a:r>
          </a:p>
        </p:txBody>
      </p:sp>
      <p:sp>
        <p:nvSpPr>
          <p:cNvPr id="56" name="TextBox 55"/>
          <p:cNvSpPr txBox="1"/>
          <p:nvPr/>
        </p:nvSpPr>
        <p:spPr>
          <a:xfrm>
            <a:off x="3744360" y="5384800"/>
            <a:ext cx="369783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5C584"/>
                </a:solidFill>
                <a:latin typeface="Courier New"/>
              </a:rPr>
              <a:t>eu</a:t>
            </a:r>
          </a:p>
        </p:txBody>
      </p:sp>
      <p:sp>
        <p:nvSpPr>
          <p:cNvPr id="57" name="Rounded Rectangle 56"/>
          <p:cNvSpPr/>
          <p:nvPr/>
        </p:nvSpPr>
        <p:spPr>
          <a:xfrm>
            <a:off x="8102600" y="1905000"/>
            <a:ext cx="3479800" cy="1752600"/>
          </a:xfrm>
          <a:prstGeom prst="roundRect">
            <a:avLst>
              <a:gd name="adj" fmla="val 6521"/>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8102600" y="1854200"/>
            <a:ext cx="3479800" cy="1752600"/>
          </a:xfrm>
          <a:prstGeom prst="roundRect">
            <a:avLst>
              <a:gd name="adj" fmla="val 652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8356600" y="1866900"/>
            <a:ext cx="9398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60" name="Picture 59" descr="image.png"/>
          <p:cNvPicPr>
            <a:picLocks noChangeAspect="1"/>
          </p:cNvPicPr>
          <p:nvPr/>
        </p:nvPicPr>
        <p:blipFill>
          <a:blip r:embed="rId2"/>
          <a:stretch>
            <a:fillRect/>
          </a:stretch>
        </p:blipFill>
        <p:spPr>
          <a:xfrm>
            <a:off x="8356600" y="2095500"/>
            <a:ext cx="406400" cy="406400"/>
          </a:xfrm>
          <a:prstGeom prst="rect">
            <a:avLst/>
          </a:prstGeom>
        </p:spPr>
      </p:pic>
      <p:sp>
        <p:nvSpPr>
          <p:cNvPr id="61" name="TextBox 60"/>
          <p:cNvSpPr txBox="1"/>
          <p:nvPr/>
        </p:nvSpPr>
        <p:spPr>
          <a:xfrm>
            <a:off x="8940800" y="2146300"/>
            <a:ext cx="23876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Prefer A · eu</a:t>
            </a:r>
          </a:p>
        </p:txBody>
      </p:sp>
      <p:sp>
        <p:nvSpPr>
          <p:cNvPr id="62" name="TextBox 61"/>
          <p:cNvSpPr txBox="1"/>
          <p:nvPr/>
        </p:nvSpPr>
        <p:spPr>
          <a:xfrm>
            <a:off x="8356600" y="2794000"/>
            <a:ext cx="2971800" cy="609600"/>
          </a:xfrm>
          <a:prstGeom prst="rect">
            <a:avLst/>
          </a:prstGeom>
          <a:noFill/>
        </p:spPr>
        <p:txBody>
          <a:bodyPr wrap="none" lIns="0" rIns="0" tIns="0" bIns="0" anchor="t">
            <a:noAutofit/>
          </a:bodyPr>
          <a:lstStyle/>
          <a:p>
            <a:pPr algn="l">
              <a:lnSpc>
                <a:spcPts val="2250"/>
              </a:lnSpc>
              <a:spcBef>
                <a:spcPts val="0"/>
              </a:spcBef>
              <a:spcAft>
                <a:spcPts val="0"/>
              </a:spcAft>
            </a:pPr>
            <a:r>
              <a:rPr sz="1800" b="0">
                <a:solidFill>
                  <a:srgbClr val="5D6F82"/>
                </a:solidFill>
                <a:latin typeface="Arial"/>
              </a:rPr>
              <a:t>While it has</a:t>
            </a:r>
          </a:p>
          <a:p>
            <a:pPr algn="l">
              <a:lnSpc>
                <a:spcPts val="2250"/>
              </a:lnSpc>
              <a:spcBef>
                <a:spcPts val="0"/>
              </a:spcBef>
              <a:spcAft>
                <a:spcPts val="0"/>
              </a:spcAft>
            </a:pPr>
            <a:r>
              <a:rPr sz="1800" b="0">
                <a:solidFill>
                  <a:srgbClr val="5D6F82"/>
                </a:solidFill>
                <a:latin typeface="Arial"/>
              </a:rPr>
              <a:t>eligible targets.</a:t>
            </a:r>
          </a:p>
        </p:txBody>
      </p:sp>
      <p:sp>
        <p:nvSpPr>
          <p:cNvPr id="63" name="Rounded Rectangle 62"/>
          <p:cNvSpPr/>
          <p:nvPr/>
        </p:nvSpPr>
        <p:spPr>
          <a:xfrm>
            <a:off x="8102600" y="3835400"/>
            <a:ext cx="3479800" cy="1930400"/>
          </a:xfrm>
          <a:prstGeom prst="roundRect">
            <a:avLst>
              <a:gd name="adj" fmla="val 5921"/>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8102600" y="3784600"/>
            <a:ext cx="3479800" cy="1930400"/>
          </a:xfrm>
          <a:prstGeom prst="roundRect">
            <a:avLst>
              <a:gd name="adj" fmla="val 592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5" name="Connector 64"/>
          <p:cNvCxnSpPr/>
          <p:nvPr/>
        </p:nvCxnSpPr>
        <p:spPr>
          <a:xfrm>
            <a:off x="8356600" y="3797300"/>
            <a:ext cx="9398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8356600" y="4000500"/>
            <a:ext cx="29718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Deploy per cluster</a:t>
            </a:r>
          </a:p>
        </p:txBody>
      </p:sp>
      <p:sp>
        <p:nvSpPr>
          <p:cNvPr id="67" name="TextBox 66"/>
          <p:cNvSpPr txBox="1"/>
          <p:nvPr/>
        </p:nvSpPr>
        <p:spPr>
          <a:xfrm>
            <a:off x="8356600" y="4406900"/>
            <a:ext cx="29718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Same configuration</a:t>
            </a:r>
          </a:p>
        </p:txBody>
      </p:sp>
      <p:cxnSp>
        <p:nvCxnSpPr>
          <p:cNvPr id="68" name="Connector 67"/>
          <p:cNvCxnSpPr/>
          <p:nvPr/>
        </p:nvCxnSpPr>
        <p:spPr>
          <a:xfrm>
            <a:off x="9842500" y="4660900"/>
            <a:ext cx="0" cy="7620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a:off x="9017000" y="4737100"/>
            <a:ext cx="825500" cy="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9017000" y="4737100"/>
            <a:ext cx="0" cy="8890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9842500" y="4737100"/>
            <a:ext cx="825500" cy="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10668000" y="4737100"/>
            <a:ext cx="0" cy="8890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73" name="Rounded Rectangle 72"/>
          <p:cNvSpPr/>
          <p:nvPr/>
        </p:nvSpPr>
        <p:spPr>
          <a:xfrm>
            <a:off x="8356600" y="4826000"/>
            <a:ext cx="1320800" cy="355600"/>
          </a:xfrm>
          <a:prstGeom prst="roundRect">
            <a:avLst>
              <a:gd name="adj" fmla="val 1785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4" name="Picture 73" descr="image.png"/>
          <p:cNvPicPr>
            <a:picLocks noChangeAspect="1"/>
          </p:cNvPicPr>
          <p:nvPr/>
        </p:nvPicPr>
        <p:blipFill>
          <a:blip r:embed="rId2"/>
          <a:stretch>
            <a:fillRect/>
          </a:stretch>
        </p:blipFill>
        <p:spPr>
          <a:xfrm>
            <a:off x="8470900" y="4864100"/>
            <a:ext cx="279400" cy="279400"/>
          </a:xfrm>
          <a:prstGeom prst="rect">
            <a:avLst/>
          </a:prstGeom>
        </p:spPr>
      </p:pic>
      <p:sp>
        <p:nvSpPr>
          <p:cNvPr id="75" name="TextBox 74"/>
          <p:cNvSpPr txBox="1"/>
          <p:nvPr/>
        </p:nvSpPr>
        <p:spPr>
          <a:xfrm>
            <a:off x="8890000" y="4889500"/>
            <a:ext cx="609600" cy="238125"/>
          </a:xfrm>
          <a:prstGeom prst="rect">
            <a:avLst/>
          </a:prstGeom>
          <a:noFill/>
        </p:spPr>
        <p:txBody>
          <a:bodyPr wrap="none" lIns="0" rIns="0" tIns="0" bIns="0" anchor="t">
            <a:noAutofit/>
          </a:bodyPr>
          <a:lstStyle/>
          <a:p>
            <a:pPr algn="ctr">
              <a:lnSpc>
                <a:spcPts val="1500"/>
              </a:lnSpc>
              <a:spcBef>
                <a:spcPts val="0"/>
              </a:spcBef>
              <a:spcAft>
                <a:spcPts val="0"/>
              </a:spcAft>
            </a:pPr>
            <a:r>
              <a:rPr sz="1500" b="1">
                <a:solidFill>
                  <a:srgbClr val="142338"/>
                </a:solidFill>
                <a:latin typeface="Arial"/>
              </a:rPr>
              <a:t>eu</a:t>
            </a:r>
          </a:p>
        </p:txBody>
      </p:sp>
      <p:sp>
        <p:nvSpPr>
          <p:cNvPr id="76" name="Rounded Rectangle 75"/>
          <p:cNvSpPr/>
          <p:nvPr/>
        </p:nvSpPr>
        <p:spPr>
          <a:xfrm>
            <a:off x="10007600" y="4826000"/>
            <a:ext cx="1320800" cy="355600"/>
          </a:xfrm>
          <a:prstGeom prst="roundRect">
            <a:avLst>
              <a:gd name="adj" fmla="val 17857"/>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7" name="Picture 76" descr="image.png"/>
          <p:cNvPicPr>
            <a:picLocks noChangeAspect="1"/>
          </p:cNvPicPr>
          <p:nvPr/>
        </p:nvPicPr>
        <p:blipFill>
          <a:blip r:embed="rId2"/>
          <a:stretch>
            <a:fillRect/>
          </a:stretch>
        </p:blipFill>
        <p:spPr>
          <a:xfrm>
            <a:off x="10121900" y="4864100"/>
            <a:ext cx="279400" cy="279400"/>
          </a:xfrm>
          <a:prstGeom prst="rect">
            <a:avLst/>
          </a:prstGeom>
        </p:spPr>
      </p:pic>
      <p:sp>
        <p:nvSpPr>
          <p:cNvPr id="78" name="TextBox 77"/>
          <p:cNvSpPr txBox="1"/>
          <p:nvPr/>
        </p:nvSpPr>
        <p:spPr>
          <a:xfrm>
            <a:off x="10541000" y="4889500"/>
            <a:ext cx="609600" cy="238125"/>
          </a:xfrm>
          <a:prstGeom prst="rect">
            <a:avLst/>
          </a:prstGeom>
          <a:noFill/>
        </p:spPr>
        <p:txBody>
          <a:bodyPr wrap="none" lIns="0" rIns="0" tIns="0" bIns="0" anchor="t">
            <a:noAutofit/>
          </a:bodyPr>
          <a:lstStyle/>
          <a:p>
            <a:pPr algn="ctr">
              <a:lnSpc>
                <a:spcPts val="1500"/>
              </a:lnSpc>
              <a:spcBef>
                <a:spcPts val="0"/>
              </a:spcBef>
              <a:spcAft>
                <a:spcPts val="0"/>
              </a:spcAft>
            </a:pPr>
            <a:r>
              <a:rPr sz="1500" b="1">
                <a:solidFill>
                  <a:srgbClr val="142338"/>
                </a:solidFill>
                <a:latin typeface="Arial"/>
              </a:rPr>
              <a:t>us</a:t>
            </a:r>
          </a:p>
        </p:txBody>
      </p:sp>
      <p:sp>
        <p:nvSpPr>
          <p:cNvPr id="79" name="TextBox 78"/>
          <p:cNvSpPr txBox="1"/>
          <p:nvPr/>
        </p:nvSpPr>
        <p:spPr>
          <a:xfrm>
            <a:off x="8280400" y="5384800"/>
            <a:ext cx="31242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5D6F82"/>
                </a:solidFill>
                <a:latin typeface="Arial"/>
              </a:rPr>
              <a:t>Each cluster observes health locally.</a:t>
            </a:r>
          </a:p>
        </p:txBody>
      </p:sp>
      <p:sp>
        <p:nvSpPr>
          <p:cNvPr id="80" name="Rounded Rectangle 79"/>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The route, zone, and matching geotags are prerequisites.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INTEGRATIONS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12 / 26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Kubernetes and DNS integrations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Run on-prem, in the cloud, or across both.</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32000"/>
            <a:ext cx="3479800" cy="3594100"/>
          </a:xfrm>
          <a:prstGeom prst="roundRect">
            <a:avLst>
              <a:gd name="adj" fmla="val 3649"/>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1981200"/>
            <a:ext cx="3479800" cy="3594100"/>
          </a:xfrm>
          <a:prstGeom prst="roundRect">
            <a:avLst>
              <a:gd name="adj" fmla="val 3649"/>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1993900"/>
            <a:ext cx="29210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63600" y="2247900"/>
            <a:ext cx="546100" cy="546100"/>
          </a:xfrm>
          <a:prstGeom prst="rect">
            <a:avLst/>
          </a:prstGeom>
        </p:spPr>
      </p:pic>
      <p:sp>
        <p:nvSpPr>
          <p:cNvPr id="14" name="TextBox 13"/>
          <p:cNvSpPr txBox="1"/>
          <p:nvPr/>
        </p:nvSpPr>
        <p:spPr>
          <a:xfrm>
            <a:off x="1612900" y="2222500"/>
            <a:ext cx="2222500" cy="635508"/>
          </a:xfrm>
          <a:prstGeom prst="rect">
            <a:avLst/>
          </a:prstGeom>
          <a:noFill/>
        </p:spPr>
        <p:txBody>
          <a:bodyPr wrap="none" lIns="0" rIns="0" tIns="0" bIns="0" anchor="t">
            <a:noAutofit/>
          </a:bodyPr>
          <a:lstStyle/>
          <a:p>
            <a:pPr algn="l">
              <a:lnSpc>
                <a:spcPts val="2352"/>
              </a:lnSpc>
              <a:spcBef>
                <a:spcPts val="0"/>
              </a:spcBef>
              <a:spcAft>
                <a:spcPts val="0"/>
              </a:spcAft>
            </a:pPr>
            <a:r>
              <a:rPr sz="2100" b="1">
                <a:solidFill>
                  <a:srgbClr val="142338"/>
                </a:solidFill>
                <a:latin typeface="Arial"/>
              </a:rPr>
              <a:t>Conformant</a:t>
            </a:r>
          </a:p>
          <a:p>
            <a:pPr algn="l">
              <a:lnSpc>
                <a:spcPts val="2352"/>
              </a:lnSpc>
              <a:spcBef>
                <a:spcPts val="0"/>
              </a:spcBef>
              <a:spcAft>
                <a:spcPts val="0"/>
              </a:spcAft>
            </a:pPr>
            <a:r>
              <a:rPr sz="2100" b="1">
                <a:solidFill>
                  <a:srgbClr val="142338"/>
                </a:solidFill>
                <a:latin typeface="Arial"/>
              </a:rPr>
              <a:t>Kubernetes</a:t>
            </a:r>
          </a:p>
        </p:txBody>
      </p:sp>
      <p:cxnSp>
        <p:nvCxnSpPr>
          <p:cNvPr id="15" name="Connector 14"/>
          <p:cNvCxnSpPr/>
          <p:nvPr/>
        </p:nvCxnSpPr>
        <p:spPr>
          <a:xfrm>
            <a:off x="863600" y="3035300"/>
            <a:ext cx="2971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63600" y="3200400"/>
            <a:ext cx="29718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NATIVE RESOURCE INTEGRATIONS</a:t>
            </a:r>
          </a:p>
        </p:txBody>
      </p:sp>
      <p:sp>
        <p:nvSpPr>
          <p:cNvPr id="17" name="Oval 16"/>
          <p:cNvSpPr/>
          <p:nvPr/>
        </p:nvSpPr>
        <p:spPr>
          <a:xfrm>
            <a:off x="863600" y="35560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927100" y="36703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965200" y="36195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219200" y="35433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Gateway API</a:t>
            </a:r>
          </a:p>
        </p:txBody>
      </p:sp>
      <p:sp>
        <p:nvSpPr>
          <p:cNvPr id="21" name="Oval 20"/>
          <p:cNvSpPr/>
          <p:nvPr/>
        </p:nvSpPr>
        <p:spPr>
          <a:xfrm>
            <a:off x="863600" y="40386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927100" y="41529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965200" y="41021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219200" y="40259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Ingress</a:t>
            </a:r>
          </a:p>
        </p:txBody>
      </p:sp>
      <p:sp>
        <p:nvSpPr>
          <p:cNvPr id="25" name="Oval 24"/>
          <p:cNvSpPr/>
          <p:nvPr/>
        </p:nvSpPr>
        <p:spPr>
          <a:xfrm>
            <a:off x="863600" y="45212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927100" y="46355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965200" y="45847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219200" y="45085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Istio VirtualService</a:t>
            </a:r>
          </a:p>
        </p:txBody>
      </p:sp>
      <p:sp>
        <p:nvSpPr>
          <p:cNvPr id="29" name="Oval 28"/>
          <p:cNvSpPr/>
          <p:nvPr/>
        </p:nvSpPr>
        <p:spPr>
          <a:xfrm>
            <a:off x="863600" y="50038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927100" y="51181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965200" y="50673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219200" y="49911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LoadBalancer Service</a:t>
            </a:r>
          </a:p>
        </p:txBody>
      </p:sp>
      <p:sp>
        <p:nvSpPr>
          <p:cNvPr id="33" name="TextBox 32"/>
          <p:cNvSpPr txBox="1"/>
          <p:nvPr/>
        </p:nvSpPr>
        <p:spPr>
          <a:xfrm>
            <a:off x="4445000" y="2044700"/>
            <a:ext cx="71374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CF0035"/>
                </a:solidFill>
                <a:latin typeface="Arial"/>
              </a:rPr>
              <a:t>AUTOMATED PARENT-ZONE DELEGATION</a:t>
            </a:r>
          </a:p>
        </p:txBody>
      </p:sp>
      <p:sp>
        <p:nvSpPr>
          <p:cNvPr id="34" name="Rounded Rectangle 33"/>
          <p:cNvSpPr/>
          <p:nvPr/>
        </p:nvSpPr>
        <p:spPr>
          <a:xfrm>
            <a:off x="4445000" y="24511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mage.png"/>
          <p:cNvPicPr>
            <a:picLocks noChangeAspect="1"/>
          </p:cNvPicPr>
          <p:nvPr/>
        </p:nvPicPr>
        <p:blipFill>
          <a:blip r:embed="rId3"/>
          <a:stretch>
            <a:fillRect/>
          </a:stretch>
        </p:blipFill>
        <p:spPr>
          <a:xfrm>
            <a:off x="5159088" y="2552700"/>
            <a:ext cx="807023" cy="482600"/>
          </a:xfrm>
          <a:prstGeom prst="rect">
            <a:avLst/>
          </a:prstGeom>
        </p:spPr>
      </p:pic>
      <p:sp>
        <p:nvSpPr>
          <p:cNvPr id="36" name="TextBox 35"/>
          <p:cNvSpPr txBox="1"/>
          <p:nvPr/>
        </p:nvSpPr>
        <p:spPr>
          <a:xfrm>
            <a:off x="4546600" y="31496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AWS Route 53</a:t>
            </a:r>
          </a:p>
        </p:txBody>
      </p:sp>
      <p:sp>
        <p:nvSpPr>
          <p:cNvPr id="37" name="Rounded Rectangle 36"/>
          <p:cNvSpPr/>
          <p:nvPr/>
        </p:nvSpPr>
        <p:spPr>
          <a:xfrm>
            <a:off x="6896100" y="24511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4"/>
          <a:stretch>
            <a:fillRect/>
          </a:stretch>
        </p:blipFill>
        <p:spPr>
          <a:xfrm>
            <a:off x="7251700" y="2559304"/>
            <a:ext cx="1524000" cy="469392"/>
          </a:xfrm>
          <a:prstGeom prst="rect">
            <a:avLst/>
          </a:prstGeom>
        </p:spPr>
      </p:pic>
      <p:sp>
        <p:nvSpPr>
          <p:cNvPr id="39" name="TextBox 38"/>
          <p:cNvSpPr txBox="1"/>
          <p:nvPr/>
        </p:nvSpPr>
        <p:spPr>
          <a:xfrm>
            <a:off x="6997700" y="31496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Azure Public DNS</a:t>
            </a:r>
          </a:p>
        </p:txBody>
      </p:sp>
      <p:sp>
        <p:nvSpPr>
          <p:cNvPr id="40" name="Rounded Rectangle 39"/>
          <p:cNvSpPr/>
          <p:nvPr/>
        </p:nvSpPr>
        <p:spPr>
          <a:xfrm>
            <a:off x="9347200" y="24511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image.png"/>
          <p:cNvPicPr>
            <a:picLocks noChangeAspect="1"/>
          </p:cNvPicPr>
          <p:nvPr/>
        </p:nvPicPr>
        <p:blipFill>
          <a:blip r:embed="rId5"/>
          <a:stretch>
            <a:fillRect/>
          </a:stretch>
        </p:blipFill>
        <p:spPr>
          <a:xfrm>
            <a:off x="9702800" y="2661412"/>
            <a:ext cx="1524000" cy="265176"/>
          </a:xfrm>
          <a:prstGeom prst="rect">
            <a:avLst/>
          </a:prstGeom>
        </p:spPr>
      </p:pic>
      <p:sp>
        <p:nvSpPr>
          <p:cNvPr id="42" name="TextBox 41"/>
          <p:cNvSpPr txBox="1"/>
          <p:nvPr/>
        </p:nvSpPr>
        <p:spPr>
          <a:xfrm>
            <a:off x="9448800" y="31496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Google Cloud DNS</a:t>
            </a:r>
          </a:p>
        </p:txBody>
      </p:sp>
      <p:sp>
        <p:nvSpPr>
          <p:cNvPr id="43" name="Rounded Rectangle 42"/>
          <p:cNvSpPr/>
          <p:nvPr/>
        </p:nvSpPr>
        <p:spPr>
          <a:xfrm>
            <a:off x="4445000" y="35814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image.png"/>
          <p:cNvPicPr>
            <a:picLocks noChangeAspect="1"/>
          </p:cNvPicPr>
          <p:nvPr/>
        </p:nvPicPr>
        <p:blipFill>
          <a:blip r:embed="rId6"/>
          <a:stretch>
            <a:fillRect/>
          </a:stretch>
        </p:blipFill>
        <p:spPr>
          <a:xfrm>
            <a:off x="5226050" y="3594100"/>
            <a:ext cx="673100" cy="673100"/>
          </a:xfrm>
          <a:prstGeom prst="rect">
            <a:avLst/>
          </a:prstGeom>
        </p:spPr>
      </p:pic>
      <p:sp>
        <p:nvSpPr>
          <p:cNvPr id="45" name="TextBox 44"/>
          <p:cNvSpPr txBox="1"/>
          <p:nvPr/>
        </p:nvSpPr>
        <p:spPr>
          <a:xfrm>
            <a:off x="4546600" y="42799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NS1</a:t>
            </a:r>
          </a:p>
        </p:txBody>
      </p:sp>
      <p:sp>
        <p:nvSpPr>
          <p:cNvPr id="46" name="Rounded Rectangle 45"/>
          <p:cNvSpPr/>
          <p:nvPr/>
        </p:nvSpPr>
        <p:spPr>
          <a:xfrm>
            <a:off x="6896100" y="35814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image.png"/>
          <p:cNvPicPr>
            <a:picLocks noChangeAspect="1"/>
          </p:cNvPicPr>
          <p:nvPr/>
        </p:nvPicPr>
        <p:blipFill>
          <a:blip r:embed="rId7"/>
          <a:stretch>
            <a:fillRect/>
          </a:stretch>
        </p:blipFill>
        <p:spPr>
          <a:xfrm>
            <a:off x="7251700" y="3683508"/>
            <a:ext cx="1524000" cy="481584"/>
          </a:xfrm>
          <a:prstGeom prst="rect">
            <a:avLst/>
          </a:prstGeom>
        </p:spPr>
      </p:pic>
      <p:sp>
        <p:nvSpPr>
          <p:cNvPr id="48" name="TextBox 47"/>
          <p:cNvSpPr txBox="1"/>
          <p:nvPr/>
        </p:nvSpPr>
        <p:spPr>
          <a:xfrm>
            <a:off x="6997700" y="42799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Infoblox</a:t>
            </a:r>
          </a:p>
        </p:txBody>
      </p:sp>
      <p:sp>
        <p:nvSpPr>
          <p:cNvPr id="49" name="Rounded Rectangle 48"/>
          <p:cNvSpPr/>
          <p:nvPr/>
        </p:nvSpPr>
        <p:spPr>
          <a:xfrm>
            <a:off x="9347200" y="35814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0" name="Picture 49" descr="image.jpg"/>
          <p:cNvPicPr>
            <a:picLocks noChangeAspect="1"/>
          </p:cNvPicPr>
          <p:nvPr/>
        </p:nvPicPr>
        <p:blipFill>
          <a:blip r:embed="rId8"/>
          <a:stretch>
            <a:fillRect/>
          </a:stretch>
        </p:blipFill>
        <p:spPr>
          <a:xfrm>
            <a:off x="10128250" y="3594100"/>
            <a:ext cx="673100" cy="673100"/>
          </a:xfrm>
          <a:prstGeom prst="rect">
            <a:avLst/>
          </a:prstGeom>
        </p:spPr>
      </p:pic>
      <p:sp>
        <p:nvSpPr>
          <p:cNvPr id="51" name="TextBox 50"/>
          <p:cNvSpPr txBox="1"/>
          <p:nvPr/>
        </p:nvSpPr>
        <p:spPr>
          <a:xfrm>
            <a:off x="9448800" y="42799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Cloudflare</a:t>
            </a:r>
          </a:p>
        </p:txBody>
      </p:sp>
      <p:sp>
        <p:nvSpPr>
          <p:cNvPr id="52" name="Rounded Rectangle 51"/>
          <p:cNvSpPr/>
          <p:nvPr/>
        </p:nvSpPr>
        <p:spPr>
          <a:xfrm>
            <a:off x="4445000" y="4762500"/>
            <a:ext cx="7137400" cy="812800"/>
          </a:xfrm>
          <a:prstGeom prst="roundRect">
            <a:avLst>
              <a:gd name="adj" fmla="val 1250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4648200" y="4940300"/>
            <a:ext cx="431800" cy="431800"/>
          </a:xfrm>
          <a:prstGeom prst="roundRect">
            <a:avLst>
              <a:gd name="adj" fmla="val 205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4737100" y="5041900"/>
            <a:ext cx="254000" cy="63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4931410" y="5064760"/>
            <a:ext cx="17780" cy="1778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4737100" y="5143500"/>
            <a:ext cx="254000" cy="63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4931410" y="5166360"/>
            <a:ext cx="17780" cy="1778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4737100" y="5245100"/>
            <a:ext cx="254000" cy="63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4931410" y="5267960"/>
            <a:ext cx="17780" cy="1778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257800" y="4927600"/>
            <a:ext cx="190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087F85"/>
                </a:solidFill>
                <a:latin typeface="Arial"/>
              </a:rPr>
              <a:t>RFC 2136</a:t>
            </a:r>
          </a:p>
        </p:txBody>
      </p:sp>
      <p:sp>
        <p:nvSpPr>
          <p:cNvPr id="61" name="TextBox 60"/>
          <p:cNvSpPr txBox="1"/>
          <p:nvPr/>
        </p:nvSpPr>
        <p:spPr>
          <a:xfrm>
            <a:off x="5257800" y="5270500"/>
            <a:ext cx="19050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087F85"/>
                </a:solidFill>
                <a:latin typeface="Arial"/>
              </a:rPr>
              <a:t>DNS updates</a:t>
            </a:r>
          </a:p>
        </p:txBody>
      </p:sp>
      <p:cxnSp>
        <p:nvCxnSpPr>
          <p:cNvPr id="62" name="Connector 61"/>
          <p:cNvCxnSpPr/>
          <p:nvPr/>
        </p:nvCxnSpPr>
        <p:spPr>
          <a:xfrm>
            <a:off x="7340600" y="4927600"/>
            <a:ext cx="0" cy="482600"/>
          </a:xfrm>
          <a:prstGeom prst="line">
            <a:avLst/>
          </a:prstGeom>
          <a:ln w="12700">
            <a:solidFill>
              <a:srgbClr val="B3D6D5"/>
            </a:solidFill>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7581900" y="4927600"/>
            <a:ext cx="37465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BIND9 · Windows DNS</a:t>
            </a:r>
          </a:p>
        </p:txBody>
      </p:sp>
      <p:sp>
        <p:nvSpPr>
          <p:cNvPr id="64" name="TextBox 63"/>
          <p:cNvSpPr txBox="1"/>
          <p:nvPr/>
        </p:nvSpPr>
        <p:spPr>
          <a:xfrm>
            <a:off x="7581900" y="5270500"/>
            <a:ext cx="37465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5D6F82"/>
                </a:solidFill>
                <a:latin typeface="Arial"/>
              </a:rPr>
              <a:t>TSIG / GSS-TSIG authentication</a:t>
            </a:r>
          </a:p>
        </p:txBody>
      </p:sp>
      <p:sp>
        <p:nvSpPr>
          <p:cNvPr id="65" name="Rounded Rectangle 64"/>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38200" y="5918200"/>
            <a:ext cx="105156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Choose your parent DNS. Keep your Gslb traffic strategy.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YOUR SOVEREIGN BOUNDARIES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13 / 26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You define what a “region” means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Global traffic management can follow your own topology.</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TextBox 9"/>
          <p:cNvSpPr txBox="1"/>
          <p:nvPr/>
        </p:nvSpPr>
        <p:spPr>
          <a:xfrm>
            <a:off x="609600" y="1905000"/>
            <a:ext cx="109728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5D6F82"/>
                </a:solidFill>
                <a:latin typeface="Arial"/>
              </a:rPr>
              <a:t>ILLUSTRATIVE clusterGeoTag VALUES</a:t>
            </a:r>
          </a:p>
        </p:txBody>
      </p:sp>
      <p:sp>
        <p:nvSpPr>
          <p:cNvPr id="11" name="Rounded Rectangle 10"/>
          <p:cNvSpPr/>
          <p:nvPr/>
        </p:nvSpPr>
        <p:spPr>
          <a:xfrm>
            <a:off x="6096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812800" y="2184400"/>
            <a:ext cx="16256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1231900" y="2425700"/>
            <a:ext cx="787400" cy="787400"/>
          </a:xfrm>
          <a:prstGeom prst="roundRect">
            <a:avLst>
              <a:gd name="adj" fmla="val 193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371600" y="2565400"/>
            <a:ext cx="508000" cy="508000"/>
          </a:xfrm>
          <a:prstGeom prst="ellipse">
            <a:avLst/>
          </a:prstGeom>
          <a:solidFill>
            <a:srgbClr val="EAF0FB"/>
          </a:solidFill>
          <a:ln w="2159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511300" y="2565400"/>
            <a:ext cx="228600" cy="508000"/>
          </a:xfrm>
          <a:prstGeom prst="ellipse">
            <a:avLst/>
          </a:prstGeom>
          <a:solidFill>
            <a:srgbClr val="EAF0FB"/>
          </a:solidFill>
          <a:ln w="1778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1371600" y="2819400"/>
            <a:ext cx="508000" cy="0"/>
          </a:xfrm>
          <a:prstGeom prst="line">
            <a:avLst/>
          </a:prstGeom>
          <a:ln w="1778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09700" y="2692400"/>
            <a:ext cx="4318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409700" y="2946400"/>
            <a:ext cx="4318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620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REGION</a:t>
            </a:r>
          </a:p>
        </p:txBody>
      </p:sp>
      <p:sp>
        <p:nvSpPr>
          <p:cNvPr id="21" name="Rounded Rectangle 20"/>
          <p:cNvSpPr/>
          <p:nvPr/>
        </p:nvSpPr>
        <p:spPr>
          <a:xfrm>
            <a:off x="787400" y="3873500"/>
            <a:ext cx="1676400" cy="368300"/>
          </a:xfrm>
          <a:prstGeom prst="roundRect">
            <a:avLst>
              <a:gd name="adj" fmla="val 1724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36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2762C8"/>
                </a:solidFill>
                <a:latin typeface="Courier New"/>
              </a:rPr>
              <a:t>eu-west</a:t>
            </a:r>
          </a:p>
        </p:txBody>
      </p:sp>
      <p:sp>
        <p:nvSpPr>
          <p:cNvPr id="23" name="Rounded Rectangle 22"/>
          <p:cNvSpPr/>
          <p:nvPr/>
        </p:nvSpPr>
        <p:spPr>
          <a:xfrm>
            <a:off x="28448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8448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3048000" y="2184400"/>
            <a:ext cx="16256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467100" y="2425700"/>
            <a:ext cx="787400" cy="787400"/>
          </a:xfrm>
          <a:prstGeom prst="roundRect">
            <a:avLst>
              <a:gd name="adj" fmla="val 193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3606800" y="2552700"/>
            <a:ext cx="508000" cy="508000"/>
          </a:xfrm>
          <a:prstGeom prst="roundRect">
            <a:avLst>
              <a:gd name="adj" fmla="val 7500"/>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6830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6830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8354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8354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9878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9878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797300" y="2933700"/>
            <a:ext cx="127000" cy="127000"/>
          </a:xfrm>
          <a:prstGeom prst="rect">
            <a:avLst/>
          </a:prstGeom>
          <a:solidFill>
            <a:srgbClr val="E8F4F3"/>
          </a:solidFill>
          <a:ln w="1651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3543300" y="3073400"/>
            <a:ext cx="635000" cy="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9972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DATACENTER</a:t>
            </a:r>
          </a:p>
        </p:txBody>
      </p:sp>
      <p:sp>
        <p:nvSpPr>
          <p:cNvPr id="37" name="Rounded Rectangle 36"/>
          <p:cNvSpPr/>
          <p:nvPr/>
        </p:nvSpPr>
        <p:spPr>
          <a:xfrm>
            <a:off x="3022600" y="3873500"/>
            <a:ext cx="1676400" cy="368300"/>
          </a:xfrm>
          <a:prstGeom prst="roundRect">
            <a:avLst>
              <a:gd name="adj" fmla="val 1724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0988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087F85"/>
                </a:solidFill>
                <a:latin typeface="Courier New"/>
              </a:rPr>
              <a:t>dc-1</a:t>
            </a:r>
          </a:p>
        </p:txBody>
      </p:sp>
      <p:sp>
        <p:nvSpPr>
          <p:cNvPr id="39" name="Rounded Rectangle 38"/>
          <p:cNvSpPr/>
          <p:nvPr/>
        </p:nvSpPr>
        <p:spPr>
          <a:xfrm>
            <a:off x="50800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50800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5283200" y="2184400"/>
            <a:ext cx="16256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5702300" y="2425700"/>
            <a:ext cx="787400" cy="787400"/>
          </a:xfrm>
          <a:prstGeom prst="roundRect">
            <a:avLst>
              <a:gd name="adj" fmla="val 193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5854700" y="2540000"/>
            <a:ext cx="482600" cy="558800"/>
          </a:xfrm>
          <a:prstGeom prst="roundRect">
            <a:avLst>
              <a:gd name="adj" fmla="val 7894"/>
            </a:avLst>
          </a:prstGeom>
          <a:solidFill>
            <a:srgbClr val="EAF0FB"/>
          </a:solidFill>
          <a:ln w="2159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918200" y="26035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5969000" y="26606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6191250" y="26416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5918200" y="27559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8" name="Connector 47"/>
          <p:cNvCxnSpPr/>
          <p:nvPr/>
        </p:nvCxnSpPr>
        <p:spPr>
          <a:xfrm>
            <a:off x="5969000" y="28130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49" name="Oval 48"/>
          <p:cNvSpPr/>
          <p:nvPr/>
        </p:nvSpPr>
        <p:spPr>
          <a:xfrm>
            <a:off x="6191250" y="27940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5918200" y="29083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1" name="Connector 50"/>
          <p:cNvCxnSpPr/>
          <p:nvPr/>
        </p:nvCxnSpPr>
        <p:spPr>
          <a:xfrm>
            <a:off x="5969000" y="29654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6191250" y="29464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2324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RACK</a:t>
            </a:r>
          </a:p>
        </p:txBody>
      </p:sp>
      <p:sp>
        <p:nvSpPr>
          <p:cNvPr id="54" name="Rounded Rectangle 53"/>
          <p:cNvSpPr/>
          <p:nvPr/>
        </p:nvSpPr>
        <p:spPr>
          <a:xfrm>
            <a:off x="5257800" y="3873500"/>
            <a:ext cx="1676400" cy="368300"/>
          </a:xfrm>
          <a:prstGeom prst="roundRect">
            <a:avLst>
              <a:gd name="adj" fmla="val 1724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3340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2762C8"/>
                </a:solidFill>
                <a:latin typeface="Courier New"/>
              </a:rPr>
              <a:t>rack-a</a:t>
            </a:r>
          </a:p>
        </p:txBody>
      </p:sp>
      <p:sp>
        <p:nvSpPr>
          <p:cNvPr id="56" name="Rounded Rectangle 55"/>
          <p:cNvSpPr/>
          <p:nvPr/>
        </p:nvSpPr>
        <p:spPr>
          <a:xfrm>
            <a:off x="73152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73152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8" name="Connector 57"/>
          <p:cNvCxnSpPr/>
          <p:nvPr/>
        </p:nvCxnSpPr>
        <p:spPr>
          <a:xfrm>
            <a:off x="7518400" y="2184400"/>
            <a:ext cx="16256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59" name="Rounded Rectangle 58"/>
          <p:cNvSpPr/>
          <p:nvPr/>
        </p:nvSpPr>
        <p:spPr>
          <a:xfrm>
            <a:off x="7937500" y="2425700"/>
            <a:ext cx="787400" cy="787400"/>
          </a:xfrm>
          <a:prstGeom prst="roundRect">
            <a:avLst>
              <a:gd name="adj" fmla="val 193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8039100" y="2667000"/>
            <a:ext cx="584200" cy="317500"/>
          </a:xfrm>
          <a:prstGeom prst="roundRect">
            <a:avLst>
              <a:gd name="adj" fmla="val 16000"/>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1" name="Connector 60"/>
          <p:cNvCxnSpPr/>
          <p:nvPr/>
        </p:nvCxnSpPr>
        <p:spPr>
          <a:xfrm>
            <a:off x="8115300" y="27559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8115300" y="28448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8115300" y="29337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sp>
        <p:nvSpPr>
          <p:cNvPr id="64" name="Oval 63"/>
          <p:cNvSpPr/>
          <p:nvPr/>
        </p:nvSpPr>
        <p:spPr>
          <a:xfrm>
            <a:off x="8470900" y="2781300"/>
            <a:ext cx="76200" cy="76200"/>
          </a:xfrm>
          <a:prstGeom prst="ellipse">
            <a:avLst/>
          </a:prstGeom>
          <a:solidFill>
            <a:srgbClr val="E8F4F3"/>
          </a:solidFill>
          <a:ln w="1778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5" name="Connector 64"/>
          <p:cNvCxnSpPr/>
          <p:nvPr/>
        </p:nvCxnSpPr>
        <p:spPr>
          <a:xfrm>
            <a:off x="8140700" y="3009900"/>
            <a:ext cx="0" cy="508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8521700" y="3009900"/>
            <a:ext cx="0" cy="508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74676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SERVER</a:t>
            </a:r>
          </a:p>
        </p:txBody>
      </p:sp>
      <p:sp>
        <p:nvSpPr>
          <p:cNvPr id="68" name="Rounded Rectangle 67"/>
          <p:cNvSpPr/>
          <p:nvPr/>
        </p:nvSpPr>
        <p:spPr>
          <a:xfrm>
            <a:off x="7493000" y="3873500"/>
            <a:ext cx="1676400" cy="368300"/>
          </a:xfrm>
          <a:prstGeom prst="roundRect">
            <a:avLst>
              <a:gd name="adj" fmla="val 1724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5692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087F85"/>
                </a:solidFill>
                <a:latin typeface="Courier New"/>
              </a:rPr>
              <a:t>server-01</a:t>
            </a:r>
          </a:p>
        </p:txBody>
      </p:sp>
      <p:sp>
        <p:nvSpPr>
          <p:cNvPr id="70" name="Rounded Rectangle 69"/>
          <p:cNvSpPr/>
          <p:nvPr/>
        </p:nvSpPr>
        <p:spPr>
          <a:xfrm>
            <a:off x="95504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95504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2" name="Connector 71"/>
          <p:cNvCxnSpPr/>
          <p:nvPr/>
        </p:nvCxnSpPr>
        <p:spPr>
          <a:xfrm>
            <a:off x="9753600" y="2184400"/>
            <a:ext cx="1625600" cy="0"/>
          </a:xfrm>
          <a:prstGeom prst="line">
            <a:avLst/>
          </a:prstGeom>
          <a:ln w="31750">
            <a:solidFill>
              <a:srgbClr val="CF0035"/>
            </a:solidFill>
          </a:ln>
        </p:spPr>
        <p:style>
          <a:lnRef idx="2">
            <a:schemeClr val="accent1"/>
          </a:lnRef>
          <a:fillRef idx="0">
            <a:schemeClr val="accent1"/>
          </a:fillRef>
          <a:effectRef idx="1">
            <a:schemeClr val="accent1"/>
          </a:effectRef>
          <a:fontRef idx="minor">
            <a:schemeClr val="tx1"/>
          </a:fontRef>
        </p:style>
      </p:cxnSp>
      <p:sp>
        <p:nvSpPr>
          <p:cNvPr id="73" name="Rounded Rectangle 72"/>
          <p:cNvSpPr/>
          <p:nvPr/>
        </p:nvSpPr>
        <p:spPr>
          <a:xfrm>
            <a:off x="10172700" y="2425700"/>
            <a:ext cx="787400" cy="787400"/>
          </a:xfrm>
          <a:prstGeom prst="roundRect">
            <a:avLst>
              <a:gd name="adj" fmla="val 19354"/>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4" name="Connector 73"/>
          <p:cNvCxnSpPr/>
          <p:nvPr/>
        </p:nvCxnSpPr>
        <p:spPr>
          <a:xfrm flipH="1">
            <a:off x="10274300" y="25527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10274300" y="25527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10744200" y="25527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0858500" y="25527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10274300" y="29591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10274300" y="30861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10858500" y="29591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H="1">
            <a:off x="10744200" y="30861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10426700" y="2705100"/>
            <a:ext cx="139700" cy="20320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10566400" y="2705100"/>
            <a:ext cx="139700" cy="20320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H="1">
            <a:off x="10426700" y="2908300"/>
            <a:ext cx="279400" cy="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sp>
        <p:nvSpPr>
          <p:cNvPr id="85" name="Oval 84"/>
          <p:cNvSpPr/>
          <p:nvPr/>
        </p:nvSpPr>
        <p:spPr>
          <a:xfrm>
            <a:off x="10375900" y="28575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10515600" y="26543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0655300" y="28575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7028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CUSTOM</a:t>
            </a:r>
          </a:p>
        </p:txBody>
      </p:sp>
      <p:sp>
        <p:nvSpPr>
          <p:cNvPr id="89" name="Rounded Rectangle 88"/>
          <p:cNvSpPr/>
          <p:nvPr/>
        </p:nvSpPr>
        <p:spPr>
          <a:xfrm>
            <a:off x="9728200" y="3873500"/>
            <a:ext cx="1676400" cy="368300"/>
          </a:xfrm>
          <a:prstGeom prst="roundRect">
            <a:avLst>
              <a:gd name="adj" fmla="val 17241"/>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98044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CF0035"/>
                </a:solidFill>
                <a:latin typeface="Courier New"/>
              </a:rPr>
              <a:t>sovereign-a</a:t>
            </a:r>
          </a:p>
        </p:txBody>
      </p:sp>
      <p:sp>
        <p:nvSpPr>
          <p:cNvPr id="91" name="Rounded Rectangle 90"/>
          <p:cNvSpPr/>
          <p:nvPr/>
        </p:nvSpPr>
        <p:spPr>
          <a:xfrm>
            <a:off x="609600" y="4851400"/>
            <a:ext cx="10972800" cy="838200"/>
          </a:xfrm>
          <a:prstGeom prst="roundRect">
            <a:avLst>
              <a:gd name="adj" fmla="val 1363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2" name="Picture 91" descr="image.png"/>
          <p:cNvPicPr>
            <a:picLocks noChangeAspect="1"/>
          </p:cNvPicPr>
          <p:nvPr/>
        </p:nvPicPr>
        <p:blipFill>
          <a:blip r:embed="rId2"/>
          <a:stretch>
            <a:fillRect/>
          </a:stretch>
        </p:blipFill>
        <p:spPr>
          <a:xfrm>
            <a:off x="876300" y="5041900"/>
            <a:ext cx="469900" cy="469900"/>
          </a:xfrm>
          <a:prstGeom prst="rect">
            <a:avLst/>
          </a:prstGeom>
        </p:spPr>
      </p:pic>
      <p:sp>
        <p:nvSpPr>
          <p:cNvPr id="93" name="TextBox 92"/>
          <p:cNvSpPr txBox="1"/>
          <p:nvPr/>
        </p:nvSpPr>
        <p:spPr>
          <a:xfrm>
            <a:off x="1562100" y="4991100"/>
            <a:ext cx="97155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Each tag identifies a k8gb cluster.</a:t>
            </a:r>
          </a:p>
        </p:txBody>
      </p:sp>
      <p:sp>
        <p:nvSpPr>
          <p:cNvPr id="94" name="TextBox 93"/>
          <p:cNvSpPr txBox="1"/>
          <p:nvPr/>
        </p:nvSpPr>
        <p:spPr>
          <a:xfrm>
            <a:off x="1562100" y="5372100"/>
            <a:ext cx="9715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Rack or server boundaries use independent clusters, including single-node clusters.</a:t>
            </a:r>
          </a:p>
        </p:txBody>
      </p:sp>
      <p:sp>
        <p:nvSpPr>
          <p:cNvPr id="95" name="Rounded Rectangle 94"/>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787400" y="5892800"/>
            <a:ext cx="10617200" cy="349250"/>
          </a:xfrm>
          <a:prstGeom prst="rect">
            <a:avLst/>
          </a:prstGeom>
          <a:noFill/>
        </p:spPr>
        <p:txBody>
          <a:bodyPr wrap="none" lIns="0" rIns="0" tIns="0" bIns="0" anchor="t">
            <a:noAutofit/>
          </a:bodyPr>
          <a:lstStyle/>
          <a:p>
            <a:pPr algn="ctr">
              <a:lnSpc>
                <a:spcPts val="2200"/>
              </a:lnSpc>
              <a:spcBef>
                <a:spcPts val="0"/>
              </a:spcBef>
              <a:spcAft>
                <a:spcPts val="0"/>
              </a:spcAft>
            </a:pPr>
            <a:r>
              <a:rPr sz="2200" b="1">
                <a:solidFill>
                  <a:srgbClr val="142338"/>
                </a:solidFill>
                <a:latin typeface="Arial"/>
              </a:rPr>
              <a:t>Choose boundaries that match your sovereignty model.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LIVE DEMO · A / EU → B / US → A / EU</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14 / 26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FFFFFF"/>
                </a:solidFill>
                <a:latin typeface="Arial"/>
              </a:rPr>
              <a:t>One hostname. Two clusters.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B8C8D9"/>
                </a:solidFill>
                <a:latin typeface="Arial"/>
              </a:rPr>
              <a:t>All local. Two application clusters represent different locations.</a:t>
            </a:r>
          </a:p>
        </p:txBody>
      </p:sp>
      <p:cxnSp>
        <p:nvCxnSpPr>
          <p:cNvPr id="7" name="Connector 6"/>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cxnSp>
        <p:nvCxnSpPr>
          <p:cNvPr id="10" name="Connector 9"/>
          <p:cNvCxnSpPr/>
          <p:nvPr/>
        </p:nvCxnSpPr>
        <p:spPr>
          <a:xfrm flipH="1">
            <a:off x="2844800" y="2590800"/>
            <a:ext cx="1346200" cy="0"/>
          </a:xfrm>
          <a:prstGeom prst="line">
            <a:avLst/>
          </a:prstGeom>
          <a:ln w="2159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844800" y="2590800"/>
            <a:ext cx="0" cy="914400"/>
          </a:xfrm>
          <a:prstGeom prst="line">
            <a:avLst/>
          </a:prstGeom>
          <a:ln w="21590">
            <a:solidFill>
              <a:srgbClr val="83AD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001000" y="2590800"/>
            <a:ext cx="1346200" cy="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347200" y="2590800"/>
            <a:ext cx="0" cy="914400"/>
          </a:xfrm>
          <a:prstGeom prst="line">
            <a:avLst/>
          </a:prstGeom>
          <a:ln w="21590">
            <a:solidFill>
              <a:srgbClr val="66CBC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89000" y="2984500"/>
            <a:ext cx="17018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83ADFF"/>
                </a:solidFill>
                <a:latin typeface="Arial"/>
              </a:rPr>
              <a:t>NS delegation</a:t>
            </a:r>
          </a:p>
        </p:txBody>
      </p:sp>
      <p:sp>
        <p:nvSpPr>
          <p:cNvPr id="15" name="TextBox 14"/>
          <p:cNvSpPr txBox="1"/>
          <p:nvPr/>
        </p:nvSpPr>
        <p:spPr>
          <a:xfrm>
            <a:off x="9601200" y="2984500"/>
            <a:ext cx="17018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66CBC9"/>
                </a:solidFill>
                <a:latin typeface="Arial"/>
              </a:rPr>
              <a:t>NS delegation</a:t>
            </a:r>
          </a:p>
        </p:txBody>
      </p:sp>
      <p:sp>
        <p:nvSpPr>
          <p:cNvPr id="16" name="Rounded Rectangle 15"/>
          <p:cNvSpPr/>
          <p:nvPr/>
        </p:nvSpPr>
        <p:spPr>
          <a:xfrm>
            <a:off x="4191000" y="2108200"/>
            <a:ext cx="3810000" cy="965200"/>
          </a:xfrm>
          <a:prstGeom prst="roundRect">
            <a:avLst>
              <a:gd name="adj" fmla="val 13157"/>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419600" y="23114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4483100" y="23685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4798060" y="23533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419600" y="24765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4483100" y="25336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4798060" y="25184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419600" y="26416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4483100" y="26987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4798060" y="26835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92700" y="2260600"/>
            <a:ext cx="26797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Local BIND9</a:t>
            </a:r>
          </a:p>
        </p:txBody>
      </p:sp>
      <p:sp>
        <p:nvSpPr>
          <p:cNvPr id="27" name="TextBox 26"/>
          <p:cNvSpPr txBox="1"/>
          <p:nvPr/>
        </p:nvSpPr>
        <p:spPr>
          <a:xfrm>
            <a:off x="5092700" y="2679700"/>
            <a:ext cx="26797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Parent DNS · example.com</a:t>
            </a:r>
          </a:p>
        </p:txBody>
      </p:sp>
      <p:sp>
        <p:nvSpPr>
          <p:cNvPr id="28" name="TextBox 27"/>
          <p:cNvSpPr txBox="1"/>
          <p:nvPr/>
        </p:nvSpPr>
        <p:spPr>
          <a:xfrm>
            <a:off x="4064000" y="3175000"/>
            <a:ext cx="4064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B8C8D9"/>
                </a:solidFill>
                <a:latin typeface="Arial"/>
              </a:rPr>
              <a:t>Delegates cloud.example.com</a:t>
            </a:r>
          </a:p>
        </p:txBody>
      </p:sp>
      <p:sp>
        <p:nvSpPr>
          <p:cNvPr id="29" name="Rounded Rectangle 28"/>
          <p:cNvSpPr/>
          <p:nvPr/>
        </p:nvSpPr>
        <p:spPr>
          <a:xfrm>
            <a:off x="609600" y="3505200"/>
            <a:ext cx="4470400" cy="1727200"/>
          </a:xfrm>
          <a:prstGeom prst="roundRect">
            <a:avLst>
              <a:gd name="adj" fmla="val 7352"/>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838200" y="3517900"/>
            <a:ext cx="4013200" cy="0"/>
          </a:xfrm>
          <a:prstGeom prst="line">
            <a:avLst/>
          </a:prstGeom>
          <a:ln w="30480">
            <a:solidFill>
              <a:srgbClr val="83ADFF"/>
            </a:solidFill>
          </a:ln>
        </p:spPr>
        <p:style>
          <a:lnRef idx="2">
            <a:schemeClr val="accent1"/>
          </a:lnRef>
          <a:fillRef idx="0">
            <a:schemeClr val="accent1"/>
          </a:fillRef>
          <a:effectRef idx="1">
            <a:schemeClr val="accent1"/>
          </a:effectRef>
          <a:fontRef idx="minor">
            <a:schemeClr val="tx1"/>
          </a:fontRef>
        </p:style>
      </p:cxnSp>
      <p:pic>
        <p:nvPicPr>
          <p:cNvPr id="31" name="Picture 30" descr="image.png"/>
          <p:cNvPicPr>
            <a:picLocks noChangeAspect="1"/>
          </p:cNvPicPr>
          <p:nvPr/>
        </p:nvPicPr>
        <p:blipFill>
          <a:blip r:embed="rId2"/>
          <a:stretch>
            <a:fillRect/>
          </a:stretch>
        </p:blipFill>
        <p:spPr>
          <a:xfrm>
            <a:off x="838200" y="3657600"/>
            <a:ext cx="469900" cy="469900"/>
          </a:xfrm>
          <a:prstGeom prst="rect">
            <a:avLst/>
          </a:prstGeom>
        </p:spPr>
      </p:pic>
      <p:sp>
        <p:nvSpPr>
          <p:cNvPr id="32" name="TextBox 31"/>
          <p:cNvSpPr txBox="1"/>
          <p:nvPr/>
        </p:nvSpPr>
        <p:spPr>
          <a:xfrm>
            <a:off x="1473200" y="3644900"/>
            <a:ext cx="2159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FFFFFF"/>
                </a:solidFill>
                <a:latin typeface="Arial"/>
              </a:rPr>
              <a:t>CLUSTER A</a:t>
            </a:r>
          </a:p>
        </p:txBody>
      </p:sp>
      <p:sp>
        <p:nvSpPr>
          <p:cNvPr id="33" name="Rounded Rectangle 32"/>
          <p:cNvSpPr/>
          <p:nvPr/>
        </p:nvSpPr>
        <p:spPr>
          <a:xfrm>
            <a:off x="3683000" y="3632200"/>
            <a:ext cx="1168400" cy="317500"/>
          </a:xfrm>
          <a:prstGeom prst="roundRect">
            <a:avLst>
              <a:gd name="adj" fmla="val 48000"/>
            </a:avLst>
          </a:prstGeom>
          <a:solidFill>
            <a:srgbClr val="243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746500" y="3683000"/>
            <a:ext cx="10414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83ADFF"/>
                </a:solidFill>
                <a:latin typeface="Arial"/>
              </a:rPr>
              <a:t>PRIMARY</a:t>
            </a:r>
          </a:p>
        </p:txBody>
      </p:sp>
      <p:sp>
        <p:nvSpPr>
          <p:cNvPr id="35" name="TextBox 34"/>
          <p:cNvSpPr txBox="1"/>
          <p:nvPr/>
        </p:nvSpPr>
        <p:spPr>
          <a:xfrm>
            <a:off x="1473200" y="4025900"/>
            <a:ext cx="3251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Geotag eu · primary application</a:t>
            </a:r>
          </a:p>
        </p:txBody>
      </p:sp>
      <p:cxnSp>
        <p:nvCxnSpPr>
          <p:cNvPr id="36" name="Connector 35"/>
          <p:cNvCxnSpPr/>
          <p:nvPr/>
        </p:nvCxnSpPr>
        <p:spPr>
          <a:xfrm>
            <a:off x="863600" y="4356100"/>
            <a:ext cx="39624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863600" y="4487207"/>
            <a:ext cx="342899" cy="334685"/>
          </a:xfrm>
          <a:prstGeom prst="rect">
            <a:avLst/>
          </a:prstGeom>
        </p:spPr>
      </p:pic>
      <p:sp>
        <p:nvSpPr>
          <p:cNvPr id="38" name="TextBox 37"/>
          <p:cNvSpPr txBox="1"/>
          <p:nvPr/>
        </p:nvSpPr>
        <p:spPr>
          <a:xfrm>
            <a:off x="1320800" y="4521200"/>
            <a:ext cx="9144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k8gb</a:t>
            </a:r>
          </a:p>
        </p:txBody>
      </p:sp>
      <p:pic>
        <p:nvPicPr>
          <p:cNvPr id="39" name="Picture 38" descr="image.png"/>
          <p:cNvPicPr>
            <a:picLocks noChangeAspect="1"/>
          </p:cNvPicPr>
          <p:nvPr/>
        </p:nvPicPr>
        <p:blipFill>
          <a:blip r:embed="rId4"/>
          <a:stretch>
            <a:fillRect/>
          </a:stretch>
        </p:blipFill>
        <p:spPr>
          <a:xfrm>
            <a:off x="2755900" y="4483100"/>
            <a:ext cx="342900" cy="342900"/>
          </a:xfrm>
          <a:prstGeom prst="rect">
            <a:avLst/>
          </a:prstGeom>
        </p:spPr>
      </p:pic>
      <p:sp>
        <p:nvSpPr>
          <p:cNvPr id="40" name="TextBox 39"/>
          <p:cNvSpPr txBox="1"/>
          <p:nvPr/>
        </p:nvSpPr>
        <p:spPr>
          <a:xfrm>
            <a:off x="3213100" y="4521200"/>
            <a:ext cx="16129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CoreDNS</a:t>
            </a:r>
          </a:p>
        </p:txBody>
      </p:sp>
      <p:sp>
        <p:nvSpPr>
          <p:cNvPr id="41" name="Rounded Rectangle 40"/>
          <p:cNvSpPr/>
          <p:nvPr/>
        </p:nvSpPr>
        <p:spPr>
          <a:xfrm>
            <a:off x="863600" y="4927600"/>
            <a:ext cx="215900" cy="152400"/>
          </a:xfrm>
          <a:prstGeom prst="roundRect">
            <a:avLst>
              <a:gd name="adj" fmla="val 16666"/>
            </a:avLst>
          </a:prstGeom>
          <a:solidFill>
            <a:srgbClr val="1A3047"/>
          </a:solidFill>
          <a:ln w="1143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2" name="Connector 41"/>
          <p:cNvCxnSpPr/>
          <p:nvPr/>
        </p:nvCxnSpPr>
        <p:spPr>
          <a:xfrm>
            <a:off x="863600" y="4978400"/>
            <a:ext cx="215900" cy="0"/>
          </a:xfrm>
          <a:prstGeom prst="line">
            <a:avLst/>
          </a:prstGeom>
          <a:ln w="10160">
            <a:solidFill>
              <a:srgbClr val="B8C8D9"/>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1193800" y="4889500"/>
            <a:ext cx="36322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podinfo application · Ingress</a:t>
            </a:r>
          </a:p>
        </p:txBody>
      </p:sp>
      <p:sp>
        <p:nvSpPr>
          <p:cNvPr id="44" name="Rounded Rectangle 43"/>
          <p:cNvSpPr/>
          <p:nvPr/>
        </p:nvSpPr>
        <p:spPr>
          <a:xfrm>
            <a:off x="7112000" y="3505200"/>
            <a:ext cx="4470400" cy="1727200"/>
          </a:xfrm>
          <a:prstGeom prst="roundRect">
            <a:avLst>
              <a:gd name="adj" fmla="val 7352"/>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7340600" y="3517900"/>
            <a:ext cx="4013200" cy="0"/>
          </a:xfrm>
          <a:prstGeom prst="line">
            <a:avLst/>
          </a:prstGeom>
          <a:ln w="30480">
            <a:solidFill>
              <a:srgbClr val="66CBC9"/>
            </a:solidFill>
          </a:ln>
        </p:spPr>
        <p:style>
          <a:lnRef idx="2">
            <a:schemeClr val="accent1"/>
          </a:lnRef>
          <a:fillRef idx="0">
            <a:schemeClr val="accent1"/>
          </a:fillRef>
          <a:effectRef idx="1">
            <a:schemeClr val="accent1"/>
          </a:effectRef>
          <a:fontRef idx="minor">
            <a:schemeClr val="tx1"/>
          </a:fontRef>
        </p:style>
      </p:cxnSp>
      <p:pic>
        <p:nvPicPr>
          <p:cNvPr id="46" name="Picture 45" descr="image.png"/>
          <p:cNvPicPr>
            <a:picLocks noChangeAspect="1"/>
          </p:cNvPicPr>
          <p:nvPr/>
        </p:nvPicPr>
        <p:blipFill>
          <a:blip r:embed="rId2"/>
          <a:stretch>
            <a:fillRect/>
          </a:stretch>
        </p:blipFill>
        <p:spPr>
          <a:xfrm>
            <a:off x="7340600" y="3657600"/>
            <a:ext cx="469900" cy="469900"/>
          </a:xfrm>
          <a:prstGeom prst="rect">
            <a:avLst/>
          </a:prstGeom>
        </p:spPr>
      </p:pic>
      <p:sp>
        <p:nvSpPr>
          <p:cNvPr id="47" name="TextBox 46"/>
          <p:cNvSpPr txBox="1"/>
          <p:nvPr/>
        </p:nvSpPr>
        <p:spPr>
          <a:xfrm>
            <a:off x="7975600" y="3644900"/>
            <a:ext cx="2159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FFFFFF"/>
                </a:solidFill>
                <a:latin typeface="Arial"/>
              </a:rPr>
              <a:t>CLUSTER B</a:t>
            </a:r>
          </a:p>
        </p:txBody>
      </p:sp>
      <p:sp>
        <p:nvSpPr>
          <p:cNvPr id="48" name="Rounded Rectangle 47"/>
          <p:cNvSpPr/>
          <p:nvPr/>
        </p:nvSpPr>
        <p:spPr>
          <a:xfrm>
            <a:off x="10185400" y="3632200"/>
            <a:ext cx="1168400" cy="317500"/>
          </a:xfrm>
          <a:prstGeom prst="roundRect">
            <a:avLst>
              <a:gd name="adj" fmla="val 48000"/>
            </a:avLst>
          </a:prstGeom>
          <a:solidFill>
            <a:srgbClr val="173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48900" y="3683000"/>
            <a:ext cx="10414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66CBC9"/>
                </a:solidFill>
                <a:latin typeface="Arial"/>
              </a:rPr>
              <a:t>SECONDARY</a:t>
            </a:r>
          </a:p>
        </p:txBody>
      </p:sp>
      <p:sp>
        <p:nvSpPr>
          <p:cNvPr id="50" name="TextBox 49"/>
          <p:cNvSpPr txBox="1"/>
          <p:nvPr/>
        </p:nvSpPr>
        <p:spPr>
          <a:xfrm>
            <a:off x="7975600" y="4025900"/>
            <a:ext cx="3251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Geotag us · secondary application</a:t>
            </a:r>
          </a:p>
        </p:txBody>
      </p:sp>
      <p:cxnSp>
        <p:nvCxnSpPr>
          <p:cNvPr id="51" name="Connector 50"/>
          <p:cNvCxnSpPr/>
          <p:nvPr/>
        </p:nvCxnSpPr>
        <p:spPr>
          <a:xfrm>
            <a:off x="7366000" y="4356100"/>
            <a:ext cx="39624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pic>
        <p:nvPicPr>
          <p:cNvPr id="52" name="Picture 51" descr="image.png"/>
          <p:cNvPicPr>
            <a:picLocks noChangeAspect="1"/>
          </p:cNvPicPr>
          <p:nvPr/>
        </p:nvPicPr>
        <p:blipFill>
          <a:blip r:embed="rId3"/>
          <a:stretch>
            <a:fillRect/>
          </a:stretch>
        </p:blipFill>
        <p:spPr>
          <a:xfrm>
            <a:off x="7366000" y="4487207"/>
            <a:ext cx="342899" cy="334685"/>
          </a:xfrm>
          <a:prstGeom prst="rect">
            <a:avLst/>
          </a:prstGeom>
        </p:spPr>
      </p:pic>
      <p:sp>
        <p:nvSpPr>
          <p:cNvPr id="53" name="TextBox 52"/>
          <p:cNvSpPr txBox="1"/>
          <p:nvPr/>
        </p:nvSpPr>
        <p:spPr>
          <a:xfrm>
            <a:off x="7823200" y="4521200"/>
            <a:ext cx="9144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k8gb</a:t>
            </a:r>
          </a:p>
        </p:txBody>
      </p:sp>
      <p:pic>
        <p:nvPicPr>
          <p:cNvPr id="54" name="Picture 53" descr="image.png"/>
          <p:cNvPicPr>
            <a:picLocks noChangeAspect="1"/>
          </p:cNvPicPr>
          <p:nvPr/>
        </p:nvPicPr>
        <p:blipFill>
          <a:blip r:embed="rId4"/>
          <a:stretch>
            <a:fillRect/>
          </a:stretch>
        </p:blipFill>
        <p:spPr>
          <a:xfrm>
            <a:off x="9258300" y="4483100"/>
            <a:ext cx="342900" cy="342900"/>
          </a:xfrm>
          <a:prstGeom prst="rect">
            <a:avLst/>
          </a:prstGeom>
        </p:spPr>
      </p:pic>
      <p:sp>
        <p:nvSpPr>
          <p:cNvPr id="55" name="TextBox 54"/>
          <p:cNvSpPr txBox="1"/>
          <p:nvPr/>
        </p:nvSpPr>
        <p:spPr>
          <a:xfrm>
            <a:off x="9715500" y="4521200"/>
            <a:ext cx="16129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CoreDNS</a:t>
            </a:r>
          </a:p>
        </p:txBody>
      </p:sp>
      <p:sp>
        <p:nvSpPr>
          <p:cNvPr id="56" name="Rounded Rectangle 55"/>
          <p:cNvSpPr/>
          <p:nvPr/>
        </p:nvSpPr>
        <p:spPr>
          <a:xfrm>
            <a:off x="7366000" y="4927600"/>
            <a:ext cx="215900" cy="152400"/>
          </a:xfrm>
          <a:prstGeom prst="roundRect">
            <a:avLst>
              <a:gd name="adj" fmla="val 16666"/>
            </a:avLst>
          </a:prstGeom>
          <a:solidFill>
            <a:srgbClr val="1A3047"/>
          </a:solidFill>
          <a:ln w="1143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7" name="Connector 56"/>
          <p:cNvCxnSpPr/>
          <p:nvPr/>
        </p:nvCxnSpPr>
        <p:spPr>
          <a:xfrm>
            <a:off x="7366000" y="4978400"/>
            <a:ext cx="215900" cy="0"/>
          </a:xfrm>
          <a:prstGeom prst="line">
            <a:avLst/>
          </a:prstGeom>
          <a:ln w="10160">
            <a:solidFill>
              <a:srgbClr val="B8C8D9"/>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7696200" y="4889500"/>
            <a:ext cx="36322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podinfo application · Ingress</a:t>
            </a:r>
          </a:p>
        </p:txBody>
      </p:sp>
      <p:cxnSp>
        <p:nvCxnSpPr>
          <p:cNvPr id="59" name="Connector 58"/>
          <p:cNvCxnSpPr/>
          <p:nvPr/>
        </p:nvCxnSpPr>
        <p:spPr>
          <a:xfrm flipH="1">
            <a:off x="2844800" y="5689600"/>
            <a:ext cx="1346200" cy="0"/>
          </a:xfrm>
          <a:prstGeom prst="line">
            <a:avLst/>
          </a:prstGeom>
          <a:ln w="19050">
            <a:solidFill>
              <a:srgbClr val="83ADFF"/>
            </a:solidFill>
            <a:prstDash val="dash"/>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2844800" y="5232400"/>
            <a:ext cx="0" cy="457200"/>
          </a:xfrm>
          <a:prstGeom prst="line">
            <a:avLst/>
          </a:prstGeom>
          <a:ln w="19050">
            <a:solidFill>
              <a:srgbClr val="83ADFF"/>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8001000" y="5689600"/>
            <a:ext cx="1346200" cy="0"/>
          </a:xfrm>
          <a:prstGeom prst="line">
            <a:avLst/>
          </a:prstGeom>
          <a:ln w="19050">
            <a:solidFill>
              <a:srgbClr val="66CBC9"/>
            </a:solidFill>
            <a:prstDash val="dash"/>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9347200" y="5232400"/>
            <a:ext cx="0" cy="457200"/>
          </a:xfrm>
          <a:prstGeom prst="line">
            <a:avLst/>
          </a:prstGeom>
          <a:ln w="19050">
            <a:solidFill>
              <a:srgbClr val="66CBC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863600" y="5511800"/>
            <a:ext cx="17018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83ADFF"/>
                </a:solidFill>
                <a:latin typeface="Arial"/>
              </a:rPr>
              <a:t>DNS + HTTP</a:t>
            </a:r>
          </a:p>
        </p:txBody>
      </p:sp>
      <p:sp>
        <p:nvSpPr>
          <p:cNvPr id="64" name="TextBox 63"/>
          <p:cNvSpPr txBox="1"/>
          <p:nvPr/>
        </p:nvSpPr>
        <p:spPr>
          <a:xfrm>
            <a:off x="9626600" y="5511800"/>
            <a:ext cx="17018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66CBC9"/>
                </a:solidFill>
                <a:latin typeface="Arial"/>
              </a:rPr>
              <a:t>DNS + HTTP</a:t>
            </a:r>
          </a:p>
        </p:txBody>
      </p:sp>
      <p:sp>
        <p:nvSpPr>
          <p:cNvPr id="65" name="Rounded Rectangle 64"/>
          <p:cNvSpPr/>
          <p:nvPr/>
        </p:nvSpPr>
        <p:spPr>
          <a:xfrm>
            <a:off x="4191000" y="5397500"/>
            <a:ext cx="3810000" cy="622300"/>
          </a:xfrm>
          <a:prstGeom prst="roundRect">
            <a:avLst>
              <a:gd name="adj" fmla="val 1632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ed Rectangle 65"/>
          <p:cNvSpPr/>
          <p:nvPr/>
        </p:nvSpPr>
        <p:spPr>
          <a:xfrm>
            <a:off x="4406900" y="5524500"/>
            <a:ext cx="444500" cy="342900"/>
          </a:xfrm>
          <a:prstGeom prst="roundRect">
            <a:avLst>
              <a:gd name="adj" fmla="val 14814"/>
            </a:avLst>
          </a:prstGeom>
          <a:solidFill>
            <a:srgbClr val="1A3047"/>
          </a:solidFill>
          <a:ln w="1524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7" name="Connector 66"/>
          <p:cNvCxnSpPr/>
          <p:nvPr/>
        </p:nvCxnSpPr>
        <p:spPr>
          <a:xfrm>
            <a:off x="4495800" y="5613400"/>
            <a:ext cx="63500" cy="6350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a:off x="4495800" y="5676900"/>
            <a:ext cx="63500" cy="6350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4610100" y="5740400"/>
            <a:ext cx="127000" cy="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5041900" y="5461000"/>
            <a:ext cx="27305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FFFFFF"/>
                </a:solidFill>
                <a:latin typeface="Arial"/>
              </a:rPr>
              <a:t>CLI dashboard</a:t>
            </a:r>
          </a:p>
        </p:txBody>
      </p:sp>
      <p:sp>
        <p:nvSpPr>
          <p:cNvPr id="71" name="TextBox 70"/>
          <p:cNvSpPr txBox="1"/>
          <p:nvPr/>
        </p:nvSpPr>
        <p:spPr>
          <a:xfrm>
            <a:off x="5041900" y="5765800"/>
            <a:ext cx="27305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B8C8D9"/>
                </a:solidFill>
                <a:latin typeface="Arial"/>
              </a:rPr>
              <a:t>DNS · cache · HTTP responses</a:t>
            </a:r>
          </a:p>
        </p:txBody>
      </p:sp>
      <p:sp>
        <p:nvSpPr>
          <p:cNvPr id="72" name="TextBox 71"/>
          <p:cNvSpPr txBox="1"/>
          <p:nvPr/>
        </p:nvSpPr>
        <p:spPr>
          <a:xfrm>
            <a:off x="609600" y="6134100"/>
            <a:ext cx="10972800" cy="254000"/>
          </a:xfrm>
          <a:prstGeom prst="rect">
            <a:avLst/>
          </a:prstGeom>
          <a:noFill/>
        </p:spPr>
        <p:txBody>
          <a:bodyPr wrap="none" lIns="0" rIns="0" tIns="0" bIns="0" anchor="t">
            <a:noAutofit/>
          </a:bodyPr>
          <a:lstStyle/>
          <a:p>
            <a:pPr algn="ctr">
              <a:lnSpc>
                <a:spcPts val="1600"/>
              </a:lnSpc>
              <a:spcBef>
                <a:spcPts val="0"/>
              </a:spcBef>
              <a:spcAft>
                <a:spcPts val="0"/>
              </a:spcAft>
            </a:pPr>
            <a:r>
              <a:rPr sz="1600" b="1">
                <a:solidFill>
                  <a:srgbClr val="FFFFFF"/>
                </a:solidFill>
                <a:latin typeface="Arial"/>
              </a:rPr>
              <a:t>Observe A → remove A’s ready targets → watch B → restore 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DEMO RECAP · 01</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15 / 26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Normal operation: both authorities prefer A</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Both applications are ready. Cluster A is the preferred target.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25" name="Oval 24"/>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42" name="Oval 41"/>
          <p:cNvSpPr/>
          <p:nvPr/>
        </p:nvSpPr>
        <p:spPr>
          <a:xfrm>
            <a:off x="106553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DEMO RECAP · 02</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16 / 26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loses ready targets: publish B</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A’s application is unready; its DNS authority is still available.</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CF0035"/>
                </a:solidFill>
                <a:latin typeface="Arial"/>
              </a:rPr>
              <a:t>UNREADY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B IPs</a:t>
            </a:r>
          </a:p>
        </p:txBody>
      </p:sp>
      <p:sp>
        <p:nvSpPr>
          <p:cNvPr id="25" name="Oval 24"/>
          <p:cNvSpPr/>
          <p:nvPr/>
        </p:nvSpPr>
        <p:spPr>
          <a:xfrm>
            <a:off x="45847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B IPs</a:t>
            </a:r>
          </a:p>
        </p:txBody>
      </p:sp>
      <p:sp>
        <p:nvSpPr>
          <p:cNvPr id="42" name="Oval 41"/>
          <p:cNvSpPr/>
          <p:nvPr/>
        </p:nvSpPr>
        <p:spPr>
          <a:xfrm>
            <a:off x="106553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DEMO RECAP · 03</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17 / 26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recovers: the strategy returns to A</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A’s application is ready again. The primary preference returns.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25" name="Oval 24"/>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42" name="Oval 41"/>
          <p:cNvSpPr/>
          <p:nvPr/>
        </p:nvSpPr>
        <p:spPr>
          <a:xfrm>
            <a:off x="106553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PART 2 · OPERATING K8GB</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18 / 26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new DNS answer is not an instant switch</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Detection, DNS publication and client recovery happen at different times.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cxnSp>
        <p:nvCxnSpPr>
          <p:cNvPr id="10" name="Connector 9"/>
          <p:cNvCxnSpPr/>
          <p:nvPr/>
        </p:nvCxnSpPr>
        <p:spPr>
          <a:xfrm>
            <a:off x="1828800" y="3556000"/>
            <a:ext cx="5689600" cy="0"/>
          </a:xfrm>
          <a:prstGeom prst="line">
            <a:avLst/>
          </a:prstGeom>
          <a:ln w="38100">
            <a:solidFill>
              <a:srgbClr val="DAE2E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518400" y="3556000"/>
            <a:ext cx="2844800" cy="0"/>
          </a:xfrm>
          <a:prstGeom prst="line">
            <a:avLst/>
          </a:prstGeom>
          <a:ln w="25400">
            <a:solidFill>
              <a:srgbClr val="087F8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096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FAILURE</a:t>
            </a:r>
          </a:p>
        </p:txBody>
      </p:sp>
      <p:sp>
        <p:nvSpPr>
          <p:cNvPr id="13" name="Rounded Rectangle 12"/>
          <p:cNvSpPr/>
          <p:nvPr/>
        </p:nvSpPr>
        <p:spPr>
          <a:xfrm>
            <a:off x="1447800" y="2489200"/>
            <a:ext cx="762000" cy="736600"/>
          </a:xfrm>
          <a:prstGeom prst="roundRect">
            <a:avLst>
              <a:gd name="adj" fmla="val 20689"/>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689100" y="3416300"/>
            <a:ext cx="279400" cy="2794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637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01</a:t>
            </a:r>
          </a:p>
        </p:txBody>
      </p:sp>
      <p:sp>
        <p:nvSpPr>
          <p:cNvPr id="16" name="TextBox 15"/>
          <p:cNvSpPr txBox="1"/>
          <p:nvPr/>
        </p:nvSpPr>
        <p:spPr>
          <a:xfrm>
            <a:off x="6096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Workload or</a:t>
            </a:r>
          </a:p>
          <a:p>
            <a:pPr algn="ctr">
              <a:lnSpc>
                <a:spcPts val="2500"/>
              </a:lnSpc>
              <a:spcBef>
                <a:spcPts val="0"/>
              </a:spcBef>
              <a:spcAft>
                <a:spcPts val="0"/>
              </a:spcAft>
            </a:pPr>
            <a:r>
              <a:rPr sz="2000" b="0">
                <a:solidFill>
                  <a:srgbClr val="142338"/>
                </a:solidFill>
                <a:latin typeface="Arial"/>
              </a:rPr>
              <a:t>cluster fails</a:t>
            </a:r>
          </a:p>
        </p:txBody>
      </p:sp>
      <p:sp>
        <p:nvSpPr>
          <p:cNvPr id="17" name="TextBox 16"/>
          <p:cNvSpPr txBox="1"/>
          <p:nvPr/>
        </p:nvSpPr>
        <p:spPr>
          <a:xfrm>
            <a:off x="34544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2762C8"/>
                </a:solidFill>
                <a:latin typeface="Arial"/>
              </a:rPr>
              <a:t>DETECTION</a:t>
            </a:r>
          </a:p>
        </p:txBody>
      </p:sp>
      <p:sp>
        <p:nvSpPr>
          <p:cNvPr id="18" name="Rounded Rectangle 17"/>
          <p:cNvSpPr/>
          <p:nvPr/>
        </p:nvSpPr>
        <p:spPr>
          <a:xfrm>
            <a:off x="4292600" y="2489200"/>
            <a:ext cx="762000" cy="736600"/>
          </a:xfrm>
          <a:prstGeom prst="roundRect">
            <a:avLst>
              <a:gd name="adj" fmla="val 2068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533900" y="3416300"/>
            <a:ext cx="279400" cy="2794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085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02</a:t>
            </a:r>
          </a:p>
        </p:txBody>
      </p:sp>
      <p:sp>
        <p:nvSpPr>
          <p:cNvPr id="21" name="TextBox 20"/>
          <p:cNvSpPr txBox="1"/>
          <p:nvPr/>
        </p:nvSpPr>
        <p:spPr>
          <a:xfrm>
            <a:off x="34544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Readiness +</a:t>
            </a:r>
          </a:p>
          <a:p>
            <a:pPr algn="ctr">
              <a:lnSpc>
                <a:spcPts val="2500"/>
              </a:lnSpc>
              <a:spcBef>
                <a:spcPts val="0"/>
              </a:spcBef>
              <a:spcAft>
                <a:spcPts val="0"/>
              </a:spcAft>
            </a:pPr>
            <a:r>
              <a:rPr sz="2000" b="0">
                <a:solidFill>
                  <a:srgbClr val="142338"/>
                </a:solidFill>
                <a:latin typeface="Arial"/>
              </a:rPr>
              <a:t>reconciliation</a:t>
            </a:r>
          </a:p>
        </p:txBody>
      </p:sp>
      <p:sp>
        <p:nvSpPr>
          <p:cNvPr id="22" name="TextBox 21"/>
          <p:cNvSpPr txBox="1"/>
          <p:nvPr/>
        </p:nvSpPr>
        <p:spPr>
          <a:xfrm>
            <a:off x="62992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PUBLICATION</a:t>
            </a:r>
          </a:p>
        </p:txBody>
      </p:sp>
      <p:sp>
        <p:nvSpPr>
          <p:cNvPr id="23" name="Rounded Rectangle 22"/>
          <p:cNvSpPr/>
          <p:nvPr/>
        </p:nvSpPr>
        <p:spPr>
          <a:xfrm>
            <a:off x="7137400" y="2489200"/>
            <a:ext cx="762000" cy="736600"/>
          </a:xfrm>
          <a:prstGeom prst="roundRect">
            <a:avLst>
              <a:gd name="adj" fmla="val 20689"/>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78700" y="3416300"/>
            <a:ext cx="279400" cy="2794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533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03</a:t>
            </a:r>
          </a:p>
        </p:txBody>
      </p:sp>
      <p:sp>
        <p:nvSpPr>
          <p:cNvPr id="26" name="TextBox 25"/>
          <p:cNvSpPr txBox="1"/>
          <p:nvPr/>
        </p:nvSpPr>
        <p:spPr>
          <a:xfrm>
            <a:off x="62992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Authority serves</a:t>
            </a:r>
          </a:p>
          <a:p>
            <a:pPr algn="ctr">
              <a:lnSpc>
                <a:spcPts val="2500"/>
              </a:lnSpc>
              <a:spcBef>
                <a:spcPts val="0"/>
              </a:spcBef>
              <a:spcAft>
                <a:spcPts val="0"/>
              </a:spcAft>
            </a:pPr>
            <a:r>
              <a:rPr sz="2000" b="0">
                <a:solidFill>
                  <a:srgbClr val="142338"/>
                </a:solidFill>
                <a:latin typeface="Arial"/>
              </a:rPr>
              <a:t>new answer</a:t>
            </a:r>
          </a:p>
        </p:txBody>
      </p:sp>
      <p:sp>
        <p:nvSpPr>
          <p:cNvPr id="27" name="TextBox 26"/>
          <p:cNvSpPr txBox="1"/>
          <p:nvPr/>
        </p:nvSpPr>
        <p:spPr>
          <a:xfrm>
            <a:off x="91440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CLIENT</a:t>
            </a:r>
          </a:p>
        </p:txBody>
      </p:sp>
      <p:sp>
        <p:nvSpPr>
          <p:cNvPr id="28" name="Rounded Rectangle 27"/>
          <p:cNvSpPr/>
          <p:nvPr/>
        </p:nvSpPr>
        <p:spPr>
          <a:xfrm>
            <a:off x="9982200" y="2489200"/>
            <a:ext cx="762000" cy="736600"/>
          </a:xfrm>
          <a:prstGeom prst="roundRect">
            <a:avLst>
              <a:gd name="adj" fmla="val 20689"/>
            </a:avLst>
          </a:prstGeom>
          <a:solidFill>
            <a:srgbClr val="E9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223500" y="3416300"/>
            <a:ext cx="279400" cy="279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981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04</a:t>
            </a:r>
          </a:p>
        </p:txBody>
      </p:sp>
      <p:sp>
        <p:nvSpPr>
          <p:cNvPr id="31" name="TextBox 30"/>
          <p:cNvSpPr txBox="1"/>
          <p:nvPr/>
        </p:nvSpPr>
        <p:spPr>
          <a:xfrm>
            <a:off x="91440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Cache refresh +</a:t>
            </a:r>
          </a:p>
          <a:p>
            <a:pPr algn="ctr">
              <a:lnSpc>
                <a:spcPts val="2500"/>
              </a:lnSpc>
              <a:spcBef>
                <a:spcPts val="0"/>
              </a:spcBef>
              <a:spcAft>
                <a:spcPts val="0"/>
              </a:spcAft>
            </a:pPr>
            <a:r>
              <a:rPr sz="2000" b="0">
                <a:solidFill>
                  <a:srgbClr val="142338"/>
                </a:solidFill>
                <a:latin typeface="Arial"/>
              </a:rPr>
              <a:t>connection retries</a:t>
            </a:r>
          </a:p>
        </p:txBody>
      </p:sp>
      <p:cxnSp>
        <p:nvCxnSpPr>
          <p:cNvPr id="32" name="Connector 31"/>
          <p:cNvCxnSpPr/>
          <p:nvPr/>
        </p:nvCxnSpPr>
        <p:spPr>
          <a:xfrm>
            <a:off x="1828800" y="2641600"/>
            <a:ext cx="228600" cy="39370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1600200" y="3035300"/>
            <a:ext cx="457200" cy="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600200" y="2641600"/>
            <a:ext cx="228600" cy="39370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828800" y="2768600"/>
            <a:ext cx="0" cy="1397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1811020" y="2954020"/>
            <a:ext cx="35560" cy="3556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419600" y="2667000"/>
            <a:ext cx="508000" cy="368300"/>
          </a:xfrm>
          <a:prstGeom prst="roundRect">
            <a:avLst>
              <a:gd name="adj" fmla="val 13793"/>
            </a:avLst>
          </a:prstGeom>
          <a:solidFill>
            <a:srgbClr val="FFFFFF"/>
          </a:solidFill>
          <a:ln w="1905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4470400" y="2870200"/>
            <a:ext cx="88900" cy="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559300" y="2768600"/>
            <a:ext cx="50800" cy="1016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610100" y="2768600"/>
            <a:ext cx="76200" cy="1778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4686300" y="2832100"/>
            <a:ext cx="63500" cy="1143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749800" y="2832100"/>
            <a:ext cx="127000" cy="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pic>
        <p:nvPicPr>
          <p:cNvPr id="43" name="Picture 42" descr="image.png"/>
          <p:cNvPicPr>
            <a:picLocks noChangeAspect="1"/>
          </p:cNvPicPr>
          <p:nvPr/>
        </p:nvPicPr>
        <p:blipFill>
          <a:blip r:embed="rId2"/>
          <a:stretch>
            <a:fillRect/>
          </a:stretch>
        </p:blipFill>
        <p:spPr>
          <a:xfrm>
            <a:off x="7277100" y="2616200"/>
            <a:ext cx="482600" cy="482600"/>
          </a:xfrm>
          <a:prstGeom prst="rect">
            <a:avLst/>
          </a:prstGeom>
        </p:spPr>
      </p:pic>
      <p:sp>
        <p:nvSpPr>
          <p:cNvPr id="44" name="Rounded Rectangle 43"/>
          <p:cNvSpPr/>
          <p:nvPr/>
        </p:nvSpPr>
        <p:spPr>
          <a:xfrm>
            <a:off x="10109200" y="2654300"/>
            <a:ext cx="508000" cy="393700"/>
          </a:xfrm>
          <a:prstGeom prst="roundRect">
            <a:avLst>
              <a:gd name="adj" fmla="val 12903"/>
            </a:avLst>
          </a:prstGeom>
          <a:solidFill>
            <a:srgbClr val="FFFFFF"/>
          </a:solidFill>
          <a:ln w="19050">
            <a:solidFill>
              <a:srgbClr val="1423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10109200" y="2768600"/>
            <a:ext cx="508000" cy="0"/>
          </a:xfrm>
          <a:prstGeom prst="line">
            <a:avLst/>
          </a:prstGeom>
          <a:ln w="13970">
            <a:solidFill>
              <a:srgbClr val="142338"/>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101727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02362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02997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10223500" y="2908300"/>
            <a:ext cx="76200" cy="508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10299700" y="2844800"/>
            <a:ext cx="165100" cy="1143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8128000" y="3124200"/>
            <a:ext cx="16256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087F85"/>
                </a:solidFill>
                <a:latin typeface="Arial"/>
              </a:rPr>
              <a:t>CLIENT DELAY</a:t>
            </a:r>
          </a:p>
        </p:txBody>
      </p:sp>
      <p:sp>
        <p:nvSpPr>
          <p:cNvPr id="52" name="Oval 51"/>
          <p:cNvSpPr/>
          <p:nvPr/>
        </p:nvSpPr>
        <p:spPr>
          <a:xfrm>
            <a:off x="8788400" y="3403600"/>
            <a:ext cx="304800" cy="304800"/>
          </a:xfrm>
          <a:prstGeom prst="ellipse">
            <a:avLst/>
          </a:prstGeom>
          <a:solidFill>
            <a:srgbClr val="F8FAFC"/>
          </a:solidFill>
          <a:ln w="1905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 name="Connector 52"/>
          <p:cNvCxnSpPr/>
          <p:nvPr/>
        </p:nvCxnSpPr>
        <p:spPr>
          <a:xfrm>
            <a:off x="8940800" y="3454400"/>
            <a:ext cx="0" cy="101600"/>
          </a:xfrm>
          <a:prstGeom prst="line">
            <a:avLst/>
          </a:prstGeom>
          <a:ln w="1905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8940800" y="3556000"/>
            <a:ext cx="76200" cy="38100"/>
          </a:xfrm>
          <a:prstGeom prst="line">
            <a:avLst/>
          </a:prstGeom>
          <a:ln w="19050">
            <a:solidFill>
              <a:srgbClr val="087F85"/>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09600" y="4953000"/>
            <a:ext cx="52832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5D6F82"/>
                </a:solidFill>
                <a:latin typeface="Arial"/>
              </a:rPr>
              <a:t>TIMING VARIES</a:t>
            </a:r>
          </a:p>
        </p:txBody>
      </p:sp>
      <p:sp>
        <p:nvSpPr>
          <p:cNvPr id="56" name="TextBox 55"/>
          <p:cNvSpPr txBox="1"/>
          <p:nvPr/>
        </p:nvSpPr>
        <p:spPr>
          <a:xfrm>
            <a:off x="609600" y="5168900"/>
            <a:ext cx="5283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Readiness · reconciliation · caches · retries</a:t>
            </a:r>
          </a:p>
        </p:txBody>
      </p:sp>
      <p:sp>
        <p:nvSpPr>
          <p:cNvPr id="57" name="Rounded Rectangle 56"/>
          <p:cNvSpPr/>
          <p:nvPr/>
        </p:nvSpPr>
        <p:spPr>
          <a:xfrm>
            <a:off x="6299200" y="4953000"/>
            <a:ext cx="5283200" cy="533400"/>
          </a:xfrm>
          <a:prstGeom prst="roundRect">
            <a:avLst>
              <a:gd name="adj" fmla="val 16666"/>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77000" y="5105400"/>
            <a:ext cx="4927600" cy="285750"/>
          </a:xfrm>
          <a:prstGeom prst="rect">
            <a:avLst/>
          </a:prstGeom>
          <a:noFill/>
        </p:spPr>
        <p:txBody>
          <a:bodyPr wrap="none" lIns="0" rIns="0" tIns="0" bIns="0" anchor="t">
            <a:noAutofit/>
          </a:bodyPr>
          <a:lstStyle/>
          <a:p>
            <a:pPr algn="ctr">
              <a:lnSpc>
                <a:spcPts val="1800"/>
              </a:lnSpc>
              <a:spcBef>
                <a:spcPts val="0"/>
              </a:spcBef>
              <a:spcAft>
                <a:spcPts val="0"/>
              </a:spcAft>
            </a:pPr>
            <a:r>
              <a:rPr sz="1800" b="1">
                <a:solidFill>
                  <a:srgbClr val="087F85"/>
                </a:solidFill>
                <a:latin typeface="Arial"/>
              </a:rPr>
              <a:t>New DNS answer ≠ recovered clients</a:t>
            </a:r>
          </a:p>
        </p:txBody>
      </p:sp>
      <p:sp>
        <p:nvSpPr>
          <p:cNvPr id="59" name="Rounded Rectangle 58"/>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Measure recovery at the resolver and application.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OPERATING K8GB · APPLICATION READINESS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19 / 26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Readiness must reflect the real operation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Kubernetes runs Pod probes. k8gb consumes EndpointSlice readiness.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9600" y="2032000"/>
            <a:ext cx="50800" cy="9144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74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2762C8"/>
                </a:solidFill>
                <a:latin typeface="Courier New"/>
              </a:rPr>
              <a:t>readinessProbe</a:t>
            </a:r>
          </a:p>
        </p:txBody>
      </p:sp>
      <p:sp>
        <p:nvSpPr>
          <p:cNvPr id="13" name="TextBox 12"/>
          <p:cNvSpPr txBox="1"/>
          <p:nvPr/>
        </p:nvSpPr>
        <p:spPr>
          <a:xfrm>
            <a:off x="7874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Application-defined check</a:t>
            </a:r>
          </a:p>
        </p:txBody>
      </p:sp>
      <p:cxnSp>
        <p:nvCxnSpPr>
          <p:cNvPr id="14" name="Connector 13"/>
          <p:cNvCxnSpPr/>
          <p:nvPr/>
        </p:nvCxnSpPr>
        <p:spPr>
          <a:xfrm>
            <a:off x="3124200" y="2489200"/>
            <a:ext cx="304800" cy="0"/>
          </a:xfrm>
          <a:prstGeom prst="line">
            <a:avLst/>
          </a:prstGeom>
          <a:ln w="2032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4290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29000" y="2032000"/>
            <a:ext cx="50800" cy="9144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68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2762C8"/>
                </a:solidFill>
                <a:latin typeface="Arial"/>
              </a:rPr>
              <a:t>Pod Ready</a:t>
            </a:r>
          </a:p>
        </p:txBody>
      </p:sp>
      <p:sp>
        <p:nvSpPr>
          <p:cNvPr id="18" name="TextBox 17"/>
          <p:cNvSpPr txBox="1"/>
          <p:nvPr/>
        </p:nvSpPr>
        <p:spPr>
          <a:xfrm>
            <a:off x="36068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Kubernetes condition</a:t>
            </a:r>
          </a:p>
        </p:txBody>
      </p:sp>
      <p:cxnSp>
        <p:nvCxnSpPr>
          <p:cNvPr id="19" name="Connector 18"/>
          <p:cNvCxnSpPr/>
          <p:nvPr/>
        </p:nvCxnSpPr>
        <p:spPr>
          <a:xfrm>
            <a:off x="5943600" y="2489200"/>
            <a:ext cx="304800" cy="0"/>
          </a:xfrm>
          <a:prstGeom prst="line">
            <a:avLst/>
          </a:prstGeom>
          <a:ln w="2032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484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48400" y="2032000"/>
            <a:ext cx="50800" cy="9144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62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087F85"/>
                </a:solidFill>
                <a:latin typeface="Arial"/>
              </a:rPr>
              <a:t>EndpointSlice</a:t>
            </a:r>
          </a:p>
        </p:txBody>
      </p:sp>
      <p:sp>
        <p:nvSpPr>
          <p:cNvPr id="23" name="TextBox 22"/>
          <p:cNvSpPr txBox="1"/>
          <p:nvPr/>
        </p:nvSpPr>
        <p:spPr>
          <a:xfrm>
            <a:off x="64262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Service endpoint readiness</a:t>
            </a:r>
          </a:p>
        </p:txBody>
      </p:sp>
      <p:cxnSp>
        <p:nvCxnSpPr>
          <p:cNvPr id="24" name="Connector 23"/>
          <p:cNvCxnSpPr/>
          <p:nvPr/>
        </p:nvCxnSpPr>
        <p:spPr>
          <a:xfrm>
            <a:off x="8763000" y="2489200"/>
            <a:ext cx="304800" cy="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678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67800" y="2032000"/>
            <a:ext cx="50800" cy="914400"/>
          </a:xfrm>
          <a:prstGeom prst="rect">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456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CF0035"/>
                </a:solidFill>
                <a:latin typeface="Arial"/>
              </a:rPr>
              <a:t>Gslb targets</a:t>
            </a:r>
          </a:p>
        </p:txBody>
      </p:sp>
      <p:sp>
        <p:nvSpPr>
          <p:cNvPr id="28" name="TextBox 27"/>
          <p:cNvSpPr txBox="1"/>
          <p:nvPr/>
        </p:nvSpPr>
        <p:spPr>
          <a:xfrm>
            <a:off x="92456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Readiness + traffic strategy</a:t>
            </a:r>
          </a:p>
        </p:txBody>
      </p:sp>
      <p:sp>
        <p:nvSpPr>
          <p:cNvPr id="29" name="Rounded Rectangle 28"/>
          <p:cNvSpPr/>
          <p:nvPr/>
        </p:nvSpPr>
        <p:spPr>
          <a:xfrm>
            <a:off x="609600" y="3340100"/>
            <a:ext cx="3632200" cy="2286000"/>
          </a:xfrm>
          <a:prstGeom prst="roundRect">
            <a:avLst>
              <a:gd name="adj" fmla="val 5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3600" y="3568700"/>
            <a:ext cx="31242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177C58"/>
                </a:solidFill>
                <a:latin typeface="Arial"/>
              </a:rPr>
              <a:t>HEALTH ENDPOINT</a:t>
            </a:r>
          </a:p>
        </p:txBody>
      </p:sp>
      <p:sp>
        <p:nvSpPr>
          <p:cNvPr id="31" name="TextBox 30"/>
          <p:cNvSpPr txBox="1"/>
          <p:nvPr/>
        </p:nvSpPr>
        <p:spPr>
          <a:xfrm>
            <a:off x="863600" y="3949700"/>
            <a:ext cx="3124200" cy="359409"/>
          </a:xfrm>
          <a:prstGeom prst="rect">
            <a:avLst/>
          </a:prstGeom>
          <a:noFill/>
        </p:spPr>
        <p:txBody>
          <a:bodyPr wrap="none" lIns="0" rIns="0" tIns="0" bIns="0" anchor="t">
            <a:noAutofit/>
          </a:bodyPr>
          <a:lstStyle/>
          <a:p>
            <a:pPr algn="l">
              <a:lnSpc>
                <a:spcPts val="2529"/>
              </a:lnSpc>
              <a:spcBef>
                <a:spcPts val="0"/>
              </a:spcBef>
              <a:spcAft>
                <a:spcPts val="0"/>
              </a:spcAft>
            </a:pPr>
            <a:r>
              <a:rPr sz="2200" b="0">
                <a:solidFill>
                  <a:srgbClr val="142338"/>
                </a:solidFill>
                <a:latin typeface="Courier New"/>
              </a:rPr>
              <a:t>GET /healthz</a:t>
            </a:r>
          </a:p>
        </p:txBody>
      </p:sp>
      <p:sp>
        <p:nvSpPr>
          <p:cNvPr id="32" name="Rounded Rectangle 31"/>
          <p:cNvSpPr/>
          <p:nvPr/>
        </p:nvSpPr>
        <p:spPr>
          <a:xfrm>
            <a:off x="863600" y="4457700"/>
            <a:ext cx="16510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7100" y="4508500"/>
            <a:ext cx="1524000" cy="238125"/>
          </a:xfrm>
          <a:prstGeom prst="rect">
            <a:avLst/>
          </a:prstGeom>
          <a:noFill/>
        </p:spPr>
        <p:txBody>
          <a:bodyPr wrap="none" lIns="0" rIns="0" tIns="0" bIns="0" anchor="t">
            <a:noAutofit/>
          </a:bodyPr>
          <a:lstStyle/>
          <a:p>
            <a:pPr algn="ctr">
              <a:lnSpc>
                <a:spcPts val="1500"/>
              </a:lnSpc>
              <a:spcBef>
                <a:spcPts val="0"/>
              </a:spcBef>
              <a:spcAft>
                <a:spcPts val="0"/>
              </a:spcAft>
            </a:pPr>
            <a:r>
              <a:rPr sz="1500" b="1">
                <a:solidFill>
                  <a:srgbClr val="177C58"/>
                </a:solidFill>
                <a:latin typeface="Arial"/>
              </a:rPr>
              <a:t>HTTP 200</a:t>
            </a:r>
          </a:p>
        </p:txBody>
      </p:sp>
      <p:sp>
        <p:nvSpPr>
          <p:cNvPr id="34" name="TextBox 33"/>
          <p:cNvSpPr txBox="1"/>
          <p:nvPr/>
        </p:nvSpPr>
        <p:spPr>
          <a:xfrm>
            <a:off x="863600" y="5130800"/>
            <a:ext cx="3124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The shallow check passes.</a:t>
            </a:r>
          </a:p>
        </p:txBody>
      </p:sp>
      <p:sp>
        <p:nvSpPr>
          <p:cNvPr id="35" name="Rounded Rectangle 34"/>
          <p:cNvSpPr/>
          <p:nvPr/>
        </p:nvSpPr>
        <p:spPr>
          <a:xfrm>
            <a:off x="4572000" y="3340100"/>
            <a:ext cx="7010400" cy="2286000"/>
          </a:xfrm>
          <a:prstGeom prst="roundRect">
            <a:avLst>
              <a:gd name="adj" fmla="val 5000"/>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826000" y="3568700"/>
            <a:ext cx="6477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REAL REQUEST</a:t>
            </a:r>
          </a:p>
        </p:txBody>
      </p:sp>
      <p:sp>
        <p:nvSpPr>
          <p:cNvPr id="37" name="TextBox 36"/>
          <p:cNvSpPr txBox="1"/>
          <p:nvPr/>
        </p:nvSpPr>
        <p:spPr>
          <a:xfrm>
            <a:off x="4826000" y="3873500"/>
            <a:ext cx="6477000" cy="388620"/>
          </a:xfrm>
          <a:prstGeom prst="rect">
            <a:avLst/>
          </a:prstGeom>
          <a:noFill/>
        </p:spPr>
        <p:txBody>
          <a:bodyPr wrap="none" lIns="0" rIns="0" tIns="0" bIns="0" anchor="t">
            <a:noAutofit/>
          </a:bodyPr>
          <a:lstStyle/>
          <a:p>
            <a:pPr algn="l">
              <a:lnSpc>
                <a:spcPts val="2760"/>
              </a:lnSpc>
              <a:spcBef>
                <a:spcPts val="0"/>
              </a:spcBef>
              <a:spcAft>
                <a:spcPts val="0"/>
              </a:spcAft>
            </a:pPr>
            <a:r>
              <a:rPr sz="2400" b="1">
                <a:solidFill>
                  <a:srgbClr val="FFFFFF"/>
                </a:solidFill>
                <a:latin typeface="Arial"/>
              </a:rPr>
              <a:t>Payment cannot be saved</a:t>
            </a:r>
          </a:p>
        </p:txBody>
      </p:sp>
      <p:sp>
        <p:nvSpPr>
          <p:cNvPr id="38" name="Rounded Rectangle 37"/>
          <p:cNvSpPr/>
          <p:nvPr/>
        </p:nvSpPr>
        <p:spPr>
          <a:xfrm>
            <a:off x="4826000" y="4394200"/>
            <a:ext cx="2438400" cy="749300"/>
          </a:xfrm>
          <a:prstGeom prst="roundRect">
            <a:avLst>
              <a:gd name="adj" fmla="val 1016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03800" y="4470400"/>
            <a:ext cx="20828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Payment API</a:t>
            </a:r>
          </a:p>
        </p:txBody>
      </p:sp>
      <p:sp>
        <p:nvSpPr>
          <p:cNvPr id="40" name="TextBox 39"/>
          <p:cNvSpPr txBox="1"/>
          <p:nvPr/>
        </p:nvSpPr>
        <p:spPr>
          <a:xfrm>
            <a:off x="5003800" y="4826000"/>
            <a:ext cx="20828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2762C8"/>
                </a:solidFill>
                <a:latin typeface="Courier New"/>
              </a:rPr>
              <a:t>POST /payments</a:t>
            </a:r>
          </a:p>
        </p:txBody>
      </p:sp>
      <p:sp>
        <p:nvSpPr>
          <p:cNvPr id="41" name="Rounded Rectangle 40"/>
          <p:cNvSpPr/>
          <p:nvPr/>
        </p:nvSpPr>
        <p:spPr>
          <a:xfrm>
            <a:off x="8864600" y="4394200"/>
            <a:ext cx="2438400" cy="749300"/>
          </a:xfrm>
          <a:prstGeom prst="roundRect">
            <a:avLst>
              <a:gd name="adj" fmla="val 1016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042400" y="4470400"/>
            <a:ext cx="20828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Database</a:t>
            </a:r>
          </a:p>
        </p:txBody>
      </p:sp>
      <p:sp>
        <p:nvSpPr>
          <p:cNvPr id="43" name="TextBox 42"/>
          <p:cNvSpPr txBox="1"/>
          <p:nvPr/>
        </p:nvSpPr>
        <p:spPr>
          <a:xfrm>
            <a:off x="9042400" y="4826000"/>
            <a:ext cx="20828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CF0035"/>
                </a:solidFill>
                <a:latin typeface="Arial"/>
              </a:rPr>
              <a:t>READ-ONLY</a:t>
            </a:r>
          </a:p>
        </p:txBody>
      </p:sp>
      <p:sp>
        <p:nvSpPr>
          <p:cNvPr id="44" name="TextBox 43"/>
          <p:cNvSpPr txBox="1"/>
          <p:nvPr/>
        </p:nvSpPr>
        <p:spPr>
          <a:xfrm>
            <a:off x="7480300" y="4432300"/>
            <a:ext cx="1168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F79BB0"/>
                </a:solidFill>
                <a:latin typeface="Arial"/>
              </a:rPr>
              <a:t>WRITE</a:t>
            </a:r>
          </a:p>
        </p:txBody>
      </p:sp>
      <p:cxnSp>
        <p:nvCxnSpPr>
          <p:cNvPr id="45" name="Connector 44"/>
          <p:cNvCxnSpPr/>
          <p:nvPr/>
        </p:nvCxnSpPr>
        <p:spPr>
          <a:xfrm>
            <a:off x="7264400" y="4826000"/>
            <a:ext cx="622300" cy="0"/>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8242300" y="4826000"/>
            <a:ext cx="622300" cy="0"/>
          </a:xfrm>
          <a:prstGeom prst="line">
            <a:avLst/>
          </a:prstGeom>
          <a:ln w="22860">
            <a:solidFill>
              <a:srgbClr val="F79BB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7975600" y="4737100"/>
            <a:ext cx="177800" cy="177800"/>
          </a:xfrm>
          <a:prstGeom prst="line">
            <a:avLst/>
          </a:prstGeom>
          <a:ln w="2540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7975600" y="4737100"/>
            <a:ext cx="177800" cy="177800"/>
          </a:xfrm>
          <a:prstGeom prst="line">
            <a:avLst/>
          </a:prstGeom>
          <a:ln w="25400">
            <a:solidFill>
              <a:srgbClr val="F79BB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4826000" y="5321300"/>
            <a:ext cx="64770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Replication and safe writer ownership belong to the application.</a:t>
            </a:r>
          </a:p>
        </p:txBody>
      </p:sp>
      <p:sp>
        <p:nvSpPr>
          <p:cNvPr id="50" name="Rounded Rectangle 49"/>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87400" y="58928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k8gb steers traffic. The application must be ready to serve.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THE DANGEROUS EDGE CASE</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20 / 26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FFFFFF"/>
                </a:solidFill>
                <a:latin typeface="Arial"/>
              </a:rPr>
              <a:t>A partition can create two correct-looking answers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B8C8D9"/>
                </a:solidFill>
                <a:latin typeface="Arial"/>
              </a:rPr>
              <a:t>Both applications are ready. Clients can still reach both DNS authorities.</a:t>
            </a:r>
          </a:p>
        </p:txBody>
      </p:sp>
      <p:cxnSp>
        <p:nvCxnSpPr>
          <p:cNvPr id="7" name="Connector 6"/>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10" name="Rounded Rectangle 9"/>
          <p:cNvSpPr/>
          <p:nvPr/>
        </p:nvSpPr>
        <p:spPr>
          <a:xfrm>
            <a:off x="609600" y="2133600"/>
            <a:ext cx="4902200" cy="3251200"/>
          </a:xfrm>
          <a:prstGeom prst="roundRect">
            <a:avLst>
              <a:gd name="adj" fmla="val 390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889000" y="2146300"/>
            <a:ext cx="4343400" cy="0"/>
          </a:xfrm>
          <a:prstGeom prst="line">
            <a:avLst/>
          </a:prstGeom>
          <a:ln w="38100">
            <a:solidFill>
              <a:srgbClr val="78A5FA"/>
            </a:solidFill>
          </a:ln>
        </p:spPr>
        <p:style>
          <a:lnRef idx="2">
            <a:schemeClr val="accent1"/>
          </a:lnRef>
          <a:fillRef idx="0">
            <a:schemeClr val="accent1"/>
          </a:fillRef>
          <a:effectRef idx="1">
            <a:schemeClr val="accent1"/>
          </a:effectRef>
          <a:fontRef idx="minor">
            <a:schemeClr val="tx1"/>
          </a:fontRef>
        </p:style>
      </p:cxnSp>
      <p:pic>
        <p:nvPicPr>
          <p:cNvPr id="12" name="Picture 11" descr="image.png"/>
          <p:cNvPicPr>
            <a:picLocks noChangeAspect="1"/>
          </p:cNvPicPr>
          <p:nvPr/>
        </p:nvPicPr>
        <p:blipFill>
          <a:blip r:embed="rId2"/>
          <a:stretch>
            <a:fillRect/>
          </a:stretch>
        </p:blipFill>
        <p:spPr>
          <a:xfrm>
            <a:off x="889000" y="2374900"/>
            <a:ext cx="546100" cy="546100"/>
          </a:xfrm>
          <a:prstGeom prst="rect">
            <a:avLst/>
          </a:prstGeom>
        </p:spPr>
      </p:pic>
      <p:sp>
        <p:nvSpPr>
          <p:cNvPr id="13" name="TextBox 12"/>
          <p:cNvSpPr txBox="1"/>
          <p:nvPr/>
        </p:nvSpPr>
        <p:spPr>
          <a:xfrm>
            <a:off x="1612900" y="24130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CLUSTER A</a:t>
            </a:r>
          </a:p>
        </p:txBody>
      </p:sp>
      <p:sp>
        <p:nvSpPr>
          <p:cNvPr id="14" name="TextBox 13"/>
          <p:cNvSpPr txBox="1"/>
          <p:nvPr/>
        </p:nvSpPr>
        <p:spPr>
          <a:xfrm>
            <a:off x="889000" y="3048000"/>
            <a:ext cx="2717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PRIMARY APPLICATION</a:t>
            </a:r>
          </a:p>
        </p:txBody>
      </p:sp>
      <p:sp>
        <p:nvSpPr>
          <p:cNvPr id="15" name="Rounded Rectangle 14"/>
          <p:cNvSpPr/>
          <p:nvPr/>
        </p:nvSpPr>
        <p:spPr>
          <a:xfrm>
            <a:off x="3810000" y="29464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73500" y="2997200"/>
            <a:ext cx="1295400" cy="206375"/>
          </a:xfrm>
          <a:prstGeom prst="rect">
            <a:avLst/>
          </a:prstGeom>
          <a:noFill/>
        </p:spPr>
        <p:txBody>
          <a:bodyPr wrap="none" lIns="0" rIns="0" tIns="0" bIns="0" anchor="t">
            <a:noAutofit/>
          </a:bodyPr>
          <a:lstStyle/>
          <a:p>
            <a:pPr algn="ctr">
              <a:lnSpc>
                <a:spcPts val="1300"/>
              </a:lnSpc>
              <a:spcBef>
                <a:spcPts val="0"/>
              </a:spcBef>
              <a:spcAft>
                <a:spcPts val="0"/>
              </a:spcAft>
            </a:pPr>
            <a:r>
              <a:rPr sz="1300" b="1">
                <a:solidFill>
                  <a:srgbClr val="177C58"/>
                </a:solidFill>
                <a:latin typeface="Arial"/>
              </a:rPr>
              <a:t>APP READY</a:t>
            </a:r>
          </a:p>
        </p:txBody>
      </p:sp>
      <p:sp>
        <p:nvSpPr>
          <p:cNvPr id="17" name="Rounded Rectangle 16"/>
          <p:cNvSpPr/>
          <p:nvPr/>
        </p:nvSpPr>
        <p:spPr>
          <a:xfrm>
            <a:off x="889000" y="3606800"/>
            <a:ext cx="1600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3"/>
          <a:stretch>
            <a:fillRect/>
          </a:stretch>
        </p:blipFill>
        <p:spPr>
          <a:xfrm>
            <a:off x="1016000" y="3725663"/>
            <a:ext cx="381000" cy="371872"/>
          </a:xfrm>
          <a:prstGeom prst="rect">
            <a:avLst/>
          </a:prstGeom>
        </p:spPr>
      </p:pic>
      <p:sp>
        <p:nvSpPr>
          <p:cNvPr id="19" name="TextBox 18"/>
          <p:cNvSpPr txBox="1"/>
          <p:nvPr/>
        </p:nvSpPr>
        <p:spPr>
          <a:xfrm>
            <a:off x="1524000" y="3771900"/>
            <a:ext cx="825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k8gb</a:t>
            </a:r>
          </a:p>
        </p:txBody>
      </p:sp>
      <p:cxnSp>
        <p:nvCxnSpPr>
          <p:cNvPr id="20" name="Connector 19"/>
          <p:cNvCxnSpPr/>
          <p:nvPr/>
        </p:nvCxnSpPr>
        <p:spPr>
          <a:xfrm>
            <a:off x="2489200" y="3924300"/>
            <a:ext cx="762000" cy="0"/>
          </a:xfrm>
          <a:prstGeom prst="line">
            <a:avLst/>
          </a:prstGeom>
          <a:ln w="22860">
            <a:solidFill>
              <a:srgbClr val="78A5F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3251200" y="3606800"/>
            <a:ext cx="1981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image.png"/>
          <p:cNvPicPr>
            <a:picLocks noChangeAspect="1"/>
          </p:cNvPicPr>
          <p:nvPr/>
        </p:nvPicPr>
        <p:blipFill>
          <a:blip r:embed="rId4"/>
          <a:stretch>
            <a:fillRect/>
          </a:stretch>
        </p:blipFill>
        <p:spPr>
          <a:xfrm>
            <a:off x="3378200" y="3721100"/>
            <a:ext cx="381000" cy="381000"/>
          </a:xfrm>
          <a:prstGeom prst="rect">
            <a:avLst/>
          </a:prstGeom>
        </p:spPr>
      </p:pic>
      <p:sp>
        <p:nvSpPr>
          <p:cNvPr id="23" name="TextBox 22"/>
          <p:cNvSpPr txBox="1"/>
          <p:nvPr/>
        </p:nvSpPr>
        <p:spPr>
          <a:xfrm>
            <a:off x="3886200" y="3771900"/>
            <a:ext cx="1206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a:t>
            </a:r>
          </a:p>
        </p:txBody>
      </p:sp>
      <p:cxnSp>
        <p:nvCxnSpPr>
          <p:cNvPr id="24" name="Connector 23"/>
          <p:cNvCxnSpPr/>
          <p:nvPr/>
        </p:nvCxnSpPr>
        <p:spPr>
          <a:xfrm>
            <a:off x="4241800" y="4241800"/>
            <a:ext cx="0" cy="241300"/>
          </a:xfrm>
          <a:prstGeom prst="line">
            <a:avLst/>
          </a:prstGeom>
          <a:ln w="19050">
            <a:solidFill>
              <a:srgbClr val="78A5F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AUTHORITATIVE ANSWER</a:t>
            </a:r>
          </a:p>
        </p:txBody>
      </p:sp>
      <p:sp>
        <p:nvSpPr>
          <p:cNvPr id="27" name="TextBox 26"/>
          <p:cNvSpPr txBox="1"/>
          <p:nvPr/>
        </p:nvSpPr>
        <p:spPr>
          <a:xfrm>
            <a:off x="1092200" y="4800600"/>
            <a:ext cx="3048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Application IPs: A</a:t>
            </a:r>
          </a:p>
        </p:txBody>
      </p:sp>
      <p:sp>
        <p:nvSpPr>
          <p:cNvPr id="28" name="Oval 27"/>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30" name="Rounded Rectangle 29"/>
          <p:cNvSpPr/>
          <p:nvPr/>
        </p:nvSpPr>
        <p:spPr>
          <a:xfrm>
            <a:off x="6680200" y="2133600"/>
            <a:ext cx="4902200" cy="3251200"/>
          </a:xfrm>
          <a:prstGeom prst="roundRect">
            <a:avLst>
              <a:gd name="adj" fmla="val 390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6959600" y="2146300"/>
            <a:ext cx="4343400" cy="0"/>
          </a:xfrm>
          <a:prstGeom prst="line">
            <a:avLst/>
          </a:prstGeom>
          <a:ln w="38100">
            <a:solidFill>
              <a:srgbClr val="6DD3CE"/>
            </a:solidFill>
          </a:ln>
        </p:spPr>
        <p:style>
          <a:lnRef idx="2">
            <a:schemeClr val="accent1"/>
          </a:lnRef>
          <a:fillRef idx="0">
            <a:schemeClr val="accent1"/>
          </a:fillRef>
          <a:effectRef idx="1">
            <a:schemeClr val="accent1"/>
          </a:effectRef>
          <a:fontRef idx="minor">
            <a:schemeClr val="tx1"/>
          </a:fontRef>
        </p:style>
      </p:cxnSp>
      <p:pic>
        <p:nvPicPr>
          <p:cNvPr id="32" name="Picture 31" descr="image.png"/>
          <p:cNvPicPr>
            <a:picLocks noChangeAspect="1"/>
          </p:cNvPicPr>
          <p:nvPr/>
        </p:nvPicPr>
        <p:blipFill>
          <a:blip r:embed="rId2"/>
          <a:stretch>
            <a:fillRect/>
          </a:stretch>
        </p:blipFill>
        <p:spPr>
          <a:xfrm>
            <a:off x="6959600" y="2374900"/>
            <a:ext cx="546100" cy="546100"/>
          </a:xfrm>
          <a:prstGeom prst="rect">
            <a:avLst/>
          </a:prstGeom>
        </p:spPr>
      </p:pic>
      <p:sp>
        <p:nvSpPr>
          <p:cNvPr id="33" name="TextBox 32"/>
          <p:cNvSpPr txBox="1"/>
          <p:nvPr/>
        </p:nvSpPr>
        <p:spPr>
          <a:xfrm>
            <a:off x="7683500" y="24130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CLUSTER B</a:t>
            </a:r>
          </a:p>
        </p:txBody>
      </p:sp>
      <p:sp>
        <p:nvSpPr>
          <p:cNvPr id="34" name="TextBox 33"/>
          <p:cNvSpPr txBox="1"/>
          <p:nvPr/>
        </p:nvSpPr>
        <p:spPr>
          <a:xfrm>
            <a:off x="6959600" y="3048000"/>
            <a:ext cx="2717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SECONDARY APPLICATION</a:t>
            </a:r>
          </a:p>
        </p:txBody>
      </p:sp>
      <p:sp>
        <p:nvSpPr>
          <p:cNvPr id="35" name="Rounded Rectangle 34"/>
          <p:cNvSpPr/>
          <p:nvPr/>
        </p:nvSpPr>
        <p:spPr>
          <a:xfrm>
            <a:off x="9880600" y="29464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44100" y="2997200"/>
            <a:ext cx="1295400" cy="206375"/>
          </a:xfrm>
          <a:prstGeom prst="rect">
            <a:avLst/>
          </a:prstGeom>
          <a:noFill/>
        </p:spPr>
        <p:txBody>
          <a:bodyPr wrap="none" lIns="0" rIns="0" tIns="0" bIns="0" anchor="t">
            <a:noAutofit/>
          </a:bodyPr>
          <a:lstStyle/>
          <a:p>
            <a:pPr algn="ctr">
              <a:lnSpc>
                <a:spcPts val="1300"/>
              </a:lnSpc>
              <a:spcBef>
                <a:spcPts val="0"/>
              </a:spcBef>
              <a:spcAft>
                <a:spcPts val="0"/>
              </a:spcAft>
            </a:pPr>
            <a:r>
              <a:rPr sz="1300" b="1">
                <a:solidFill>
                  <a:srgbClr val="177C58"/>
                </a:solidFill>
                <a:latin typeface="Arial"/>
              </a:rPr>
              <a:t>APP READY</a:t>
            </a:r>
          </a:p>
        </p:txBody>
      </p:sp>
      <p:sp>
        <p:nvSpPr>
          <p:cNvPr id="37" name="Rounded Rectangle 36"/>
          <p:cNvSpPr/>
          <p:nvPr/>
        </p:nvSpPr>
        <p:spPr>
          <a:xfrm>
            <a:off x="6959600" y="3606800"/>
            <a:ext cx="1600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3"/>
          <a:stretch>
            <a:fillRect/>
          </a:stretch>
        </p:blipFill>
        <p:spPr>
          <a:xfrm>
            <a:off x="7086600" y="3725663"/>
            <a:ext cx="381000" cy="371872"/>
          </a:xfrm>
          <a:prstGeom prst="rect">
            <a:avLst/>
          </a:prstGeom>
        </p:spPr>
      </p:pic>
      <p:sp>
        <p:nvSpPr>
          <p:cNvPr id="39" name="TextBox 38"/>
          <p:cNvSpPr txBox="1"/>
          <p:nvPr/>
        </p:nvSpPr>
        <p:spPr>
          <a:xfrm>
            <a:off x="7594600" y="3771900"/>
            <a:ext cx="825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k8gb</a:t>
            </a:r>
          </a:p>
        </p:txBody>
      </p:sp>
      <p:cxnSp>
        <p:nvCxnSpPr>
          <p:cNvPr id="40" name="Connector 39"/>
          <p:cNvCxnSpPr/>
          <p:nvPr/>
        </p:nvCxnSpPr>
        <p:spPr>
          <a:xfrm>
            <a:off x="8559800" y="3924300"/>
            <a:ext cx="762000" cy="0"/>
          </a:xfrm>
          <a:prstGeom prst="line">
            <a:avLst/>
          </a:prstGeom>
          <a:ln w="2286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9321800" y="3606800"/>
            <a:ext cx="1981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image.png"/>
          <p:cNvPicPr>
            <a:picLocks noChangeAspect="1"/>
          </p:cNvPicPr>
          <p:nvPr/>
        </p:nvPicPr>
        <p:blipFill>
          <a:blip r:embed="rId4"/>
          <a:stretch>
            <a:fillRect/>
          </a:stretch>
        </p:blipFill>
        <p:spPr>
          <a:xfrm>
            <a:off x="9448800" y="3721100"/>
            <a:ext cx="381000" cy="381000"/>
          </a:xfrm>
          <a:prstGeom prst="rect">
            <a:avLst/>
          </a:prstGeom>
        </p:spPr>
      </p:pic>
      <p:sp>
        <p:nvSpPr>
          <p:cNvPr id="43" name="TextBox 42"/>
          <p:cNvSpPr txBox="1"/>
          <p:nvPr/>
        </p:nvSpPr>
        <p:spPr>
          <a:xfrm>
            <a:off x="9956800" y="3771900"/>
            <a:ext cx="1206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a:t>
            </a:r>
          </a:p>
        </p:txBody>
      </p:sp>
      <p:cxnSp>
        <p:nvCxnSpPr>
          <p:cNvPr id="44" name="Connector 43"/>
          <p:cNvCxnSpPr/>
          <p:nvPr/>
        </p:nvCxnSpPr>
        <p:spPr>
          <a:xfrm>
            <a:off x="10312400" y="4241800"/>
            <a:ext cx="0" cy="241300"/>
          </a:xfrm>
          <a:prstGeom prst="line">
            <a:avLst/>
          </a:prstGeom>
          <a:ln w="1905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69596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AUTHORITATIVE ANSWER</a:t>
            </a:r>
          </a:p>
        </p:txBody>
      </p:sp>
      <p:sp>
        <p:nvSpPr>
          <p:cNvPr id="47" name="TextBox 46"/>
          <p:cNvSpPr txBox="1"/>
          <p:nvPr/>
        </p:nvSpPr>
        <p:spPr>
          <a:xfrm>
            <a:off x="7162800" y="4800600"/>
            <a:ext cx="3048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Application IPs: B</a:t>
            </a:r>
          </a:p>
        </p:txBody>
      </p:sp>
      <p:sp>
        <p:nvSpPr>
          <p:cNvPr id="48" name="Oval 47"/>
          <p:cNvSpPr/>
          <p:nvPr/>
        </p:nvSpPr>
        <p:spPr>
          <a:xfrm>
            <a:off x="106553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cxnSp>
        <p:nvCxnSpPr>
          <p:cNvPr id="50" name="Connector 49"/>
          <p:cNvCxnSpPr/>
          <p:nvPr/>
        </p:nvCxnSpPr>
        <p:spPr>
          <a:xfrm flipH="1">
            <a:off x="5232400" y="3924300"/>
            <a:ext cx="1727200" cy="0"/>
          </a:xfrm>
          <a:prstGeom prst="line">
            <a:avLst/>
          </a:prstGeom>
          <a:ln w="25400">
            <a:solidFill>
              <a:srgbClr val="F79BB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5511800" y="3492500"/>
            <a:ext cx="1168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F79BB0"/>
                </a:solidFill>
                <a:latin typeface="Arial"/>
              </a:rPr>
              <a:t>PEER QUERY</a:t>
            </a:r>
          </a:p>
        </p:txBody>
      </p:sp>
      <p:sp>
        <p:nvSpPr>
          <p:cNvPr id="52" name="Oval 51"/>
          <p:cNvSpPr/>
          <p:nvPr/>
        </p:nvSpPr>
        <p:spPr>
          <a:xfrm>
            <a:off x="5930900" y="3759200"/>
            <a:ext cx="330200" cy="330200"/>
          </a:xfrm>
          <a:prstGeom prst="ellipse">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 name="Connector 52"/>
          <p:cNvCxnSpPr/>
          <p:nvPr/>
        </p:nvCxnSpPr>
        <p:spPr>
          <a:xfrm>
            <a:off x="6007100" y="3835400"/>
            <a:ext cx="177800" cy="177800"/>
          </a:xfrm>
          <a:prstGeom prst="line">
            <a:avLst/>
          </a:prstGeom>
          <a:ln w="3175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6007100" y="3835400"/>
            <a:ext cx="177800" cy="177800"/>
          </a:xfrm>
          <a:prstGeom prst="line">
            <a:avLst/>
          </a:prstGeom>
          <a:ln w="31750">
            <a:solidFill>
              <a:srgbClr val="F79BB0"/>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5842000" y="4635500"/>
            <a:ext cx="508000" cy="476250"/>
          </a:xfrm>
          <a:prstGeom prst="rect">
            <a:avLst/>
          </a:prstGeom>
          <a:noFill/>
        </p:spPr>
        <p:txBody>
          <a:bodyPr wrap="none" lIns="0" rIns="0" tIns="0" bIns="0" anchor="t">
            <a:noAutofit/>
          </a:bodyPr>
          <a:lstStyle/>
          <a:p>
            <a:pPr algn="ctr">
              <a:lnSpc>
                <a:spcPts val="3450"/>
              </a:lnSpc>
              <a:spcBef>
                <a:spcPts val="0"/>
              </a:spcBef>
              <a:spcAft>
                <a:spcPts val="0"/>
              </a:spcAft>
            </a:pPr>
            <a:r>
              <a:rPr sz="3000" b="1">
                <a:solidFill>
                  <a:srgbClr val="F79BB0"/>
                </a:solidFill>
                <a:latin typeface="Arial"/>
              </a:rPr>
              <a:t>≠</a:t>
            </a:r>
          </a:p>
        </p:txBody>
      </p:sp>
      <p:sp>
        <p:nvSpPr>
          <p:cNvPr id="56" name="TextBox 55"/>
          <p:cNvSpPr txBox="1"/>
          <p:nvPr/>
        </p:nvSpPr>
        <p:spPr>
          <a:xfrm>
            <a:off x="1625600" y="5524500"/>
            <a:ext cx="89408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F79BB0"/>
                </a:solidFill>
                <a:latin typeface="Arial"/>
              </a:rPr>
              <a:t>B cannot obtain A’s peer-health answer.</a:t>
            </a:r>
          </a:p>
        </p:txBody>
      </p:sp>
      <p:sp>
        <p:nvSpPr>
          <p:cNvPr id="57" name="Rounded Rectangle 56"/>
          <p:cNvSpPr/>
          <p:nvPr/>
        </p:nvSpPr>
        <p:spPr>
          <a:xfrm>
            <a:off x="609600" y="5930900"/>
            <a:ext cx="10972800" cy="457200"/>
          </a:xfrm>
          <a:prstGeom prst="roundRect">
            <a:avLst>
              <a:gd name="adj" fmla="val 13888"/>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87400" y="60071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FFFFFF"/>
                </a:solidFill>
                <a:latin typeface="Arial"/>
              </a:rPr>
              <a:t>A failed health query does not prove the application is down.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AVAILABILITY MODEL</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21 / 26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Traffic recovery is one part of availability</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DNS failover, data recovery, and sessions need separate plans.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209800"/>
            <a:ext cx="7035800" cy="3429000"/>
          </a:xfrm>
          <a:prstGeom prst="roundRect">
            <a:avLst>
              <a:gd name="adj" fmla="val 370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59000"/>
            <a:ext cx="7035800" cy="3429000"/>
          </a:xfrm>
          <a:prstGeom prst="roundRect">
            <a:avLst>
              <a:gd name="adj" fmla="val 370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age.png"/>
          <p:cNvPicPr>
            <a:picLocks noChangeAspect="1"/>
          </p:cNvPicPr>
          <p:nvPr/>
        </p:nvPicPr>
        <p:blipFill>
          <a:blip r:embed="rId2"/>
          <a:stretch>
            <a:fillRect/>
          </a:stretch>
        </p:blipFill>
        <p:spPr>
          <a:xfrm>
            <a:off x="863600" y="2367676"/>
            <a:ext cx="457200" cy="446247"/>
          </a:xfrm>
          <a:prstGeom prst="rect">
            <a:avLst/>
          </a:prstGeom>
        </p:spPr>
      </p:pic>
      <p:sp>
        <p:nvSpPr>
          <p:cNvPr id="13" name="TextBox 12"/>
          <p:cNvSpPr txBox="1"/>
          <p:nvPr/>
        </p:nvSpPr>
        <p:spPr>
          <a:xfrm>
            <a:off x="1473200" y="2476500"/>
            <a:ext cx="5918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k8gb · TRAFFIC STEERING</a:t>
            </a:r>
          </a:p>
        </p:txBody>
      </p:sp>
      <p:cxnSp>
        <p:nvCxnSpPr>
          <p:cNvPr id="14" name="Connector 13"/>
          <p:cNvCxnSpPr/>
          <p:nvPr/>
        </p:nvCxnSpPr>
        <p:spPr>
          <a:xfrm>
            <a:off x="863600" y="2959100"/>
            <a:ext cx="6527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701800" y="3149600"/>
            <a:ext cx="2540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5D6F82"/>
                </a:solidFill>
                <a:latin typeface="Arial"/>
              </a:rPr>
              <a:t>FAILURE</a:t>
            </a:r>
          </a:p>
        </p:txBody>
      </p:sp>
      <p:sp>
        <p:nvSpPr>
          <p:cNvPr id="16" name="TextBox 15"/>
          <p:cNvSpPr txBox="1"/>
          <p:nvPr/>
        </p:nvSpPr>
        <p:spPr>
          <a:xfrm>
            <a:off x="5105400" y="3149600"/>
            <a:ext cx="2286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DNS RESPONSE</a:t>
            </a:r>
          </a:p>
        </p:txBody>
      </p:sp>
      <p:cxnSp>
        <p:nvCxnSpPr>
          <p:cNvPr id="17" name="Connector 16"/>
          <p:cNvCxnSpPr/>
          <p:nvPr/>
        </p:nvCxnSpPr>
        <p:spPr>
          <a:xfrm>
            <a:off x="863600" y="4356100"/>
            <a:ext cx="6527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63600" y="3479800"/>
            <a:ext cx="685800" cy="685800"/>
          </a:xfrm>
          <a:prstGeom prst="roundRect">
            <a:avLst>
              <a:gd name="adj" fmla="val 1851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701800" y="3505200"/>
            <a:ext cx="26670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APPLICATION</a:t>
            </a:r>
          </a:p>
        </p:txBody>
      </p:sp>
      <p:sp>
        <p:nvSpPr>
          <p:cNvPr id="20" name="TextBox 19"/>
          <p:cNvSpPr txBox="1"/>
          <p:nvPr/>
        </p:nvSpPr>
        <p:spPr>
          <a:xfrm>
            <a:off x="1701800" y="3924300"/>
            <a:ext cx="2667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Readiness lost</a:t>
            </a:r>
          </a:p>
        </p:txBody>
      </p:sp>
      <p:cxnSp>
        <p:nvCxnSpPr>
          <p:cNvPr id="21" name="Connector 20"/>
          <p:cNvCxnSpPr/>
          <p:nvPr/>
        </p:nvCxnSpPr>
        <p:spPr>
          <a:xfrm>
            <a:off x="4419600" y="3810000"/>
            <a:ext cx="4826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105400" y="3581400"/>
            <a:ext cx="2286000" cy="609600"/>
          </a:xfrm>
          <a:prstGeom prst="rect">
            <a:avLst/>
          </a:prstGeom>
          <a:noFill/>
        </p:spPr>
        <p:txBody>
          <a:bodyPr wrap="none" lIns="0" rIns="0" tIns="0" bIns="0" anchor="t">
            <a:noAutofit/>
          </a:bodyPr>
          <a:lstStyle/>
          <a:p>
            <a:pPr algn="l">
              <a:lnSpc>
                <a:spcPts val="2250"/>
              </a:lnSpc>
              <a:spcBef>
                <a:spcPts val="0"/>
              </a:spcBef>
              <a:spcAft>
                <a:spcPts val="0"/>
              </a:spcAft>
            </a:pPr>
            <a:r>
              <a:rPr sz="1800" b="1">
                <a:solidFill>
                  <a:srgbClr val="2762C8"/>
                </a:solidFill>
                <a:latin typeface="Arial"/>
              </a:rPr>
              <a:t>Exclude unready</a:t>
            </a:r>
          </a:p>
          <a:p>
            <a:pPr algn="l">
              <a:lnSpc>
                <a:spcPts val="2250"/>
              </a:lnSpc>
              <a:spcBef>
                <a:spcPts val="0"/>
              </a:spcBef>
              <a:spcAft>
                <a:spcPts val="0"/>
              </a:spcAft>
            </a:pPr>
            <a:r>
              <a:rPr sz="1800" b="1">
                <a:solidFill>
                  <a:srgbClr val="2762C8"/>
                </a:solidFill>
                <a:latin typeface="Arial"/>
              </a:rPr>
              <a:t>targets</a:t>
            </a:r>
          </a:p>
        </p:txBody>
      </p:sp>
      <p:sp>
        <p:nvSpPr>
          <p:cNvPr id="23" name="Rounded Rectangle 22"/>
          <p:cNvSpPr/>
          <p:nvPr/>
        </p:nvSpPr>
        <p:spPr>
          <a:xfrm>
            <a:off x="863600" y="4597400"/>
            <a:ext cx="685800" cy="685800"/>
          </a:xfrm>
          <a:prstGeom prst="roundRect">
            <a:avLst>
              <a:gd name="adj" fmla="val 18518"/>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701800" y="4622800"/>
            <a:ext cx="26670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CLUSTER / REGION</a:t>
            </a:r>
          </a:p>
        </p:txBody>
      </p:sp>
      <p:sp>
        <p:nvSpPr>
          <p:cNvPr id="25" name="TextBox 24"/>
          <p:cNvSpPr txBox="1"/>
          <p:nvPr/>
        </p:nvSpPr>
        <p:spPr>
          <a:xfrm>
            <a:off x="1701800" y="5041900"/>
            <a:ext cx="2667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Cluster unavailable</a:t>
            </a:r>
          </a:p>
        </p:txBody>
      </p:sp>
      <p:cxnSp>
        <p:nvCxnSpPr>
          <p:cNvPr id="26" name="Connector 25"/>
          <p:cNvCxnSpPr/>
          <p:nvPr/>
        </p:nvCxnSpPr>
        <p:spPr>
          <a:xfrm>
            <a:off x="4419600" y="4927600"/>
            <a:ext cx="4826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105400" y="4699000"/>
            <a:ext cx="2286000" cy="609600"/>
          </a:xfrm>
          <a:prstGeom prst="rect">
            <a:avLst/>
          </a:prstGeom>
          <a:noFill/>
        </p:spPr>
        <p:txBody>
          <a:bodyPr wrap="none" lIns="0" rIns="0" tIns="0" bIns="0" anchor="t">
            <a:noAutofit/>
          </a:bodyPr>
          <a:lstStyle/>
          <a:p>
            <a:pPr algn="l">
              <a:lnSpc>
                <a:spcPts val="2250"/>
              </a:lnSpc>
              <a:spcBef>
                <a:spcPts val="0"/>
              </a:spcBef>
              <a:spcAft>
                <a:spcPts val="0"/>
              </a:spcAft>
            </a:pPr>
            <a:r>
              <a:rPr sz="1800" b="1">
                <a:solidFill>
                  <a:srgbClr val="087F85"/>
                </a:solidFill>
                <a:latin typeface="Arial"/>
              </a:rPr>
              <a:t>Publish healthy</a:t>
            </a:r>
          </a:p>
          <a:p>
            <a:pPr algn="l">
              <a:lnSpc>
                <a:spcPts val="2250"/>
              </a:lnSpc>
              <a:spcBef>
                <a:spcPts val="0"/>
              </a:spcBef>
              <a:spcAft>
                <a:spcPts val="0"/>
              </a:spcAft>
            </a:pPr>
            <a:r>
              <a:rPr sz="1800" b="1">
                <a:solidFill>
                  <a:srgbClr val="087F85"/>
                </a:solidFill>
                <a:latin typeface="Arial"/>
              </a:rPr>
              <a:t>cluster targets</a:t>
            </a:r>
          </a:p>
        </p:txBody>
      </p:sp>
      <p:sp>
        <p:nvSpPr>
          <p:cNvPr id="28" name="Rounded Rectangle 27"/>
          <p:cNvSpPr/>
          <p:nvPr/>
        </p:nvSpPr>
        <p:spPr>
          <a:xfrm>
            <a:off x="990600" y="3581400"/>
            <a:ext cx="431800" cy="393700"/>
          </a:xfrm>
          <a:prstGeom prst="roundRect">
            <a:avLst>
              <a:gd name="adj" fmla="val 12903"/>
            </a:avLst>
          </a:prstGeom>
          <a:solidFill>
            <a:srgbClr val="FFFFFF"/>
          </a:solidFill>
          <a:ln w="2032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990600" y="3683000"/>
            <a:ext cx="431800" cy="0"/>
          </a:xfrm>
          <a:prstGeom prst="line">
            <a:avLst/>
          </a:prstGeom>
          <a:ln w="16510">
            <a:solidFill>
              <a:srgbClr val="2762C8"/>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10388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023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1658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1143000" y="3784600"/>
            <a:ext cx="101600" cy="101600"/>
          </a:xfrm>
          <a:prstGeom prst="line">
            <a:avLst/>
          </a:prstGeom>
          <a:ln w="2413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143000" y="3784600"/>
            <a:ext cx="101600" cy="101600"/>
          </a:xfrm>
          <a:prstGeom prst="line">
            <a:avLst/>
          </a:prstGeom>
          <a:ln w="24130">
            <a:solidFill>
              <a:srgbClr val="CF0035"/>
            </a:solidFill>
          </a:ln>
        </p:spPr>
        <p:style>
          <a:lnRef idx="2">
            <a:schemeClr val="accent1"/>
          </a:lnRef>
          <a:fillRef idx="0">
            <a:schemeClr val="accent1"/>
          </a:fillRef>
          <a:effectRef idx="1">
            <a:schemeClr val="accent1"/>
          </a:effectRef>
          <a:fontRef idx="minor">
            <a:schemeClr val="tx1"/>
          </a:fontRef>
        </p:style>
      </p:cxnSp>
      <p:pic>
        <p:nvPicPr>
          <p:cNvPr id="35" name="Picture 34" descr="image.png"/>
          <p:cNvPicPr>
            <a:picLocks noChangeAspect="1"/>
          </p:cNvPicPr>
          <p:nvPr/>
        </p:nvPicPr>
        <p:blipFill>
          <a:blip r:embed="rId3"/>
          <a:stretch>
            <a:fillRect/>
          </a:stretch>
        </p:blipFill>
        <p:spPr>
          <a:xfrm>
            <a:off x="939800" y="4673600"/>
            <a:ext cx="533400" cy="533400"/>
          </a:xfrm>
          <a:prstGeom prst="rect">
            <a:avLst/>
          </a:prstGeom>
        </p:spPr>
      </p:pic>
      <p:sp>
        <p:nvSpPr>
          <p:cNvPr id="36" name="Rounded Rectangle 35"/>
          <p:cNvSpPr/>
          <p:nvPr/>
        </p:nvSpPr>
        <p:spPr>
          <a:xfrm>
            <a:off x="7950200" y="2209800"/>
            <a:ext cx="3632200" cy="3429000"/>
          </a:xfrm>
          <a:prstGeom prst="roundRect">
            <a:avLst>
              <a:gd name="adj" fmla="val 370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950200" y="2159000"/>
            <a:ext cx="3632200" cy="3429000"/>
          </a:xfrm>
          <a:prstGeom prst="roundRect">
            <a:avLst>
              <a:gd name="adj" fmla="val 3703"/>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8255000" y="2171700"/>
            <a:ext cx="30226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8255000" y="2451100"/>
            <a:ext cx="3022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APPLICATION RESPONSIBILITY</a:t>
            </a:r>
          </a:p>
        </p:txBody>
      </p:sp>
      <p:sp>
        <p:nvSpPr>
          <p:cNvPr id="40" name="Rounded Rectangle 39"/>
          <p:cNvSpPr/>
          <p:nvPr/>
        </p:nvSpPr>
        <p:spPr>
          <a:xfrm>
            <a:off x="8255000" y="2870200"/>
            <a:ext cx="812800" cy="812800"/>
          </a:xfrm>
          <a:prstGeom prst="roundRect">
            <a:avLst>
              <a:gd name="adj" fmla="val 18750"/>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8407400" y="3340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407400" y="3162300"/>
            <a:ext cx="508000" cy="254000"/>
          </a:xfrm>
          <a:prstGeom prst="rect">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8407400" y="3162300"/>
            <a:ext cx="0" cy="254000"/>
          </a:xfrm>
          <a:prstGeom prst="line">
            <a:avLst/>
          </a:prstGeom>
          <a:ln w="2159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8915400" y="3162300"/>
            <a:ext cx="0" cy="254000"/>
          </a:xfrm>
          <a:prstGeom prst="line">
            <a:avLst/>
          </a:prstGeom>
          <a:ln w="21590">
            <a:solidFill>
              <a:srgbClr val="F79BB0"/>
            </a:solidFill>
          </a:ln>
        </p:spPr>
        <p:style>
          <a:lnRef idx="2">
            <a:schemeClr val="accent1"/>
          </a:lnRef>
          <a:fillRef idx="0">
            <a:schemeClr val="accent1"/>
          </a:fillRef>
          <a:effectRef idx="1">
            <a:schemeClr val="accent1"/>
          </a:effectRef>
          <a:fontRef idx="minor">
            <a:schemeClr val="tx1"/>
          </a:fontRef>
        </p:style>
      </p:cxnSp>
      <p:sp>
        <p:nvSpPr>
          <p:cNvPr id="45" name="Oval 44"/>
          <p:cNvSpPr/>
          <p:nvPr/>
        </p:nvSpPr>
        <p:spPr>
          <a:xfrm>
            <a:off x="8407400" y="3213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8407400" y="3086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255000" y="3873500"/>
            <a:ext cx="30226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STATEFUL DATA</a:t>
            </a:r>
          </a:p>
        </p:txBody>
      </p:sp>
      <p:sp>
        <p:nvSpPr>
          <p:cNvPr id="48" name="TextBox 47"/>
          <p:cNvSpPr txBox="1"/>
          <p:nvPr/>
        </p:nvSpPr>
        <p:spPr>
          <a:xfrm>
            <a:off x="8255000" y="4394200"/>
            <a:ext cx="3022600" cy="609600"/>
          </a:xfrm>
          <a:prstGeom prst="rect">
            <a:avLst/>
          </a:prstGeom>
          <a:noFill/>
        </p:spPr>
        <p:txBody>
          <a:bodyPr wrap="none" lIns="0" rIns="0" tIns="0" bIns="0" anchor="t">
            <a:noAutofit/>
          </a:bodyPr>
          <a:lstStyle/>
          <a:p>
            <a:pPr algn="l">
              <a:lnSpc>
                <a:spcPts val="2250"/>
              </a:lnSpc>
              <a:spcBef>
                <a:spcPts val="0"/>
              </a:spcBef>
              <a:spcAft>
                <a:spcPts val="0"/>
              </a:spcAft>
            </a:pPr>
            <a:r>
              <a:rPr sz="1800" b="0">
                <a:solidFill>
                  <a:srgbClr val="B8C8D9"/>
                </a:solidFill>
                <a:latin typeface="Arial"/>
              </a:rPr>
              <a:t>Replication, fencing,</a:t>
            </a:r>
          </a:p>
          <a:p>
            <a:pPr algn="l">
              <a:lnSpc>
                <a:spcPts val="2250"/>
              </a:lnSpc>
              <a:spcBef>
                <a:spcPts val="0"/>
              </a:spcBef>
              <a:spcAft>
                <a:spcPts val="0"/>
              </a:spcAft>
            </a:pPr>
            <a:r>
              <a:rPr sz="1800" b="0">
                <a:solidFill>
                  <a:srgbClr val="B8C8D9"/>
                </a:solidFill>
                <a:latin typeface="Arial"/>
              </a:rPr>
              <a:t>and recovery are yours.</a:t>
            </a:r>
          </a:p>
        </p:txBody>
      </p:sp>
      <p:cxnSp>
        <p:nvCxnSpPr>
          <p:cNvPr id="49" name="Connector 48"/>
          <p:cNvCxnSpPr/>
          <p:nvPr/>
        </p:nvCxnSpPr>
        <p:spPr>
          <a:xfrm>
            <a:off x="8255000" y="5054600"/>
            <a:ext cx="30226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8255000" y="5207000"/>
            <a:ext cx="3022600" cy="257175"/>
          </a:xfrm>
          <a:prstGeom prst="rect">
            <a:avLst/>
          </a:prstGeom>
          <a:noFill/>
        </p:spPr>
        <p:txBody>
          <a:bodyPr wrap="none" lIns="0" rIns="0" tIns="0" bIns="0" anchor="t">
            <a:noAutofit/>
          </a:bodyPr>
          <a:lstStyle/>
          <a:p>
            <a:pPr algn="l">
              <a:lnSpc>
                <a:spcPts val="1725"/>
              </a:lnSpc>
              <a:spcBef>
                <a:spcPts val="0"/>
              </a:spcBef>
              <a:spcAft>
                <a:spcPts val="0"/>
              </a:spcAft>
            </a:pPr>
            <a:r>
              <a:rPr sz="1500" b="0">
                <a:solidFill>
                  <a:srgbClr val="F79BB0"/>
                </a:solidFill>
                <a:latin typeface="Arial"/>
              </a:rPr>
              <a:t>Plan session recovery too.</a:t>
            </a:r>
          </a:p>
        </p:txBody>
      </p:sp>
      <p:sp>
        <p:nvSpPr>
          <p:cNvPr id="51" name="Rounded Rectangle 50"/>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12800" y="5905500"/>
            <a:ext cx="105664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FFFFFF"/>
                </a:solidFill>
                <a:latin typeface="Arial"/>
              </a:rPr>
              <a:t>Traffic recovery ≠ data recovery ≠ session continuity.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RESILIENCE TESTING</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22 / 26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Test failover with real requests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 is primary. B is healthy. Test one change at a time.</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TextBox 9"/>
          <p:cNvSpPr txBox="1"/>
          <p:nvPr/>
        </p:nvSpPr>
        <p:spPr>
          <a:xfrm>
            <a:off x="863600" y="2070100"/>
            <a:ext cx="488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CHANGE</a:t>
            </a:r>
          </a:p>
        </p:txBody>
      </p:sp>
      <p:sp>
        <p:nvSpPr>
          <p:cNvPr id="11" name="TextBox 10"/>
          <p:cNvSpPr txBox="1"/>
          <p:nvPr/>
        </p:nvSpPr>
        <p:spPr>
          <a:xfrm>
            <a:off x="6756400" y="2070100"/>
            <a:ext cx="4572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CHECK</a:t>
            </a:r>
          </a:p>
        </p:txBody>
      </p:sp>
      <p:sp>
        <p:nvSpPr>
          <p:cNvPr id="12" name="Rounded Rectangle 11"/>
          <p:cNvSpPr/>
          <p:nvPr/>
        </p:nvSpPr>
        <p:spPr>
          <a:xfrm>
            <a:off x="609600" y="2387600"/>
            <a:ext cx="10972800" cy="3098800"/>
          </a:xfrm>
          <a:prstGeom prst="roundRect">
            <a:avLst>
              <a:gd name="adj" fmla="val 3688"/>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3600" y="2616200"/>
            <a:ext cx="48895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Stop the app in A</a:t>
            </a:r>
          </a:p>
        </p:txBody>
      </p:sp>
      <p:cxnSp>
        <p:nvCxnSpPr>
          <p:cNvPr id="14" name="Connector 13"/>
          <p:cNvCxnSpPr/>
          <p:nvPr/>
        </p:nvCxnSpPr>
        <p:spPr>
          <a:xfrm>
            <a:off x="6019800" y="2781300"/>
            <a:ext cx="381000" cy="0"/>
          </a:xfrm>
          <a:prstGeom prst="line">
            <a:avLst/>
          </a:prstGeom>
          <a:ln w="17780">
            <a:solidFill>
              <a:srgbClr val="5D6F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756400" y="2628900"/>
            <a:ext cx="4572000" cy="330200"/>
          </a:xfrm>
          <a:prstGeom prst="rect">
            <a:avLst/>
          </a:prstGeom>
          <a:noFill/>
        </p:spPr>
        <p:txBody>
          <a:bodyPr wrap="none" lIns="0" rIns="0" tIns="0" bIns="0" anchor="t">
            <a:noAutofit/>
          </a:bodyPr>
          <a:lstStyle/>
          <a:p>
            <a:pPr algn="l">
              <a:lnSpc>
                <a:spcPts val="2300"/>
              </a:lnSpc>
              <a:spcBef>
                <a:spcPts val="0"/>
              </a:spcBef>
              <a:spcAft>
                <a:spcPts val="0"/>
              </a:spcAft>
            </a:pPr>
            <a:r>
              <a:rPr sz="2000" b="0">
                <a:solidFill>
                  <a:srgbClr val="087F85"/>
                </a:solidFill>
                <a:latin typeface="Arial"/>
              </a:rPr>
              <a:t>B serves the application</a:t>
            </a:r>
          </a:p>
        </p:txBody>
      </p:sp>
      <p:cxnSp>
        <p:nvCxnSpPr>
          <p:cNvPr id="16" name="Connector 15"/>
          <p:cNvCxnSpPr/>
          <p:nvPr/>
        </p:nvCxnSpPr>
        <p:spPr>
          <a:xfrm>
            <a:off x="863600" y="3162300"/>
            <a:ext cx="10464800" cy="0"/>
          </a:xfrm>
          <a:prstGeom prst="line">
            <a:avLst/>
          </a:prstGeom>
          <a:ln w="10160">
            <a:solidFill>
              <a:srgbClr val="DAE2EA"/>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63600" y="3390900"/>
            <a:ext cx="48895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Stop cluster A</a:t>
            </a:r>
          </a:p>
        </p:txBody>
      </p:sp>
      <p:cxnSp>
        <p:nvCxnSpPr>
          <p:cNvPr id="18" name="Connector 17"/>
          <p:cNvCxnSpPr/>
          <p:nvPr/>
        </p:nvCxnSpPr>
        <p:spPr>
          <a:xfrm>
            <a:off x="6019800" y="3556000"/>
            <a:ext cx="381000" cy="0"/>
          </a:xfrm>
          <a:prstGeom prst="line">
            <a:avLst/>
          </a:prstGeom>
          <a:ln w="17780">
            <a:solidFill>
              <a:srgbClr val="5D6F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756400" y="3403600"/>
            <a:ext cx="4572000" cy="330200"/>
          </a:xfrm>
          <a:prstGeom prst="rect">
            <a:avLst/>
          </a:prstGeom>
          <a:noFill/>
        </p:spPr>
        <p:txBody>
          <a:bodyPr wrap="none" lIns="0" rIns="0" tIns="0" bIns="0" anchor="t">
            <a:noAutofit/>
          </a:bodyPr>
          <a:lstStyle/>
          <a:p>
            <a:pPr algn="l">
              <a:lnSpc>
                <a:spcPts val="2300"/>
              </a:lnSpc>
              <a:spcBef>
                <a:spcPts val="0"/>
              </a:spcBef>
              <a:spcAft>
                <a:spcPts val="0"/>
              </a:spcAft>
            </a:pPr>
            <a:r>
              <a:rPr sz="2000" b="0">
                <a:solidFill>
                  <a:srgbClr val="087F85"/>
                </a:solidFill>
                <a:latin typeface="Arial"/>
              </a:rPr>
              <a:t>B serves DNS and the application</a:t>
            </a:r>
          </a:p>
        </p:txBody>
      </p:sp>
      <p:cxnSp>
        <p:nvCxnSpPr>
          <p:cNvPr id="20" name="Connector 19"/>
          <p:cNvCxnSpPr/>
          <p:nvPr/>
        </p:nvCxnSpPr>
        <p:spPr>
          <a:xfrm>
            <a:off x="863600" y="3937000"/>
            <a:ext cx="10464800" cy="0"/>
          </a:xfrm>
          <a:prstGeom prst="line">
            <a:avLst/>
          </a:prstGeom>
          <a:ln w="10160">
            <a:solidFill>
              <a:srgbClr val="DAE2EA"/>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63600" y="4165600"/>
            <a:ext cx="48895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Block B’s health lookup to A</a:t>
            </a:r>
          </a:p>
        </p:txBody>
      </p:sp>
      <p:cxnSp>
        <p:nvCxnSpPr>
          <p:cNvPr id="22" name="Connector 21"/>
          <p:cNvCxnSpPr/>
          <p:nvPr/>
        </p:nvCxnSpPr>
        <p:spPr>
          <a:xfrm>
            <a:off x="6019800" y="4330700"/>
            <a:ext cx="381000" cy="0"/>
          </a:xfrm>
          <a:prstGeom prst="line">
            <a:avLst/>
          </a:prstGeom>
          <a:ln w="17780">
            <a:solidFill>
              <a:srgbClr val="5D6F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756400" y="4178300"/>
            <a:ext cx="4572000" cy="330200"/>
          </a:xfrm>
          <a:prstGeom prst="rect">
            <a:avLst/>
          </a:prstGeom>
          <a:noFill/>
        </p:spPr>
        <p:txBody>
          <a:bodyPr wrap="none" lIns="0" rIns="0" tIns="0" bIns="0" anchor="t">
            <a:noAutofit/>
          </a:bodyPr>
          <a:lstStyle/>
          <a:p>
            <a:pPr algn="l">
              <a:lnSpc>
                <a:spcPts val="2300"/>
              </a:lnSpc>
              <a:spcBef>
                <a:spcPts val="0"/>
              </a:spcBef>
              <a:spcAft>
                <a:spcPts val="0"/>
              </a:spcAft>
            </a:pPr>
            <a:r>
              <a:rPr sz="2000" b="0">
                <a:solidFill>
                  <a:srgbClr val="087F85"/>
                </a:solidFill>
                <a:latin typeface="Arial"/>
              </a:rPr>
              <a:t>Compare both DNS answers</a:t>
            </a:r>
          </a:p>
        </p:txBody>
      </p:sp>
      <p:cxnSp>
        <p:nvCxnSpPr>
          <p:cNvPr id="24" name="Connector 23"/>
          <p:cNvCxnSpPr/>
          <p:nvPr/>
        </p:nvCxnSpPr>
        <p:spPr>
          <a:xfrm>
            <a:off x="863600" y="4711700"/>
            <a:ext cx="10464800" cy="0"/>
          </a:xfrm>
          <a:prstGeom prst="line">
            <a:avLst/>
          </a:prstGeom>
          <a:ln w="10160">
            <a:solidFill>
              <a:srgbClr val="DAE2EA"/>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863600" y="4940300"/>
            <a:ext cx="48895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Restore A</a:t>
            </a:r>
          </a:p>
        </p:txBody>
      </p:sp>
      <p:cxnSp>
        <p:nvCxnSpPr>
          <p:cNvPr id="26" name="Connector 25"/>
          <p:cNvCxnSpPr/>
          <p:nvPr/>
        </p:nvCxnSpPr>
        <p:spPr>
          <a:xfrm>
            <a:off x="6019800" y="5105400"/>
            <a:ext cx="381000" cy="0"/>
          </a:xfrm>
          <a:prstGeom prst="line">
            <a:avLst/>
          </a:prstGeom>
          <a:ln w="17780">
            <a:solidFill>
              <a:srgbClr val="5D6F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756400" y="4953000"/>
            <a:ext cx="4572000" cy="330200"/>
          </a:xfrm>
          <a:prstGeom prst="rect">
            <a:avLst/>
          </a:prstGeom>
          <a:noFill/>
        </p:spPr>
        <p:txBody>
          <a:bodyPr wrap="none" lIns="0" rIns="0" tIns="0" bIns="0" anchor="t">
            <a:noAutofit/>
          </a:bodyPr>
          <a:lstStyle/>
          <a:p>
            <a:pPr algn="l">
              <a:lnSpc>
                <a:spcPts val="2300"/>
              </a:lnSpc>
              <a:spcBef>
                <a:spcPts val="0"/>
              </a:spcBef>
              <a:spcAft>
                <a:spcPts val="0"/>
              </a:spcAft>
            </a:pPr>
            <a:r>
              <a:rPr sz="2000" b="0">
                <a:solidFill>
                  <a:srgbClr val="087F85"/>
                </a:solidFill>
                <a:latin typeface="Arial"/>
              </a:rPr>
              <a:t>New requests return to A</a:t>
            </a:r>
          </a:p>
        </p:txBody>
      </p:sp>
      <p:sp>
        <p:nvSpPr>
          <p:cNvPr id="28" name="Rounded Rectangle 27"/>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7400" y="5892800"/>
            <a:ext cx="10617200" cy="285750"/>
          </a:xfrm>
          <a:prstGeom prst="rect">
            <a:avLst/>
          </a:prstGeom>
          <a:noFill/>
        </p:spPr>
        <p:txBody>
          <a:bodyPr wrap="none" lIns="0" rIns="0" tIns="0" bIns="0" anchor="t">
            <a:noAutofit/>
          </a:bodyPr>
          <a:lstStyle/>
          <a:p>
            <a:pPr algn="ctr">
              <a:lnSpc>
                <a:spcPts val="1800"/>
              </a:lnSpc>
              <a:spcBef>
                <a:spcPts val="0"/>
              </a:spcBef>
              <a:spcAft>
                <a:spcPts val="0"/>
              </a:spcAft>
            </a:pPr>
            <a:r>
              <a:rPr sz="1800" b="1">
                <a:solidFill>
                  <a:srgbClr val="142338"/>
                </a:solidFill>
                <a:latin typeface="Arial"/>
              </a:rPr>
              <a:t>Query both authorities. Check the client’s cache. Send a real request.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CONTROL YOUR FAILOVER</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23 / 26</a:t>
            </a:r>
          </a:p>
        </p:txBody>
      </p:sp>
      <p:cxnSp>
        <p:nvCxnSpPr>
          <p:cNvPr id="5" name="Connector 4"/>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7" name="TextBox 6"/>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8" name="TextBox 7"/>
          <p:cNvSpPr txBox="1"/>
          <p:nvPr/>
        </p:nvSpPr>
        <p:spPr>
          <a:xfrm>
            <a:off x="609600" y="1028700"/>
            <a:ext cx="9220200" cy="1245108"/>
          </a:xfrm>
          <a:prstGeom prst="rect">
            <a:avLst/>
          </a:prstGeom>
          <a:noFill/>
        </p:spPr>
        <p:txBody>
          <a:bodyPr wrap="none" lIns="0" rIns="0" tIns="0" bIns="0" anchor="t">
            <a:noAutofit/>
          </a:bodyPr>
          <a:lstStyle/>
          <a:p>
            <a:pPr algn="l">
              <a:lnSpc>
                <a:spcPts val="4752"/>
              </a:lnSpc>
              <a:spcBef>
                <a:spcPts val="0"/>
              </a:spcBef>
              <a:spcAft>
                <a:spcPts val="0"/>
              </a:spcAft>
            </a:pPr>
            <a:r>
              <a:rPr sz="4400" b="1">
                <a:solidFill>
                  <a:srgbClr val="FFFFFF"/>
                </a:solidFill>
                <a:latin typeface="Arial"/>
              </a:rPr>
              <a:t>Control traffic steering.</a:t>
            </a:r>
          </a:p>
          <a:p>
            <a:pPr algn="l">
              <a:lnSpc>
                <a:spcPts val="4752"/>
              </a:lnSpc>
              <a:spcBef>
                <a:spcPts val="0"/>
              </a:spcBef>
              <a:spcAft>
                <a:spcPts val="0"/>
              </a:spcAft>
            </a:pPr>
            <a:r>
              <a:rPr sz="4400" b="1">
                <a:solidFill>
                  <a:srgbClr val="FFFFFF"/>
                </a:solidFill>
                <a:latin typeface="Arial"/>
              </a:rPr>
              <a:t>Test recovery end to end.</a:t>
            </a:r>
          </a:p>
        </p:txBody>
      </p:sp>
      <p:pic>
        <p:nvPicPr>
          <p:cNvPr id="9" name="Picture 8" descr="image.png"/>
          <p:cNvPicPr>
            <a:picLocks noChangeAspect="1"/>
          </p:cNvPicPr>
          <p:nvPr/>
        </p:nvPicPr>
        <p:blipFill>
          <a:blip r:embed="rId2"/>
          <a:stretch>
            <a:fillRect/>
          </a:stretch>
        </p:blipFill>
        <p:spPr>
          <a:xfrm>
            <a:off x="10160000" y="1121328"/>
            <a:ext cx="1371599" cy="1338742"/>
          </a:xfrm>
          <a:prstGeom prst="rect">
            <a:avLst/>
          </a:prstGeom>
        </p:spPr>
      </p:pic>
      <p:cxnSp>
        <p:nvCxnSpPr>
          <p:cNvPr id="10" name="Connector 9"/>
          <p:cNvCxnSpPr/>
          <p:nvPr/>
        </p:nvCxnSpPr>
        <p:spPr>
          <a:xfrm>
            <a:off x="609600" y="3200400"/>
            <a:ext cx="3352800" cy="0"/>
          </a:xfrm>
          <a:prstGeom prst="line">
            <a:avLst/>
          </a:prstGeom>
          <a:ln w="31750">
            <a:solidFill>
              <a:srgbClr val="83ADFF"/>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09600" y="3492500"/>
            <a:ext cx="609600" cy="609600"/>
          </a:xfrm>
          <a:prstGeom prst="roundRect">
            <a:avLst>
              <a:gd name="adj" fmla="val 20833"/>
            </a:avLst>
          </a:prstGeom>
          <a:solidFill>
            <a:srgbClr val="243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422400" y="3632200"/>
            <a:ext cx="254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83ADFF"/>
                </a:solidFill>
                <a:latin typeface="Arial"/>
              </a:rPr>
              <a:t>CONFIGURE</a:t>
            </a:r>
          </a:p>
        </p:txBody>
      </p:sp>
      <p:sp>
        <p:nvSpPr>
          <p:cNvPr id="13" name="TextBox 12"/>
          <p:cNvSpPr txBox="1"/>
          <p:nvPr/>
        </p:nvSpPr>
        <p:spPr>
          <a:xfrm>
            <a:off x="609600" y="4381500"/>
            <a:ext cx="3352800" cy="768350"/>
          </a:xfrm>
          <a:prstGeom prst="rect">
            <a:avLst/>
          </a:prstGeom>
          <a:noFill/>
        </p:spPr>
        <p:txBody>
          <a:bodyPr wrap="none" lIns="0" rIns="0" tIns="0" bIns="0" anchor="t">
            <a:noAutofit/>
          </a:bodyPr>
          <a:lstStyle/>
          <a:p>
            <a:pPr algn="l">
              <a:lnSpc>
                <a:spcPts val="2875"/>
              </a:lnSpc>
              <a:spcBef>
                <a:spcPts val="0"/>
              </a:spcBef>
              <a:spcAft>
                <a:spcPts val="0"/>
              </a:spcAft>
            </a:pPr>
            <a:r>
              <a:rPr sz="2300" b="0">
                <a:solidFill>
                  <a:srgbClr val="FFFFFF"/>
                </a:solidFill>
                <a:latin typeface="Arial"/>
              </a:rPr>
              <a:t>Version the Gslb</a:t>
            </a:r>
          </a:p>
          <a:p>
            <a:pPr algn="l">
              <a:lnSpc>
                <a:spcPts val="2875"/>
              </a:lnSpc>
              <a:spcBef>
                <a:spcPts val="0"/>
              </a:spcBef>
              <a:spcAft>
                <a:spcPts val="0"/>
              </a:spcAft>
            </a:pPr>
            <a:r>
              <a:rPr sz="2300" b="0">
                <a:solidFill>
                  <a:srgbClr val="FFFFFF"/>
                </a:solidFill>
                <a:latin typeface="Arial"/>
              </a:rPr>
              <a:t>manifest.</a:t>
            </a:r>
          </a:p>
        </p:txBody>
      </p:sp>
      <p:sp>
        <p:nvSpPr>
          <p:cNvPr id="14" name="Rounded Rectangle 13"/>
          <p:cNvSpPr/>
          <p:nvPr/>
        </p:nvSpPr>
        <p:spPr>
          <a:xfrm>
            <a:off x="749300" y="3581400"/>
            <a:ext cx="330200" cy="431800"/>
          </a:xfrm>
          <a:prstGeom prst="roundRect">
            <a:avLst>
              <a:gd name="adj" fmla="val 11538"/>
            </a:avLst>
          </a:prstGeom>
          <a:solidFill>
            <a:srgbClr val="243D63"/>
          </a:solidFill>
          <a:ln w="17780">
            <a:solidFill>
              <a:srgbClr val="83AD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825500" y="3670300"/>
            <a:ext cx="177800" cy="0"/>
          </a:xfrm>
          <a:prstGeom prst="line">
            <a:avLst/>
          </a:prstGeom>
          <a:ln w="1524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800100" y="37592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00100" y="38227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65200" y="37592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965200" y="38227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419600" y="3200400"/>
            <a:ext cx="3352800" cy="0"/>
          </a:xfrm>
          <a:prstGeom prst="line">
            <a:avLst/>
          </a:prstGeom>
          <a:ln w="31750">
            <a:solidFill>
              <a:srgbClr val="66CBC9"/>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419600" y="3492500"/>
            <a:ext cx="609600" cy="609600"/>
          </a:xfrm>
          <a:prstGeom prst="roundRect">
            <a:avLst>
              <a:gd name="adj" fmla="val 20833"/>
            </a:avLst>
          </a:prstGeom>
          <a:solidFill>
            <a:srgbClr val="173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32400" y="3632200"/>
            <a:ext cx="254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66CBC9"/>
                </a:solidFill>
                <a:latin typeface="Arial"/>
              </a:rPr>
              <a:t>VERIFY</a:t>
            </a:r>
          </a:p>
        </p:txBody>
      </p:sp>
      <p:sp>
        <p:nvSpPr>
          <p:cNvPr id="23" name="TextBox 22"/>
          <p:cNvSpPr txBox="1"/>
          <p:nvPr/>
        </p:nvSpPr>
        <p:spPr>
          <a:xfrm>
            <a:off x="4419600" y="4381500"/>
            <a:ext cx="3352800" cy="768350"/>
          </a:xfrm>
          <a:prstGeom prst="rect">
            <a:avLst/>
          </a:prstGeom>
          <a:noFill/>
        </p:spPr>
        <p:txBody>
          <a:bodyPr wrap="none" lIns="0" rIns="0" tIns="0" bIns="0" anchor="t">
            <a:noAutofit/>
          </a:bodyPr>
          <a:lstStyle/>
          <a:p>
            <a:pPr algn="l">
              <a:lnSpc>
                <a:spcPts val="2875"/>
              </a:lnSpc>
              <a:spcBef>
                <a:spcPts val="0"/>
              </a:spcBef>
              <a:spcAft>
                <a:spcPts val="0"/>
              </a:spcAft>
            </a:pPr>
            <a:r>
              <a:rPr sz="2300" b="0">
                <a:solidFill>
                  <a:srgbClr val="FFFFFF"/>
                </a:solidFill>
                <a:latin typeface="Arial"/>
              </a:rPr>
              <a:t>Check DNS answers</a:t>
            </a:r>
          </a:p>
          <a:p>
            <a:pPr algn="l">
              <a:lnSpc>
                <a:spcPts val="2875"/>
              </a:lnSpc>
              <a:spcBef>
                <a:spcPts val="0"/>
              </a:spcBef>
              <a:spcAft>
                <a:spcPts val="0"/>
              </a:spcAft>
            </a:pPr>
            <a:r>
              <a:rPr sz="2300" b="0">
                <a:solidFill>
                  <a:srgbClr val="FFFFFF"/>
                </a:solidFill>
                <a:latin typeface="Arial"/>
              </a:rPr>
              <a:t>and real requests.</a:t>
            </a:r>
          </a:p>
        </p:txBody>
      </p:sp>
      <p:sp>
        <p:nvSpPr>
          <p:cNvPr id="24" name="Rounded Rectangle 23"/>
          <p:cNvSpPr/>
          <p:nvPr/>
        </p:nvSpPr>
        <p:spPr>
          <a:xfrm>
            <a:off x="4508500" y="3632200"/>
            <a:ext cx="431800" cy="330200"/>
          </a:xfrm>
          <a:prstGeom prst="roundRect">
            <a:avLst>
              <a:gd name="adj" fmla="val 11538"/>
            </a:avLst>
          </a:prstGeom>
          <a:solidFill>
            <a:srgbClr val="173E49"/>
          </a:solidFill>
          <a:ln w="17780">
            <a:solidFill>
              <a:srgbClr val="66CB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4508500" y="3721100"/>
            <a:ext cx="431800" cy="0"/>
          </a:xfrm>
          <a:prstGeom prst="line">
            <a:avLst/>
          </a:prstGeom>
          <a:ln w="13970">
            <a:solidFill>
              <a:srgbClr val="66CBC9"/>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4574540" y="3666490"/>
            <a:ext cx="20320" cy="20320"/>
          </a:xfrm>
          <a:prstGeom prst="ellipse">
            <a:avLst/>
          </a:prstGeom>
          <a:solidFill>
            <a:srgbClr val="66CB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638040" y="3666490"/>
            <a:ext cx="20320" cy="20320"/>
          </a:xfrm>
          <a:prstGeom prst="ellipse">
            <a:avLst/>
          </a:prstGeom>
          <a:solidFill>
            <a:srgbClr val="66CB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701540" y="3666490"/>
            <a:ext cx="20320" cy="20320"/>
          </a:xfrm>
          <a:prstGeom prst="ellipse">
            <a:avLst/>
          </a:prstGeom>
          <a:solidFill>
            <a:srgbClr val="66CB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4622800" y="3835400"/>
            <a:ext cx="76200" cy="76200"/>
          </a:xfrm>
          <a:prstGeom prst="line">
            <a:avLst/>
          </a:prstGeom>
          <a:ln w="2413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4699000" y="3771900"/>
            <a:ext cx="139700" cy="139700"/>
          </a:xfrm>
          <a:prstGeom prst="line">
            <a:avLst/>
          </a:prstGeom>
          <a:ln w="2413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229600" y="3200400"/>
            <a:ext cx="3352800" cy="0"/>
          </a:xfrm>
          <a:prstGeom prst="line">
            <a:avLst/>
          </a:prstGeom>
          <a:ln w="31750">
            <a:solidFill>
              <a:srgbClr val="F79BB0"/>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229600" y="3492500"/>
            <a:ext cx="609600" cy="609600"/>
          </a:xfrm>
          <a:prstGeom prst="roundRect">
            <a:avLst>
              <a:gd name="adj" fmla="val 20833"/>
            </a:avLst>
          </a:prstGeom>
          <a:solidFill>
            <a:srgbClr val="452B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042400" y="3632200"/>
            <a:ext cx="254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F79BB0"/>
                </a:solidFill>
                <a:latin typeface="Arial"/>
              </a:rPr>
              <a:t>TEST</a:t>
            </a:r>
          </a:p>
        </p:txBody>
      </p:sp>
      <p:sp>
        <p:nvSpPr>
          <p:cNvPr id="34" name="TextBox 33"/>
          <p:cNvSpPr txBox="1"/>
          <p:nvPr/>
        </p:nvSpPr>
        <p:spPr>
          <a:xfrm>
            <a:off x="8229600" y="4381500"/>
            <a:ext cx="3352800" cy="768350"/>
          </a:xfrm>
          <a:prstGeom prst="rect">
            <a:avLst/>
          </a:prstGeom>
          <a:noFill/>
        </p:spPr>
        <p:txBody>
          <a:bodyPr wrap="none" lIns="0" rIns="0" tIns="0" bIns="0" anchor="t">
            <a:noAutofit/>
          </a:bodyPr>
          <a:lstStyle/>
          <a:p>
            <a:pPr algn="l">
              <a:lnSpc>
                <a:spcPts val="2875"/>
              </a:lnSpc>
              <a:spcBef>
                <a:spcPts val="0"/>
              </a:spcBef>
              <a:spcAft>
                <a:spcPts val="0"/>
              </a:spcAft>
            </a:pPr>
            <a:r>
              <a:rPr sz="2300" b="0">
                <a:solidFill>
                  <a:srgbClr val="FFFFFF"/>
                </a:solidFill>
                <a:latin typeface="Arial"/>
              </a:rPr>
              <a:t>Automate failover</a:t>
            </a:r>
          </a:p>
          <a:p>
            <a:pPr algn="l">
              <a:lnSpc>
                <a:spcPts val="2875"/>
              </a:lnSpc>
              <a:spcBef>
                <a:spcPts val="0"/>
              </a:spcBef>
              <a:spcAft>
                <a:spcPts val="0"/>
              </a:spcAft>
            </a:pPr>
            <a:r>
              <a:rPr sz="2300" b="0">
                <a:solidFill>
                  <a:srgbClr val="FFFFFF"/>
                </a:solidFill>
                <a:latin typeface="Arial"/>
              </a:rPr>
              <a:t>and failback tests.</a:t>
            </a:r>
          </a:p>
        </p:txBody>
      </p:sp>
      <p:cxnSp>
        <p:nvCxnSpPr>
          <p:cNvPr id="35" name="Connector 34"/>
          <p:cNvCxnSpPr/>
          <p:nvPr/>
        </p:nvCxnSpPr>
        <p:spPr>
          <a:xfrm>
            <a:off x="8711254" y="3673464"/>
            <a:ext cx="18283" cy="31455"/>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729537" y="3704919"/>
            <a:ext cx="12742" cy="3407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742279" y="3738998"/>
            <a:ext cx="6838" cy="3573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749117" y="3774732"/>
            <a:ext cx="741" cy="36375"/>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8744480" y="3811107"/>
            <a:ext cx="5378" cy="35982"/>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8733136" y="3847089"/>
            <a:ext cx="11344" cy="3456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8716150" y="3881658"/>
            <a:ext cx="16986" cy="3217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8694001" y="3913832"/>
            <a:ext cx="22149" cy="2886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8667321" y="3942696"/>
            <a:ext cx="26680" cy="24735"/>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8636866" y="3967431"/>
            <a:ext cx="30455" cy="1990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a:off x="8603501" y="3987335"/>
            <a:ext cx="33365" cy="1450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a:off x="8568174" y="4001842"/>
            <a:ext cx="35327" cy="869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8531887" y="4010541"/>
            <a:ext cx="36287" cy="264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8495673" y="4009698"/>
            <a:ext cx="36214" cy="348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8460557" y="4000179"/>
            <a:ext cx="35116" cy="951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8427539" y="3984899"/>
            <a:ext cx="33018" cy="15280"/>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8397555" y="3964292"/>
            <a:ext cx="29984" cy="2060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8371458" y="3938943"/>
            <a:ext cx="26097" cy="2534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8349987" y="3909571"/>
            <a:ext cx="21471" cy="29372"/>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8333753" y="3877011"/>
            <a:ext cx="16234" cy="32560"/>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8323217" y="3842188"/>
            <a:ext cx="10536" cy="34823"/>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8318679" y="3806089"/>
            <a:ext cx="4538" cy="3609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8318679" y="3769742"/>
            <a:ext cx="1586" cy="3634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8320265" y="3734176"/>
            <a:ext cx="7668" cy="35566"/>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8327933" y="3700404"/>
            <a:ext cx="13531" cy="33772"/>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8341464" y="3669383"/>
            <a:ext cx="19010" cy="31021"/>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8360474" y="3641994"/>
            <a:ext cx="23949" cy="2738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8384423" y="3619016"/>
            <a:ext cx="28207" cy="22978"/>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8412630" y="3601100"/>
            <a:ext cx="31666" cy="17916"/>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8444296" y="3588756"/>
            <a:ext cx="34224" cy="12344"/>
          </a:xfrm>
          <a:prstGeom prst="line">
            <a:avLst/>
          </a:prstGeom>
          <a:ln w="22860">
            <a:solidFill>
              <a:srgbClr val="F79BB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8445500" y="3797300"/>
            <a:ext cx="76200" cy="76200"/>
          </a:xfrm>
          <a:prstGeom prst="line">
            <a:avLst/>
          </a:prstGeom>
          <a:ln w="2413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8521700" y="3733800"/>
            <a:ext cx="127000" cy="139700"/>
          </a:xfrm>
          <a:prstGeom prst="line">
            <a:avLst/>
          </a:prstGeom>
          <a:ln w="24130">
            <a:solidFill>
              <a:srgbClr val="F79BB0"/>
            </a:solidFill>
          </a:ln>
        </p:spPr>
        <p:style>
          <a:lnRef idx="2">
            <a:schemeClr val="accent1"/>
          </a:lnRef>
          <a:fillRef idx="0">
            <a:schemeClr val="accent1"/>
          </a:fillRef>
          <a:effectRef idx="1">
            <a:schemeClr val="accent1"/>
          </a:effectRef>
          <a:fontRef idx="minor">
            <a:schemeClr val="tx1"/>
          </a:fontRef>
        </p:style>
      </p:cxnSp>
      <p:sp>
        <p:nvSpPr>
          <p:cNvPr id="67" name="Rounded Rectangle 66"/>
          <p:cNvSpPr/>
          <p:nvPr/>
        </p:nvSpPr>
        <p:spPr>
          <a:xfrm>
            <a:off x="609600" y="5638800"/>
            <a:ext cx="10972800" cy="584200"/>
          </a:xfrm>
          <a:prstGeom prst="roundRect">
            <a:avLst>
              <a:gd name="adj" fmla="val 17391"/>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63600" y="5778500"/>
            <a:ext cx="10464800" cy="349250"/>
          </a:xfrm>
          <a:prstGeom prst="rect">
            <a:avLst/>
          </a:prstGeom>
          <a:noFill/>
        </p:spPr>
        <p:txBody>
          <a:bodyPr wrap="none" lIns="0" rIns="0" tIns="0" bIns="0" anchor="t">
            <a:noAutofit/>
          </a:bodyPr>
          <a:lstStyle/>
          <a:p>
            <a:pPr algn="ctr">
              <a:lnSpc>
                <a:spcPts val="2200"/>
              </a:lnSpc>
              <a:spcBef>
                <a:spcPts val="0"/>
              </a:spcBef>
              <a:spcAft>
                <a:spcPts val="0"/>
              </a:spcAft>
            </a:pPr>
            <a:r>
              <a:rPr sz="2200" b="1">
                <a:solidFill>
                  <a:srgbClr val="FFFFFF"/>
                </a:solidFill>
                <a:latin typeface="Arial"/>
              </a:rPr>
              <a:t>Test the full path: readiness → DNS → successful requests.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PROJECT &amp; COMMUNITY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24 / 26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The community behind k8gb</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Public users, shared maintenance, open participation.</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82800"/>
            <a:ext cx="3048000" cy="3429000"/>
          </a:xfrm>
          <a:prstGeom prst="roundRect">
            <a:avLst>
              <a:gd name="adj" fmla="val 41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age.png"/>
          <p:cNvPicPr>
            <a:picLocks noChangeAspect="1"/>
          </p:cNvPicPr>
          <p:nvPr/>
        </p:nvPicPr>
        <p:blipFill>
          <a:blip r:embed="rId2"/>
          <a:stretch>
            <a:fillRect/>
          </a:stretch>
        </p:blipFill>
        <p:spPr>
          <a:xfrm>
            <a:off x="1384300" y="2367450"/>
            <a:ext cx="1498600" cy="1462699"/>
          </a:xfrm>
          <a:prstGeom prst="rect">
            <a:avLst/>
          </a:prstGeom>
        </p:spPr>
      </p:pic>
      <p:sp>
        <p:nvSpPr>
          <p:cNvPr id="12" name="TextBox 11"/>
          <p:cNvSpPr txBox="1"/>
          <p:nvPr/>
        </p:nvSpPr>
        <p:spPr>
          <a:xfrm>
            <a:off x="863600" y="4076700"/>
            <a:ext cx="25400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B8C8D9"/>
                </a:solidFill>
                <a:latin typeface="Arial"/>
              </a:rPr>
              <a:t>CNCF</a:t>
            </a:r>
          </a:p>
        </p:txBody>
      </p:sp>
      <p:sp>
        <p:nvSpPr>
          <p:cNvPr id="13" name="TextBox 12"/>
          <p:cNvSpPr txBox="1"/>
          <p:nvPr/>
        </p:nvSpPr>
        <p:spPr>
          <a:xfrm>
            <a:off x="787400" y="4394200"/>
            <a:ext cx="2692400" cy="508000"/>
          </a:xfrm>
          <a:prstGeom prst="rect">
            <a:avLst/>
          </a:prstGeom>
          <a:noFill/>
        </p:spPr>
        <p:txBody>
          <a:bodyPr wrap="none" lIns="0" rIns="0" tIns="0" bIns="0" anchor="t">
            <a:noAutofit/>
          </a:bodyPr>
          <a:lstStyle/>
          <a:p>
            <a:pPr algn="ctr">
              <a:lnSpc>
                <a:spcPts val="3679"/>
              </a:lnSpc>
              <a:spcBef>
                <a:spcPts val="0"/>
              </a:spcBef>
              <a:spcAft>
                <a:spcPts val="0"/>
              </a:spcAft>
            </a:pPr>
            <a:r>
              <a:rPr sz="3200" b="1">
                <a:solidFill>
                  <a:srgbClr val="FFFFFF"/>
                </a:solidFill>
                <a:latin typeface="Arial"/>
                <a:hlinkClick r:id="rId3"/>
              </a:rPr>
              <a:t>Incubating</a:t>
            </a:r>
          </a:p>
        </p:txBody>
      </p:sp>
      <p:sp>
        <p:nvSpPr>
          <p:cNvPr id="14" name="TextBox 13"/>
          <p:cNvSpPr txBox="1"/>
          <p:nvPr/>
        </p:nvSpPr>
        <p:spPr>
          <a:xfrm>
            <a:off x="863600" y="5041900"/>
            <a:ext cx="25400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B8C8D9"/>
                </a:solidFill>
                <a:latin typeface="Arial"/>
              </a:rPr>
              <a:t>Since July 2026</a:t>
            </a:r>
          </a:p>
        </p:txBody>
      </p:sp>
      <p:sp>
        <p:nvSpPr>
          <p:cNvPr id="15" name="Rounded Rectangle 14"/>
          <p:cNvSpPr/>
          <p:nvPr/>
        </p:nvSpPr>
        <p:spPr>
          <a:xfrm>
            <a:off x="3962400" y="2082800"/>
            <a:ext cx="2387600" cy="1625600"/>
          </a:xfrm>
          <a:prstGeom prst="roundRect">
            <a:avLst>
              <a:gd name="adj" fmla="val 7031"/>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40200" y="2273300"/>
            <a:ext cx="2032000" cy="762000"/>
          </a:xfrm>
          <a:prstGeom prst="rect">
            <a:avLst/>
          </a:prstGeom>
          <a:noFill/>
        </p:spPr>
        <p:txBody>
          <a:bodyPr wrap="none" lIns="0" rIns="0" tIns="0" bIns="0" anchor="t">
            <a:noAutofit/>
          </a:bodyPr>
          <a:lstStyle/>
          <a:p>
            <a:pPr algn="ctr">
              <a:lnSpc>
                <a:spcPts val="5520"/>
              </a:lnSpc>
              <a:spcBef>
                <a:spcPts val="0"/>
              </a:spcBef>
              <a:spcAft>
                <a:spcPts val="0"/>
              </a:spcAft>
            </a:pPr>
            <a:r>
              <a:rPr sz="4800" b="1">
                <a:solidFill>
                  <a:srgbClr val="CF0035"/>
                </a:solidFill>
                <a:latin typeface="Arial"/>
                <a:hlinkClick r:id="rId4"/>
              </a:rPr>
              <a:t>7</a:t>
            </a:r>
          </a:p>
        </p:txBody>
      </p:sp>
      <p:sp>
        <p:nvSpPr>
          <p:cNvPr id="17" name="TextBox 16"/>
          <p:cNvSpPr txBox="1"/>
          <p:nvPr/>
        </p:nvSpPr>
        <p:spPr>
          <a:xfrm>
            <a:off x="4140200" y="3238500"/>
            <a:ext cx="20320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142338"/>
                </a:solidFill>
                <a:latin typeface="Arial"/>
                <a:hlinkClick r:id="rId4"/>
              </a:rPr>
              <a:t>public adopters</a:t>
            </a:r>
          </a:p>
        </p:txBody>
      </p:sp>
      <p:sp>
        <p:nvSpPr>
          <p:cNvPr id="18" name="Rounded Rectangle 17"/>
          <p:cNvSpPr/>
          <p:nvPr/>
        </p:nvSpPr>
        <p:spPr>
          <a:xfrm>
            <a:off x="6578600" y="2082800"/>
            <a:ext cx="2387600" cy="1625600"/>
          </a:xfrm>
          <a:prstGeom prst="roundRect">
            <a:avLst>
              <a:gd name="adj" fmla="val 703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56400" y="2273300"/>
            <a:ext cx="2032000" cy="762000"/>
          </a:xfrm>
          <a:prstGeom prst="rect">
            <a:avLst/>
          </a:prstGeom>
          <a:noFill/>
        </p:spPr>
        <p:txBody>
          <a:bodyPr wrap="none" lIns="0" rIns="0" tIns="0" bIns="0" anchor="t">
            <a:noAutofit/>
          </a:bodyPr>
          <a:lstStyle/>
          <a:p>
            <a:pPr algn="ctr">
              <a:lnSpc>
                <a:spcPts val="5520"/>
              </a:lnSpc>
              <a:spcBef>
                <a:spcPts val="0"/>
              </a:spcBef>
              <a:spcAft>
                <a:spcPts val="0"/>
              </a:spcAft>
            </a:pPr>
            <a:r>
              <a:rPr sz="4800" b="1">
                <a:solidFill>
                  <a:srgbClr val="087F85"/>
                </a:solidFill>
                <a:latin typeface="Arial"/>
                <a:hlinkClick r:id="rId5"/>
              </a:rPr>
              <a:t>46</a:t>
            </a:r>
          </a:p>
        </p:txBody>
      </p:sp>
      <p:sp>
        <p:nvSpPr>
          <p:cNvPr id="20" name="TextBox 19"/>
          <p:cNvSpPr txBox="1"/>
          <p:nvPr/>
        </p:nvSpPr>
        <p:spPr>
          <a:xfrm>
            <a:off x="6756400" y="3238500"/>
            <a:ext cx="20320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142338"/>
                </a:solidFill>
                <a:latin typeface="Arial"/>
                <a:hlinkClick r:id="rId5"/>
              </a:rPr>
              <a:t>contributors</a:t>
            </a:r>
          </a:p>
        </p:txBody>
      </p:sp>
      <p:sp>
        <p:nvSpPr>
          <p:cNvPr id="21" name="Rounded Rectangle 20"/>
          <p:cNvSpPr/>
          <p:nvPr/>
        </p:nvSpPr>
        <p:spPr>
          <a:xfrm>
            <a:off x="9194800" y="2082800"/>
            <a:ext cx="2387600" cy="1625600"/>
          </a:xfrm>
          <a:prstGeom prst="roundRect">
            <a:avLst>
              <a:gd name="adj" fmla="val 703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72600" y="2273300"/>
            <a:ext cx="2032000" cy="762000"/>
          </a:xfrm>
          <a:prstGeom prst="rect">
            <a:avLst/>
          </a:prstGeom>
          <a:noFill/>
        </p:spPr>
        <p:txBody>
          <a:bodyPr wrap="none" lIns="0" rIns="0" tIns="0" bIns="0" anchor="t">
            <a:noAutofit/>
          </a:bodyPr>
          <a:lstStyle/>
          <a:p>
            <a:pPr algn="ctr">
              <a:lnSpc>
                <a:spcPts val="5520"/>
              </a:lnSpc>
              <a:spcBef>
                <a:spcPts val="0"/>
              </a:spcBef>
              <a:spcAft>
                <a:spcPts val="0"/>
              </a:spcAft>
            </a:pPr>
            <a:r>
              <a:rPr sz="4800" b="1">
                <a:solidFill>
                  <a:srgbClr val="2762C8"/>
                </a:solidFill>
                <a:latin typeface="Arial"/>
                <a:hlinkClick r:id="rId6"/>
              </a:rPr>
              <a:t>1,335</a:t>
            </a:r>
          </a:p>
        </p:txBody>
      </p:sp>
      <p:cxnSp>
        <p:nvCxnSpPr>
          <p:cNvPr id="23" name="Connector 22"/>
          <p:cNvCxnSpPr/>
          <p:nvPr/>
        </p:nvCxnSpPr>
        <p:spPr>
          <a:xfrm>
            <a:off x="9563100" y="3238500"/>
            <a:ext cx="33591" cy="80764"/>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596691" y="3319264"/>
            <a:ext cx="87193" cy="6990"/>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9617452" y="3326254"/>
            <a:ext cx="66432" cy="56906"/>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617452" y="3383160"/>
            <a:ext cx="20296" cy="85085"/>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9563100" y="3422650"/>
            <a:ext cx="74648" cy="45595"/>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a:off x="9488451" y="3422650"/>
            <a:ext cx="74649" cy="45595"/>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9488451" y="3383160"/>
            <a:ext cx="20296" cy="85085"/>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9442315" y="3326254"/>
            <a:ext cx="66432" cy="56906"/>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9442315" y="3319264"/>
            <a:ext cx="87193" cy="6990"/>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9529508" y="3238500"/>
            <a:ext cx="33592" cy="80764"/>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9766300" y="3238500"/>
            <a:ext cx="16383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142338"/>
                </a:solidFill>
                <a:latin typeface="Arial"/>
                <a:hlinkClick r:id="rId6"/>
              </a:rPr>
              <a:t>GitHub stars</a:t>
            </a:r>
          </a:p>
        </p:txBody>
      </p:sp>
      <p:sp>
        <p:nvSpPr>
          <p:cNvPr id="34" name="TextBox 33"/>
          <p:cNvSpPr txBox="1"/>
          <p:nvPr/>
        </p:nvSpPr>
        <p:spPr>
          <a:xfrm>
            <a:off x="3962400" y="3886200"/>
            <a:ext cx="7620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PUBLIC ADOPTERS</a:t>
            </a:r>
          </a:p>
        </p:txBody>
      </p:sp>
      <p:sp>
        <p:nvSpPr>
          <p:cNvPr id="35" name="Rounded Rectangle 34"/>
          <p:cNvSpPr/>
          <p:nvPr/>
        </p:nvSpPr>
        <p:spPr>
          <a:xfrm>
            <a:off x="3962400" y="41656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image.png"/>
          <p:cNvPicPr>
            <a:picLocks noChangeAspect="1"/>
          </p:cNvPicPr>
          <p:nvPr/>
        </p:nvPicPr>
        <p:blipFill>
          <a:blip r:embed="rId7"/>
          <a:stretch>
            <a:fillRect/>
          </a:stretch>
        </p:blipFill>
        <p:spPr>
          <a:xfrm>
            <a:off x="4559300" y="4178300"/>
            <a:ext cx="558800" cy="558800"/>
          </a:xfrm>
          <a:prstGeom prst="rect">
            <a:avLst/>
          </a:prstGeom>
        </p:spPr>
      </p:pic>
      <p:sp>
        <p:nvSpPr>
          <p:cNvPr id="37" name="Rounded Rectangle 36"/>
          <p:cNvSpPr/>
          <p:nvPr/>
        </p:nvSpPr>
        <p:spPr>
          <a:xfrm>
            <a:off x="5918200" y="41656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8"/>
          <a:stretch>
            <a:fillRect/>
          </a:stretch>
        </p:blipFill>
        <p:spPr>
          <a:xfrm>
            <a:off x="6020137" y="4203700"/>
            <a:ext cx="1548725" cy="508000"/>
          </a:xfrm>
          <a:prstGeom prst="rect">
            <a:avLst/>
          </a:prstGeom>
        </p:spPr>
      </p:pic>
      <p:sp>
        <p:nvSpPr>
          <p:cNvPr id="39" name="Rounded Rectangle 38"/>
          <p:cNvSpPr/>
          <p:nvPr/>
        </p:nvSpPr>
        <p:spPr>
          <a:xfrm>
            <a:off x="7874000" y="41656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image.png"/>
          <p:cNvPicPr>
            <a:picLocks noChangeAspect="1"/>
          </p:cNvPicPr>
          <p:nvPr/>
        </p:nvPicPr>
        <p:blipFill>
          <a:blip r:embed="rId9"/>
          <a:stretch>
            <a:fillRect/>
          </a:stretch>
        </p:blipFill>
        <p:spPr>
          <a:xfrm>
            <a:off x="8382000" y="4178300"/>
            <a:ext cx="736600" cy="558800"/>
          </a:xfrm>
          <a:prstGeom prst="rect">
            <a:avLst/>
          </a:prstGeom>
        </p:spPr>
      </p:pic>
      <p:sp>
        <p:nvSpPr>
          <p:cNvPr id="41" name="Rounded Rectangle 40"/>
          <p:cNvSpPr/>
          <p:nvPr/>
        </p:nvSpPr>
        <p:spPr>
          <a:xfrm>
            <a:off x="9829800" y="41656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image.png"/>
          <p:cNvPicPr>
            <a:picLocks noChangeAspect="1"/>
          </p:cNvPicPr>
          <p:nvPr/>
        </p:nvPicPr>
        <p:blipFill>
          <a:blip r:embed="rId10"/>
          <a:stretch>
            <a:fillRect/>
          </a:stretch>
        </p:blipFill>
        <p:spPr>
          <a:xfrm>
            <a:off x="9931400" y="4240309"/>
            <a:ext cx="1549400" cy="434780"/>
          </a:xfrm>
          <a:prstGeom prst="rect">
            <a:avLst/>
          </a:prstGeom>
        </p:spPr>
      </p:pic>
      <p:sp>
        <p:nvSpPr>
          <p:cNvPr id="43" name="Rounded Rectangle 42"/>
          <p:cNvSpPr/>
          <p:nvPr/>
        </p:nvSpPr>
        <p:spPr>
          <a:xfrm>
            <a:off x="4940300" y="48514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image.png"/>
          <p:cNvPicPr>
            <a:picLocks noChangeAspect="1"/>
          </p:cNvPicPr>
          <p:nvPr/>
        </p:nvPicPr>
        <p:blipFill>
          <a:blip r:embed="rId11"/>
          <a:stretch>
            <a:fillRect/>
          </a:stretch>
        </p:blipFill>
        <p:spPr>
          <a:xfrm>
            <a:off x="5041900" y="4946542"/>
            <a:ext cx="1549399" cy="393915"/>
          </a:xfrm>
          <a:prstGeom prst="rect">
            <a:avLst/>
          </a:prstGeom>
        </p:spPr>
      </p:pic>
      <p:sp>
        <p:nvSpPr>
          <p:cNvPr id="45" name="Rounded Rectangle 44"/>
          <p:cNvSpPr/>
          <p:nvPr/>
        </p:nvSpPr>
        <p:spPr>
          <a:xfrm>
            <a:off x="6896100" y="48514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image.png"/>
          <p:cNvPicPr>
            <a:picLocks noChangeAspect="1"/>
          </p:cNvPicPr>
          <p:nvPr/>
        </p:nvPicPr>
        <p:blipFill>
          <a:blip r:embed="rId12"/>
          <a:stretch>
            <a:fillRect/>
          </a:stretch>
        </p:blipFill>
        <p:spPr>
          <a:xfrm>
            <a:off x="7151511" y="4864100"/>
            <a:ext cx="1241777" cy="558800"/>
          </a:xfrm>
          <a:prstGeom prst="rect">
            <a:avLst/>
          </a:prstGeom>
        </p:spPr>
      </p:pic>
      <p:sp>
        <p:nvSpPr>
          <p:cNvPr id="47" name="Rounded Rectangle 46"/>
          <p:cNvSpPr/>
          <p:nvPr/>
        </p:nvSpPr>
        <p:spPr>
          <a:xfrm>
            <a:off x="8851900" y="4851400"/>
            <a:ext cx="1752600" cy="584200"/>
          </a:xfrm>
          <a:prstGeom prst="roundRect">
            <a:avLst>
              <a:gd name="adj" fmla="val 13043"/>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image.png"/>
          <p:cNvPicPr>
            <a:picLocks noChangeAspect="1"/>
          </p:cNvPicPr>
          <p:nvPr/>
        </p:nvPicPr>
        <p:blipFill>
          <a:blip r:embed="rId13"/>
          <a:stretch>
            <a:fillRect/>
          </a:stretch>
        </p:blipFill>
        <p:spPr>
          <a:xfrm>
            <a:off x="9017000" y="4972082"/>
            <a:ext cx="1422399" cy="342834"/>
          </a:xfrm>
          <a:prstGeom prst="rect">
            <a:avLst/>
          </a:prstGeom>
        </p:spPr>
      </p:pic>
      <p:sp>
        <p:nvSpPr>
          <p:cNvPr id="49" name="TextBox 48"/>
          <p:cNvSpPr txBox="1"/>
          <p:nvPr/>
        </p:nvSpPr>
        <p:spPr>
          <a:xfrm>
            <a:off x="3962400" y="5524500"/>
            <a:ext cx="76200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5D6F82"/>
                </a:solidFill>
                <a:latin typeface="Arial"/>
              </a:rPr>
              <a:t>CNCF / GitHub · checked 23 October 2026</a:t>
            </a:r>
          </a:p>
        </p:txBody>
      </p:sp>
      <p:sp>
        <p:nvSpPr>
          <p:cNvPr id="50" name="Rounded Rectangle 49"/>
          <p:cNvSpPr/>
          <p:nvPr/>
        </p:nvSpPr>
        <p:spPr>
          <a:xfrm>
            <a:off x="609600" y="5753100"/>
            <a:ext cx="10972800" cy="495300"/>
          </a:xfrm>
          <a:prstGeom prst="roundRect">
            <a:avLst>
              <a:gd name="adj" fmla="val 1794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38200" y="5880100"/>
            <a:ext cx="33655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2762C8"/>
                </a:solidFill>
                <a:latin typeface="Arial"/>
                <a:hlinkClick r:id="rId14"/>
              </a:rPr>
              <a:t>Meet the community</a:t>
            </a:r>
          </a:p>
        </p:txBody>
      </p:sp>
      <p:sp>
        <p:nvSpPr>
          <p:cNvPr id="52" name="TextBox 51"/>
          <p:cNvSpPr txBox="1"/>
          <p:nvPr/>
        </p:nvSpPr>
        <p:spPr>
          <a:xfrm>
            <a:off x="4279900" y="5892800"/>
            <a:ext cx="70739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142338"/>
                </a:solidFill>
                <a:latin typeface="Arial"/>
                <a:hlinkClick r:id="rId14"/>
              </a:rPr>
              <a:t>Every other Wednesday · everyone welcome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REAL-WORLD ADOPTION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25 / 26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Resilience in production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Millennium bcp · Results reported in a CNCF case study</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pic>
        <p:nvPicPr>
          <p:cNvPr id="10" name="Picture 9" descr="image.png"/>
          <p:cNvPicPr>
            <a:picLocks noChangeAspect="1"/>
          </p:cNvPicPr>
          <p:nvPr/>
        </p:nvPicPr>
        <p:blipFill>
          <a:blip r:embed="rId2"/>
          <a:stretch>
            <a:fillRect/>
          </a:stretch>
        </p:blipFill>
        <p:spPr>
          <a:xfrm>
            <a:off x="8915400" y="762746"/>
            <a:ext cx="2667000" cy="874806"/>
          </a:xfrm>
          <a:prstGeom prst="rect">
            <a:avLst/>
          </a:prstGeom>
        </p:spPr>
      </p:pic>
      <p:sp>
        <p:nvSpPr>
          <p:cNvPr id="11" name="Rounded Rectangle 10"/>
          <p:cNvSpPr/>
          <p:nvPr/>
        </p:nvSpPr>
        <p:spPr>
          <a:xfrm>
            <a:off x="609600" y="2133600"/>
            <a:ext cx="5334000" cy="3378200"/>
          </a:xfrm>
          <a:prstGeom prst="roundRect">
            <a:avLst>
              <a:gd name="adj" fmla="val 3759"/>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2082800"/>
            <a:ext cx="5334000" cy="3378200"/>
          </a:xfrm>
          <a:prstGeom prst="roundRect">
            <a:avLst>
              <a:gd name="adj" fmla="val 3759"/>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914400" y="2095500"/>
            <a:ext cx="4724400" cy="0"/>
          </a:xfrm>
          <a:prstGeom prst="line">
            <a:avLst/>
          </a:prstGeom>
          <a:ln w="38100">
            <a:solidFill>
              <a:srgbClr val="D1005D"/>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14400" y="2362200"/>
            <a:ext cx="47244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DNS INCIDENT RESPONSE</a:t>
            </a:r>
          </a:p>
        </p:txBody>
      </p:sp>
      <p:sp>
        <p:nvSpPr>
          <p:cNvPr id="15" name="TextBox 14"/>
          <p:cNvSpPr txBox="1"/>
          <p:nvPr/>
        </p:nvSpPr>
        <p:spPr>
          <a:xfrm>
            <a:off x="876300" y="2641600"/>
            <a:ext cx="4762500" cy="1682750"/>
          </a:xfrm>
          <a:prstGeom prst="rect">
            <a:avLst/>
          </a:prstGeom>
          <a:noFill/>
        </p:spPr>
        <p:txBody>
          <a:bodyPr wrap="none" lIns="0" rIns="0" tIns="0" bIns="0" anchor="t">
            <a:noAutofit/>
          </a:bodyPr>
          <a:lstStyle/>
          <a:p>
            <a:pPr algn="l">
              <a:lnSpc>
                <a:spcPts val="12190"/>
              </a:lnSpc>
              <a:spcBef>
                <a:spcPts val="0"/>
              </a:spcBef>
              <a:spcAft>
                <a:spcPts val="0"/>
              </a:spcAft>
            </a:pPr>
            <a:r>
              <a:rPr sz="10600" b="1">
                <a:solidFill>
                  <a:srgbClr val="FFFFFF"/>
                </a:solidFill>
                <a:latin typeface="Arial"/>
              </a:rPr>
              <a:t>70%</a:t>
            </a:r>
          </a:p>
        </p:txBody>
      </p:sp>
      <p:sp>
        <p:nvSpPr>
          <p:cNvPr id="16" name="TextBox 15"/>
          <p:cNvSpPr txBox="1"/>
          <p:nvPr/>
        </p:nvSpPr>
        <p:spPr>
          <a:xfrm>
            <a:off x="939800" y="4330700"/>
            <a:ext cx="46736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shorter response times</a:t>
            </a:r>
          </a:p>
        </p:txBody>
      </p:sp>
      <p:sp>
        <p:nvSpPr>
          <p:cNvPr id="17" name="TextBox 16"/>
          <p:cNvSpPr txBox="1"/>
          <p:nvPr/>
        </p:nvSpPr>
        <p:spPr>
          <a:xfrm>
            <a:off x="939800" y="4826000"/>
            <a:ext cx="46736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B8C8D9"/>
                </a:solidFill>
                <a:latin typeface="Arial"/>
              </a:rPr>
              <a:t>for DNS-related incidents</a:t>
            </a:r>
          </a:p>
        </p:txBody>
      </p:sp>
      <p:sp>
        <p:nvSpPr>
          <p:cNvPr id="18" name="Rounded Rectangle 17"/>
          <p:cNvSpPr/>
          <p:nvPr/>
        </p:nvSpPr>
        <p:spPr>
          <a:xfrm>
            <a:off x="6248400" y="2133600"/>
            <a:ext cx="5334000" cy="1524000"/>
          </a:xfrm>
          <a:prstGeom prst="roundRect">
            <a:avLst>
              <a:gd name="adj" fmla="val 8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48400" y="2082800"/>
            <a:ext cx="5334000" cy="1524000"/>
          </a:xfrm>
          <a:prstGeom prst="roundRect">
            <a:avLst>
              <a:gd name="adj" fmla="val 8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27800" y="2209800"/>
            <a:ext cx="1016000" cy="1047750"/>
          </a:xfrm>
          <a:prstGeom prst="rect">
            <a:avLst/>
          </a:prstGeom>
          <a:noFill/>
        </p:spPr>
        <p:txBody>
          <a:bodyPr wrap="none" lIns="0" rIns="0" tIns="0" bIns="0" anchor="t">
            <a:noAutofit/>
          </a:bodyPr>
          <a:lstStyle/>
          <a:p>
            <a:pPr algn="l">
              <a:lnSpc>
                <a:spcPts val="7589"/>
              </a:lnSpc>
              <a:spcBef>
                <a:spcPts val="0"/>
              </a:spcBef>
              <a:spcAft>
                <a:spcPts val="0"/>
              </a:spcAft>
            </a:pPr>
            <a:r>
              <a:rPr sz="6600" b="1">
                <a:solidFill>
                  <a:srgbClr val="2762C8"/>
                </a:solidFill>
                <a:latin typeface="Arial"/>
              </a:rPr>
              <a:t>5</a:t>
            </a:r>
          </a:p>
        </p:txBody>
      </p:sp>
      <p:sp>
        <p:nvSpPr>
          <p:cNvPr id="21" name="TextBox 20"/>
          <p:cNvSpPr txBox="1"/>
          <p:nvPr/>
        </p:nvSpPr>
        <p:spPr>
          <a:xfrm>
            <a:off x="7721600" y="2336800"/>
            <a:ext cx="3556000" cy="461644"/>
          </a:xfrm>
          <a:prstGeom prst="rect">
            <a:avLst/>
          </a:prstGeom>
          <a:noFill/>
        </p:spPr>
        <p:txBody>
          <a:bodyPr wrap="none" lIns="0" rIns="0" tIns="0" bIns="0" anchor="t">
            <a:noAutofit/>
          </a:bodyPr>
          <a:lstStyle/>
          <a:p>
            <a:pPr algn="l">
              <a:lnSpc>
                <a:spcPts val="3334"/>
              </a:lnSpc>
              <a:spcBef>
                <a:spcPts val="0"/>
              </a:spcBef>
              <a:spcAft>
                <a:spcPts val="0"/>
              </a:spcAft>
            </a:pPr>
            <a:r>
              <a:rPr sz="2900" b="1">
                <a:solidFill>
                  <a:srgbClr val="142338"/>
                </a:solidFill>
                <a:latin typeface="Arial"/>
              </a:rPr>
              <a:t>regions</a:t>
            </a:r>
          </a:p>
        </p:txBody>
      </p:sp>
      <p:sp>
        <p:nvSpPr>
          <p:cNvPr id="22" name="TextBox 21"/>
          <p:cNvSpPr txBox="1"/>
          <p:nvPr/>
        </p:nvSpPr>
        <p:spPr>
          <a:xfrm>
            <a:off x="7721600" y="2857500"/>
            <a:ext cx="3556000" cy="556260"/>
          </a:xfrm>
          <a:prstGeom prst="rect">
            <a:avLst/>
          </a:prstGeom>
          <a:noFill/>
        </p:spPr>
        <p:txBody>
          <a:bodyPr wrap="none" lIns="0" rIns="0" tIns="0" bIns="0" anchor="t">
            <a:noAutofit/>
          </a:bodyPr>
          <a:lstStyle/>
          <a:p>
            <a:pPr algn="l">
              <a:lnSpc>
                <a:spcPts val="2039"/>
              </a:lnSpc>
              <a:spcBef>
                <a:spcPts val="0"/>
              </a:spcBef>
              <a:spcAft>
                <a:spcPts val="0"/>
              </a:spcAft>
            </a:pPr>
            <a:r>
              <a:rPr sz="1700" b="0">
                <a:solidFill>
                  <a:srgbClr val="5D6F82"/>
                </a:solidFill>
                <a:latin typeface="Arial"/>
              </a:rPr>
              <a:t>Two cloud providers</a:t>
            </a:r>
          </a:p>
          <a:p>
            <a:pPr algn="l">
              <a:lnSpc>
                <a:spcPts val="2039"/>
              </a:lnSpc>
              <a:spcBef>
                <a:spcPts val="0"/>
              </a:spcBef>
              <a:spcAft>
                <a:spcPts val="0"/>
              </a:spcAft>
            </a:pPr>
            <a:r>
              <a:rPr sz="1700" b="0">
                <a:solidFill>
                  <a:srgbClr val="5D6F82"/>
                </a:solidFill>
                <a:latin typeface="Arial"/>
              </a:rPr>
              <a:t>+ on-premises</a:t>
            </a:r>
          </a:p>
        </p:txBody>
      </p:sp>
      <p:cxnSp>
        <p:nvCxnSpPr>
          <p:cNvPr id="23" name="Connector 22"/>
          <p:cNvCxnSpPr/>
          <p:nvPr/>
        </p:nvCxnSpPr>
        <p:spPr>
          <a:xfrm>
            <a:off x="6642100" y="3403600"/>
            <a:ext cx="812800" cy="0"/>
          </a:xfrm>
          <a:prstGeom prst="line">
            <a:avLst/>
          </a:prstGeom>
          <a:ln w="19050">
            <a:solidFill>
              <a:srgbClr val="DAE2EA"/>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65976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008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0040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2072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4104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248400" y="3886200"/>
            <a:ext cx="5334000" cy="1625600"/>
          </a:xfrm>
          <a:prstGeom prst="roundRect">
            <a:avLst>
              <a:gd name="adj" fmla="val 7812"/>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248400" y="3835400"/>
            <a:ext cx="5334000" cy="1625600"/>
          </a:xfrm>
          <a:prstGeom prst="roundRect">
            <a:avLst>
              <a:gd name="adj" fmla="val 7812"/>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553200" y="4127500"/>
            <a:ext cx="609600" cy="609600"/>
          </a:xfrm>
          <a:prstGeom prst="roundRect">
            <a:avLst>
              <a:gd name="adj" fmla="val 20833"/>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667500" y="4241800"/>
            <a:ext cx="381000" cy="3810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6756400" y="4432300"/>
            <a:ext cx="76200" cy="76200"/>
          </a:xfrm>
          <a:prstGeom prst="line">
            <a:avLst/>
          </a:prstGeom>
          <a:ln w="3048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6832600" y="4343400"/>
            <a:ext cx="139700" cy="165100"/>
          </a:xfrm>
          <a:prstGeom prst="line">
            <a:avLst/>
          </a:prstGeom>
          <a:ln w="30480">
            <a:solidFill>
              <a:srgbClr val="087F85"/>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7416800" y="4089400"/>
            <a:ext cx="3860800" cy="432434"/>
          </a:xfrm>
          <a:prstGeom prst="rect">
            <a:avLst/>
          </a:prstGeom>
          <a:noFill/>
        </p:spPr>
        <p:txBody>
          <a:bodyPr wrap="none" lIns="0" rIns="0" tIns="0" bIns="0" anchor="t">
            <a:noAutofit/>
          </a:bodyPr>
          <a:lstStyle/>
          <a:p>
            <a:pPr algn="l">
              <a:lnSpc>
                <a:spcPts val="3104"/>
              </a:lnSpc>
              <a:spcBef>
                <a:spcPts val="0"/>
              </a:spcBef>
              <a:spcAft>
                <a:spcPts val="0"/>
              </a:spcAft>
            </a:pPr>
            <a:r>
              <a:rPr sz="2700" b="1">
                <a:solidFill>
                  <a:srgbClr val="087F85"/>
                </a:solidFill>
                <a:latin typeface="Arial"/>
              </a:rPr>
              <a:t>Zero downtime</a:t>
            </a:r>
          </a:p>
        </p:txBody>
      </p:sp>
      <p:sp>
        <p:nvSpPr>
          <p:cNvPr id="36" name="TextBox 35"/>
          <p:cNvSpPr txBox="1"/>
          <p:nvPr/>
        </p:nvSpPr>
        <p:spPr>
          <a:xfrm>
            <a:off x="7416800" y="4686300"/>
            <a:ext cx="3860800" cy="617220"/>
          </a:xfrm>
          <a:prstGeom prst="rect">
            <a:avLst/>
          </a:prstGeom>
          <a:noFill/>
        </p:spPr>
        <p:txBody>
          <a:bodyPr wrap="none" lIns="0" rIns="0" tIns="0" bIns="0" anchor="t">
            <a:noAutofit/>
          </a:bodyPr>
          <a:lstStyle/>
          <a:p>
            <a:pPr algn="l">
              <a:lnSpc>
                <a:spcPts val="2280"/>
              </a:lnSpc>
              <a:spcBef>
                <a:spcPts val="0"/>
              </a:spcBef>
              <a:spcAft>
                <a:spcPts val="0"/>
              </a:spcAft>
            </a:pPr>
            <a:r>
              <a:rPr sz="1900" b="0">
                <a:solidFill>
                  <a:srgbClr val="5D6F82"/>
                </a:solidFill>
                <a:latin typeface="Arial"/>
              </a:rPr>
              <a:t>Reported during regional</a:t>
            </a:r>
          </a:p>
          <a:p>
            <a:pPr algn="l">
              <a:lnSpc>
                <a:spcPts val="2280"/>
              </a:lnSpc>
              <a:spcBef>
                <a:spcPts val="0"/>
              </a:spcBef>
              <a:spcAft>
                <a:spcPts val="0"/>
              </a:spcAft>
            </a:pPr>
            <a:r>
              <a:rPr sz="1900" b="0">
                <a:solidFill>
                  <a:srgbClr val="5D6F82"/>
                </a:solidFill>
                <a:latin typeface="Arial"/>
              </a:rPr>
              <a:t>failover tests</a:t>
            </a:r>
          </a:p>
        </p:txBody>
      </p:sp>
      <p:sp>
        <p:nvSpPr>
          <p:cNvPr id="37" name="TextBox 36"/>
          <p:cNvSpPr txBox="1"/>
          <p:nvPr/>
        </p:nvSpPr>
        <p:spPr>
          <a:xfrm>
            <a:off x="609600" y="5613400"/>
            <a:ext cx="54610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5D6F82"/>
                </a:solidFill>
                <a:latin typeface="Arial"/>
              </a:rPr>
              <a:t>CNCF case study · 16 September 2025</a:t>
            </a:r>
          </a:p>
        </p:txBody>
      </p:sp>
      <p:sp>
        <p:nvSpPr>
          <p:cNvPr id="38" name="TextBox 37"/>
          <p:cNvSpPr txBox="1"/>
          <p:nvPr/>
        </p:nvSpPr>
        <p:spPr>
          <a:xfrm>
            <a:off x="6248400" y="5613400"/>
            <a:ext cx="5334000" cy="227965"/>
          </a:xfrm>
          <a:prstGeom prst="rect">
            <a:avLst/>
          </a:prstGeom>
          <a:noFill/>
        </p:spPr>
        <p:txBody>
          <a:bodyPr wrap="none" lIns="0" rIns="0" tIns="0" bIns="0" anchor="t">
            <a:noAutofit/>
          </a:bodyPr>
          <a:lstStyle/>
          <a:p>
            <a:pPr algn="r">
              <a:lnSpc>
                <a:spcPts val="1495"/>
              </a:lnSpc>
              <a:spcBef>
                <a:spcPts val="0"/>
              </a:spcBef>
              <a:spcAft>
                <a:spcPts val="0"/>
              </a:spcAft>
            </a:pPr>
            <a:r>
              <a:rPr sz="1300" b="0">
                <a:solidFill>
                  <a:srgbClr val="2762C8"/>
                </a:solidFill>
                <a:latin typeface="Arial"/>
              </a:rPr>
              <a:t>cncf.io/case-studies/millennium-bcp</a:t>
            </a:r>
          </a:p>
        </p:txBody>
      </p:sp>
      <p:sp>
        <p:nvSpPr>
          <p:cNvPr id="39" name="Rounded Rectangle 38"/>
          <p:cNvSpPr/>
          <p:nvPr/>
        </p:nvSpPr>
        <p:spPr>
          <a:xfrm>
            <a:off x="609600" y="58928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87400" y="59690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Published results from Millennium bcp’s deployment.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JOIN THE COMMUNITY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26 / 26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Questions?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Try k8gb, meet the maintainers, share your deployment.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82800"/>
            <a:ext cx="3556000" cy="4165600"/>
          </a:xfrm>
          <a:prstGeom prst="roundRect">
            <a:avLst>
              <a:gd name="adj" fmla="val 357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age.png"/>
          <p:cNvPicPr>
            <a:picLocks noChangeAspect="1"/>
          </p:cNvPicPr>
          <p:nvPr/>
        </p:nvPicPr>
        <p:blipFill>
          <a:blip r:embed="rId2"/>
          <a:stretch>
            <a:fillRect/>
          </a:stretch>
        </p:blipFill>
        <p:spPr>
          <a:xfrm>
            <a:off x="863600" y="2291172"/>
            <a:ext cx="431800" cy="421455"/>
          </a:xfrm>
          <a:prstGeom prst="rect">
            <a:avLst/>
          </a:prstGeom>
        </p:spPr>
      </p:pic>
      <p:sp>
        <p:nvSpPr>
          <p:cNvPr id="12" name="TextBox 11"/>
          <p:cNvSpPr txBox="1"/>
          <p:nvPr/>
        </p:nvSpPr>
        <p:spPr>
          <a:xfrm>
            <a:off x="1460500" y="2336800"/>
            <a:ext cx="2451100" cy="388620"/>
          </a:xfrm>
          <a:prstGeom prst="rect">
            <a:avLst/>
          </a:prstGeom>
          <a:noFill/>
        </p:spPr>
        <p:txBody>
          <a:bodyPr wrap="none" lIns="0" rIns="0" tIns="0" bIns="0" anchor="t">
            <a:noAutofit/>
          </a:bodyPr>
          <a:lstStyle/>
          <a:p>
            <a:pPr algn="l">
              <a:lnSpc>
                <a:spcPts val="2760"/>
              </a:lnSpc>
              <a:spcBef>
                <a:spcPts val="0"/>
              </a:spcBef>
              <a:spcAft>
                <a:spcPts val="0"/>
              </a:spcAft>
            </a:pPr>
            <a:r>
              <a:rPr sz="2400" b="1">
                <a:solidFill>
                  <a:srgbClr val="142338"/>
                </a:solidFill>
                <a:latin typeface="Arial"/>
              </a:rPr>
              <a:t>Try k8gb</a:t>
            </a:r>
          </a:p>
        </p:txBody>
      </p:sp>
      <p:pic>
        <p:nvPicPr>
          <p:cNvPr id="13" name="Picture 12" descr="image.png"/>
          <p:cNvPicPr>
            <a:picLocks noChangeAspect="1"/>
          </p:cNvPicPr>
          <p:nvPr/>
        </p:nvPicPr>
        <p:blipFill>
          <a:blip r:embed="rId3"/>
          <a:stretch>
            <a:fillRect/>
          </a:stretch>
        </p:blipFill>
        <p:spPr>
          <a:xfrm>
            <a:off x="889000" y="2857500"/>
            <a:ext cx="2997200" cy="2997200"/>
          </a:xfrm>
          <a:prstGeom prst="rect">
            <a:avLst/>
          </a:prstGeom>
        </p:spPr>
      </p:pic>
      <p:sp>
        <p:nvSpPr>
          <p:cNvPr id="14" name="TextBox 13"/>
          <p:cNvSpPr txBox="1"/>
          <p:nvPr/>
        </p:nvSpPr>
        <p:spPr>
          <a:xfrm>
            <a:off x="863600" y="5918200"/>
            <a:ext cx="30480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2762C8"/>
                </a:solidFill>
                <a:latin typeface="Arial"/>
                <a:hlinkClick r:id="rId4"/>
              </a:rPr>
              <a:t>k8gb.io</a:t>
            </a:r>
          </a:p>
        </p:txBody>
      </p:sp>
      <p:sp>
        <p:nvSpPr>
          <p:cNvPr id="15" name="Rounded Rectangle 14"/>
          <p:cNvSpPr/>
          <p:nvPr/>
        </p:nvSpPr>
        <p:spPr>
          <a:xfrm>
            <a:off x="4470400" y="2082800"/>
            <a:ext cx="7112000" cy="914400"/>
          </a:xfrm>
          <a:prstGeom prst="roundRect">
            <a:avLst>
              <a:gd name="adj" fmla="val 12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686300" y="2298700"/>
            <a:ext cx="482600" cy="482600"/>
          </a:xfrm>
          <a:prstGeom prst="roundRect">
            <a:avLst>
              <a:gd name="adj" fmla="val 21052"/>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470400" y="3124200"/>
            <a:ext cx="7112000" cy="914400"/>
          </a:xfrm>
          <a:prstGeom prst="roundRect">
            <a:avLst>
              <a:gd name="adj" fmla="val 12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686300" y="3340100"/>
            <a:ext cx="482600" cy="482600"/>
          </a:xfrm>
          <a:prstGeom prst="roundRect">
            <a:avLst>
              <a:gd name="adj" fmla="val 21052"/>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470400" y="4165600"/>
            <a:ext cx="7112000" cy="914400"/>
          </a:xfrm>
          <a:prstGeom prst="roundRect">
            <a:avLst>
              <a:gd name="adj" fmla="val 12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686300" y="4381500"/>
            <a:ext cx="482600" cy="482600"/>
          </a:xfrm>
          <a:prstGeom prst="roundRect">
            <a:avLst>
              <a:gd name="adj" fmla="val 21052"/>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4927600" y="2374900"/>
            <a:ext cx="42549" cy="106535"/>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970149" y="2481435"/>
            <a:ext cx="114470" cy="7546"/>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4996446" y="2488981"/>
            <a:ext cx="88173" cy="73388"/>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4996446" y="2562369"/>
            <a:ext cx="28197" cy="111199"/>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4927600" y="2612390"/>
            <a:ext cx="97043" cy="61178"/>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4830556" y="2612390"/>
            <a:ext cx="97044" cy="61178"/>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4830556" y="2562369"/>
            <a:ext cx="28197" cy="111199"/>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4770580" y="2488981"/>
            <a:ext cx="88173" cy="73388"/>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4770580" y="2481435"/>
            <a:ext cx="114470" cy="7546"/>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4885050" y="2374900"/>
            <a:ext cx="42550" cy="106535"/>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384800" y="2222500"/>
            <a:ext cx="59436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2762C8"/>
                </a:solidFill>
                <a:latin typeface="Arial"/>
              </a:rPr>
              <a:t>STAR &amp; CONTRIBUTE</a:t>
            </a:r>
          </a:p>
        </p:txBody>
      </p:sp>
      <p:sp>
        <p:nvSpPr>
          <p:cNvPr id="32" name="TextBox 31"/>
          <p:cNvSpPr txBox="1"/>
          <p:nvPr/>
        </p:nvSpPr>
        <p:spPr>
          <a:xfrm>
            <a:off x="5384800" y="2527300"/>
            <a:ext cx="59436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hlinkClick r:id="rId5"/>
              </a:rPr>
              <a:t>github.com/k8gb-io/k8gb</a:t>
            </a:r>
          </a:p>
        </p:txBody>
      </p:sp>
      <p:sp>
        <p:nvSpPr>
          <p:cNvPr id="33" name="Rounded Rectangle 32"/>
          <p:cNvSpPr/>
          <p:nvPr/>
        </p:nvSpPr>
        <p:spPr>
          <a:xfrm>
            <a:off x="4775200" y="3454400"/>
            <a:ext cx="304800" cy="190500"/>
          </a:xfrm>
          <a:prstGeom prst="roundRect">
            <a:avLst>
              <a:gd name="adj" fmla="val 26666"/>
            </a:avLst>
          </a:prstGeom>
          <a:solidFill>
            <a:srgbClr val="E8F4F3"/>
          </a:solidFill>
          <a:ln w="1778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4838700" y="3644900"/>
            <a:ext cx="0" cy="63500"/>
          </a:xfrm>
          <a:prstGeom prst="line">
            <a:avLst/>
          </a:prstGeom>
          <a:ln w="1778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4838700" y="3644900"/>
            <a:ext cx="88900" cy="63500"/>
          </a:xfrm>
          <a:prstGeom prst="line">
            <a:avLst/>
          </a:prstGeom>
          <a:ln w="17780">
            <a:solidFill>
              <a:srgbClr val="087F85"/>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4837430" y="3535679"/>
            <a:ext cx="27940" cy="2794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4913630" y="3535679"/>
            <a:ext cx="27940" cy="2794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4989830" y="3535679"/>
            <a:ext cx="27940" cy="2794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384800" y="3263900"/>
            <a:ext cx="59436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087F85"/>
                </a:solidFill>
                <a:latin typeface="Arial"/>
              </a:rPr>
              <a:t>JOIN THE CONVERSATION</a:t>
            </a:r>
          </a:p>
        </p:txBody>
      </p:sp>
      <p:sp>
        <p:nvSpPr>
          <p:cNvPr id="40" name="TextBox 39"/>
          <p:cNvSpPr txBox="1"/>
          <p:nvPr/>
        </p:nvSpPr>
        <p:spPr>
          <a:xfrm>
            <a:off x="5384800" y="3568700"/>
            <a:ext cx="32004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hlinkClick r:id="rId6"/>
              </a:rPr>
              <a:t>#k8gb · CNCF Slack</a:t>
            </a:r>
          </a:p>
        </p:txBody>
      </p:sp>
      <p:sp>
        <p:nvSpPr>
          <p:cNvPr id="41" name="TextBox 40"/>
          <p:cNvSpPr txBox="1"/>
          <p:nvPr/>
        </p:nvSpPr>
        <p:spPr>
          <a:xfrm>
            <a:off x="8610600" y="3594100"/>
            <a:ext cx="27178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087F85"/>
                </a:solidFill>
                <a:latin typeface="Arial"/>
                <a:hlinkClick r:id="rId7"/>
              </a:rPr>
              <a:t>Community meetings</a:t>
            </a:r>
          </a:p>
        </p:txBody>
      </p:sp>
      <p:sp>
        <p:nvSpPr>
          <p:cNvPr id="42" name="Rounded Rectangle 41"/>
          <p:cNvSpPr/>
          <p:nvPr/>
        </p:nvSpPr>
        <p:spPr>
          <a:xfrm>
            <a:off x="4813300" y="4457700"/>
            <a:ext cx="215900" cy="292100"/>
          </a:xfrm>
          <a:prstGeom prst="roundRect">
            <a:avLst>
              <a:gd name="adj" fmla="val 11764"/>
            </a:avLst>
          </a:prstGeom>
          <a:solidFill>
            <a:srgbClr val="FBE9EE"/>
          </a:solidFill>
          <a:ln w="1651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4864100" y="4533900"/>
            <a:ext cx="114300" cy="0"/>
          </a:xfrm>
          <a:prstGeom prst="line">
            <a:avLst/>
          </a:prstGeom>
          <a:ln w="1397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4864100" y="4584700"/>
            <a:ext cx="114300" cy="0"/>
          </a:xfrm>
          <a:prstGeom prst="line">
            <a:avLst/>
          </a:prstGeom>
          <a:ln w="1397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5041900" y="4648200"/>
            <a:ext cx="0" cy="1524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4965700" y="4724400"/>
            <a:ext cx="1524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5384800" y="4305300"/>
            <a:ext cx="59436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CF0035"/>
                </a:solidFill>
                <a:latin typeface="Arial"/>
              </a:rPr>
              <a:t>SHARE YOUR DEPLOYMENT</a:t>
            </a:r>
          </a:p>
        </p:txBody>
      </p:sp>
      <p:sp>
        <p:nvSpPr>
          <p:cNvPr id="48" name="TextBox 47"/>
          <p:cNvSpPr txBox="1"/>
          <p:nvPr/>
        </p:nvSpPr>
        <p:spPr>
          <a:xfrm>
            <a:off x="5384800" y="4610100"/>
            <a:ext cx="59436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hlinkClick r:id="rId8"/>
              </a:rPr>
              <a:t>Add your organization to ADOPTERS.md</a:t>
            </a:r>
          </a:p>
        </p:txBody>
      </p:sp>
      <p:sp>
        <p:nvSpPr>
          <p:cNvPr id="49" name="Rounded Rectangle 48"/>
          <p:cNvSpPr/>
          <p:nvPr/>
        </p:nvSpPr>
        <p:spPr>
          <a:xfrm>
            <a:off x="4470400" y="5283200"/>
            <a:ext cx="7112000" cy="965200"/>
          </a:xfrm>
          <a:prstGeom prst="roundRect">
            <a:avLst>
              <a:gd name="adj" fmla="val 11842"/>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724400" y="5422900"/>
            <a:ext cx="26035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Yury Tsarev</a:t>
            </a:r>
          </a:p>
        </p:txBody>
      </p:sp>
      <p:sp>
        <p:nvSpPr>
          <p:cNvPr id="51" name="TextBox 50"/>
          <p:cNvSpPr txBox="1"/>
          <p:nvPr/>
        </p:nvSpPr>
        <p:spPr>
          <a:xfrm>
            <a:off x="7404100" y="5511800"/>
            <a:ext cx="3911600" cy="227965"/>
          </a:xfrm>
          <a:prstGeom prst="rect">
            <a:avLst/>
          </a:prstGeom>
          <a:noFill/>
        </p:spPr>
        <p:txBody>
          <a:bodyPr wrap="none" lIns="0" rIns="0" tIns="0" bIns="0" anchor="t">
            <a:noAutofit/>
          </a:bodyPr>
          <a:lstStyle/>
          <a:p>
            <a:pPr algn="r">
              <a:lnSpc>
                <a:spcPts val="1495"/>
              </a:lnSpc>
              <a:spcBef>
                <a:spcPts val="0"/>
              </a:spcBef>
              <a:spcAft>
                <a:spcPts val="0"/>
              </a:spcAft>
            </a:pPr>
            <a:r>
              <a:rPr sz="1300" b="0">
                <a:solidFill>
                  <a:srgbClr val="B8C8D9"/>
                </a:solidFill>
                <a:latin typeface="Arial"/>
              </a:rPr>
              <a:t>Creator &amp; Project Lead · k8gb</a:t>
            </a:r>
          </a:p>
        </p:txBody>
      </p:sp>
      <p:sp>
        <p:nvSpPr>
          <p:cNvPr id="52" name="TextBox 51"/>
          <p:cNvSpPr txBox="1"/>
          <p:nvPr/>
        </p:nvSpPr>
        <p:spPr>
          <a:xfrm>
            <a:off x="4724400" y="5854700"/>
            <a:ext cx="6604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83ADFF"/>
                </a:solidFill>
                <a:latin typeface="Arial"/>
                <a:hlinkClick r:id="rId9"/>
              </a:rPr>
              <a:t>linkedin.com/in/yurytsarev</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Who Controls the Failover?</dc:title>
  <dc:subject>Sovereign Global Traffic Management with Kubernetes</dc:subject>
  <dc:creator>Yury Tsarev</dc:creator>
  <cp:keywords>k8gb, sovereignty, DNS, failover, Sovereign Cloud Days 2026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