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3.25–4 minutes elapsed.</a:t>
            </a:r>
          </a:p>
          <a:p/>
          <a:p>
            <a:r>
              <a:t>Use one production example to establish adoption. Millennium bcp reports five regions across two cloud providers and on-premises, shorter DNS incident response, and zero downtime in the reported regional failover tests. These are the case study’s reported results for that deployment. Keep to the three displayed facts and move to the architecture.</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4–5.25 minutes elapsed.</a:t>
            </a:r>
          </a:p>
          <a:p/>
          <a:p>
            <a:r>
              <a:t>Spend 75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Detailed delegation and reconciliation diagrams remain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5.25–6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Move straight to the client request path.</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6–7.25 minutes elapsed.</a:t>
            </a:r>
          </a:p>
          <a:p/>
          <a:p>
            <a:r>
              <a:t>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7.25–8.5 minutes elapsed.</a:t>
            </a:r>
          </a:p>
          <a:p/>
          <a:p>
            <a:r>
              <a:t>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8.5–9.75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9.75–11 minutes elapsed.</a:t>
            </a:r>
          </a:p>
          <a:p/>
          <a:p>
            <a:r>
              <a:t>Spend 75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11–12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minute 12.</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12–18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minute 18.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18–19.5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19.5–21.5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21.5–23.5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23.5–24.75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24.75–26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minute 26.</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26–28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Invite questions by minute 28.</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project links and LinkedIn contact visible. Hidden appendix slides follow: A1 reconciliation (physical slide 21), A2 delegation (22), A3 normal state (23), A4 failover (24), A5 failback (25), A6 availability responsibilities (26).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https://www.cncf.io/case-studies/millennium-bcp/</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jp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hyperlink" Target="https://www.k8gb.io/" TargetMode="External"/><Relationship Id="rId5" Type="http://schemas.openxmlformats.org/officeDocument/2006/relationships/hyperlink" Target="https://www.linkedin.com/in/yurytsarev/" TargetMode="External"/><Relationship Id="rId6" Type="http://schemas.openxmlformats.org/officeDocument/2006/relationships/hyperlink" Target="https://github.com/k8gb-io/k8gb" TargetMode="External"/><Relationship Id="rId7" Type="http://schemas.openxmlformats.org/officeDocument/2006/relationships/hyperlink" Target="https://www.cncf.io/case-studies/millennium-bcp/"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13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16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19 / 20</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DISCUSSION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20</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How would failover work in your environment?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3556000" cy="4165600"/>
          </a:xfrm>
          <a:prstGeom prst="roundRect">
            <a:avLst>
              <a:gd name="adj" fmla="val 357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16572"/>
            <a:ext cx="431800" cy="421455"/>
          </a:xfrm>
          <a:prstGeom prst="rect">
            <a:avLst/>
          </a:prstGeom>
        </p:spPr>
      </p:pic>
      <p:sp>
        <p:nvSpPr>
          <p:cNvPr id="13" name="TextBox 12"/>
          <p:cNvSpPr txBox="1"/>
          <p:nvPr/>
        </p:nvSpPr>
        <p:spPr>
          <a:xfrm>
            <a:off x="1460500" y="2362200"/>
            <a:ext cx="24511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Explore k8gb</a:t>
            </a:r>
          </a:p>
        </p:txBody>
      </p:sp>
      <p:pic>
        <p:nvPicPr>
          <p:cNvPr id="14" name="Picture 13" descr="image.png"/>
          <p:cNvPicPr>
            <a:picLocks noChangeAspect="1"/>
          </p:cNvPicPr>
          <p:nvPr/>
        </p:nvPicPr>
        <p:blipFill>
          <a:blip r:embed="rId3"/>
          <a:stretch>
            <a:fillRect/>
          </a:stretch>
        </p:blipFill>
        <p:spPr>
          <a:xfrm>
            <a:off x="889000" y="2857500"/>
            <a:ext cx="2997200" cy="2997200"/>
          </a:xfrm>
          <a:prstGeom prst="rect">
            <a:avLst/>
          </a:prstGeom>
        </p:spPr>
      </p:pic>
      <p:sp>
        <p:nvSpPr>
          <p:cNvPr id="15" name="TextBox 14"/>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6" name="Rounded Rectangle 15"/>
          <p:cNvSpPr/>
          <p:nvPr/>
        </p:nvSpPr>
        <p:spPr>
          <a:xfrm>
            <a:off x="4572000" y="2133600"/>
            <a:ext cx="7010400" cy="1397000"/>
          </a:xfrm>
          <a:prstGeom prst="roundRect">
            <a:avLst>
              <a:gd name="adj" fmla="val 9090"/>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2082800"/>
            <a:ext cx="7010400" cy="1397000"/>
          </a:xfrm>
          <a:prstGeom prst="roundRect">
            <a:avLst>
              <a:gd name="adj" fmla="val 909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26000" y="2349500"/>
            <a:ext cx="558800" cy="558800"/>
          </a:xfrm>
          <a:prstGeom prst="roundRect">
            <a:avLst>
              <a:gd name="adj" fmla="val 20454"/>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029200" y="2451100"/>
            <a:ext cx="152400" cy="152400"/>
          </a:xfrm>
          <a:prstGeom prst="ellipse">
            <a:avLst/>
          </a:prstGeom>
          <a:solidFill>
            <a:srgbClr val="1A3047"/>
          </a:solidFill>
          <a:ln w="1905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49530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530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016500" y="2641600"/>
            <a:ext cx="177800" cy="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943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578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88000" y="2273300"/>
            <a:ext cx="56896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Yury Tsarev</a:t>
            </a:r>
          </a:p>
        </p:txBody>
      </p:sp>
      <p:sp>
        <p:nvSpPr>
          <p:cNvPr id="26" name="TextBox 25"/>
          <p:cNvSpPr txBox="1"/>
          <p:nvPr/>
        </p:nvSpPr>
        <p:spPr>
          <a:xfrm>
            <a:off x="5588000" y="2692400"/>
            <a:ext cx="568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Creator &amp; Project Lead · k8gb</a:t>
            </a:r>
          </a:p>
        </p:txBody>
      </p:sp>
      <p:sp>
        <p:nvSpPr>
          <p:cNvPr id="27" name="TextBox 26"/>
          <p:cNvSpPr txBox="1"/>
          <p:nvPr/>
        </p:nvSpPr>
        <p:spPr>
          <a:xfrm>
            <a:off x="5588000" y="3048000"/>
            <a:ext cx="5689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5"/>
              </a:rPr>
              <a:t>linkedin.com/in/yurytsarev</a:t>
            </a:r>
          </a:p>
        </p:txBody>
      </p:sp>
      <p:sp>
        <p:nvSpPr>
          <p:cNvPr id="28" name="Rounded Rectangle 27"/>
          <p:cNvSpPr/>
          <p:nvPr/>
        </p:nvSpPr>
        <p:spPr>
          <a:xfrm>
            <a:off x="4572000" y="3759200"/>
            <a:ext cx="7010400" cy="1092200"/>
          </a:xfrm>
          <a:prstGeom prst="roundRect">
            <a:avLst>
              <a:gd name="adj" fmla="val 1046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572000" y="3708400"/>
            <a:ext cx="7010400" cy="1092200"/>
          </a:xfrm>
          <a:prstGeom prst="roundRect">
            <a:avLst>
              <a:gd name="adj" fmla="val 104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826000" y="4000500"/>
            <a:ext cx="381000" cy="381000"/>
          </a:xfrm>
          <a:prstGeom prst="roundRect">
            <a:avLst>
              <a:gd name="adj" fmla="val 23333"/>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H="1">
            <a:off x="48895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895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73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0673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35600" y="38989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SOURCE &amp; CONTRIBUTIONS</a:t>
            </a:r>
          </a:p>
        </p:txBody>
      </p:sp>
      <p:sp>
        <p:nvSpPr>
          <p:cNvPr id="36" name="TextBox 35"/>
          <p:cNvSpPr txBox="1"/>
          <p:nvPr/>
        </p:nvSpPr>
        <p:spPr>
          <a:xfrm>
            <a:off x="5435600" y="4241800"/>
            <a:ext cx="5892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hlinkClick r:id="rId6"/>
              </a:rPr>
              <a:t>github.com/k8gb-io/k8gb</a:t>
            </a:r>
          </a:p>
        </p:txBody>
      </p:sp>
      <p:sp>
        <p:nvSpPr>
          <p:cNvPr id="37" name="Rounded Rectangle 36"/>
          <p:cNvSpPr/>
          <p:nvPr/>
        </p:nvSpPr>
        <p:spPr>
          <a:xfrm>
            <a:off x="4572000" y="5054600"/>
            <a:ext cx="7010400" cy="1193800"/>
          </a:xfrm>
          <a:prstGeom prst="roundRect">
            <a:avLst>
              <a:gd name="adj" fmla="val 957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72000" y="5003800"/>
            <a:ext cx="7010400" cy="1193800"/>
          </a:xfrm>
          <a:prstGeom prst="roundRect">
            <a:avLst>
              <a:gd name="adj" fmla="val 95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26000" y="5295900"/>
            <a:ext cx="381000" cy="381000"/>
          </a:xfrm>
          <a:prstGeom prst="roundRect">
            <a:avLst>
              <a:gd name="adj" fmla="val 233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927600" y="5359400"/>
            <a:ext cx="177800" cy="254000"/>
          </a:xfrm>
          <a:prstGeom prst="roundRect">
            <a:avLst>
              <a:gd name="adj" fmla="val 14285"/>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4978400" y="54356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978400" y="54864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978400" y="55372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35600" y="51943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PRODUCTION CASE STUDY</a:t>
            </a:r>
          </a:p>
        </p:txBody>
      </p:sp>
      <p:sp>
        <p:nvSpPr>
          <p:cNvPr id="45" name="TextBox 44"/>
          <p:cNvSpPr txBox="1"/>
          <p:nvPr/>
        </p:nvSpPr>
        <p:spPr>
          <a:xfrm>
            <a:off x="5435600" y="5473700"/>
            <a:ext cx="589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Millennium bcp</a:t>
            </a:r>
          </a:p>
        </p:txBody>
      </p:sp>
      <p:sp>
        <p:nvSpPr>
          <p:cNvPr id="46" name="TextBox 45"/>
          <p:cNvSpPr txBox="1"/>
          <p:nvPr/>
        </p:nvSpPr>
        <p:spPr>
          <a:xfrm>
            <a:off x="5435600" y="5905500"/>
            <a:ext cx="58928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087F85"/>
                </a:solidFill>
                <a:latin typeface="Arial"/>
                <a:hlinkClick r:id="rId7"/>
              </a:rPr>
              <a:t>cncf.io/case-studies/millennium-bcp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A6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